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c:v>
                </c:pt>
              </c:strCache>
            </c:strRef>
          </c:tx>
          <c:spPr>
            <a:solidFill>
              <a:srgbClr val="C0392B"/>
            </a:solidFill>
            <a:effectLst/>
          </c:spPr>
          <c:invertIfNegative val="0"/>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dPt>
            <c:idx val="31"/>
            <c:invertIfNegative val="0"/>
            <c:bubble3D val="0"/>
            <c:spPr>
              <a:solidFill>
                <a:srgbClr val="1F618D"/>
              </a:solidFill>
              <a:effectLst/>
            </c:spPr>
          </c:dPt>
          <c:dPt>
            <c:idx val="32"/>
            <c:invertIfNegative val="0"/>
            <c:bubble3D val="0"/>
            <c:spPr>
              <a:solidFill>
                <a:srgbClr val="1F618D"/>
              </a:solidFill>
              <a:effectLst/>
            </c:spPr>
          </c:dPt>
          <c:dPt>
            <c:idx val="33"/>
            <c:invertIfNegative val="0"/>
            <c:bubble3D val="0"/>
            <c:spPr>
              <a:solidFill>
                <a:srgbClr val="1F618D"/>
              </a:solidFill>
              <a:effectLst/>
            </c:spPr>
          </c:dPt>
          <c:dPt>
            <c:idx val="34"/>
            <c:invertIfNegative val="0"/>
            <c:bubble3D val="0"/>
            <c:spPr>
              <a:solidFill>
                <a:srgbClr val="1F618D"/>
              </a:solidFill>
              <a:effectLst/>
            </c:spPr>
          </c:dPt>
          <c:dPt>
            <c:idx val="35"/>
            <c:invertIfNegative val="0"/>
            <c:bubble3D val="0"/>
            <c:spPr>
              <a:solidFill>
                <a:srgbClr val="1F618D"/>
              </a:solidFill>
              <a:effectLst/>
            </c:spPr>
          </c:dPt>
          <c:dPt>
            <c:idx val="36"/>
            <c:invertIfNegative val="0"/>
            <c:bubble3D val="0"/>
            <c:spPr>
              <a:solidFill>
                <a:srgbClr val="1F618D"/>
              </a:solidFill>
              <a:effectLst/>
            </c:spPr>
          </c:dPt>
          <c:dPt>
            <c:idx val="37"/>
            <c:invertIfNegative val="0"/>
            <c:bubble3D val="0"/>
            <c:spPr>
              <a:solidFill>
                <a:srgbClr val="1F618D"/>
              </a:solidFill>
              <a:effectLst/>
            </c:spPr>
          </c:dPt>
          <c:cat>
            <c:multiLvlStrRef>
              <c:f>Sheet1!$A$2:$A$39</c:f>
              <c:multiLvlStrCache>
                <c:ptCount val="38"/>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pt idx="12">
                    <c:v>Ranipet</c:v>
                  </c:pt>
                  <c:pt idx="13">
                    <c:v>Namakkal</c:v>
                  </c:pt>
                  <c:pt idx="14">
                    <c:v>Sivaganga</c:v>
                  </c:pt>
                  <c:pt idx="15">
                    <c:v>Thiruvarur</c:v>
                  </c:pt>
                  <c:pt idx="16">
                    <c:v>Salem</c:v>
                  </c:pt>
                  <c:pt idx="17">
                    <c:v>Tiruvannamalai</c:v>
                  </c:pt>
                  <c:pt idx="18">
                    <c:v>Tirupathur</c:v>
                  </c:pt>
                  <c:pt idx="19">
                    <c:v>Virudhunagar</c:v>
                  </c:pt>
                  <c:pt idx="20">
                    <c:v>Cuddalore</c:v>
                  </c:pt>
                  <c:pt idx="21">
                    <c:v>Theni</c:v>
                  </c:pt>
                  <c:pt idx="22">
                    <c:v>Tenkasi</c:v>
                  </c:pt>
                  <c:pt idx="23">
                    <c:v>Thoothukudi</c:v>
                  </c:pt>
                  <c:pt idx="24">
                    <c:v>Viluppuram</c:v>
                  </c:pt>
                  <c:pt idx="25">
                    <c:v>Krishnagiri</c:v>
                  </c:pt>
                  <c:pt idx="26">
                    <c:v>Nagapattinam</c:v>
                  </c:pt>
                  <c:pt idx="27">
                    <c:v>Pudukkottai</c:v>
                  </c:pt>
                  <c:pt idx="28">
                    <c:v>Thanjavur</c:v>
                  </c:pt>
                  <c:pt idx="29">
                    <c:v>Ramanathapuram</c:v>
                  </c:pt>
                  <c:pt idx="30">
                    <c:v>Kanniyakumari</c:v>
                  </c:pt>
                  <c:pt idx="31">
                    <c:v>Mayiladuthurai</c:v>
                  </c:pt>
                  <c:pt idx="32">
                    <c:v>The Nilgiris</c:v>
                  </c:pt>
                  <c:pt idx="33">
                    <c:v>Karur</c:v>
                  </c:pt>
                  <c:pt idx="34">
                    <c:v>Perambalur</c:v>
                  </c:pt>
                  <c:pt idx="35">
                    <c:v>Kallakurichi</c:v>
                  </c:pt>
                  <c:pt idx="36">
                    <c:v>Dharmapuri</c:v>
                  </c:pt>
                  <c:pt idx="37">
                    <c:v>Ariyalur</c:v>
                  </c:pt>
                </c:lvl>
              </c:multiLvlStrCache>
            </c:multiLvlStrRef>
          </c:cat>
          <c:val>
            <c:numRef>
              <c:f>Sheet1!$B$2:$B$39</c:f>
              <c:numCache>
                <c:formatCode>General</c:formatCode>
                <c:ptCount val="38"/>
                <c:pt idx="0">
                  <c:v>35.5837</c:v>
                </c:pt>
                <c:pt idx="1">
                  <c:v>25.1805</c:v>
                </c:pt>
                <c:pt idx="2">
                  <c:v>23.0594</c:v>
                </c:pt>
                <c:pt idx="3">
                  <c:v>20.1721</c:v>
                </c:pt>
                <c:pt idx="4">
                  <c:v>19.5743</c:v>
                </c:pt>
                <c:pt idx="5">
                  <c:v>17.3014</c:v>
                </c:pt>
                <c:pt idx="6">
                  <c:v>16.7952</c:v>
                </c:pt>
                <c:pt idx="7">
                  <c:v>16.5019</c:v>
                </c:pt>
                <c:pt idx="8">
                  <c:v>16.2944</c:v>
                </c:pt>
                <c:pt idx="9">
                  <c:v>15.1557</c:v>
                </c:pt>
                <c:pt idx="10">
                  <c:v>14.0056</c:v>
                </c:pt>
                <c:pt idx="11">
                  <c:v>13.8827</c:v>
                </c:pt>
                <c:pt idx="12">
                  <c:v>13.7238</c:v>
                </c:pt>
                <c:pt idx="13">
                  <c:v>13.2073</c:v>
                </c:pt>
                <c:pt idx="14">
                  <c:v>12.2631</c:v>
                </c:pt>
                <c:pt idx="15">
                  <c:v>12.0382</c:v>
                </c:pt>
                <c:pt idx="16">
                  <c:v>11.9592</c:v>
                </c:pt>
                <c:pt idx="17">
                  <c:v>11.8838</c:v>
                </c:pt>
                <c:pt idx="18">
                  <c:v>11.6808</c:v>
                </c:pt>
                <c:pt idx="19">
                  <c:v>11.6794</c:v>
                </c:pt>
                <c:pt idx="20">
                  <c:v>11.2519</c:v>
                </c:pt>
                <c:pt idx="21">
                  <c:v>11.1244</c:v>
                </c:pt>
                <c:pt idx="22">
                  <c:v>11.0467</c:v>
                </c:pt>
                <c:pt idx="23">
                  <c:v>10.9028</c:v>
                </c:pt>
                <c:pt idx="24">
                  <c:v>10.5856</c:v>
                </c:pt>
                <c:pt idx="25">
                  <c:v>10.386</c:v>
                </c:pt>
                <c:pt idx="26">
                  <c:v>10.0995</c:v>
                </c:pt>
                <c:pt idx="27">
                  <c:v>10.0126</c:v>
                </c:pt>
                <c:pt idx="28">
                  <c:v>9.8402</c:v>
                </c:pt>
                <c:pt idx="29">
                  <c:v>9.71</c:v>
                </c:pt>
                <c:pt idx="30">
                  <c:v>9.6287</c:v>
                </c:pt>
                <c:pt idx="31">
                  <c:v>9.6207</c:v>
                </c:pt>
                <c:pt idx="32">
                  <c:v>9.5204</c:v>
                </c:pt>
                <c:pt idx="33">
                  <c:v>8.8706</c:v>
                </c:pt>
                <c:pt idx="34">
                  <c:v>8.391</c:v>
                </c:pt>
                <c:pt idx="35">
                  <c:v>7.2659</c:v>
                </c:pt>
                <c:pt idx="36">
                  <c:v>6.3414</c:v>
                </c:pt>
                <c:pt idx="37">
                  <c:v>4.59</c:v>
                </c:pt>
              </c:numCache>
            </c:numRef>
          </c:val>
        </c:ser>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Sheet1!$B$2:$B$13</c:f>
              <c:numCache>
                <c:formatCode>General</c:formatCode>
                <c:ptCount val="12"/>
                <c:pt idx="0">
                  <c:v>11</c:v>
                </c:pt>
                <c:pt idx="1">
                  <c:v>15.8</c:v>
                </c:pt>
                <c:pt idx="2">
                  <c:v>28.1</c:v>
                </c:pt>
                <c:pt idx="3">
                  <c:v>18.4</c:v>
                </c:pt>
                <c:pt idx="4">
                  <c:v>21</c:v>
                </c:pt>
                <c:pt idx="5">
                  <c:v>21.8</c:v>
                </c:pt>
                <c:pt idx="6">
                  <c:v>33.2</c:v>
                </c:pt>
                <c:pt idx="7">
                  <c:v>22.5</c:v>
                </c:pt>
                <c:pt idx="8">
                  <c:v>30.1</c:v>
                </c:pt>
                <c:pt idx="9">
                  <c:v>38.8</c:v>
                </c:pt>
                <c:pt idx="10">
                  <c:v>35.2</c:v>
                </c:pt>
                <c:pt idx="11">
                  <c:v>24.8</c:v>
                </c:pt>
              </c:numCache>
            </c:numRef>
          </c:val>
        </c:ser>
        <c:ser>
          <c:idx val="1"/>
          <c:order val="1"/>
          <c:tx>
            <c:strRef>
              <c:f>Sheet1!$C$1</c:f>
              <c:strCache>
                <c:ptCount val="1"/>
                <c:pt idx="0">
                  <c:v>Shifted or absent</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Sheet1!$C$2:$C$13</c:f>
              <c:numCache>
                <c:formatCode>General</c:formatCode>
                <c:ptCount val="12"/>
                <c:pt idx="0">
                  <c:v>87.7</c:v>
                </c:pt>
                <c:pt idx="1">
                  <c:v>80.9</c:v>
                </c:pt>
                <c:pt idx="2">
                  <c:v>67.9</c:v>
                </c:pt>
                <c:pt idx="3">
                  <c:v>78.1</c:v>
                </c:pt>
                <c:pt idx="4">
                  <c:v>75.1</c:v>
                </c:pt>
                <c:pt idx="5">
                  <c:v>74.9</c:v>
                </c:pt>
                <c:pt idx="6">
                  <c:v>60.5</c:v>
                </c:pt>
                <c:pt idx="7">
                  <c:v>72.9</c:v>
                </c:pt>
                <c:pt idx="8">
                  <c:v>65.9</c:v>
                </c:pt>
                <c:pt idx="9">
                  <c:v>55.7</c:v>
                </c:pt>
                <c:pt idx="10">
                  <c:v>61.9</c:v>
                </c:pt>
                <c:pt idx="11">
                  <c:v>72.2</c:v>
                </c:pt>
              </c:numCache>
            </c:numRef>
          </c:val>
        </c:ser>
        <c:ser>
          <c:idx val="2"/>
          <c:order val="2"/>
          <c:tx>
            <c:strRef>
              <c:f>Sheet1!$D$1</c:f>
              <c:strCache>
                <c:ptCount val="1"/>
                <c:pt idx="0">
                  <c:v>In more than one place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Sheet1!$D$2:$D$13</c:f>
              <c:numCache>
                <c:formatCode>General</c:formatCode>
                <c:ptCount val="12"/>
                <c:pt idx="0">
                  <c:v>1.3</c:v>
                </c:pt>
                <c:pt idx="1">
                  <c:v>3.4</c:v>
                </c:pt>
                <c:pt idx="2">
                  <c:v>4</c:v>
                </c:pt>
                <c:pt idx="3">
                  <c:v>3.6</c:v>
                </c:pt>
                <c:pt idx="4">
                  <c:v>3.9</c:v>
                </c:pt>
                <c:pt idx="5">
                  <c:v>3.3</c:v>
                </c:pt>
                <c:pt idx="6">
                  <c:v>6.2</c:v>
                </c:pt>
                <c:pt idx="7">
                  <c:v>4.7</c:v>
                </c:pt>
                <c:pt idx="8">
                  <c:v>4.1</c:v>
                </c:pt>
                <c:pt idx="9">
                  <c:v>5.6</c:v>
                </c:pt>
                <c:pt idx="10">
                  <c:v>3</c:v>
                </c:pt>
                <c:pt idx="11">
                  <c:v>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Sheet1!$B$2:$B$17</c:f>
              <c:numCache>
                <c:formatCode>General</c:formatCode>
                <c:ptCount val="16"/>
                <c:pt idx="0">
                  <c:v>3.1</c:v>
                </c:pt>
                <c:pt idx="1">
                  <c:v>4</c:v>
                </c:pt>
                <c:pt idx="2">
                  <c:v>4.4</c:v>
                </c:pt>
                <c:pt idx="3">
                  <c:v>3.4</c:v>
                </c:pt>
                <c:pt idx="4">
                  <c:v>4.2</c:v>
                </c:pt>
                <c:pt idx="5">
                  <c:v>2.8</c:v>
                </c:pt>
                <c:pt idx="6">
                  <c:v>4.4</c:v>
                </c:pt>
                <c:pt idx="7">
                  <c:v>5.1</c:v>
                </c:pt>
                <c:pt idx="8">
                  <c:v>4.8</c:v>
                </c:pt>
                <c:pt idx="9">
                  <c:v>4.5</c:v>
                </c:pt>
                <c:pt idx="10">
                  <c:v>4.1</c:v>
                </c:pt>
                <c:pt idx="11">
                  <c:v>1.8</c:v>
                </c:pt>
                <c:pt idx="12">
                  <c:v>4.4</c:v>
                </c:pt>
                <c:pt idx="13">
                  <c:v>4.2</c:v>
                </c:pt>
                <c:pt idx="14">
                  <c:v>5.2</c:v>
                </c:pt>
                <c:pt idx="15">
                  <c:v>3</c:v>
                </c:pt>
              </c:numCache>
            </c:numRef>
          </c:val>
        </c:ser>
        <c:ser>
          <c:idx val="1"/>
          <c:order val="1"/>
          <c:tx>
            <c:strRef>
              <c:f>Sheet1!$C$1</c:f>
              <c:strCache>
                <c:ptCount val="1"/>
                <c:pt idx="0">
                  <c:v>Shifted or absent</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Sheet1!$C$2:$C$17</c:f>
              <c:numCache>
                <c:formatCode>General</c:formatCode>
                <c:ptCount val="16"/>
                <c:pt idx="0">
                  <c:v>38.8</c:v>
                </c:pt>
                <c:pt idx="1">
                  <c:v>36.4</c:v>
                </c:pt>
                <c:pt idx="2">
                  <c:v>35.8</c:v>
                </c:pt>
                <c:pt idx="3">
                  <c:v>36.9</c:v>
                </c:pt>
                <c:pt idx="4">
                  <c:v>35.5</c:v>
                </c:pt>
                <c:pt idx="5">
                  <c:v>35.5</c:v>
                </c:pt>
                <c:pt idx="6">
                  <c:v>33.4</c:v>
                </c:pt>
                <c:pt idx="7">
                  <c:v>32.2</c:v>
                </c:pt>
                <c:pt idx="8">
                  <c:v>31.8</c:v>
                </c:pt>
                <c:pt idx="9">
                  <c:v>30.7</c:v>
                </c:pt>
                <c:pt idx="10">
                  <c:v>28.2</c:v>
                </c:pt>
                <c:pt idx="11">
                  <c:v>30.6</c:v>
                </c:pt>
                <c:pt idx="12">
                  <c:v>27.2</c:v>
                </c:pt>
                <c:pt idx="13">
                  <c:v>21.4</c:v>
                </c:pt>
                <c:pt idx="14">
                  <c:v>20.1</c:v>
                </c:pt>
                <c:pt idx="15">
                  <c:v>20.8</c:v>
                </c:pt>
              </c:numCache>
            </c:numRef>
          </c:val>
        </c:ser>
        <c:ser>
          <c:idx val="2"/>
          <c:order val="2"/>
          <c:tx>
            <c:strRef>
              <c:f>Sheet1!$D$1</c:f>
              <c:strCache>
                <c:ptCount val="1"/>
                <c:pt idx="0">
                  <c:v>In more than one place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Sheet1!$D$2:$D$17</c:f>
              <c:numCache>
                <c:formatCode>General</c:formatCode>
                <c:ptCount val="16"/>
                <c:pt idx="0">
                  <c:v>0.2</c:v>
                </c:pt>
                <c:pt idx="1">
                  <c:v>0.4</c:v>
                </c:pt>
                <c:pt idx="2">
                  <c:v>0.5</c:v>
                </c:pt>
                <c:pt idx="3">
                  <c:v>0.4</c:v>
                </c:pt>
                <c:pt idx="4">
                  <c:v>0.5</c:v>
                </c:pt>
                <c:pt idx="5">
                  <c:v>0.5</c:v>
                </c:pt>
                <c:pt idx="6">
                  <c:v>0.9</c:v>
                </c:pt>
                <c:pt idx="7">
                  <c:v>0.6</c:v>
                </c:pt>
                <c:pt idx="8">
                  <c:v>0.5</c:v>
                </c:pt>
                <c:pt idx="9">
                  <c:v>0.5</c:v>
                </c:pt>
                <c:pt idx="10">
                  <c:v>0.4</c:v>
                </c:pt>
                <c:pt idx="11">
                  <c:v>0.1</c:v>
                </c:pt>
                <c:pt idx="12">
                  <c:v>0.3</c:v>
                </c:pt>
                <c:pt idx="13">
                  <c:v>0.8</c:v>
                </c:pt>
                <c:pt idx="14">
                  <c:v>0.7</c:v>
                </c:pt>
                <c:pt idx="15">
                  <c:v>0.4</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Sheet1!$B$2:$B$13</c:f>
              <c:numCache>
                <c:formatCode>General</c:formatCode>
                <c:ptCount val="12"/>
                <c:pt idx="0">
                  <c:v>35.5837</c:v>
                </c:pt>
                <c:pt idx="1">
                  <c:v>25.1805</c:v>
                </c:pt>
                <c:pt idx="2">
                  <c:v>23.0594</c:v>
                </c:pt>
                <c:pt idx="3">
                  <c:v>20.1721</c:v>
                </c:pt>
                <c:pt idx="4">
                  <c:v>19.5743</c:v>
                </c:pt>
                <c:pt idx="5">
                  <c:v>17.3014</c:v>
                </c:pt>
                <c:pt idx="6">
                  <c:v>16.7952</c:v>
                </c:pt>
                <c:pt idx="7">
                  <c:v>16.5019</c:v>
                </c:pt>
                <c:pt idx="8">
                  <c:v>16.2944</c:v>
                </c:pt>
                <c:pt idx="9">
                  <c:v>15.1557</c:v>
                </c:pt>
                <c:pt idx="10">
                  <c:v>14.0056</c:v>
                </c:pt>
                <c:pt idx="11">
                  <c:v>13.8827</c:v>
                </c:pt>
              </c:numCache>
            </c:numRef>
          </c:val>
        </c:ser>
        <c:ser>
          <c:idx val="1"/>
          <c:order val="1"/>
          <c:tx>
            <c:strRef>
              <c:f>Sheet1!$C$1</c:f>
              <c:strCache>
                <c:ptCount val="1"/>
                <c:pt idx="0">
                  <c:v>At the final roll</c:v>
                </c:pt>
              </c:strCache>
            </c:strRef>
          </c:tx>
          <c:spPr>
            <a:solidFill>
              <a:srgbClr val="8E442B"/>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Sheet1!$C$2:$C$13</c:f>
              <c:numCache>
                <c:formatCode>General</c:formatCode>
                <c:ptCount val="12"/>
                <c:pt idx="0">
                  <c:v>29.3096</c:v>
                </c:pt>
                <c:pt idx="1">
                  <c:v>18.9185</c:v>
                </c:pt>
                <c:pt idx="2">
                  <c:v>20.027</c:v>
                </c:pt>
                <c:pt idx="3">
                  <c:v>16.383</c:v>
                </c:pt>
                <c:pt idx="4">
                  <c:v>14.9161</c:v>
                </c:pt>
                <c:pt idx="5">
                  <c:v>11.8589</c:v>
                </c:pt>
                <c:pt idx="6">
                  <c:v>13.5632</c:v>
                </c:pt>
                <c:pt idx="7">
                  <c:v>13.0038</c:v>
                </c:pt>
                <c:pt idx="8">
                  <c:v>12.8664</c:v>
                </c:pt>
                <c:pt idx="9">
                  <c:v>11.6377</c:v>
                </c:pt>
                <c:pt idx="10">
                  <c:v>10.2435</c:v>
                </c:pt>
                <c:pt idx="11">
                  <c:v>9.9859</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8E442B"/>
              </a:solidFill>
              <a:effectLst/>
            </c:spPr>
          </c:dPt>
          <c:dPt>
            <c:idx val="2"/>
            <c:invertIfNegative val="0"/>
            <c:bubble3D val="0"/>
            <c:spPr>
              <a:solidFill>
                <a:srgbClr val="8E442B"/>
              </a:solidFill>
              <a:effectLst/>
            </c:spPr>
          </c:dPt>
          <c:dPt>
            <c:idx val="3"/>
            <c:invertIfNegative val="0"/>
            <c:bubble3D val="0"/>
            <c:spPr>
              <a:solidFill>
                <a:srgbClr val="8E442B"/>
              </a:solidFill>
              <a:effectLst/>
            </c:spPr>
          </c:dPt>
          <c:dPt>
            <c:idx val="4"/>
            <c:invertIfNegative val="0"/>
            <c:bubble3D val="0"/>
            <c:spPr>
              <a:solidFill>
                <a:srgbClr val="8E442B"/>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23</c:v>
                </c:pt>
                <c:pt idx="1">
                  <c:v>44</c:v>
                </c:pt>
                <c:pt idx="2">
                  <c:v>85</c:v>
                </c:pt>
                <c:pt idx="3">
                  <c:v>39</c:v>
                </c:pt>
                <c:pt idx="4">
                  <c:v>43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Names left off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The draft roll is the roll published after that check, and the final roll the one published once claims and objections are decided. Every figure in this deck is computed from the Chief Electoral Officer's tables and the 2026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removed for every 100 people on the roll before the revision, which lets places of different size be compared.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start above zero so that the changes can be seen. The roll before the revision is the draft plus the names left off, because no constituency table of that roll was published.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list of removals can show intent. Over the margin means large enough to decide a seat, and says nothing about whether the removals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rate less its district's, averaged over the party's seats. A minus means fewer removals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3420"/>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CCB"/>
                </a:solidFill>
                <a:latin typeface="Calibri" pitchFamily="34" charset="0"/>
                <a:ea typeface="Calibri" pitchFamily="34" charset="-122"/>
                <a:cs typeface="Calibri" pitchFamily="34" charset="-120"/>
              </a:rPr>
              <a:t>SPECIAL INTENSIVE REVISION · TAMIL NADU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97.4 lakh names off Tamil Nadu's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CCB"/>
                </a:solidFill>
                <a:latin typeface="Calibri" pitchFamily="34" charset="0"/>
                <a:ea typeface="Calibri" pitchFamily="34" charset="-122"/>
                <a:cs typeface="Calibri" pitchFamily="34" charset="-120"/>
              </a:rPr>
              <a:t>Where the names were removed, on what recorded reason, what the final roll put back, and how the removals compare with the 2026 result</a:t>
            </a:r>
            <a:endParaRPr lang="en-US" sz="1700" dirty="0"/>
          </a:p>
        </p:txBody>
      </p:sp>
      <p:sp>
        <p:nvSpPr>
          <p:cNvPr id="5" name="Shape 3"/>
          <p:cNvSpPr/>
          <p:nvPr/>
        </p:nvSpPr>
        <p:spPr>
          <a:xfrm>
            <a:off x="548640" y="3429000"/>
            <a:ext cx="2567864" cy="1737360"/>
          </a:xfrm>
          <a:prstGeom prst="roundRect">
            <a:avLst>
              <a:gd name="adj" fmla="val 4211"/>
            </a:avLst>
          </a:prstGeom>
          <a:solidFill>
            <a:srgbClr val="552818"/>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97,37,831</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names left off the draft roll of 19 December 2025</a:t>
            </a:r>
            <a:endParaRPr lang="en-US" sz="1250" dirty="0"/>
          </a:p>
        </p:txBody>
      </p:sp>
      <p:sp>
        <p:nvSpPr>
          <p:cNvPr id="8" name="Shape 6"/>
          <p:cNvSpPr/>
          <p:nvPr/>
        </p:nvSpPr>
        <p:spPr>
          <a:xfrm>
            <a:off x="3390824" y="3429000"/>
            <a:ext cx="2567864" cy="1737360"/>
          </a:xfrm>
          <a:prstGeom prst="roundRect">
            <a:avLst>
              <a:gd name="adj" fmla="val 4211"/>
            </a:avLst>
          </a:prstGeom>
          <a:solidFill>
            <a:srgbClr val="552818"/>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15.2</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of every 100 electors on the roll before</a:t>
            </a:r>
            <a:endParaRPr lang="en-US" sz="1250" dirty="0"/>
          </a:p>
        </p:txBody>
      </p:sp>
      <p:sp>
        <p:nvSpPr>
          <p:cNvPr id="11" name="Shape 9"/>
          <p:cNvSpPr/>
          <p:nvPr/>
        </p:nvSpPr>
        <p:spPr>
          <a:xfrm>
            <a:off x="6233008" y="3429000"/>
            <a:ext cx="2567864" cy="1737360"/>
          </a:xfrm>
          <a:prstGeom prst="roundRect">
            <a:avLst>
              <a:gd name="adj" fmla="val 4211"/>
            </a:avLst>
          </a:prstGeom>
          <a:solidFill>
            <a:srgbClr val="552818"/>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211 of 234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seats where more names were left off than the 2026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552818"/>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35.6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removed per 100 electors in Chennai</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CCB"/>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3420"/>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Chennai   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10–12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15–16</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revision removed 15.2 of every 100 electors, and more than the winning margin in 211 of 234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Five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97.4 lakh names were left off Tamil Nadu's draft roll, 15.2 of every 100 electors on the roll before the revision.</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In 211 of the 234 constituencies, more names were left off than the 2026 winning margin, large enough to decide the seat. Counting only the removed not entered as dead, at each seat's turnout, the number is 168.</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68.2% were entered as shifted or absent, 27.7% as dead and 4.1% as enrolled in more than one place.</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Chennai lost 35.6 of every 100 electors. It holds 6.2% of the roll and 14.6% of the names removed.</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The final roll was 23.3 lakh larger than the draft, at most 23.9% of the names removed, and it includes new voters.</a:t>
            </a:r>
            <a:endParaRPr lang="en-US" sz="16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No split of the removals by sex or age has been published.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roll fell from 6.41 crore to 5.44 crore at the draft, and the final roll held 5.67 crore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to the final roll of 23 February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86377" y="2483296"/>
            <a:ext cx="1109442" cy="3094544"/>
          </a:xfrm>
          <a:prstGeom prst="rect">
            <a:avLst/>
          </a:prstGeom>
          <a:solidFill>
            <a:srgbClr val="1F618D"/>
          </a:solidFill>
          <a:ln/>
        </p:spPr>
      </p:sp>
      <p:sp>
        <p:nvSpPr>
          <p:cNvPr id="48" name="Text 46"/>
          <p:cNvSpPr txBox="1"/>
          <p:nvPr/>
        </p:nvSpPr>
        <p:spPr>
          <a:xfrm>
            <a:off x="548640" y="2208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6,41,14,587</a:t>
            </a:r>
            <a:endParaRPr lang="en-US" sz="1000" dirty="0"/>
          </a:p>
        </p:txBody>
      </p:sp>
      <p:sp>
        <p:nvSpPr>
          <p:cNvPr id="49" name="Text 47"/>
          <p:cNvSpPr txBox="1"/>
          <p:nvPr/>
        </p:nvSpPr>
        <p:spPr>
          <a:xfrm>
            <a:off x="548640"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before the revision</a:t>
            </a:r>
            <a:endParaRPr lang="en-US" sz="1000" dirty="0"/>
          </a:p>
        </p:txBody>
      </p:sp>
      <p:sp>
        <p:nvSpPr>
          <p:cNvPr id="50" name="Shape 48"/>
          <p:cNvSpPr/>
          <p:nvPr/>
        </p:nvSpPr>
        <p:spPr>
          <a:xfrm>
            <a:off x="2371294" y="2483296"/>
            <a:ext cx="1109442" cy="404509"/>
          </a:xfrm>
          <a:prstGeom prst="rect">
            <a:avLst/>
          </a:prstGeom>
          <a:solidFill>
            <a:srgbClr val="C0392B"/>
          </a:solidFill>
          <a:ln/>
        </p:spPr>
      </p:sp>
      <p:sp>
        <p:nvSpPr>
          <p:cNvPr id="51" name="Text 49"/>
          <p:cNvSpPr txBox="1"/>
          <p:nvPr/>
        </p:nvSpPr>
        <p:spPr>
          <a:xfrm>
            <a:off x="2133556" y="2208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−26,94,672</a:t>
            </a:r>
            <a:endParaRPr lang="en-US" sz="1000" dirty="0"/>
          </a:p>
        </p:txBody>
      </p:sp>
      <p:sp>
        <p:nvSpPr>
          <p:cNvPr id="52" name="Text 50"/>
          <p:cNvSpPr txBox="1"/>
          <p:nvPr/>
        </p:nvSpPr>
        <p:spPr>
          <a:xfrm>
            <a:off x="213355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3" name="Shape 51"/>
          <p:cNvSpPr/>
          <p:nvPr/>
        </p:nvSpPr>
        <p:spPr>
          <a:xfrm>
            <a:off x="3956210" y="2887804"/>
            <a:ext cx="1109442" cy="997492"/>
          </a:xfrm>
          <a:prstGeom prst="rect">
            <a:avLst/>
          </a:prstGeom>
          <a:solidFill>
            <a:srgbClr val="C0392B"/>
          </a:solidFill>
          <a:ln/>
        </p:spPr>
      </p:sp>
      <p:sp>
        <p:nvSpPr>
          <p:cNvPr id="54" name="Text 52"/>
          <p:cNvSpPr txBox="1"/>
          <p:nvPr/>
        </p:nvSpPr>
        <p:spPr>
          <a:xfrm>
            <a:off x="3718473" y="2613484"/>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−66,44,881</a:t>
            </a:r>
            <a:endParaRPr lang="en-US" sz="1000" dirty="0"/>
          </a:p>
        </p:txBody>
      </p:sp>
      <p:sp>
        <p:nvSpPr>
          <p:cNvPr id="55" name="Text 53"/>
          <p:cNvSpPr txBox="1"/>
          <p:nvPr/>
        </p:nvSpPr>
        <p:spPr>
          <a:xfrm>
            <a:off x="3718473"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 or absent</a:t>
            </a:r>
            <a:endParaRPr lang="en-US" sz="1000" dirty="0"/>
          </a:p>
        </p:txBody>
      </p:sp>
      <p:sp>
        <p:nvSpPr>
          <p:cNvPr id="56" name="Shape 54"/>
          <p:cNvSpPr/>
          <p:nvPr/>
        </p:nvSpPr>
        <p:spPr>
          <a:xfrm>
            <a:off x="5541127" y="3885296"/>
            <a:ext cx="1109442" cy="59787"/>
          </a:xfrm>
          <a:prstGeom prst="rect">
            <a:avLst/>
          </a:prstGeom>
          <a:solidFill>
            <a:srgbClr val="C0392B"/>
          </a:solidFill>
          <a:ln/>
        </p:spPr>
      </p:sp>
      <p:sp>
        <p:nvSpPr>
          <p:cNvPr id="57" name="Text 55"/>
          <p:cNvSpPr txBox="1"/>
          <p:nvPr/>
        </p:nvSpPr>
        <p:spPr>
          <a:xfrm>
            <a:off x="5303389" y="3610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−3,98,278</a:t>
            </a:r>
            <a:endParaRPr lang="en-US" sz="1000" dirty="0"/>
          </a:p>
        </p:txBody>
      </p:sp>
      <p:sp>
        <p:nvSpPr>
          <p:cNvPr id="58" name="Text 56"/>
          <p:cNvSpPr txBox="1"/>
          <p:nvPr/>
        </p:nvSpPr>
        <p:spPr>
          <a:xfrm>
            <a:off x="530338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Enrolled in more than one place</a:t>
            </a:r>
            <a:endParaRPr lang="en-US" sz="1000" dirty="0"/>
          </a:p>
        </p:txBody>
      </p:sp>
      <p:sp>
        <p:nvSpPr>
          <p:cNvPr id="59" name="Shape 57"/>
          <p:cNvSpPr/>
          <p:nvPr/>
        </p:nvSpPr>
        <p:spPr>
          <a:xfrm>
            <a:off x="7126043" y="3945083"/>
            <a:ext cx="1109442" cy="1632757"/>
          </a:xfrm>
          <a:prstGeom prst="rect">
            <a:avLst/>
          </a:prstGeom>
          <a:solidFill>
            <a:srgbClr val="1F618D"/>
          </a:solidFill>
          <a:ln/>
        </p:spPr>
      </p:sp>
      <p:sp>
        <p:nvSpPr>
          <p:cNvPr id="60" name="Text 58"/>
          <p:cNvSpPr txBox="1"/>
          <p:nvPr/>
        </p:nvSpPr>
        <p:spPr>
          <a:xfrm>
            <a:off x="6888306" y="367076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5,43,76,756</a:t>
            </a:r>
            <a:endParaRPr lang="en-US" sz="1000" dirty="0"/>
          </a:p>
        </p:txBody>
      </p:sp>
      <p:sp>
        <p:nvSpPr>
          <p:cNvPr id="61" name="Text 59"/>
          <p:cNvSpPr txBox="1"/>
          <p:nvPr/>
        </p:nvSpPr>
        <p:spPr>
          <a:xfrm>
            <a:off x="688830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2" name="Shape 60"/>
          <p:cNvSpPr/>
          <p:nvPr/>
        </p:nvSpPr>
        <p:spPr>
          <a:xfrm>
            <a:off x="8710960" y="3595223"/>
            <a:ext cx="1109442" cy="349860"/>
          </a:xfrm>
          <a:prstGeom prst="rect">
            <a:avLst/>
          </a:prstGeom>
          <a:solidFill>
            <a:srgbClr val="17A589"/>
          </a:solidFill>
          <a:ln/>
        </p:spPr>
      </p:sp>
      <p:sp>
        <p:nvSpPr>
          <p:cNvPr id="63" name="Text 61"/>
          <p:cNvSpPr txBox="1"/>
          <p:nvPr/>
        </p:nvSpPr>
        <p:spPr>
          <a:xfrm>
            <a:off x="8473222" y="332090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+23,30,624</a:t>
            </a:r>
            <a:endParaRPr lang="en-US" sz="1000" dirty="0"/>
          </a:p>
        </p:txBody>
      </p:sp>
      <p:sp>
        <p:nvSpPr>
          <p:cNvPr id="64" name="Text 62"/>
          <p:cNvSpPr txBox="1"/>
          <p:nvPr/>
        </p:nvSpPr>
        <p:spPr>
          <a:xfrm>
            <a:off x="8473222"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 the draft</a:t>
            </a:r>
            <a:endParaRPr lang="en-US" sz="1000" dirty="0"/>
          </a:p>
        </p:txBody>
      </p:sp>
      <p:sp>
        <p:nvSpPr>
          <p:cNvPr id="65" name="Shape 63"/>
          <p:cNvSpPr/>
          <p:nvPr/>
        </p:nvSpPr>
        <p:spPr>
          <a:xfrm>
            <a:off x="10295876" y="3595223"/>
            <a:ext cx="1109442" cy="1982617"/>
          </a:xfrm>
          <a:prstGeom prst="rect">
            <a:avLst/>
          </a:prstGeom>
          <a:solidFill>
            <a:srgbClr val="1F618D"/>
          </a:solidFill>
          <a:ln/>
        </p:spPr>
      </p:sp>
      <p:sp>
        <p:nvSpPr>
          <p:cNvPr id="66" name="Text 64"/>
          <p:cNvSpPr txBox="1"/>
          <p:nvPr/>
        </p:nvSpPr>
        <p:spPr>
          <a:xfrm>
            <a:off x="10058139" y="332090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5,67,07,380</a:t>
            </a:r>
            <a:endParaRPr lang="en-US" sz="1000" dirty="0"/>
          </a:p>
        </p:txBody>
      </p:sp>
      <p:sp>
        <p:nvSpPr>
          <p:cNvPr id="67" name="Text 65"/>
          <p:cNvSpPr txBox="1"/>
          <p:nvPr/>
        </p:nvSpPr>
        <p:spPr>
          <a:xfrm>
            <a:off x="1005813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68" name="Shape 66"/>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Chennai lost 35.6 of every 100 electors, against 15.2 for the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next four are Chengalpattu (25.2), Tiruppur (23.1), Coimbatore (20.2) and Kancheepuram (19.6).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Ariyalur lost the fewest, 4.6.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the rate runs from 4.3 in Jayankondam to 42.2 in Anna Nagar.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68% of the names were entered as shifted or absent and 28%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district's removals by the reason entered,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Where more names were removed, more were marked shifted or absent (rank correlation 0.74 across constituencies).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Chennai 87.7% were entered as shifted or absent.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share entered as dead is highest in Thanjavur, 52.9%.</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CHENNAI</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Every one of Chennai's 16 constituencies lost more than 24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Anna Nagar lost 42.2, the most of any seat in the state.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Chennai holds 6.2% of the roll and 14.6% of the names removed, 14,25,018 in all.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At the final roll Chennai was still 29.3 per 100 smaller than before.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Women's share of the removals cannot be counted, because no split by sex has been published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can be counted is the change after the draft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645920"/>
          </a:xfrm>
          <a:prstGeom prst="roundRect">
            <a:avLst>
              <a:gd name="adj" fmla="val 4444"/>
            </a:avLst>
          </a:prstGeom>
          <a:solidFill>
            <a:srgbClr val="F4F6F7"/>
          </a:solidFill>
          <a:ln/>
        </p:spPr>
      </p:sp>
      <p:sp>
        <p:nvSpPr>
          <p:cNvPr id="48" name="Text 46"/>
          <p:cNvSpPr txBox="1"/>
          <p:nvPr/>
        </p:nvSpPr>
        <p:spPr>
          <a:xfrm>
            <a:off x="731520"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51.0%</a:t>
            </a:r>
            <a:endParaRPr lang="en-US" sz="2800" dirty="0"/>
          </a:p>
        </p:txBody>
      </p:sp>
      <p:sp>
        <p:nvSpPr>
          <p:cNvPr id="49" name="Text 47"/>
          <p:cNvSpPr txBox="1"/>
          <p:nvPr/>
        </p:nvSpPr>
        <p:spPr>
          <a:xfrm>
            <a:off x="731520"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draft roll</a:t>
            </a:r>
            <a:endParaRPr lang="en-US" sz="1200" dirty="0"/>
          </a:p>
        </p:txBody>
      </p:sp>
      <p:sp>
        <p:nvSpPr>
          <p:cNvPr id="50" name="Shape 48"/>
          <p:cNvSpPr/>
          <p:nvPr/>
        </p:nvSpPr>
        <p:spPr>
          <a:xfrm>
            <a:off x="4322978" y="1920240"/>
            <a:ext cx="3545738" cy="1645920"/>
          </a:xfrm>
          <a:prstGeom prst="roundRect">
            <a:avLst>
              <a:gd name="adj" fmla="val 4444"/>
            </a:avLst>
          </a:prstGeom>
          <a:solidFill>
            <a:srgbClr val="F4F6F7"/>
          </a:solidFill>
          <a:ln/>
        </p:spPr>
      </p:sp>
      <p:sp>
        <p:nvSpPr>
          <p:cNvPr id="51" name="Text 49"/>
          <p:cNvSpPr txBox="1"/>
          <p:nvPr/>
        </p:nvSpPr>
        <p:spPr>
          <a:xfrm>
            <a:off x="4505858"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53.8%</a:t>
            </a:r>
            <a:endParaRPr lang="en-US" sz="2800" dirty="0"/>
          </a:p>
        </p:txBody>
      </p:sp>
      <p:sp>
        <p:nvSpPr>
          <p:cNvPr id="52" name="Text 50"/>
          <p:cNvSpPr txBox="1"/>
          <p:nvPr/>
        </p:nvSpPr>
        <p:spPr>
          <a:xfrm>
            <a:off x="4505858"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net rise to the final roll</a:t>
            </a:r>
            <a:endParaRPr lang="en-US" sz="1200" dirty="0"/>
          </a:p>
        </p:txBody>
      </p:sp>
      <p:sp>
        <p:nvSpPr>
          <p:cNvPr id="53" name="Shape 51"/>
          <p:cNvSpPr/>
          <p:nvPr/>
        </p:nvSpPr>
        <p:spPr>
          <a:xfrm>
            <a:off x="8097317" y="1920240"/>
            <a:ext cx="3545738" cy="1645920"/>
          </a:xfrm>
          <a:prstGeom prst="roundRect">
            <a:avLst>
              <a:gd name="adj" fmla="val 4444"/>
            </a:avLst>
          </a:prstGeom>
          <a:solidFill>
            <a:srgbClr val="F4F6F7"/>
          </a:solidFill>
          <a:ln/>
        </p:spPr>
      </p:sp>
      <p:sp>
        <p:nvSpPr>
          <p:cNvPr id="54" name="Text 52"/>
          <p:cNvSpPr txBox="1"/>
          <p:nvPr/>
        </p:nvSpPr>
        <p:spPr>
          <a:xfrm>
            <a:off x="8280197"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51.1%</a:t>
            </a:r>
            <a:endParaRPr lang="en-US" sz="2800" dirty="0"/>
          </a:p>
        </p:txBody>
      </p:sp>
      <p:sp>
        <p:nvSpPr>
          <p:cNvPr id="55" name="Text 53"/>
          <p:cNvSpPr txBox="1"/>
          <p:nvPr/>
        </p:nvSpPr>
        <p:spPr>
          <a:xfrm>
            <a:off x="8280197"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final roll</a:t>
            </a:r>
            <a:endParaRPr lang="en-US" sz="1200" dirty="0"/>
          </a:p>
        </p:txBody>
      </p:sp>
      <p:sp>
        <p:nvSpPr>
          <p:cNvPr id="56" name="Text 54"/>
          <p:cNvSpPr txBox="1"/>
          <p:nvPr/>
        </p:nvSpPr>
        <p:spPr>
          <a:xfrm>
            <a:off x="548640" y="393192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Chief Electoral Officer has published no split of the names left off by sex, and no roll by sex from before the revision. The rise after the draft counts new voters as well as names put back, so it does not say how many women's names were restored.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final roll put back at most 23.9% of the names removed, and the roll is still 74.1 lakh smaller</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Per 100 electors, removed at the draft and the fall that remains at the final roll,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final roll is 23.3 lakh larger than the draft.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For the state the fall is 11.6 of every 100 electors at the final roll, from 15.2 at the draft.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rise includes new voters, so it is the most that can have been restored.</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In 211 of 234 constituencies, more names were left off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names left off the draft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those seats the removals were large enough to decide the result.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Whether they did depends on how those people would have voted, and the lists cannot show that.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 rate and the margin as a share of votes rise together a little (rank correlation 0.32), so the seats that lost most were not the closest contests.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Counting only the living removed at each seat's turnout, they outnumber the margin in 168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removals against the margin, from the widest to the narrowest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211 of 234</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every name left off the draft</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191 of 234</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net fall at the final roll</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168 of 234</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names not marked dead,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In the other 66 seats, the runner-up could not have won even if every living person removed had voted for the runner-up at the seat's turnout. Even the narrowest count assumes all of them would have, which nobody can know.</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Seats won by TVK lost 18.8 per 100 and DMK seats 12.6, and against their own districts they differ by 0.6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in the seats each party won, and against the rate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TVK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DMK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AIADMK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IUML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VCK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DMDK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AMMK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TVK won most of the city seats, and the city seats lost the most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TVK seats come out at +0.6, DMK seats at -0.1 and AIADMK seats at -1.9.</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163 of the 234 seats changed hands from 2021.</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the draft in every constituency, on what recorded reason, what the final roll put back, and how those numbers compare with the 2026 margins.</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women, the old or the young were removed more often, because no split by sex or age has been published. Whether each removal was right, or how anyone removed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 reason on the list is what the officer wrote down, and nobody checked it. No list of removals can show intent.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Publish who was removed, and on what basis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sex and age for every constituency, with the roll before the revision by sex.</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the 66.4 lakh entries marked shifted or absent,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for the final roll had been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Chennai lost 35.6 of every 100 electors, more than twice the state's rate.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roll the election was held on, constituency by constituency.</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names left off the draft roll, by constituency and reason, and the draft and final rolls by constituency and sex, are the Chief Electoral Officer's tables. They add up to the state totals published with them.</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roll before the revision is the draft plus the names left off, 6,41,14,587 in all, because no constituency table of it was published.</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2026 result is from the Election Commission's result pages, and turnout is votes over the final roll. The 2021 result is from the Commission's statistical report, through a published compilation of it.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Each seat's rate is also set against its own district's, because Chennai and the districts around it removed far more names than the rest of the state.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6E3420"/>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CCB"/>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F2DCCB"/>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Tamil Nadu SIR 2026</dc:title>
  <dc:subject>PptxGenJS Presentation</dc:subject>
  <dc:creator>PinPoint Ventures</dc:creator>
  <cp:lastModifiedBy>PinPoint Ventures</cp:lastModifiedBy>
  <cp:revision>1</cp:revision>
  <dcterms:created xsi:type="dcterms:W3CDTF">2026-10-13T15:37:11Z</dcterms:created>
  <dcterms:modified xsi:type="dcterms:W3CDTF">2026-10-13T15:37:11Z</dcterms:modified>
</cp:coreProperties>
</file>