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 100</c:v>
                </c:pt>
              </c:strCache>
            </c:strRef>
          </c:tx>
          <c:spPr>
            <a:solidFill>
              <a:srgbClr val="C0392B"/>
            </a:solidFill>
            <a:effectLst/>
          </c:spPr>
          <c:invertIfNegative val="0"/>
          <c:dLbls>
            <c:numFmt formatCode="0.0" sourceLinked="0"/>
            <c:txPr>
              <a:bodyPr/>
              <a:lstStyle/>
              <a:p>
                <a:pPr>
                  <a:defRPr b="0" i="0" strike="noStrike" sz="7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1F618D"/>
              </a:solidFill>
              <a:effectLst/>
            </c:spPr>
          </c:dPt>
          <c:dPt>
            <c:idx val="2"/>
            <c:invertIfNegative val="0"/>
            <c:bubble3D val="0"/>
            <c:spPr>
              <a:solidFill>
                <a:srgbClr val="1F618D"/>
              </a:solidFill>
              <a:effectLst/>
            </c:spPr>
          </c:dPt>
          <c:dPt>
            <c:idx val="3"/>
            <c:invertIfNegative val="0"/>
            <c:bubble3D val="0"/>
            <c:spPr>
              <a:solidFill>
                <a:srgbClr val="1F618D"/>
              </a:solidFill>
              <a:effectLst/>
            </c:spPr>
          </c:dPt>
          <c:dPt>
            <c:idx val="4"/>
            <c:invertIfNegative val="0"/>
            <c:bubble3D val="0"/>
            <c:spPr>
              <a:solidFill>
                <a:srgbClr val="1F618D"/>
              </a:solidFill>
              <a:effectLst/>
            </c:spPr>
          </c:dPt>
          <c:dPt>
            <c:idx val="5"/>
            <c:invertIfNegative val="0"/>
            <c:bubble3D val="0"/>
            <c:spPr>
              <a:solidFill>
                <a:srgbClr val="1F618D"/>
              </a:solidFill>
              <a:effectLst/>
            </c:spPr>
          </c:dPt>
          <c:dPt>
            <c:idx val="6"/>
            <c:invertIfNegative val="0"/>
            <c:bubble3D val="0"/>
            <c:spPr>
              <a:solidFill>
                <a:srgbClr val="1F618D"/>
              </a:solidFill>
              <a:effectLst/>
            </c:spPr>
          </c:dPt>
          <c:dPt>
            <c:idx val="7"/>
            <c:invertIfNegative val="0"/>
            <c:bubble3D val="0"/>
            <c:spPr>
              <a:solidFill>
                <a:srgbClr val="1F618D"/>
              </a:solidFill>
              <a:effectLst/>
            </c:spPr>
          </c:dPt>
          <c:dPt>
            <c:idx val="8"/>
            <c:invertIfNegative val="0"/>
            <c:bubble3D val="0"/>
            <c:spPr>
              <a:solidFill>
                <a:srgbClr val="1F618D"/>
              </a:solidFill>
              <a:effectLst/>
            </c:spPr>
          </c:dPt>
          <c:dPt>
            <c:idx val="9"/>
            <c:invertIfNegative val="0"/>
            <c:bubble3D val="0"/>
            <c:spPr>
              <a:solidFill>
                <a:srgbClr val="1F618D"/>
              </a:solidFill>
              <a:effectLst/>
            </c:spPr>
          </c:dPt>
          <c:dPt>
            <c:idx val="10"/>
            <c:invertIfNegative val="0"/>
            <c:bubble3D val="0"/>
            <c:spPr>
              <a:solidFill>
                <a:srgbClr val="1F618D"/>
              </a:solidFill>
              <a:effectLst/>
            </c:spPr>
          </c:dPt>
          <c:dPt>
            <c:idx val="11"/>
            <c:invertIfNegative val="0"/>
            <c:bubble3D val="0"/>
            <c:spPr>
              <a:solidFill>
                <a:srgbClr val="1F618D"/>
              </a:solidFill>
              <a:effectLst/>
            </c:spPr>
          </c:dPt>
          <c:dPt>
            <c:idx val="12"/>
            <c:invertIfNegative val="0"/>
            <c:bubble3D val="0"/>
            <c:spPr>
              <a:solidFill>
                <a:srgbClr val="1F618D"/>
              </a:solidFill>
              <a:effectLst/>
            </c:spPr>
          </c:dPt>
          <c:dPt>
            <c:idx val="13"/>
            <c:invertIfNegative val="0"/>
            <c:bubble3D val="0"/>
            <c:spPr>
              <a:solidFill>
                <a:srgbClr val="1F618D"/>
              </a:solidFill>
              <a:effectLst/>
            </c:spPr>
          </c:dPt>
          <c:dPt>
            <c:idx val="14"/>
            <c:invertIfNegative val="0"/>
            <c:bubble3D val="0"/>
            <c:spPr>
              <a:solidFill>
                <a:srgbClr val="1F618D"/>
              </a:solidFill>
              <a:effectLst/>
            </c:spPr>
          </c:dPt>
          <c:dPt>
            <c:idx val="15"/>
            <c:invertIfNegative val="0"/>
            <c:bubble3D val="0"/>
            <c:spPr>
              <a:solidFill>
                <a:srgbClr val="1F618D"/>
              </a:solidFill>
              <a:effectLst/>
            </c:spPr>
          </c:dPt>
          <c:dPt>
            <c:idx val="16"/>
            <c:invertIfNegative val="0"/>
            <c:bubble3D val="0"/>
            <c:spPr>
              <a:solidFill>
                <a:srgbClr val="1F618D"/>
              </a:solidFill>
              <a:effectLst/>
            </c:spPr>
          </c:dPt>
          <c:dPt>
            <c:idx val="17"/>
            <c:invertIfNegative val="0"/>
            <c:bubble3D val="0"/>
            <c:spPr>
              <a:solidFill>
                <a:srgbClr val="1F618D"/>
              </a:solidFill>
              <a:effectLst/>
            </c:spPr>
          </c:dPt>
          <c:dPt>
            <c:idx val="18"/>
            <c:invertIfNegative val="0"/>
            <c:bubble3D val="0"/>
            <c:spPr>
              <a:solidFill>
                <a:srgbClr val="1F618D"/>
              </a:solidFill>
              <a:effectLst/>
            </c:spPr>
          </c:dPt>
          <c:dPt>
            <c:idx val="19"/>
            <c:invertIfNegative val="0"/>
            <c:bubble3D val="0"/>
            <c:spPr>
              <a:solidFill>
                <a:srgbClr val="1F618D"/>
              </a:solidFill>
              <a:effectLst/>
            </c:spPr>
          </c:dPt>
          <c:dPt>
            <c:idx val="20"/>
            <c:invertIfNegative val="0"/>
            <c:bubble3D val="0"/>
            <c:spPr>
              <a:solidFill>
                <a:srgbClr val="1F618D"/>
              </a:solidFill>
              <a:effectLst/>
            </c:spPr>
          </c:dPt>
          <c:dPt>
            <c:idx val="21"/>
            <c:invertIfNegative val="0"/>
            <c:bubble3D val="0"/>
            <c:spPr>
              <a:solidFill>
                <a:srgbClr val="1F618D"/>
              </a:solidFill>
              <a:effectLst/>
            </c:spPr>
          </c:dPt>
          <c:dPt>
            <c:idx val="22"/>
            <c:invertIfNegative val="0"/>
            <c:bubble3D val="0"/>
            <c:spPr>
              <a:solidFill>
                <a:srgbClr val="1F618D"/>
              </a:solidFill>
              <a:effectLst/>
            </c:spPr>
          </c:dPt>
          <c:dPt>
            <c:idx val="23"/>
            <c:invertIfNegative val="0"/>
            <c:bubble3D val="0"/>
            <c:spPr>
              <a:solidFill>
                <a:srgbClr val="1F618D"/>
              </a:solidFill>
              <a:effectLst/>
            </c:spPr>
          </c:dPt>
          <c:dPt>
            <c:idx val="24"/>
            <c:invertIfNegative val="0"/>
            <c:bubble3D val="0"/>
            <c:spPr>
              <a:solidFill>
                <a:srgbClr val="1F618D"/>
              </a:solidFill>
              <a:effectLst/>
            </c:spPr>
          </c:dPt>
          <c:dPt>
            <c:idx val="25"/>
            <c:invertIfNegative val="0"/>
            <c:bubble3D val="0"/>
            <c:spPr>
              <a:solidFill>
                <a:srgbClr val="1F618D"/>
              </a:solidFill>
              <a:effectLst/>
            </c:spPr>
          </c:dPt>
          <c:dPt>
            <c:idx val="26"/>
            <c:invertIfNegative val="0"/>
            <c:bubble3D val="0"/>
            <c:spPr>
              <a:solidFill>
                <a:srgbClr val="1F618D"/>
              </a:solidFill>
              <a:effectLst/>
            </c:spPr>
          </c:dPt>
          <c:dPt>
            <c:idx val="27"/>
            <c:invertIfNegative val="0"/>
            <c:bubble3D val="0"/>
            <c:spPr>
              <a:solidFill>
                <a:srgbClr val="1F618D"/>
              </a:solidFill>
              <a:effectLst/>
            </c:spPr>
          </c:dPt>
          <c:dPt>
            <c:idx val="28"/>
            <c:invertIfNegative val="0"/>
            <c:bubble3D val="0"/>
            <c:spPr>
              <a:solidFill>
                <a:srgbClr val="1F618D"/>
              </a:solidFill>
              <a:effectLst/>
            </c:spPr>
          </c:dPt>
          <c:dPt>
            <c:idx val="29"/>
            <c:invertIfNegative val="0"/>
            <c:bubble3D val="0"/>
            <c:spPr>
              <a:solidFill>
                <a:srgbClr val="1F618D"/>
              </a:solidFill>
              <a:effectLst/>
            </c:spPr>
          </c:dPt>
          <c:dPt>
            <c:idx val="30"/>
            <c:invertIfNegative val="0"/>
            <c:bubble3D val="0"/>
            <c:spPr>
              <a:solidFill>
                <a:srgbClr val="1F618D"/>
              </a:solidFill>
              <a:effectLst/>
            </c:spPr>
          </c:dPt>
          <c:dPt>
            <c:idx val="31"/>
            <c:invertIfNegative val="0"/>
            <c:bubble3D val="0"/>
            <c:spPr>
              <a:solidFill>
                <a:srgbClr val="1F618D"/>
              </a:solidFill>
              <a:effectLst/>
            </c:spPr>
          </c:dPt>
          <c:dPt>
            <c:idx val="32"/>
            <c:invertIfNegative val="0"/>
            <c:bubble3D val="0"/>
            <c:spPr>
              <a:solidFill>
                <a:srgbClr val="1F618D"/>
              </a:solidFill>
              <a:effectLst/>
            </c:spPr>
          </c:dPt>
          <c:dPt>
            <c:idx val="33"/>
            <c:invertIfNegative val="0"/>
            <c:bubble3D val="0"/>
            <c:spPr>
              <a:solidFill>
                <a:srgbClr val="1F618D"/>
              </a:solidFill>
              <a:effectLst/>
            </c:spPr>
          </c:dPt>
          <c:dPt>
            <c:idx val="34"/>
            <c:invertIfNegative val="0"/>
            <c:bubble3D val="0"/>
            <c:spPr>
              <a:solidFill>
                <a:srgbClr val="1F618D"/>
              </a:solidFill>
              <a:effectLst/>
            </c:spPr>
          </c:dPt>
          <c:dPt>
            <c:idx val="35"/>
            <c:invertIfNegative val="0"/>
            <c:bubble3D val="0"/>
            <c:spPr>
              <a:solidFill>
                <a:srgbClr val="1F618D"/>
              </a:solidFill>
              <a:effectLst/>
            </c:spPr>
          </c:dPt>
          <c:dPt>
            <c:idx val="36"/>
            <c:invertIfNegative val="0"/>
            <c:bubble3D val="0"/>
            <c:spPr>
              <a:solidFill>
                <a:srgbClr val="1F618D"/>
              </a:solidFill>
              <a:effectLst/>
            </c:spPr>
          </c:dPt>
          <c:dPt>
            <c:idx val="37"/>
            <c:invertIfNegative val="0"/>
            <c:bubble3D val="0"/>
            <c:spPr>
              <a:solidFill>
                <a:srgbClr val="1F618D"/>
              </a:solidFill>
              <a:effectLst/>
            </c:spPr>
          </c:dPt>
          <c:cat>
            <c:multiLvlStrRef>
              <c:f>Sheet1!$A$2:$A$39</c:f>
              <c:multiLvlStrCache>
                <c:ptCount val="38"/>
                <c:lvl>
                  <c:pt idx="0">
                    <c:v>Chennai</c:v>
                  </c:pt>
                  <c:pt idx="1">
                    <c:v>Chengalpattu</c:v>
                  </c:pt>
                  <c:pt idx="2">
                    <c:v>Tiruppur</c:v>
                  </c:pt>
                  <c:pt idx="3">
                    <c:v>Coimbatore</c:v>
                  </c:pt>
                  <c:pt idx="4">
                    <c:v>Kancheepuram</c:v>
                  </c:pt>
                  <c:pt idx="5">
                    <c:v>Thiruvallur</c:v>
                  </c:pt>
                  <c:pt idx="6">
                    <c:v>Dindigul</c:v>
                  </c:pt>
                  <c:pt idx="7">
                    <c:v>Vellore</c:v>
                  </c:pt>
                  <c:pt idx="8">
                    <c:v>Erode</c:v>
                  </c:pt>
                  <c:pt idx="9">
                    <c:v>Tirunelveli</c:v>
                  </c:pt>
                  <c:pt idx="10">
                    <c:v>Tiruchirappalli</c:v>
                  </c:pt>
                  <c:pt idx="11">
                    <c:v>Madurai</c:v>
                  </c:pt>
                  <c:pt idx="12">
                    <c:v>Ranipet</c:v>
                  </c:pt>
                  <c:pt idx="13">
                    <c:v>Namakkal</c:v>
                  </c:pt>
                  <c:pt idx="14">
                    <c:v>Sivaganga</c:v>
                  </c:pt>
                  <c:pt idx="15">
                    <c:v>Thiruvarur</c:v>
                  </c:pt>
                  <c:pt idx="16">
                    <c:v>Salem</c:v>
                  </c:pt>
                  <c:pt idx="17">
                    <c:v>Tiruvannamalai</c:v>
                  </c:pt>
                  <c:pt idx="18">
                    <c:v>Tirupathur</c:v>
                  </c:pt>
                  <c:pt idx="19">
                    <c:v>Virudhunagar</c:v>
                  </c:pt>
                  <c:pt idx="20">
                    <c:v>Cuddalore</c:v>
                  </c:pt>
                  <c:pt idx="21">
                    <c:v>Theni</c:v>
                  </c:pt>
                  <c:pt idx="22">
                    <c:v>Tenkasi</c:v>
                  </c:pt>
                  <c:pt idx="23">
                    <c:v>Thoothukudi</c:v>
                  </c:pt>
                  <c:pt idx="24">
                    <c:v>Viluppuram</c:v>
                  </c:pt>
                  <c:pt idx="25">
                    <c:v>Krishnagiri</c:v>
                  </c:pt>
                  <c:pt idx="26">
                    <c:v>Nagapattinam</c:v>
                  </c:pt>
                  <c:pt idx="27">
                    <c:v>Pudukkottai</c:v>
                  </c:pt>
                  <c:pt idx="28">
                    <c:v>Thanjavur</c:v>
                  </c:pt>
                  <c:pt idx="29">
                    <c:v>Ramanathapuram</c:v>
                  </c:pt>
                  <c:pt idx="30">
                    <c:v>Kanniyakumari</c:v>
                  </c:pt>
                  <c:pt idx="31">
                    <c:v>Mayiladuthurai</c:v>
                  </c:pt>
                  <c:pt idx="32">
                    <c:v>The Nilgiris</c:v>
                  </c:pt>
                  <c:pt idx="33">
                    <c:v>Karur</c:v>
                  </c:pt>
                  <c:pt idx="34">
                    <c:v>Perambalur</c:v>
                  </c:pt>
                  <c:pt idx="35">
                    <c:v>Kallakurichi</c:v>
                  </c:pt>
                  <c:pt idx="36">
                    <c:v>Dharmapuri</c:v>
                  </c:pt>
                  <c:pt idx="37">
                    <c:v>Ariyalur</c:v>
                  </c:pt>
                </c:lvl>
              </c:multiLvlStrCache>
            </c:multiLvlStrRef>
          </c:cat>
          <c:val>
            <c:numRef>
              <c:f>Sheet1!$B$2:$B$39</c:f>
              <c:numCache>
                <c:formatCode>General</c:formatCode>
                <c:ptCount val="38"/>
                <c:pt idx="0">
                  <c:v>35.5837</c:v>
                </c:pt>
                <c:pt idx="1">
                  <c:v>25.1805</c:v>
                </c:pt>
                <c:pt idx="2">
                  <c:v>23.0594</c:v>
                </c:pt>
                <c:pt idx="3">
                  <c:v>20.1721</c:v>
                </c:pt>
                <c:pt idx="4">
                  <c:v>19.5743</c:v>
                </c:pt>
                <c:pt idx="5">
                  <c:v>17.3014</c:v>
                </c:pt>
                <c:pt idx="6">
                  <c:v>16.7952</c:v>
                </c:pt>
                <c:pt idx="7">
                  <c:v>16.5019</c:v>
                </c:pt>
                <c:pt idx="8">
                  <c:v>16.2944</c:v>
                </c:pt>
                <c:pt idx="9">
                  <c:v>15.1557</c:v>
                </c:pt>
                <c:pt idx="10">
                  <c:v>14.0056</c:v>
                </c:pt>
                <c:pt idx="11">
                  <c:v>13.8827</c:v>
                </c:pt>
                <c:pt idx="12">
                  <c:v>13.7238</c:v>
                </c:pt>
                <c:pt idx="13">
                  <c:v>13.2073</c:v>
                </c:pt>
                <c:pt idx="14">
                  <c:v>12.2631</c:v>
                </c:pt>
                <c:pt idx="15">
                  <c:v>12.0382</c:v>
                </c:pt>
                <c:pt idx="16">
                  <c:v>11.9592</c:v>
                </c:pt>
                <c:pt idx="17">
                  <c:v>11.8838</c:v>
                </c:pt>
                <c:pt idx="18">
                  <c:v>11.6808</c:v>
                </c:pt>
                <c:pt idx="19">
                  <c:v>11.6794</c:v>
                </c:pt>
                <c:pt idx="20">
                  <c:v>11.2519</c:v>
                </c:pt>
                <c:pt idx="21">
                  <c:v>11.1244</c:v>
                </c:pt>
                <c:pt idx="22">
                  <c:v>11.0467</c:v>
                </c:pt>
                <c:pt idx="23">
                  <c:v>10.9028</c:v>
                </c:pt>
                <c:pt idx="24">
                  <c:v>10.5856</c:v>
                </c:pt>
                <c:pt idx="25">
                  <c:v>10.386</c:v>
                </c:pt>
                <c:pt idx="26">
                  <c:v>10.0995</c:v>
                </c:pt>
                <c:pt idx="27">
                  <c:v>10.0126</c:v>
                </c:pt>
                <c:pt idx="28">
                  <c:v>9.8402</c:v>
                </c:pt>
                <c:pt idx="29">
                  <c:v>9.71</c:v>
                </c:pt>
                <c:pt idx="30">
                  <c:v>9.6287</c:v>
                </c:pt>
                <c:pt idx="31">
                  <c:v>9.6207</c:v>
                </c:pt>
                <c:pt idx="32">
                  <c:v>9.5204</c:v>
                </c:pt>
                <c:pt idx="33">
                  <c:v>8.8706</c:v>
                </c:pt>
                <c:pt idx="34">
                  <c:v>8.391</c:v>
                </c:pt>
                <c:pt idx="35">
                  <c:v>7.2659</c:v>
                </c:pt>
                <c:pt idx="36">
                  <c:v>6.3414</c:v>
                </c:pt>
                <c:pt idx="37">
                  <c:v>4.59</c:v>
                </c:pt>
              </c:numCache>
            </c:numRef>
          </c:val>
        </c:ser>
        <c:dLbls>
          <c:numFmt formatCode="0.0" sourceLinked="0"/>
          <c:txPr>
            <a:bodyPr/>
            <a:lstStyle/>
            <a:p>
              <a:pPr>
                <a:defRPr b="0" i="0" strike="noStrike" sz="7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Dead</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Chennai</c:v>
                  </c:pt>
                  <c:pt idx="1">
                    <c:v>Chengalpattu</c:v>
                  </c:pt>
                  <c:pt idx="2">
                    <c:v>Tiruppur</c:v>
                  </c:pt>
                  <c:pt idx="3">
                    <c:v>Coimbatore</c:v>
                  </c:pt>
                  <c:pt idx="4">
                    <c:v>Kancheepuram</c:v>
                  </c:pt>
                  <c:pt idx="5">
                    <c:v>Thiruvallur</c:v>
                  </c:pt>
                  <c:pt idx="6">
                    <c:v>Dindigul</c:v>
                  </c:pt>
                  <c:pt idx="7">
                    <c:v>Vellore</c:v>
                  </c:pt>
                  <c:pt idx="8">
                    <c:v>Erode</c:v>
                  </c:pt>
                  <c:pt idx="9">
                    <c:v>Tirunelveli</c:v>
                  </c:pt>
                  <c:pt idx="10">
                    <c:v>Tiruchirappalli</c:v>
                  </c:pt>
                  <c:pt idx="11">
                    <c:v>Madurai</c:v>
                  </c:pt>
                </c:lvl>
              </c:multiLvlStrCache>
            </c:multiLvlStrRef>
          </c:cat>
          <c:val>
            <c:numRef>
              <c:f>Sheet1!$B$2:$B$13</c:f>
              <c:numCache>
                <c:formatCode>General</c:formatCode>
                <c:ptCount val="12"/>
                <c:pt idx="0">
                  <c:v>11</c:v>
                </c:pt>
                <c:pt idx="1">
                  <c:v>15.8</c:v>
                </c:pt>
                <c:pt idx="2">
                  <c:v>28.1</c:v>
                </c:pt>
                <c:pt idx="3">
                  <c:v>18.4</c:v>
                </c:pt>
                <c:pt idx="4">
                  <c:v>21</c:v>
                </c:pt>
                <c:pt idx="5">
                  <c:v>21.8</c:v>
                </c:pt>
                <c:pt idx="6">
                  <c:v>33.2</c:v>
                </c:pt>
                <c:pt idx="7">
                  <c:v>22.5</c:v>
                </c:pt>
                <c:pt idx="8">
                  <c:v>30.1</c:v>
                </c:pt>
                <c:pt idx="9">
                  <c:v>38.8</c:v>
                </c:pt>
                <c:pt idx="10">
                  <c:v>35.2</c:v>
                </c:pt>
                <c:pt idx="11">
                  <c:v>24.8</c:v>
                </c:pt>
              </c:numCache>
            </c:numRef>
          </c:val>
        </c:ser>
        <c:ser>
          <c:idx val="1"/>
          <c:order val="1"/>
          <c:tx>
            <c:strRef>
              <c:f>Sheet1!$C$1</c:f>
              <c:strCache>
                <c:ptCount val="1"/>
                <c:pt idx="0">
                  <c:v>Shifted or absent</c:v>
                </c:pt>
              </c:strCache>
            </c:strRef>
          </c:tx>
          <c:spPr>
            <a:solidFill>
              <a:srgbClr val="1F618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Chennai</c:v>
                  </c:pt>
                  <c:pt idx="1">
                    <c:v>Chengalpattu</c:v>
                  </c:pt>
                  <c:pt idx="2">
                    <c:v>Tiruppur</c:v>
                  </c:pt>
                  <c:pt idx="3">
                    <c:v>Coimbatore</c:v>
                  </c:pt>
                  <c:pt idx="4">
                    <c:v>Kancheepuram</c:v>
                  </c:pt>
                  <c:pt idx="5">
                    <c:v>Thiruvallur</c:v>
                  </c:pt>
                  <c:pt idx="6">
                    <c:v>Dindigul</c:v>
                  </c:pt>
                  <c:pt idx="7">
                    <c:v>Vellore</c:v>
                  </c:pt>
                  <c:pt idx="8">
                    <c:v>Erode</c:v>
                  </c:pt>
                  <c:pt idx="9">
                    <c:v>Tirunelveli</c:v>
                  </c:pt>
                  <c:pt idx="10">
                    <c:v>Tiruchirappalli</c:v>
                  </c:pt>
                  <c:pt idx="11">
                    <c:v>Madurai</c:v>
                  </c:pt>
                </c:lvl>
              </c:multiLvlStrCache>
            </c:multiLvlStrRef>
          </c:cat>
          <c:val>
            <c:numRef>
              <c:f>Sheet1!$C$2:$C$13</c:f>
              <c:numCache>
                <c:formatCode>General</c:formatCode>
                <c:ptCount val="12"/>
                <c:pt idx="0">
                  <c:v>87.7</c:v>
                </c:pt>
                <c:pt idx="1">
                  <c:v>80.9</c:v>
                </c:pt>
                <c:pt idx="2">
                  <c:v>67.9</c:v>
                </c:pt>
                <c:pt idx="3">
                  <c:v>78.1</c:v>
                </c:pt>
                <c:pt idx="4">
                  <c:v>75.1</c:v>
                </c:pt>
                <c:pt idx="5">
                  <c:v>74.9</c:v>
                </c:pt>
                <c:pt idx="6">
                  <c:v>60.5</c:v>
                </c:pt>
                <c:pt idx="7">
                  <c:v>72.9</c:v>
                </c:pt>
                <c:pt idx="8">
                  <c:v>65.9</c:v>
                </c:pt>
                <c:pt idx="9">
                  <c:v>55.7</c:v>
                </c:pt>
                <c:pt idx="10">
                  <c:v>61.9</c:v>
                </c:pt>
                <c:pt idx="11">
                  <c:v>72.2</c:v>
                </c:pt>
              </c:numCache>
            </c:numRef>
          </c:val>
        </c:ser>
        <c:ser>
          <c:idx val="2"/>
          <c:order val="2"/>
          <c:tx>
            <c:strRef>
              <c:f>Sheet1!$D$1</c:f>
              <c:strCache>
                <c:ptCount val="1"/>
                <c:pt idx="0">
                  <c:v>In more than one place</c:v>
                </c:pt>
              </c:strCache>
            </c:strRef>
          </c:tx>
          <c:spPr>
            <a:solidFill>
              <a:srgbClr val="D4AC0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Chennai</c:v>
                  </c:pt>
                  <c:pt idx="1">
                    <c:v>Chengalpattu</c:v>
                  </c:pt>
                  <c:pt idx="2">
                    <c:v>Tiruppur</c:v>
                  </c:pt>
                  <c:pt idx="3">
                    <c:v>Coimbatore</c:v>
                  </c:pt>
                  <c:pt idx="4">
                    <c:v>Kancheepuram</c:v>
                  </c:pt>
                  <c:pt idx="5">
                    <c:v>Thiruvallur</c:v>
                  </c:pt>
                  <c:pt idx="6">
                    <c:v>Dindigul</c:v>
                  </c:pt>
                  <c:pt idx="7">
                    <c:v>Vellore</c:v>
                  </c:pt>
                  <c:pt idx="8">
                    <c:v>Erode</c:v>
                  </c:pt>
                  <c:pt idx="9">
                    <c:v>Tirunelveli</c:v>
                  </c:pt>
                  <c:pt idx="10">
                    <c:v>Tiruchirappalli</c:v>
                  </c:pt>
                  <c:pt idx="11">
                    <c:v>Madurai</c:v>
                  </c:pt>
                </c:lvl>
              </c:multiLvlStrCache>
            </c:multiLvlStrRef>
          </c:cat>
          <c:val>
            <c:numRef>
              <c:f>Sheet1!$D$2:$D$13</c:f>
              <c:numCache>
                <c:formatCode>General</c:formatCode>
                <c:ptCount val="12"/>
                <c:pt idx="0">
                  <c:v>1.3</c:v>
                </c:pt>
                <c:pt idx="1">
                  <c:v>3.4</c:v>
                </c:pt>
                <c:pt idx="2">
                  <c:v>4</c:v>
                </c:pt>
                <c:pt idx="3">
                  <c:v>3.6</c:v>
                </c:pt>
                <c:pt idx="4">
                  <c:v>3.9</c:v>
                </c:pt>
                <c:pt idx="5">
                  <c:v>3.3</c:v>
                </c:pt>
                <c:pt idx="6">
                  <c:v>6.2</c:v>
                </c:pt>
                <c:pt idx="7">
                  <c:v>4.7</c:v>
                </c:pt>
                <c:pt idx="8">
                  <c:v>4.1</c:v>
                </c:pt>
                <c:pt idx="9">
                  <c:v>5.6</c:v>
                </c:pt>
                <c:pt idx="10">
                  <c:v>3</c:v>
                </c:pt>
                <c:pt idx="11">
                  <c:v>3</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Dead</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Sheet1!$A$2:$A$17</c:f>
              <c:multiLvlStrCache>
                <c:ptCount val="16"/>
                <c:lvl>
                  <c:pt idx="0">
                    <c:v>Anna Nagar</c:v>
                  </c:pt>
                  <c:pt idx="1">
                    <c:v>Thiyagarayanagar</c:v>
                  </c:pt>
                  <c:pt idx="2">
                    <c:v>Thousand Lights</c:v>
                  </c:pt>
                  <c:pt idx="3">
                    <c:v>Villivakkam</c:v>
                  </c:pt>
                  <c:pt idx="4">
                    <c:v>Velachery</c:v>
                  </c:pt>
                  <c:pt idx="5">
                    <c:v>Virugampakkam</c:v>
                  </c:pt>
                  <c:pt idx="6">
                    <c:v>Harbour</c:v>
                  </c:pt>
                  <c:pt idx="7">
                    <c:v>Egmore</c:v>
                  </c:pt>
                  <c:pt idx="8">
                    <c:v>Chepauk-Thiruvallikeni</c:v>
                  </c:pt>
                  <c:pt idx="9">
                    <c:v>Kolathur</c:v>
                  </c:pt>
                  <c:pt idx="10">
                    <c:v>Perambur</c:v>
                  </c:pt>
                  <c:pt idx="11">
                    <c:v>Mylapore</c:v>
                  </c:pt>
                  <c:pt idx="12">
                    <c:v>Saidapet</c:v>
                  </c:pt>
                  <c:pt idx="13">
                    <c:v>Thiru-Vi-Ka-Nagar</c:v>
                  </c:pt>
                  <c:pt idx="14">
                    <c:v>Royapuram</c:v>
                  </c:pt>
                  <c:pt idx="15">
                    <c:v>Dr.Radhakrishnan Nagar</c:v>
                  </c:pt>
                </c:lvl>
              </c:multiLvlStrCache>
            </c:multiLvlStrRef>
          </c:cat>
          <c:val>
            <c:numRef>
              <c:f>Sheet1!$B$2:$B$17</c:f>
              <c:numCache>
                <c:formatCode>General</c:formatCode>
                <c:ptCount val="16"/>
                <c:pt idx="0">
                  <c:v>3.1</c:v>
                </c:pt>
                <c:pt idx="1">
                  <c:v>4</c:v>
                </c:pt>
                <c:pt idx="2">
                  <c:v>4.4</c:v>
                </c:pt>
                <c:pt idx="3">
                  <c:v>3.4</c:v>
                </c:pt>
                <c:pt idx="4">
                  <c:v>4.2</c:v>
                </c:pt>
                <c:pt idx="5">
                  <c:v>2.8</c:v>
                </c:pt>
                <c:pt idx="6">
                  <c:v>4.4</c:v>
                </c:pt>
                <c:pt idx="7">
                  <c:v>5.1</c:v>
                </c:pt>
                <c:pt idx="8">
                  <c:v>4.8</c:v>
                </c:pt>
                <c:pt idx="9">
                  <c:v>4.5</c:v>
                </c:pt>
                <c:pt idx="10">
                  <c:v>4.1</c:v>
                </c:pt>
                <c:pt idx="11">
                  <c:v>1.8</c:v>
                </c:pt>
                <c:pt idx="12">
                  <c:v>4.4</c:v>
                </c:pt>
                <c:pt idx="13">
                  <c:v>4.2</c:v>
                </c:pt>
                <c:pt idx="14">
                  <c:v>5.2</c:v>
                </c:pt>
                <c:pt idx="15">
                  <c:v>3</c:v>
                </c:pt>
              </c:numCache>
            </c:numRef>
          </c:val>
        </c:ser>
        <c:ser>
          <c:idx val="1"/>
          <c:order val="1"/>
          <c:tx>
            <c:strRef>
              <c:f>Sheet1!$C$1</c:f>
              <c:strCache>
                <c:ptCount val="1"/>
                <c:pt idx="0">
                  <c:v>Shifted or absent</c:v>
                </c:pt>
              </c:strCache>
            </c:strRef>
          </c:tx>
          <c:spPr>
            <a:solidFill>
              <a:srgbClr val="1F618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Sheet1!$A$2:$A$17</c:f>
              <c:multiLvlStrCache>
                <c:ptCount val="16"/>
                <c:lvl>
                  <c:pt idx="0">
                    <c:v>Anna Nagar</c:v>
                  </c:pt>
                  <c:pt idx="1">
                    <c:v>Thiyagarayanagar</c:v>
                  </c:pt>
                  <c:pt idx="2">
                    <c:v>Thousand Lights</c:v>
                  </c:pt>
                  <c:pt idx="3">
                    <c:v>Villivakkam</c:v>
                  </c:pt>
                  <c:pt idx="4">
                    <c:v>Velachery</c:v>
                  </c:pt>
                  <c:pt idx="5">
                    <c:v>Virugampakkam</c:v>
                  </c:pt>
                  <c:pt idx="6">
                    <c:v>Harbour</c:v>
                  </c:pt>
                  <c:pt idx="7">
                    <c:v>Egmore</c:v>
                  </c:pt>
                  <c:pt idx="8">
                    <c:v>Chepauk-Thiruvallikeni</c:v>
                  </c:pt>
                  <c:pt idx="9">
                    <c:v>Kolathur</c:v>
                  </c:pt>
                  <c:pt idx="10">
                    <c:v>Perambur</c:v>
                  </c:pt>
                  <c:pt idx="11">
                    <c:v>Mylapore</c:v>
                  </c:pt>
                  <c:pt idx="12">
                    <c:v>Saidapet</c:v>
                  </c:pt>
                  <c:pt idx="13">
                    <c:v>Thiru-Vi-Ka-Nagar</c:v>
                  </c:pt>
                  <c:pt idx="14">
                    <c:v>Royapuram</c:v>
                  </c:pt>
                  <c:pt idx="15">
                    <c:v>Dr.Radhakrishnan Nagar</c:v>
                  </c:pt>
                </c:lvl>
              </c:multiLvlStrCache>
            </c:multiLvlStrRef>
          </c:cat>
          <c:val>
            <c:numRef>
              <c:f>Sheet1!$C$2:$C$17</c:f>
              <c:numCache>
                <c:formatCode>General</c:formatCode>
                <c:ptCount val="16"/>
                <c:pt idx="0">
                  <c:v>38.8</c:v>
                </c:pt>
                <c:pt idx="1">
                  <c:v>36.4</c:v>
                </c:pt>
                <c:pt idx="2">
                  <c:v>35.8</c:v>
                </c:pt>
                <c:pt idx="3">
                  <c:v>36.9</c:v>
                </c:pt>
                <c:pt idx="4">
                  <c:v>35.5</c:v>
                </c:pt>
                <c:pt idx="5">
                  <c:v>35.5</c:v>
                </c:pt>
                <c:pt idx="6">
                  <c:v>33.4</c:v>
                </c:pt>
                <c:pt idx="7">
                  <c:v>32.2</c:v>
                </c:pt>
                <c:pt idx="8">
                  <c:v>31.8</c:v>
                </c:pt>
                <c:pt idx="9">
                  <c:v>30.7</c:v>
                </c:pt>
                <c:pt idx="10">
                  <c:v>28.2</c:v>
                </c:pt>
                <c:pt idx="11">
                  <c:v>30.6</c:v>
                </c:pt>
                <c:pt idx="12">
                  <c:v>27.2</c:v>
                </c:pt>
                <c:pt idx="13">
                  <c:v>21.4</c:v>
                </c:pt>
                <c:pt idx="14">
                  <c:v>20.1</c:v>
                </c:pt>
                <c:pt idx="15">
                  <c:v>20.8</c:v>
                </c:pt>
              </c:numCache>
            </c:numRef>
          </c:val>
        </c:ser>
        <c:ser>
          <c:idx val="2"/>
          <c:order val="2"/>
          <c:tx>
            <c:strRef>
              <c:f>Sheet1!$D$1</c:f>
              <c:strCache>
                <c:ptCount val="1"/>
                <c:pt idx="0">
                  <c:v>In more than one place</c:v>
                </c:pt>
              </c:strCache>
            </c:strRef>
          </c:tx>
          <c:spPr>
            <a:solidFill>
              <a:srgbClr val="D4AC0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Sheet1!$A$2:$A$17</c:f>
              <c:multiLvlStrCache>
                <c:ptCount val="16"/>
                <c:lvl>
                  <c:pt idx="0">
                    <c:v>Anna Nagar</c:v>
                  </c:pt>
                  <c:pt idx="1">
                    <c:v>Thiyagarayanagar</c:v>
                  </c:pt>
                  <c:pt idx="2">
                    <c:v>Thousand Lights</c:v>
                  </c:pt>
                  <c:pt idx="3">
                    <c:v>Villivakkam</c:v>
                  </c:pt>
                  <c:pt idx="4">
                    <c:v>Velachery</c:v>
                  </c:pt>
                  <c:pt idx="5">
                    <c:v>Virugampakkam</c:v>
                  </c:pt>
                  <c:pt idx="6">
                    <c:v>Harbour</c:v>
                  </c:pt>
                  <c:pt idx="7">
                    <c:v>Egmore</c:v>
                  </c:pt>
                  <c:pt idx="8">
                    <c:v>Chepauk-Thiruvallikeni</c:v>
                  </c:pt>
                  <c:pt idx="9">
                    <c:v>Kolathur</c:v>
                  </c:pt>
                  <c:pt idx="10">
                    <c:v>Perambur</c:v>
                  </c:pt>
                  <c:pt idx="11">
                    <c:v>Mylapore</c:v>
                  </c:pt>
                  <c:pt idx="12">
                    <c:v>Saidapet</c:v>
                  </c:pt>
                  <c:pt idx="13">
                    <c:v>Thiru-Vi-Ka-Nagar</c:v>
                  </c:pt>
                  <c:pt idx="14">
                    <c:v>Royapuram</c:v>
                  </c:pt>
                  <c:pt idx="15">
                    <c:v>Dr.Radhakrishnan Nagar</c:v>
                  </c:pt>
                </c:lvl>
              </c:multiLvlStrCache>
            </c:multiLvlStrRef>
          </c:cat>
          <c:val>
            <c:numRef>
              <c:f>Sheet1!$D$2:$D$17</c:f>
              <c:numCache>
                <c:formatCode>General</c:formatCode>
                <c:ptCount val="16"/>
                <c:pt idx="0">
                  <c:v>0.2</c:v>
                </c:pt>
                <c:pt idx="1">
                  <c:v>0.4</c:v>
                </c:pt>
                <c:pt idx="2">
                  <c:v>0.5</c:v>
                </c:pt>
                <c:pt idx="3">
                  <c:v>0.4</c:v>
                </c:pt>
                <c:pt idx="4">
                  <c:v>0.5</c:v>
                </c:pt>
                <c:pt idx="5">
                  <c:v>0.5</c:v>
                </c:pt>
                <c:pt idx="6">
                  <c:v>0.9</c:v>
                </c:pt>
                <c:pt idx="7">
                  <c:v>0.6</c:v>
                </c:pt>
                <c:pt idx="8">
                  <c:v>0.5</c:v>
                </c:pt>
                <c:pt idx="9">
                  <c:v>0.5</c:v>
                </c:pt>
                <c:pt idx="10">
                  <c:v>0.4</c:v>
                </c:pt>
                <c:pt idx="11">
                  <c:v>0.1</c:v>
                </c:pt>
                <c:pt idx="12">
                  <c:v>0.3</c:v>
                </c:pt>
                <c:pt idx="13">
                  <c:v>0.8</c:v>
                </c:pt>
                <c:pt idx="14">
                  <c:v>0.7</c:v>
                </c:pt>
                <c:pt idx="15">
                  <c:v>0.4</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At the draft</c:v>
                </c:pt>
              </c:strCache>
            </c:strRef>
          </c:tx>
          <c:spPr>
            <a:solidFill>
              <a:srgbClr val="AEB6BF"/>
            </a:solidFill>
            <a:effectLst/>
          </c:spPr>
          <c:invertIfNegative val="0"/>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Chennai</c:v>
                  </c:pt>
                  <c:pt idx="1">
                    <c:v>Chengalpattu</c:v>
                  </c:pt>
                  <c:pt idx="2">
                    <c:v>Tiruppur</c:v>
                  </c:pt>
                  <c:pt idx="3">
                    <c:v>Coimbatore</c:v>
                  </c:pt>
                  <c:pt idx="4">
                    <c:v>Kancheepuram</c:v>
                  </c:pt>
                  <c:pt idx="5">
                    <c:v>Thiruvallur</c:v>
                  </c:pt>
                  <c:pt idx="6">
                    <c:v>Dindigul</c:v>
                  </c:pt>
                  <c:pt idx="7">
                    <c:v>Vellore</c:v>
                  </c:pt>
                  <c:pt idx="8">
                    <c:v>Erode</c:v>
                  </c:pt>
                  <c:pt idx="9">
                    <c:v>Tirunelveli</c:v>
                  </c:pt>
                  <c:pt idx="10">
                    <c:v>Tiruchirappalli</c:v>
                  </c:pt>
                  <c:pt idx="11">
                    <c:v>Madurai</c:v>
                  </c:pt>
                </c:lvl>
              </c:multiLvlStrCache>
            </c:multiLvlStrRef>
          </c:cat>
          <c:val>
            <c:numRef>
              <c:f>Sheet1!$B$2:$B$13</c:f>
              <c:numCache>
                <c:formatCode>General</c:formatCode>
                <c:ptCount val="12"/>
                <c:pt idx="0">
                  <c:v>35.5837</c:v>
                </c:pt>
                <c:pt idx="1">
                  <c:v>25.1805</c:v>
                </c:pt>
                <c:pt idx="2">
                  <c:v>23.0594</c:v>
                </c:pt>
                <c:pt idx="3">
                  <c:v>20.1721</c:v>
                </c:pt>
                <c:pt idx="4">
                  <c:v>19.5743</c:v>
                </c:pt>
                <c:pt idx="5">
                  <c:v>17.3014</c:v>
                </c:pt>
                <c:pt idx="6">
                  <c:v>16.7952</c:v>
                </c:pt>
                <c:pt idx="7">
                  <c:v>16.5019</c:v>
                </c:pt>
                <c:pt idx="8">
                  <c:v>16.2944</c:v>
                </c:pt>
                <c:pt idx="9">
                  <c:v>15.1557</c:v>
                </c:pt>
                <c:pt idx="10">
                  <c:v>14.0056</c:v>
                </c:pt>
                <c:pt idx="11">
                  <c:v>13.8827</c:v>
                </c:pt>
              </c:numCache>
            </c:numRef>
          </c:val>
        </c:ser>
        <c:ser>
          <c:idx val="1"/>
          <c:order val="1"/>
          <c:tx>
            <c:strRef>
              <c:f>Sheet1!$C$1</c:f>
              <c:strCache>
                <c:ptCount val="1"/>
                <c:pt idx="0">
                  <c:v>At the final roll</c:v>
                </c:pt>
              </c:strCache>
            </c:strRef>
          </c:tx>
          <c:spPr>
            <a:solidFill>
              <a:srgbClr val="8E442B"/>
            </a:solidFill>
            <a:effectLst/>
          </c:spPr>
          <c:invertIfNegative val="0"/>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Chennai</c:v>
                  </c:pt>
                  <c:pt idx="1">
                    <c:v>Chengalpattu</c:v>
                  </c:pt>
                  <c:pt idx="2">
                    <c:v>Tiruppur</c:v>
                  </c:pt>
                  <c:pt idx="3">
                    <c:v>Coimbatore</c:v>
                  </c:pt>
                  <c:pt idx="4">
                    <c:v>Kancheepuram</c:v>
                  </c:pt>
                  <c:pt idx="5">
                    <c:v>Thiruvallur</c:v>
                  </c:pt>
                  <c:pt idx="6">
                    <c:v>Dindigul</c:v>
                  </c:pt>
                  <c:pt idx="7">
                    <c:v>Vellore</c:v>
                  </c:pt>
                  <c:pt idx="8">
                    <c:v>Erode</c:v>
                  </c:pt>
                  <c:pt idx="9">
                    <c:v>Tirunelveli</c:v>
                  </c:pt>
                  <c:pt idx="10">
                    <c:v>Tiruchirappalli</c:v>
                  </c:pt>
                  <c:pt idx="11">
                    <c:v>Madurai</c:v>
                  </c:pt>
                </c:lvl>
              </c:multiLvlStrCache>
            </c:multiLvlStrRef>
          </c:cat>
          <c:val>
            <c:numRef>
              <c:f>Sheet1!$C$2:$C$13</c:f>
              <c:numCache>
                <c:formatCode>General</c:formatCode>
                <c:ptCount val="12"/>
                <c:pt idx="0">
                  <c:v>29.3096</c:v>
                </c:pt>
                <c:pt idx="1">
                  <c:v>18.9185</c:v>
                </c:pt>
                <c:pt idx="2">
                  <c:v>20.027</c:v>
                </c:pt>
                <c:pt idx="3">
                  <c:v>16.383</c:v>
                </c:pt>
                <c:pt idx="4">
                  <c:v>14.9161</c:v>
                </c:pt>
                <c:pt idx="5">
                  <c:v>11.8589</c:v>
                </c:pt>
                <c:pt idx="6">
                  <c:v>13.5632</c:v>
                </c:pt>
                <c:pt idx="7">
                  <c:v>13.0038</c:v>
                </c:pt>
                <c:pt idx="8">
                  <c:v>12.8664</c:v>
                </c:pt>
                <c:pt idx="9">
                  <c:v>11.6377</c:v>
                </c:pt>
                <c:pt idx="10">
                  <c:v>10.2435</c:v>
                </c:pt>
                <c:pt idx="11">
                  <c:v>9.9859</c:v>
                </c:pt>
              </c:numCache>
            </c:numRef>
          </c:val>
        </c:ser>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Seats</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5A5A6"/>
              </a:solidFill>
              <a:effectLst/>
            </c:spPr>
          </c:dPt>
          <c:dPt>
            <c:idx val="1"/>
            <c:invertIfNegative val="0"/>
            <c:bubble3D val="0"/>
            <c:spPr>
              <a:solidFill>
                <a:srgbClr val="8E442B"/>
              </a:solidFill>
              <a:effectLst/>
            </c:spPr>
          </c:dPt>
          <c:dPt>
            <c:idx val="2"/>
            <c:invertIfNegative val="0"/>
            <c:bubble3D val="0"/>
            <c:spPr>
              <a:solidFill>
                <a:srgbClr val="8E442B"/>
              </a:solidFill>
              <a:effectLst/>
            </c:spPr>
          </c:dPt>
          <c:dPt>
            <c:idx val="3"/>
            <c:invertIfNegative val="0"/>
            <c:bubble3D val="0"/>
            <c:spPr>
              <a:solidFill>
                <a:srgbClr val="8E442B"/>
              </a:solidFill>
              <a:effectLst/>
            </c:spPr>
          </c:dPt>
          <c:dPt>
            <c:idx val="4"/>
            <c:invertIfNegative val="0"/>
            <c:bubble3D val="0"/>
            <c:spPr>
              <a:solidFill>
                <a:srgbClr val="8E442B"/>
              </a:solidFill>
              <a:effectLst/>
            </c:spPr>
          </c:dPt>
          <c:cat>
            <c:multiLvlStrRef>
              <c:f>Sheet1!$A$2:$A$6</c:f>
              <c:multiLvlStrCache>
                <c:ptCount val="5"/>
                <c:lvl>
                  <c:pt idx="0">
                    <c:v>under 1×</c:v>
                  </c:pt>
                  <c:pt idx="1">
                    <c:v>1 to 2×</c:v>
                  </c:pt>
                  <c:pt idx="2">
                    <c:v>2 to 5×</c:v>
                  </c:pt>
                  <c:pt idx="3">
                    <c:v>5 to 10×</c:v>
                  </c:pt>
                  <c:pt idx="4">
                    <c:v>10× or more</c:v>
                  </c:pt>
                </c:lvl>
              </c:multiLvlStrCache>
            </c:multiLvlStrRef>
          </c:cat>
          <c:val>
            <c:numRef>
              <c:f>Sheet1!$B$2:$B$6</c:f>
              <c:numCache>
                <c:formatCode>General</c:formatCode>
                <c:ptCount val="5"/>
                <c:pt idx="0">
                  <c:v>23</c:v>
                </c:pt>
                <c:pt idx="1">
                  <c:v>44</c:v>
                </c:pt>
                <c:pt idx="2">
                  <c:v>85</c:v>
                </c:pt>
                <c:pt idx="3">
                  <c:v>39</c:v>
                </c:pt>
                <c:pt idx="4">
                  <c:v>43</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D5B69"/>
                    </a:solidFill>
                    <a:latin typeface="Arial"/>
                  </a:defRPr>
                </a:pPr>
                <a:r>
                  <a:rPr sz="1100" b="0" i="0" u="none" strike="noStrike">
                    <a:solidFill>
                      <a:srgbClr val="4D5B69"/>
                    </a:solidFill>
                    <a:latin typeface="Arial"/>
                  </a:rPr>
                  <a:t>Names left off as a multiple of the margin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Intensive Revision (SIR) is the Election Commission's house-to-house recheck of the electoral roll, the list of people entitled to vote. The draft roll is the roll published after that check, and the final roll the one published once claims and objections are decided. Every figure in this deck is computed from the Chief Electoral Officer's tables and the 2026 results, the same data the website and the full report use. No name or EPIC number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100 electors is the number removed for every 100 people on the roll before the revision, which lets places of different size be compared. The winning margin is the winner's votes less the runner-up's.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bars start above zero so that the changes can be seen. The roll before the revision is the draft plus the names left off, because no constituency table of that roll was published. A reason on the list is what the officer wrote down, and nobody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rank correlation runs from -1 to 1 and measures how far two orderings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list of removals can show intent. Over the margin means large enough to decide a seat, and says nothing about whether the removals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own district is each seat's rate less its district's, averaged over the party's seats. A minus means fewer removals than the district as a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E3420"/>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365760"/>
          </a:xfrm>
          <a:prstGeom prst="rect">
            <a:avLst/>
          </a:prstGeom>
          <a:noFill/>
          <a:ln/>
        </p:spPr>
        <p:txBody>
          <a:bodyPr wrap="square" lIns="0" tIns="0" rIns="0" bIns="0" rtlCol="0" anchor="ctr"/>
          <a:lstStyle/>
          <a:p>
            <a:pPr indent="0" marL="0">
              <a:buNone/>
            </a:pPr>
            <a:r>
              <a:rPr lang="en-US" sz="1300" b="1" spc="300" kern="0" dirty="0">
                <a:solidFill>
                  <a:srgbClr val="F2DCCB"/>
                </a:solidFill>
                <a:latin typeface="Calibri" pitchFamily="34" charset="0"/>
                <a:ea typeface="Calibri" pitchFamily="34" charset="-122"/>
                <a:cs typeface="Calibri" pitchFamily="34" charset="-120"/>
              </a:rPr>
              <a:t>SPECIAL INTENSIVE REVISION · TAMIL NADU 2026</a:t>
            </a:r>
            <a:endParaRPr lang="en-US" sz="1300" dirty="0"/>
          </a:p>
        </p:txBody>
      </p:sp>
      <p:sp>
        <p:nvSpPr>
          <p:cNvPr id="3" name="Text 1"/>
          <p:cNvSpPr txBox="1"/>
          <p:nvPr/>
        </p:nvSpPr>
        <p:spPr>
          <a:xfrm>
            <a:off x="548640" y="1051560"/>
            <a:ext cx="11094415" cy="128016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The revision left 97.4 lakh names off Tamil Nadu's draft roll</a:t>
            </a:r>
            <a:endParaRPr lang="en-US" sz="3800" dirty="0"/>
          </a:p>
        </p:txBody>
      </p:sp>
      <p:sp>
        <p:nvSpPr>
          <p:cNvPr id="4" name="Text 2"/>
          <p:cNvSpPr txBox="1"/>
          <p:nvPr/>
        </p:nvSpPr>
        <p:spPr>
          <a:xfrm>
            <a:off x="548640" y="2377440"/>
            <a:ext cx="10180015" cy="731520"/>
          </a:xfrm>
          <a:prstGeom prst="rect">
            <a:avLst/>
          </a:prstGeom>
          <a:noFill/>
          <a:ln/>
        </p:spPr>
        <p:txBody>
          <a:bodyPr wrap="square" lIns="0" tIns="0" rIns="0" bIns="0" rtlCol="0" anchor="t"/>
          <a:lstStyle/>
          <a:p>
            <a:pPr indent="0" marL="0">
              <a:buNone/>
            </a:pPr>
            <a:r>
              <a:rPr lang="en-US" sz="1700" dirty="0">
                <a:solidFill>
                  <a:srgbClr val="F2DCCB"/>
                </a:solidFill>
                <a:latin typeface="Calibri" pitchFamily="34" charset="0"/>
                <a:ea typeface="Calibri" pitchFamily="34" charset="-122"/>
                <a:cs typeface="Calibri" pitchFamily="34" charset="-120"/>
              </a:rPr>
              <a:t>Where the names were removed, on what recorded reason, what the final roll put back, and how the removals compare with the 2026 result</a:t>
            </a:r>
            <a:endParaRPr lang="en-US" sz="1700" dirty="0"/>
          </a:p>
        </p:txBody>
      </p:sp>
      <p:sp>
        <p:nvSpPr>
          <p:cNvPr id="5" name="Shape 3"/>
          <p:cNvSpPr/>
          <p:nvPr/>
        </p:nvSpPr>
        <p:spPr>
          <a:xfrm>
            <a:off x="548640" y="3429000"/>
            <a:ext cx="2567864" cy="1737360"/>
          </a:xfrm>
          <a:prstGeom prst="roundRect">
            <a:avLst>
              <a:gd name="adj" fmla="val 4211"/>
            </a:avLst>
          </a:prstGeom>
          <a:solidFill>
            <a:srgbClr val="552818"/>
          </a:solidFill>
          <a:ln/>
        </p:spPr>
      </p:sp>
      <p:sp>
        <p:nvSpPr>
          <p:cNvPr id="6" name="Text 4"/>
          <p:cNvSpPr txBox="1"/>
          <p:nvPr/>
        </p:nvSpPr>
        <p:spPr>
          <a:xfrm>
            <a:off x="731520"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97,37,831</a:t>
            </a:r>
            <a:endParaRPr lang="en-US" sz="3000" dirty="0"/>
          </a:p>
        </p:txBody>
      </p:sp>
      <p:sp>
        <p:nvSpPr>
          <p:cNvPr id="7" name="Text 5"/>
          <p:cNvSpPr txBox="1"/>
          <p:nvPr/>
        </p:nvSpPr>
        <p:spPr>
          <a:xfrm>
            <a:off x="731520"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2DCCB"/>
                </a:solidFill>
                <a:latin typeface="Calibri" pitchFamily="34" charset="0"/>
                <a:ea typeface="Calibri" pitchFamily="34" charset="-122"/>
                <a:cs typeface="Calibri" pitchFamily="34" charset="-120"/>
              </a:rPr>
              <a:t>names left off the draft roll of 19 December 2025</a:t>
            </a:r>
            <a:endParaRPr lang="en-US" sz="1250" dirty="0"/>
          </a:p>
        </p:txBody>
      </p:sp>
      <p:sp>
        <p:nvSpPr>
          <p:cNvPr id="8" name="Shape 6"/>
          <p:cNvSpPr/>
          <p:nvPr/>
        </p:nvSpPr>
        <p:spPr>
          <a:xfrm>
            <a:off x="3390824" y="3429000"/>
            <a:ext cx="2567864" cy="1737360"/>
          </a:xfrm>
          <a:prstGeom prst="roundRect">
            <a:avLst>
              <a:gd name="adj" fmla="val 4211"/>
            </a:avLst>
          </a:prstGeom>
          <a:solidFill>
            <a:srgbClr val="552818"/>
          </a:solidFill>
          <a:ln/>
        </p:spPr>
      </p:sp>
      <p:sp>
        <p:nvSpPr>
          <p:cNvPr id="9" name="Text 7"/>
          <p:cNvSpPr txBox="1"/>
          <p:nvPr/>
        </p:nvSpPr>
        <p:spPr>
          <a:xfrm>
            <a:off x="3573704"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15.2</a:t>
            </a:r>
            <a:endParaRPr lang="en-US" sz="3000" dirty="0"/>
          </a:p>
        </p:txBody>
      </p:sp>
      <p:sp>
        <p:nvSpPr>
          <p:cNvPr id="10" name="Text 8"/>
          <p:cNvSpPr txBox="1"/>
          <p:nvPr/>
        </p:nvSpPr>
        <p:spPr>
          <a:xfrm>
            <a:off x="3573704"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2DCCB"/>
                </a:solidFill>
                <a:latin typeface="Calibri" pitchFamily="34" charset="0"/>
                <a:ea typeface="Calibri" pitchFamily="34" charset="-122"/>
                <a:cs typeface="Calibri" pitchFamily="34" charset="-120"/>
              </a:rPr>
              <a:t>of every 100 electors on the roll before</a:t>
            </a:r>
            <a:endParaRPr lang="en-US" sz="1250" dirty="0"/>
          </a:p>
        </p:txBody>
      </p:sp>
      <p:sp>
        <p:nvSpPr>
          <p:cNvPr id="11" name="Shape 9"/>
          <p:cNvSpPr/>
          <p:nvPr/>
        </p:nvSpPr>
        <p:spPr>
          <a:xfrm>
            <a:off x="6233008" y="3429000"/>
            <a:ext cx="2567864" cy="1737360"/>
          </a:xfrm>
          <a:prstGeom prst="roundRect">
            <a:avLst>
              <a:gd name="adj" fmla="val 4211"/>
            </a:avLst>
          </a:prstGeom>
          <a:solidFill>
            <a:srgbClr val="552818"/>
          </a:solidFill>
          <a:ln/>
        </p:spPr>
      </p:sp>
      <p:sp>
        <p:nvSpPr>
          <p:cNvPr id="12" name="Text 10"/>
          <p:cNvSpPr txBox="1"/>
          <p:nvPr/>
        </p:nvSpPr>
        <p:spPr>
          <a:xfrm>
            <a:off x="6415888"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211 of 234</a:t>
            </a:r>
            <a:endParaRPr lang="en-US" sz="3000" dirty="0"/>
          </a:p>
        </p:txBody>
      </p:sp>
      <p:sp>
        <p:nvSpPr>
          <p:cNvPr id="13" name="Text 11"/>
          <p:cNvSpPr txBox="1"/>
          <p:nvPr/>
        </p:nvSpPr>
        <p:spPr>
          <a:xfrm>
            <a:off x="6415888"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2DCCB"/>
                </a:solidFill>
                <a:latin typeface="Calibri" pitchFamily="34" charset="0"/>
                <a:ea typeface="Calibri" pitchFamily="34" charset="-122"/>
                <a:cs typeface="Calibri" pitchFamily="34" charset="-120"/>
              </a:rPr>
              <a:t>seats where more names were left off than the 2026 margin</a:t>
            </a:r>
            <a:endParaRPr lang="en-US" sz="1250" dirty="0"/>
          </a:p>
        </p:txBody>
      </p:sp>
      <p:sp>
        <p:nvSpPr>
          <p:cNvPr id="14" name="Shape 12"/>
          <p:cNvSpPr/>
          <p:nvPr/>
        </p:nvSpPr>
        <p:spPr>
          <a:xfrm>
            <a:off x="9075191" y="3429000"/>
            <a:ext cx="2567864" cy="1737360"/>
          </a:xfrm>
          <a:prstGeom prst="roundRect">
            <a:avLst>
              <a:gd name="adj" fmla="val 4211"/>
            </a:avLst>
          </a:prstGeom>
          <a:solidFill>
            <a:srgbClr val="552818"/>
          </a:solidFill>
          <a:ln/>
        </p:spPr>
      </p:sp>
      <p:sp>
        <p:nvSpPr>
          <p:cNvPr id="15" name="Text 13"/>
          <p:cNvSpPr txBox="1"/>
          <p:nvPr/>
        </p:nvSpPr>
        <p:spPr>
          <a:xfrm>
            <a:off x="9258071"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35.6</a:t>
            </a:r>
            <a:endParaRPr lang="en-US" sz="3000" dirty="0"/>
          </a:p>
        </p:txBody>
      </p:sp>
      <p:sp>
        <p:nvSpPr>
          <p:cNvPr id="16" name="Text 14"/>
          <p:cNvSpPr txBox="1"/>
          <p:nvPr/>
        </p:nvSpPr>
        <p:spPr>
          <a:xfrm>
            <a:off x="9258071"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2DCCB"/>
                </a:solidFill>
                <a:latin typeface="Calibri" pitchFamily="34" charset="0"/>
                <a:ea typeface="Calibri" pitchFamily="34" charset="-122"/>
                <a:cs typeface="Calibri" pitchFamily="34" charset="-120"/>
              </a:rPr>
              <a:t>removed per 100 electors in Chennai</a:t>
            </a:r>
            <a:endParaRPr lang="en-US" sz="1250" dirty="0"/>
          </a:p>
        </p:txBody>
      </p:sp>
      <p:sp>
        <p:nvSpPr>
          <p:cNvPr id="17" name="Text 15"/>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300" dirty="0">
                <a:solidFill>
                  <a:srgbClr val="F2DCCB"/>
                </a:solidFill>
                <a:latin typeface="Calibri" pitchFamily="34" charset="0"/>
                <a:ea typeface="Calibri" pitchFamily="34" charset="-122"/>
                <a:cs typeface="Calibri" pitchFamily="34" charset="-120"/>
              </a:rPr>
              <a:t>PinPoint Ventures</a:t>
            </a:r>
            <a:endParaRPr lang="en-US" sz="1300" dirty="0"/>
          </a:p>
        </p:txBody>
      </p:sp>
      <p:sp>
        <p:nvSpPr>
          <p:cNvPr id="18" name="Shape 16"/>
          <p:cNvSpPr/>
          <p:nvPr/>
        </p:nvSpPr>
        <p:spPr>
          <a:xfrm>
            <a:off x="0" y="6748272"/>
            <a:ext cx="304792" cy="109728"/>
          </a:xfrm>
          <a:prstGeom prst="rect">
            <a:avLst/>
          </a:prstGeom>
          <a:solidFill>
            <a:srgbClr val="C0392B"/>
          </a:solidFill>
          <a:ln/>
        </p:spPr>
      </p:sp>
      <p:sp>
        <p:nvSpPr>
          <p:cNvPr id="19" name="Shape 17"/>
          <p:cNvSpPr/>
          <p:nvPr/>
        </p:nvSpPr>
        <p:spPr>
          <a:xfrm>
            <a:off x="304792" y="6748272"/>
            <a:ext cx="304792" cy="109728"/>
          </a:xfrm>
          <a:prstGeom prst="rect">
            <a:avLst/>
          </a:prstGeom>
          <a:solidFill>
            <a:srgbClr val="E67E22"/>
          </a:solidFill>
          <a:ln/>
        </p:spPr>
      </p:sp>
      <p:sp>
        <p:nvSpPr>
          <p:cNvPr id="20" name="Shape 18"/>
          <p:cNvSpPr/>
          <p:nvPr/>
        </p:nvSpPr>
        <p:spPr>
          <a:xfrm>
            <a:off x="609585" y="6748272"/>
            <a:ext cx="304792" cy="109728"/>
          </a:xfrm>
          <a:prstGeom prst="rect">
            <a:avLst/>
          </a:prstGeom>
          <a:solidFill>
            <a:srgbClr val="27AE60"/>
          </a:solidFill>
          <a:ln/>
        </p:spPr>
      </p:sp>
      <p:sp>
        <p:nvSpPr>
          <p:cNvPr id="21" name="Shape 19"/>
          <p:cNvSpPr/>
          <p:nvPr/>
        </p:nvSpPr>
        <p:spPr>
          <a:xfrm>
            <a:off x="914377" y="6748272"/>
            <a:ext cx="304792" cy="109728"/>
          </a:xfrm>
          <a:prstGeom prst="rect">
            <a:avLst/>
          </a:prstGeom>
          <a:solidFill>
            <a:srgbClr val="1F618D"/>
          </a:solidFill>
          <a:ln/>
        </p:spPr>
      </p:sp>
      <p:sp>
        <p:nvSpPr>
          <p:cNvPr id="22" name="Shape 20"/>
          <p:cNvSpPr/>
          <p:nvPr/>
        </p:nvSpPr>
        <p:spPr>
          <a:xfrm>
            <a:off x="1219170" y="6748272"/>
            <a:ext cx="304792" cy="109728"/>
          </a:xfrm>
          <a:prstGeom prst="rect">
            <a:avLst/>
          </a:prstGeom>
          <a:solidFill>
            <a:srgbClr val="8E44AD"/>
          </a:solidFill>
          <a:ln/>
        </p:spPr>
      </p:sp>
      <p:sp>
        <p:nvSpPr>
          <p:cNvPr id="23" name="Shape 21"/>
          <p:cNvSpPr/>
          <p:nvPr/>
        </p:nvSpPr>
        <p:spPr>
          <a:xfrm>
            <a:off x="1523962" y="6748272"/>
            <a:ext cx="304792" cy="109728"/>
          </a:xfrm>
          <a:prstGeom prst="rect">
            <a:avLst/>
          </a:prstGeom>
          <a:solidFill>
            <a:srgbClr val="C0392B"/>
          </a:solidFill>
          <a:ln/>
        </p:spPr>
      </p:sp>
      <p:sp>
        <p:nvSpPr>
          <p:cNvPr id="24" name="Shape 22"/>
          <p:cNvSpPr/>
          <p:nvPr/>
        </p:nvSpPr>
        <p:spPr>
          <a:xfrm>
            <a:off x="1828754" y="6748272"/>
            <a:ext cx="304792" cy="109728"/>
          </a:xfrm>
          <a:prstGeom prst="rect">
            <a:avLst/>
          </a:prstGeom>
          <a:solidFill>
            <a:srgbClr val="E67E22"/>
          </a:solidFill>
          <a:ln/>
        </p:spPr>
      </p:sp>
      <p:sp>
        <p:nvSpPr>
          <p:cNvPr id="25" name="Shape 23"/>
          <p:cNvSpPr/>
          <p:nvPr/>
        </p:nvSpPr>
        <p:spPr>
          <a:xfrm>
            <a:off x="2133547" y="6748272"/>
            <a:ext cx="304792" cy="109728"/>
          </a:xfrm>
          <a:prstGeom prst="rect">
            <a:avLst/>
          </a:prstGeom>
          <a:solidFill>
            <a:srgbClr val="27AE60"/>
          </a:solidFill>
          <a:ln/>
        </p:spPr>
      </p:sp>
      <p:sp>
        <p:nvSpPr>
          <p:cNvPr id="26" name="Shape 24"/>
          <p:cNvSpPr/>
          <p:nvPr/>
        </p:nvSpPr>
        <p:spPr>
          <a:xfrm>
            <a:off x="2438339" y="6748272"/>
            <a:ext cx="304792" cy="109728"/>
          </a:xfrm>
          <a:prstGeom prst="rect">
            <a:avLst/>
          </a:prstGeom>
          <a:solidFill>
            <a:srgbClr val="1F618D"/>
          </a:solidFill>
          <a:ln/>
        </p:spPr>
      </p:sp>
      <p:sp>
        <p:nvSpPr>
          <p:cNvPr id="27" name="Shape 25"/>
          <p:cNvSpPr/>
          <p:nvPr/>
        </p:nvSpPr>
        <p:spPr>
          <a:xfrm>
            <a:off x="2743131" y="6748272"/>
            <a:ext cx="304792" cy="109728"/>
          </a:xfrm>
          <a:prstGeom prst="rect">
            <a:avLst/>
          </a:prstGeom>
          <a:solidFill>
            <a:srgbClr val="8E44AD"/>
          </a:solidFill>
          <a:ln/>
        </p:spPr>
      </p:sp>
      <p:sp>
        <p:nvSpPr>
          <p:cNvPr id="28" name="Shape 26"/>
          <p:cNvSpPr/>
          <p:nvPr/>
        </p:nvSpPr>
        <p:spPr>
          <a:xfrm>
            <a:off x="3047924" y="6748272"/>
            <a:ext cx="304792" cy="109728"/>
          </a:xfrm>
          <a:prstGeom prst="rect">
            <a:avLst/>
          </a:prstGeom>
          <a:solidFill>
            <a:srgbClr val="C0392B"/>
          </a:solidFill>
          <a:ln/>
        </p:spPr>
      </p:sp>
      <p:sp>
        <p:nvSpPr>
          <p:cNvPr id="29" name="Shape 27"/>
          <p:cNvSpPr/>
          <p:nvPr/>
        </p:nvSpPr>
        <p:spPr>
          <a:xfrm>
            <a:off x="3352716" y="6748272"/>
            <a:ext cx="304792" cy="109728"/>
          </a:xfrm>
          <a:prstGeom prst="rect">
            <a:avLst/>
          </a:prstGeom>
          <a:solidFill>
            <a:srgbClr val="E67E22"/>
          </a:solidFill>
          <a:ln/>
        </p:spPr>
      </p:sp>
      <p:sp>
        <p:nvSpPr>
          <p:cNvPr id="30" name="Shape 28"/>
          <p:cNvSpPr/>
          <p:nvPr/>
        </p:nvSpPr>
        <p:spPr>
          <a:xfrm>
            <a:off x="3657509" y="6748272"/>
            <a:ext cx="304792" cy="109728"/>
          </a:xfrm>
          <a:prstGeom prst="rect">
            <a:avLst/>
          </a:prstGeom>
          <a:solidFill>
            <a:srgbClr val="27AE60"/>
          </a:solidFill>
          <a:ln/>
        </p:spPr>
      </p:sp>
      <p:sp>
        <p:nvSpPr>
          <p:cNvPr id="31" name="Shape 29"/>
          <p:cNvSpPr/>
          <p:nvPr/>
        </p:nvSpPr>
        <p:spPr>
          <a:xfrm>
            <a:off x="3962301" y="6748272"/>
            <a:ext cx="304792" cy="109728"/>
          </a:xfrm>
          <a:prstGeom prst="rect">
            <a:avLst/>
          </a:prstGeom>
          <a:solidFill>
            <a:srgbClr val="1F618D"/>
          </a:solidFill>
          <a:ln/>
        </p:spPr>
      </p:sp>
      <p:sp>
        <p:nvSpPr>
          <p:cNvPr id="32" name="Shape 30"/>
          <p:cNvSpPr/>
          <p:nvPr/>
        </p:nvSpPr>
        <p:spPr>
          <a:xfrm>
            <a:off x="4267093" y="6748272"/>
            <a:ext cx="304792" cy="109728"/>
          </a:xfrm>
          <a:prstGeom prst="rect">
            <a:avLst/>
          </a:prstGeom>
          <a:solidFill>
            <a:srgbClr val="8E44AD"/>
          </a:solidFill>
          <a:ln/>
        </p:spPr>
      </p:sp>
      <p:sp>
        <p:nvSpPr>
          <p:cNvPr id="33" name="Shape 31"/>
          <p:cNvSpPr/>
          <p:nvPr/>
        </p:nvSpPr>
        <p:spPr>
          <a:xfrm>
            <a:off x="4571886" y="6748272"/>
            <a:ext cx="304792" cy="109728"/>
          </a:xfrm>
          <a:prstGeom prst="rect">
            <a:avLst/>
          </a:prstGeom>
          <a:solidFill>
            <a:srgbClr val="C0392B"/>
          </a:solidFill>
          <a:ln/>
        </p:spPr>
      </p:sp>
      <p:sp>
        <p:nvSpPr>
          <p:cNvPr id="34" name="Shape 32"/>
          <p:cNvSpPr/>
          <p:nvPr/>
        </p:nvSpPr>
        <p:spPr>
          <a:xfrm>
            <a:off x="4876678" y="6748272"/>
            <a:ext cx="304792" cy="109728"/>
          </a:xfrm>
          <a:prstGeom prst="rect">
            <a:avLst/>
          </a:prstGeom>
          <a:solidFill>
            <a:srgbClr val="E67E22"/>
          </a:solidFill>
          <a:ln/>
        </p:spPr>
      </p:sp>
      <p:sp>
        <p:nvSpPr>
          <p:cNvPr id="35" name="Shape 33"/>
          <p:cNvSpPr/>
          <p:nvPr/>
        </p:nvSpPr>
        <p:spPr>
          <a:xfrm>
            <a:off x="5181470" y="6748272"/>
            <a:ext cx="304792" cy="109728"/>
          </a:xfrm>
          <a:prstGeom prst="rect">
            <a:avLst/>
          </a:prstGeom>
          <a:solidFill>
            <a:srgbClr val="27AE60"/>
          </a:solidFill>
          <a:ln/>
        </p:spPr>
      </p:sp>
      <p:sp>
        <p:nvSpPr>
          <p:cNvPr id="36" name="Shape 34"/>
          <p:cNvSpPr/>
          <p:nvPr/>
        </p:nvSpPr>
        <p:spPr>
          <a:xfrm>
            <a:off x="5486263" y="6748272"/>
            <a:ext cx="304792" cy="109728"/>
          </a:xfrm>
          <a:prstGeom prst="rect">
            <a:avLst/>
          </a:prstGeom>
          <a:solidFill>
            <a:srgbClr val="1F618D"/>
          </a:solidFill>
          <a:ln/>
        </p:spPr>
      </p:sp>
      <p:sp>
        <p:nvSpPr>
          <p:cNvPr id="37" name="Shape 35"/>
          <p:cNvSpPr/>
          <p:nvPr/>
        </p:nvSpPr>
        <p:spPr>
          <a:xfrm>
            <a:off x="5791055" y="6748272"/>
            <a:ext cx="304792" cy="109728"/>
          </a:xfrm>
          <a:prstGeom prst="rect">
            <a:avLst/>
          </a:prstGeom>
          <a:solidFill>
            <a:srgbClr val="8E44AD"/>
          </a:solidFill>
          <a:ln/>
        </p:spPr>
      </p:sp>
      <p:sp>
        <p:nvSpPr>
          <p:cNvPr id="38" name="Shape 36"/>
          <p:cNvSpPr/>
          <p:nvPr/>
        </p:nvSpPr>
        <p:spPr>
          <a:xfrm>
            <a:off x="6095848" y="6748272"/>
            <a:ext cx="304792" cy="109728"/>
          </a:xfrm>
          <a:prstGeom prst="rect">
            <a:avLst/>
          </a:prstGeom>
          <a:solidFill>
            <a:srgbClr val="C0392B"/>
          </a:solidFill>
          <a:ln/>
        </p:spPr>
      </p:sp>
      <p:sp>
        <p:nvSpPr>
          <p:cNvPr id="39" name="Shape 37"/>
          <p:cNvSpPr/>
          <p:nvPr/>
        </p:nvSpPr>
        <p:spPr>
          <a:xfrm>
            <a:off x="6400640" y="6748272"/>
            <a:ext cx="304792" cy="109728"/>
          </a:xfrm>
          <a:prstGeom prst="rect">
            <a:avLst/>
          </a:prstGeom>
          <a:solidFill>
            <a:srgbClr val="E67E22"/>
          </a:solidFill>
          <a:ln/>
        </p:spPr>
      </p:sp>
      <p:sp>
        <p:nvSpPr>
          <p:cNvPr id="40" name="Shape 38"/>
          <p:cNvSpPr/>
          <p:nvPr/>
        </p:nvSpPr>
        <p:spPr>
          <a:xfrm>
            <a:off x="6705432" y="6748272"/>
            <a:ext cx="304792" cy="109728"/>
          </a:xfrm>
          <a:prstGeom prst="rect">
            <a:avLst/>
          </a:prstGeom>
          <a:solidFill>
            <a:srgbClr val="27AE60"/>
          </a:solidFill>
          <a:ln/>
        </p:spPr>
      </p:sp>
      <p:sp>
        <p:nvSpPr>
          <p:cNvPr id="41" name="Shape 39"/>
          <p:cNvSpPr/>
          <p:nvPr/>
        </p:nvSpPr>
        <p:spPr>
          <a:xfrm>
            <a:off x="7010225" y="6748272"/>
            <a:ext cx="304792" cy="109728"/>
          </a:xfrm>
          <a:prstGeom prst="rect">
            <a:avLst/>
          </a:prstGeom>
          <a:solidFill>
            <a:srgbClr val="1F618D"/>
          </a:solidFill>
          <a:ln/>
        </p:spPr>
      </p:sp>
      <p:sp>
        <p:nvSpPr>
          <p:cNvPr id="42" name="Shape 40"/>
          <p:cNvSpPr/>
          <p:nvPr/>
        </p:nvSpPr>
        <p:spPr>
          <a:xfrm>
            <a:off x="7315017" y="6748272"/>
            <a:ext cx="304792" cy="109728"/>
          </a:xfrm>
          <a:prstGeom prst="rect">
            <a:avLst/>
          </a:prstGeom>
          <a:solidFill>
            <a:srgbClr val="8E44AD"/>
          </a:solidFill>
          <a:ln/>
        </p:spPr>
      </p:sp>
      <p:sp>
        <p:nvSpPr>
          <p:cNvPr id="43" name="Shape 41"/>
          <p:cNvSpPr/>
          <p:nvPr/>
        </p:nvSpPr>
        <p:spPr>
          <a:xfrm>
            <a:off x="7619809" y="6748272"/>
            <a:ext cx="304792" cy="109728"/>
          </a:xfrm>
          <a:prstGeom prst="rect">
            <a:avLst/>
          </a:prstGeom>
          <a:solidFill>
            <a:srgbClr val="C0392B"/>
          </a:solidFill>
          <a:ln/>
        </p:spPr>
      </p:sp>
      <p:sp>
        <p:nvSpPr>
          <p:cNvPr id="44" name="Shape 42"/>
          <p:cNvSpPr/>
          <p:nvPr/>
        </p:nvSpPr>
        <p:spPr>
          <a:xfrm>
            <a:off x="7924602" y="6748272"/>
            <a:ext cx="304792" cy="109728"/>
          </a:xfrm>
          <a:prstGeom prst="rect">
            <a:avLst/>
          </a:prstGeom>
          <a:solidFill>
            <a:srgbClr val="E67E22"/>
          </a:solidFill>
          <a:ln/>
        </p:spPr>
      </p:sp>
      <p:sp>
        <p:nvSpPr>
          <p:cNvPr id="45" name="Shape 43"/>
          <p:cNvSpPr/>
          <p:nvPr/>
        </p:nvSpPr>
        <p:spPr>
          <a:xfrm>
            <a:off x="8229394" y="6748272"/>
            <a:ext cx="304792" cy="109728"/>
          </a:xfrm>
          <a:prstGeom prst="rect">
            <a:avLst/>
          </a:prstGeom>
          <a:solidFill>
            <a:srgbClr val="27AE60"/>
          </a:solidFill>
          <a:ln/>
        </p:spPr>
      </p:sp>
      <p:sp>
        <p:nvSpPr>
          <p:cNvPr id="46" name="Shape 44"/>
          <p:cNvSpPr/>
          <p:nvPr/>
        </p:nvSpPr>
        <p:spPr>
          <a:xfrm>
            <a:off x="8534187" y="6748272"/>
            <a:ext cx="304792" cy="109728"/>
          </a:xfrm>
          <a:prstGeom prst="rect">
            <a:avLst/>
          </a:prstGeom>
          <a:solidFill>
            <a:srgbClr val="1F618D"/>
          </a:solidFill>
          <a:ln/>
        </p:spPr>
      </p:sp>
      <p:sp>
        <p:nvSpPr>
          <p:cNvPr id="47" name="Shape 45"/>
          <p:cNvSpPr/>
          <p:nvPr/>
        </p:nvSpPr>
        <p:spPr>
          <a:xfrm>
            <a:off x="8838979" y="6748272"/>
            <a:ext cx="304792" cy="109728"/>
          </a:xfrm>
          <a:prstGeom prst="rect">
            <a:avLst/>
          </a:prstGeom>
          <a:solidFill>
            <a:srgbClr val="8E44AD"/>
          </a:solidFill>
          <a:ln/>
        </p:spPr>
      </p:sp>
      <p:sp>
        <p:nvSpPr>
          <p:cNvPr id="48" name="Shape 46"/>
          <p:cNvSpPr/>
          <p:nvPr/>
        </p:nvSpPr>
        <p:spPr>
          <a:xfrm>
            <a:off x="9143771" y="6748272"/>
            <a:ext cx="304792" cy="109728"/>
          </a:xfrm>
          <a:prstGeom prst="rect">
            <a:avLst/>
          </a:prstGeom>
          <a:solidFill>
            <a:srgbClr val="C0392B"/>
          </a:solidFill>
          <a:ln/>
        </p:spPr>
      </p:sp>
      <p:sp>
        <p:nvSpPr>
          <p:cNvPr id="49" name="Shape 47"/>
          <p:cNvSpPr/>
          <p:nvPr/>
        </p:nvSpPr>
        <p:spPr>
          <a:xfrm>
            <a:off x="9448564" y="6748272"/>
            <a:ext cx="304792" cy="109728"/>
          </a:xfrm>
          <a:prstGeom prst="rect">
            <a:avLst/>
          </a:prstGeom>
          <a:solidFill>
            <a:srgbClr val="E67E22"/>
          </a:solidFill>
          <a:ln/>
        </p:spPr>
      </p:sp>
      <p:sp>
        <p:nvSpPr>
          <p:cNvPr id="50" name="Shape 48"/>
          <p:cNvSpPr/>
          <p:nvPr/>
        </p:nvSpPr>
        <p:spPr>
          <a:xfrm>
            <a:off x="9753356" y="6748272"/>
            <a:ext cx="304792" cy="109728"/>
          </a:xfrm>
          <a:prstGeom prst="rect">
            <a:avLst/>
          </a:prstGeom>
          <a:solidFill>
            <a:srgbClr val="27AE60"/>
          </a:solidFill>
          <a:ln/>
        </p:spPr>
      </p:sp>
      <p:sp>
        <p:nvSpPr>
          <p:cNvPr id="51" name="Shape 49"/>
          <p:cNvSpPr/>
          <p:nvPr/>
        </p:nvSpPr>
        <p:spPr>
          <a:xfrm>
            <a:off x="10058149" y="6748272"/>
            <a:ext cx="304792" cy="109728"/>
          </a:xfrm>
          <a:prstGeom prst="rect">
            <a:avLst/>
          </a:prstGeom>
          <a:solidFill>
            <a:srgbClr val="1F618D"/>
          </a:solidFill>
          <a:ln/>
        </p:spPr>
      </p:sp>
      <p:sp>
        <p:nvSpPr>
          <p:cNvPr id="52" name="Shape 50"/>
          <p:cNvSpPr/>
          <p:nvPr/>
        </p:nvSpPr>
        <p:spPr>
          <a:xfrm>
            <a:off x="10362941" y="6748272"/>
            <a:ext cx="304792" cy="109728"/>
          </a:xfrm>
          <a:prstGeom prst="rect">
            <a:avLst/>
          </a:prstGeom>
          <a:solidFill>
            <a:srgbClr val="8E44AD"/>
          </a:solidFill>
          <a:ln/>
        </p:spPr>
      </p:sp>
      <p:sp>
        <p:nvSpPr>
          <p:cNvPr id="53" name="Shape 51"/>
          <p:cNvSpPr/>
          <p:nvPr/>
        </p:nvSpPr>
        <p:spPr>
          <a:xfrm>
            <a:off x="10667733" y="6748272"/>
            <a:ext cx="304792" cy="109728"/>
          </a:xfrm>
          <a:prstGeom prst="rect">
            <a:avLst/>
          </a:prstGeom>
          <a:solidFill>
            <a:srgbClr val="C0392B"/>
          </a:solidFill>
          <a:ln/>
        </p:spPr>
      </p:sp>
      <p:sp>
        <p:nvSpPr>
          <p:cNvPr id="54" name="Shape 52"/>
          <p:cNvSpPr/>
          <p:nvPr/>
        </p:nvSpPr>
        <p:spPr>
          <a:xfrm>
            <a:off x="10972526" y="6748272"/>
            <a:ext cx="304792" cy="109728"/>
          </a:xfrm>
          <a:prstGeom prst="rect">
            <a:avLst/>
          </a:prstGeom>
          <a:solidFill>
            <a:srgbClr val="E67E22"/>
          </a:solidFill>
          <a:ln/>
        </p:spPr>
      </p:sp>
      <p:sp>
        <p:nvSpPr>
          <p:cNvPr id="55" name="Shape 53"/>
          <p:cNvSpPr/>
          <p:nvPr/>
        </p:nvSpPr>
        <p:spPr>
          <a:xfrm>
            <a:off x="11277318" y="6748272"/>
            <a:ext cx="304792" cy="109728"/>
          </a:xfrm>
          <a:prstGeom prst="rect">
            <a:avLst/>
          </a:prstGeom>
          <a:solidFill>
            <a:srgbClr val="27AE60"/>
          </a:solidFill>
          <a:ln/>
        </p:spPr>
      </p:sp>
      <p:sp>
        <p:nvSpPr>
          <p:cNvPr id="56" name="Shape 54"/>
          <p:cNvSpPr/>
          <p:nvPr/>
        </p:nvSpPr>
        <p:spPr>
          <a:xfrm>
            <a:off x="11582110" y="6748272"/>
            <a:ext cx="304792" cy="109728"/>
          </a:xfrm>
          <a:prstGeom prst="rect">
            <a:avLst/>
          </a:prstGeom>
          <a:solidFill>
            <a:srgbClr val="1F618D"/>
          </a:solidFill>
          <a:ln/>
        </p:spPr>
      </p:sp>
      <p:sp>
        <p:nvSpPr>
          <p:cNvPr id="57" name="Shape 55"/>
          <p:cNvSpPr/>
          <p:nvPr/>
        </p:nvSpPr>
        <p:spPr>
          <a:xfrm>
            <a:off x="11886903" y="6748272"/>
            <a:ext cx="304792" cy="109728"/>
          </a:xfrm>
          <a:prstGeom prst="rect">
            <a:avLst/>
          </a:prstGeom>
          <a:solidFill>
            <a:srgbClr val="8E44AD"/>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000" b="1" dirty="0">
                <a:solidFill>
                  <a:srgbClr val="6E3420"/>
                </a:solidFill>
                <a:latin typeface="Cambria" pitchFamily="34" charset="0"/>
                <a:ea typeface="Cambria" pitchFamily="34" charset="-122"/>
                <a:cs typeface="Cambria" pitchFamily="34" charset="-120"/>
              </a:rPr>
              <a:t>Contents</a:t>
            </a:r>
            <a:endParaRPr lang="en-US" sz="3000" dirty="0"/>
          </a:p>
        </p:txBody>
      </p:sp>
      <p:sp>
        <p:nvSpPr>
          <p:cNvPr id="3" name="Shape 1"/>
          <p:cNvSpPr/>
          <p:nvPr/>
        </p:nvSpPr>
        <p:spPr>
          <a:xfrm>
            <a:off x="0" y="6748272"/>
            <a:ext cx="304792" cy="109728"/>
          </a:xfrm>
          <a:prstGeom prst="rect">
            <a:avLst/>
          </a:prstGeom>
          <a:solidFill>
            <a:srgbClr val="C0392B"/>
          </a:solidFill>
          <a:ln/>
        </p:spPr>
      </p:sp>
      <p:sp>
        <p:nvSpPr>
          <p:cNvPr id="4" name="Shape 2"/>
          <p:cNvSpPr/>
          <p:nvPr/>
        </p:nvSpPr>
        <p:spPr>
          <a:xfrm>
            <a:off x="304792" y="6748272"/>
            <a:ext cx="304792" cy="109728"/>
          </a:xfrm>
          <a:prstGeom prst="rect">
            <a:avLst/>
          </a:prstGeom>
          <a:solidFill>
            <a:srgbClr val="E67E22"/>
          </a:solidFill>
          <a:ln/>
        </p:spPr>
      </p:sp>
      <p:sp>
        <p:nvSpPr>
          <p:cNvPr id="5" name="Shape 3"/>
          <p:cNvSpPr/>
          <p:nvPr/>
        </p:nvSpPr>
        <p:spPr>
          <a:xfrm>
            <a:off x="609585" y="6748272"/>
            <a:ext cx="304792" cy="109728"/>
          </a:xfrm>
          <a:prstGeom prst="rect">
            <a:avLst/>
          </a:prstGeom>
          <a:solidFill>
            <a:srgbClr val="27AE60"/>
          </a:solidFill>
          <a:ln/>
        </p:spPr>
      </p:sp>
      <p:sp>
        <p:nvSpPr>
          <p:cNvPr id="6" name="Shape 4"/>
          <p:cNvSpPr/>
          <p:nvPr/>
        </p:nvSpPr>
        <p:spPr>
          <a:xfrm>
            <a:off x="914377" y="6748272"/>
            <a:ext cx="304792" cy="109728"/>
          </a:xfrm>
          <a:prstGeom prst="rect">
            <a:avLst/>
          </a:prstGeom>
          <a:solidFill>
            <a:srgbClr val="1F618D"/>
          </a:solidFill>
          <a:ln/>
        </p:spPr>
      </p:sp>
      <p:sp>
        <p:nvSpPr>
          <p:cNvPr id="7" name="Shape 5"/>
          <p:cNvSpPr/>
          <p:nvPr/>
        </p:nvSpPr>
        <p:spPr>
          <a:xfrm>
            <a:off x="1219170" y="6748272"/>
            <a:ext cx="304792" cy="109728"/>
          </a:xfrm>
          <a:prstGeom prst="rect">
            <a:avLst/>
          </a:prstGeom>
          <a:solidFill>
            <a:srgbClr val="8E44AD"/>
          </a:solidFill>
          <a:ln/>
        </p:spPr>
      </p:sp>
      <p:sp>
        <p:nvSpPr>
          <p:cNvPr id="8" name="Shape 6"/>
          <p:cNvSpPr/>
          <p:nvPr/>
        </p:nvSpPr>
        <p:spPr>
          <a:xfrm>
            <a:off x="1523962" y="6748272"/>
            <a:ext cx="304792" cy="109728"/>
          </a:xfrm>
          <a:prstGeom prst="rect">
            <a:avLst/>
          </a:prstGeom>
          <a:solidFill>
            <a:srgbClr val="C0392B"/>
          </a:solidFill>
          <a:ln/>
        </p:spPr>
      </p:sp>
      <p:sp>
        <p:nvSpPr>
          <p:cNvPr id="9" name="Shape 7"/>
          <p:cNvSpPr/>
          <p:nvPr/>
        </p:nvSpPr>
        <p:spPr>
          <a:xfrm>
            <a:off x="1828754" y="6748272"/>
            <a:ext cx="304792" cy="109728"/>
          </a:xfrm>
          <a:prstGeom prst="rect">
            <a:avLst/>
          </a:prstGeom>
          <a:solidFill>
            <a:srgbClr val="E67E22"/>
          </a:solidFill>
          <a:ln/>
        </p:spPr>
      </p:sp>
      <p:sp>
        <p:nvSpPr>
          <p:cNvPr id="10" name="Shape 8"/>
          <p:cNvSpPr/>
          <p:nvPr/>
        </p:nvSpPr>
        <p:spPr>
          <a:xfrm>
            <a:off x="2133547" y="6748272"/>
            <a:ext cx="304792" cy="109728"/>
          </a:xfrm>
          <a:prstGeom prst="rect">
            <a:avLst/>
          </a:prstGeom>
          <a:solidFill>
            <a:srgbClr val="27AE60"/>
          </a:solidFill>
          <a:ln/>
        </p:spPr>
      </p:sp>
      <p:sp>
        <p:nvSpPr>
          <p:cNvPr id="11" name="Shape 9"/>
          <p:cNvSpPr/>
          <p:nvPr/>
        </p:nvSpPr>
        <p:spPr>
          <a:xfrm>
            <a:off x="2438339" y="6748272"/>
            <a:ext cx="304792" cy="109728"/>
          </a:xfrm>
          <a:prstGeom prst="rect">
            <a:avLst/>
          </a:prstGeom>
          <a:solidFill>
            <a:srgbClr val="1F618D"/>
          </a:solidFill>
          <a:ln/>
        </p:spPr>
      </p:sp>
      <p:sp>
        <p:nvSpPr>
          <p:cNvPr id="12" name="Shape 10"/>
          <p:cNvSpPr/>
          <p:nvPr/>
        </p:nvSpPr>
        <p:spPr>
          <a:xfrm>
            <a:off x="2743131" y="6748272"/>
            <a:ext cx="304792" cy="109728"/>
          </a:xfrm>
          <a:prstGeom prst="rect">
            <a:avLst/>
          </a:prstGeom>
          <a:solidFill>
            <a:srgbClr val="8E44AD"/>
          </a:solidFill>
          <a:ln/>
        </p:spPr>
      </p:sp>
      <p:sp>
        <p:nvSpPr>
          <p:cNvPr id="13" name="Shape 11"/>
          <p:cNvSpPr/>
          <p:nvPr/>
        </p:nvSpPr>
        <p:spPr>
          <a:xfrm>
            <a:off x="3047924" y="6748272"/>
            <a:ext cx="304792" cy="109728"/>
          </a:xfrm>
          <a:prstGeom prst="rect">
            <a:avLst/>
          </a:prstGeom>
          <a:solidFill>
            <a:srgbClr val="C0392B"/>
          </a:solidFill>
          <a:ln/>
        </p:spPr>
      </p:sp>
      <p:sp>
        <p:nvSpPr>
          <p:cNvPr id="14" name="Shape 12"/>
          <p:cNvSpPr/>
          <p:nvPr/>
        </p:nvSpPr>
        <p:spPr>
          <a:xfrm>
            <a:off x="3352716" y="6748272"/>
            <a:ext cx="304792" cy="109728"/>
          </a:xfrm>
          <a:prstGeom prst="rect">
            <a:avLst/>
          </a:prstGeom>
          <a:solidFill>
            <a:srgbClr val="E67E22"/>
          </a:solidFill>
          <a:ln/>
        </p:spPr>
      </p:sp>
      <p:sp>
        <p:nvSpPr>
          <p:cNvPr id="15" name="Shape 13"/>
          <p:cNvSpPr/>
          <p:nvPr/>
        </p:nvSpPr>
        <p:spPr>
          <a:xfrm>
            <a:off x="3657509" y="6748272"/>
            <a:ext cx="304792" cy="109728"/>
          </a:xfrm>
          <a:prstGeom prst="rect">
            <a:avLst/>
          </a:prstGeom>
          <a:solidFill>
            <a:srgbClr val="27AE60"/>
          </a:solidFill>
          <a:ln/>
        </p:spPr>
      </p:sp>
      <p:sp>
        <p:nvSpPr>
          <p:cNvPr id="16" name="Shape 14"/>
          <p:cNvSpPr/>
          <p:nvPr/>
        </p:nvSpPr>
        <p:spPr>
          <a:xfrm>
            <a:off x="3962301" y="6748272"/>
            <a:ext cx="304792" cy="109728"/>
          </a:xfrm>
          <a:prstGeom prst="rect">
            <a:avLst/>
          </a:prstGeom>
          <a:solidFill>
            <a:srgbClr val="1F618D"/>
          </a:solidFill>
          <a:ln/>
        </p:spPr>
      </p:sp>
      <p:sp>
        <p:nvSpPr>
          <p:cNvPr id="17" name="Shape 15"/>
          <p:cNvSpPr/>
          <p:nvPr/>
        </p:nvSpPr>
        <p:spPr>
          <a:xfrm>
            <a:off x="4267093" y="6748272"/>
            <a:ext cx="304792" cy="109728"/>
          </a:xfrm>
          <a:prstGeom prst="rect">
            <a:avLst/>
          </a:prstGeom>
          <a:solidFill>
            <a:srgbClr val="8E44AD"/>
          </a:solidFill>
          <a:ln/>
        </p:spPr>
      </p:sp>
      <p:sp>
        <p:nvSpPr>
          <p:cNvPr id="18" name="Shape 16"/>
          <p:cNvSpPr/>
          <p:nvPr/>
        </p:nvSpPr>
        <p:spPr>
          <a:xfrm>
            <a:off x="4571886" y="6748272"/>
            <a:ext cx="304792" cy="109728"/>
          </a:xfrm>
          <a:prstGeom prst="rect">
            <a:avLst/>
          </a:prstGeom>
          <a:solidFill>
            <a:srgbClr val="C0392B"/>
          </a:solidFill>
          <a:ln/>
        </p:spPr>
      </p:sp>
      <p:sp>
        <p:nvSpPr>
          <p:cNvPr id="19" name="Shape 17"/>
          <p:cNvSpPr/>
          <p:nvPr/>
        </p:nvSpPr>
        <p:spPr>
          <a:xfrm>
            <a:off x="4876678" y="6748272"/>
            <a:ext cx="304792" cy="109728"/>
          </a:xfrm>
          <a:prstGeom prst="rect">
            <a:avLst/>
          </a:prstGeom>
          <a:solidFill>
            <a:srgbClr val="E67E22"/>
          </a:solidFill>
          <a:ln/>
        </p:spPr>
      </p:sp>
      <p:sp>
        <p:nvSpPr>
          <p:cNvPr id="20" name="Shape 18"/>
          <p:cNvSpPr/>
          <p:nvPr/>
        </p:nvSpPr>
        <p:spPr>
          <a:xfrm>
            <a:off x="5181470" y="6748272"/>
            <a:ext cx="304792" cy="109728"/>
          </a:xfrm>
          <a:prstGeom prst="rect">
            <a:avLst/>
          </a:prstGeom>
          <a:solidFill>
            <a:srgbClr val="27AE60"/>
          </a:solidFill>
          <a:ln/>
        </p:spPr>
      </p:sp>
      <p:sp>
        <p:nvSpPr>
          <p:cNvPr id="21" name="Shape 19"/>
          <p:cNvSpPr/>
          <p:nvPr/>
        </p:nvSpPr>
        <p:spPr>
          <a:xfrm>
            <a:off x="5486263" y="6748272"/>
            <a:ext cx="304792" cy="109728"/>
          </a:xfrm>
          <a:prstGeom prst="rect">
            <a:avLst/>
          </a:prstGeom>
          <a:solidFill>
            <a:srgbClr val="1F618D"/>
          </a:solidFill>
          <a:ln/>
        </p:spPr>
      </p:sp>
      <p:sp>
        <p:nvSpPr>
          <p:cNvPr id="22" name="Shape 20"/>
          <p:cNvSpPr/>
          <p:nvPr/>
        </p:nvSpPr>
        <p:spPr>
          <a:xfrm>
            <a:off x="5791055" y="6748272"/>
            <a:ext cx="304792" cy="109728"/>
          </a:xfrm>
          <a:prstGeom prst="rect">
            <a:avLst/>
          </a:prstGeom>
          <a:solidFill>
            <a:srgbClr val="8E44AD"/>
          </a:solidFill>
          <a:ln/>
        </p:spPr>
      </p:sp>
      <p:sp>
        <p:nvSpPr>
          <p:cNvPr id="23" name="Shape 21"/>
          <p:cNvSpPr/>
          <p:nvPr/>
        </p:nvSpPr>
        <p:spPr>
          <a:xfrm>
            <a:off x="6095848" y="6748272"/>
            <a:ext cx="304792" cy="109728"/>
          </a:xfrm>
          <a:prstGeom prst="rect">
            <a:avLst/>
          </a:prstGeom>
          <a:solidFill>
            <a:srgbClr val="C0392B"/>
          </a:solidFill>
          <a:ln/>
        </p:spPr>
      </p:sp>
      <p:sp>
        <p:nvSpPr>
          <p:cNvPr id="24" name="Shape 22"/>
          <p:cNvSpPr/>
          <p:nvPr/>
        </p:nvSpPr>
        <p:spPr>
          <a:xfrm>
            <a:off x="6400640" y="6748272"/>
            <a:ext cx="304792" cy="109728"/>
          </a:xfrm>
          <a:prstGeom prst="rect">
            <a:avLst/>
          </a:prstGeom>
          <a:solidFill>
            <a:srgbClr val="E67E22"/>
          </a:solidFill>
          <a:ln/>
        </p:spPr>
      </p:sp>
      <p:sp>
        <p:nvSpPr>
          <p:cNvPr id="25" name="Shape 23"/>
          <p:cNvSpPr/>
          <p:nvPr/>
        </p:nvSpPr>
        <p:spPr>
          <a:xfrm>
            <a:off x="6705432" y="6748272"/>
            <a:ext cx="304792" cy="109728"/>
          </a:xfrm>
          <a:prstGeom prst="rect">
            <a:avLst/>
          </a:prstGeom>
          <a:solidFill>
            <a:srgbClr val="27AE60"/>
          </a:solidFill>
          <a:ln/>
        </p:spPr>
      </p:sp>
      <p:sp>
        <p:nvSpPr>
          <p:cNvPr id="26" name="Shape 24"/>
          <p:cNvSpPr/>
          <p:nvPr/>
        </p:nvSpPr>
        <p:spPr>
          <a:xfrm>
            <a:off x="7010225" y="6748272"/>
            <a:ext cx="304792" cy="109728"/>
          </a:xfrm>
          <a:prstGeom prst="rect">
            <a:avLst/>
          </a:prstGeom>
          <a:solidFill>
            <a:srgbClr val="1F618D"/>
          </a:solidFill>
          <a:ln/>
        </p:spPr>
      </p:sp>
      <p:sp>
        <p:nvSpPr>
          <p:cNvPr id="27" name="Shape 25"/>
          <p:cNvSpPr/>
          <p:nvPr/>
        </p:nvSpPr>
        <p:spPr>
          <a:xfrm>
            <a:off x="7315017" y="6748272"/>
            <a:ext cx="304792" cy="109728"/>
          </a:xfrm>
          <a:prstGeom prst="rect">
            <a:avLst/>
          </a:prstGeom>
          <a:solidFill>
            <a:srgbClr val="8E44AD"/>
          </a:solidFill>
          <a:ln/>
        </p:spPr>
      </p:sp>
      <p:sp>
        <p:nvSpPr>
          <p:cNvPr id="28" name="Shape 26"/>
          <p:cNvSpPr/>
          <p:nvPr/>
        </p:nvSpPr>
        <p:spPr>
          <a:xfrm>
            <a:off x="7619809" y="6748272"/>
            <a:ext cx="304792" cy="109728"/>
          </a:xfrm>
          <a:prstGeom prst="rect">
            <a:avLst/>
          </a:prstGeom>
          <a:solidFill>
            <a:srgbClr val="C0392B"/>
          </a:solidFill>
          <a:ln/>
        </p:spPr>
      </p:sp>
      <p:sp>
        <p:nvSpPr>
          <p:cNvPr id="29" name="Shape 27"/>
          <p:cNvSpPr/>
          <p:nvPr/>
        </p:nvSpPr>
        <p:spPr>
          <a:xfrm>
            <a:off x="7924602" y="6748272"/>
            <a:ext cx="304792" cy="109728"/>
          </a:xfrm>
          <a:prstGeom prst="rect">
            <a:avLst/>
          </a:prstGeom>
          <a:solidFill>
            <a:srgbClr val="E67E22"/>
          </a:solidFill>
          <a:ln/>
        </p:spPr>
      </p:sp>
      <p:sp>
        <p:nvSpPr>
          <p:cNvPr id="30" name="Shape 28"/>
          <p:cNvSpPr/>
          <p:nvPr/>
        </p:nvSpPr>
        <p:spPr>
          <a:xfrm>
            <a:off x="8229394" y="6748272"/>
            <a:ext cx="304792" cy="109728"/>
          </a:xfrm>
          <a:prstGeom prst="rect">
            <a:avLst/>
          </a:prstGeom>
          <a:solidFill>
            <a:srgbClr val="27AE60"/>
          </a:solidFill>
          <a:ln/>
        </p:spPr>
      </p:sp>
      <p:sp>
        <p:nvSpPr>
          <p:cNvPr id="31" name="Shape 29"/>
          <p:cNvSpPr/>
          <p:nvPr/>
        </p:nvSpPr>
        <p:spPr>
          <a:xfrm>
            <a:off x="8534187" y="6748272"/>
            <a:ext cx="304792" cy="109728"/>
          </a:xfrm>
          <a:prstGeom prst="rect">
            <a:avLst/>
          </a:prstGeom>
          <a:solidFill>
            <a:srgbClr val="1F618D"/>
          </a:solidFill>
          <a:ln/>
        </p:spPr>
      </p:sp>
      <p:sp>
        <p:nvSpPr>
          <p:cNvPr id="32" name="Shape 30"/>
          <p:cNvSpPr/>
          <p:nvPr/>
        </p:nvSpPr>
        <p:spPr>
          <a:xfrm>
            <a:off x="8838979" y="6748272"/>
            <a:ext cx="304792" cy="109728"/>
          </a:xfrm>
          <a:prstGeom prst="rect">
            <a:avLst/>
          </a:prstGeom>
          <a:solidFill>
            <a:srgbClr val="8E44AD"/>
          </a:solidFill>
          <a:ln/>
        </p:spPr>
      </p:sp>
      <p:sp>
        <p:nvSpPr>
          <p:cNvPr id="33" name="Shape 31"/>
          <p:cNvSpPr/>
          <p:nvPr/>
        </p:nvSpPr>
        <p:spPr>
          <a:xfrm>
            <a:off x="9143771" y="6748272"/>
            <a:ext cx="304792" cy="109728"/>
          </a:xfrm>
          <a:prstGeom prst="rect">
            <a:avLst/>
          </a:prstGeom>
          <a:solidFill>
            <a:srgbClr val="C0392B"/>
          </a:solidFill>
          <a:ln/>
        </p:spPr>
      </p:sp>
      <p:sp>
        <p:nvSpPr>
          <p:cNvPr id="34" name="Shape 32"/>
          <p:cNvSpPr/>
          <p:nvPr/>
        </p:nvSpPr>
        <p:spPr>
          <a:xfrm>
            <a:off x="9448564" y="6748272"/>
            <a:ext cx="304792" cy="109728"/>
          </a:xfrm>
          <a:prstGeom prst="rect">
            <a:avLst/>
          </a:prstGeom>
          <a:solidFill>
            <a:srgbClr val="E67E22"/>
          </a:solidFill>
          <a:ln/>
        </p:spPr>
      </p:sp>
      <p:sp>
        <p:nvSpPr>
          <p:cNvPr id="35" name="Shape 33"/>
          <p:cNvSpPr/>
          <p:nvPr/>
        </p:nvSpPr>
        <p:spPr>
          <a:xfrm>
            <a:off x="9753356" y="6748272"/>
            <a:ext cx="304792" cy="109728"/>
          </a:xfrm>
          <a:prstGeom prst="rect">
            <a:avLst/>
          </a:prstGeom>
          <a:solidFill>
            <a:srgbClr val="27AE60"/>
          </a:solidFill>
          <a:ln/>
        </p:spPr>
      </p:sp>
      <p:sp>
        <p:nvSpPr>
          <p:cNvPr id="36" name="Shape 34"/>
          <p:cNvSpPr/>
          <p:nvPr/>
        </p:nvSpPr>
        <p:spPr>
          <a:xfrm>
            <a:off x="10058149" y="6748272"/>
            <a:ext cx="304792" cy="109728"/>
          </a:xfrm>
          <a:prstGeom prst="rect">
            <a:avLst/>
          </a:prstGeom>
          <a:solidFill>
            <a:srgbClr val="1F618D"/>
          </a:solidFill>
          <a:ln/>
        </p:spPr>
      </p:sp>
      <p:sp>
        <p:nvSpPr>
          <p:cNvPr id="37" name="Shape 35"/>
          <p:cNvSpPr/>
          <p:nvPr/>
        </p:nvSpPr>
        <p:spPr>
          <a:xfrm>
            <a:off x="10362941" y="6748272"/>
            <a:ext cx="304792" cy="109728"/>
          </a:xfrm>
          <a:prstGeom prst="rect">
            <a:avLst/>
          </a:prstGeom>
          <a:solidFill>
            <a:srgbClr val="8E44AD"/>
          </a:solidFill>
          <a:ln/>
        </p:spPr>
      </p:sp>
      <p:sp>
        <p:nvSpPr>
          <p:cNvPr id="38" name="Shape 36"/>
          <p:cNvSpPr/>
          <p:nvPr/>
        </p:nvSpPr>
        <p:spPr>
          <a:xfrm>
            <a:off x="10667733" y="6748272"/>
            <a:ext cx="304792" cy="109728"/>
          </a:xfrm>
          <a:prstGeom prst="rect">
            <a:avLst/>
          </a:prstGeom>
          <a:solidFill>
            <a:srgbClr val="C0392B"/>
          </a:solidFill>
          <a:ln/>
        </p:spPr>
      </p:sp>
      <p:sp>
        <p:nvSpPr>
          <p:cNvPr id="39" name="Shape 37"/>
          <p:cNvSpPr/>
          <p:nvPr/>
        </p:nvSpPr>
        <p:spPr>
          <a:xfrm>
            <a:off x="10972526" y="6748272"/>
            <a:ext cx="304792" cy="109728"/>
          </a:xfrm>
          <a:prstGeom prst="rect">
            <a:avLst/>
          </a:prstGeom>
          <a:solidFill>
            <a:srgbClr val="E67E22"/>
          </a:solidFill>
          <a:ln/>
        </p:spPr>
      </p:sp>
      <p:sp>
        <p:nvSpPr>
          <p:cNvPr id="40" name="Shape 38"/>
          <p:cNvSpPr/>
          <p:nvPr/>
        </p:nvSpPr>
        <p:spPr>
          <a:xfrm>
            <a:off x="11277318" y="6748272"/>
            <a:ext cx="304792" cy="109728"/>
          </a:xfrm>
          <a:prstGeom prst="rect">
            <a:avLst/>
          </a:prstGeom>
          <a:solidFill>
            <a:srgbClr val="27AE60"/>
          </a:solidFill>
          <a:ln/>
        </p:spPr>
      </p:sp>
      <p:sp>
        <p:nvSpPr>
          <p:cNvPr id="41" name="Shape 39"/>
          <p:cNvSpPr/>
          <p:nvPr/>
        </p:nvSpPr>
        <p:spPr>
          <a:xfrm>
            <a:off x="11582110" y="6748272"/>
            <a:ext cx="304792" cy="109728"/>
          </a:xfrm>
          <a:prstGeom prst="rect">
            <a:avLst/>
          </a:prstGeom>
          <a:solidFill>
            <a:srgbClr val="1F618D"/>
          </a:solidFill>
          <a:ln/>
        </p:spPr>
      </p:sp>
      <p:sp>
        <p:nvSpPr>
          <p:cNvPr id="42" name="Shape 40"/>
          <p:cNvSpPr/>
          <p:nvPr/>
        </p:nvSpPr>
        <p:spPr>
          <a:xfrm>
            <a:off x="11886903" y="6748272"/>
            <a:ext cx="304792" cy="109728"/>
          </a:xfrm>
          <a:prstGeom prst="rect">
            <a:avLst/>
          </a:prstGeom>
          <a:solidFill>
            <a:srgbClr val="8E44AD"/>
          </a:solidFill>
          <a:ln/>
        </p:spPr>
      </p:sp>
      <p:sp>
        <p:nvSpPr>
          <p:cNvPr id="43" name="Text 41"/>
          <p:cNvSpPr txBox="1"/>
          <p:nvPr/>
        </p:nvSpPr>
        <p:spPr>
          <a:xfrm>
            <a:off x="54864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In short   3</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roll   4</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By district   5</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reasons   6</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Chennai   7</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Women   8</a:t>
            </a:r>
            <a:endParaRPr lang="en-US" sz="1700" dirty="0"/>
          </a:p>
        </p:txBody>
      </p:sp>
      <p:sp>
        <p:nvSpPr>
          <p:cNvPr id="44" name="Text 42"/>
          <p:cNvSpPr txBox="1"/>
          <p:nvPr/>
        </p:nvSpPr>
        <p:spPr>
          <a:xfrm>
            <a:off x="621792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After the draft   9</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2026 election   10–12</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Limits   13</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What the Election Commission should do   14</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Method   15–16</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IN SHORT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The revision removed 15.2 of every 100 electors, and more than the winning margin in 211 of 234 seats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Five findings, each computed from the published tables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Text 45"/>
          <p:cNvSpPr txBox="1"/>
          <p:nvPr/>
        </p:nvSpPr>
        <p:spPr>
          <a:xfrm>
            <a:off x="548640" y="1737360"/>
            <a:ext cx="11094415" cy="379476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97.4 lakh names were left off Tamil Nadu's draft roll, 15.2 of every 100 electors on the roll before the revision.</a:t>
            </a:r>
            <a:endParaRPr lang="en-US" sz="1600" dirty="0"/>
          </a:p>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In 211 of the 234 constituencies, more names were left off than the 2026 winning margin, large enough to decide the seat. Counting only the removed not entered as dead, at each seat's turnout, the number is 169.</a:t>
            </a:r>
            <a:endParaRPr lang="en-US" sz="1600" dirty="0"/>
          </a:p>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68.2% were entered as shifted or absent, 27.7% as dead and 4.1% as enrolled in more than one place.</a:t>
            </a:r>
            <a:endParaRPr lang="en-US" sz="1600" dirty="0"/>
          </a:p>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Chennai lost 35.6 of every 100 electors. It holds 6.2% of the roll and 14.6% of the names removed.</a:t>
            </a:r>
            <a:endParaRPr lang="en-US" sz="1600" dirty="0"/>
          </a:p>
          <a:p>
            <a:pPr marL="342900" indent="-342900">
              <a:spcAft>
                <a:spcPts val="1000"/>
              </a:spcAft>
              <a:buSzPct val="100000"/>
              <a:buFont typeface="+mj-lt"/>
              <a:buAutoNum type="arabicPeriod" startAt="1"/>
            </a:pPr>
            <a:r>
              <a:rPr lang="en-US" sz="1600" dirty="0">
                <a:solidFill>
                  <a:srgbClr val="1C2833"/>
                </a:solidFill>
                <a:latin typeface="Calibri" pitchFamily="34" charset="0"/>
                <a:ea typeface="Calibri" pitchFamily="34" charset="-122"/>
                <a:cs typeface="Calibri" pitchFamily="34" charset="-120"/>
              </a:rPr>
              <a:t>The final roll was 23.3 lakh larger than the draft, at most 23.9% of the names removed, and it includes new voters.</a:t>
            </a:r>
            <a:endParaRPr lang="en-US" sz="1600" dirty="0"/>
          </a:p>
        </p:txBody>
      </p:sp>
      <p:sp>
        <p:nvSpPr>
          <p:cNvPr id="48" name="Text 46"/>
          <p:cNvSpPr txBox="1"/>
          <p:nvPr/>
        </p:nvSpPr>
        <p:spPr>
          <a:xfrm>
            <a:off x="548640" y="5806440"/>
            <a:ext cx="11094415" cy="457200"/>
          </a:xfrm>
          <a:prstGeom prst="rect">
            <a:avLst/>
          </a:prstGeom>
          <a:noFill/>
          <a:ln/>
        </p:spPr>
        <p:txBody>
          <a:bodyPr wrap="square" lIns="0" tIns="0" rIns="0" bIns="0" rtlCol="0" anchor="t">
            <a:normAutofit/>
          </a:bodyPr>
          <a:lstStyle/>
          <a:p>
            <a:pPr indent="0" marL="0">
              <a:spcAft>
                <a:spcPts val="800"/>
              </a:spcAft>
              <a:buNone/>
            </a:pPr>
            <a:r>
              <a:rPr lang="en-US" sz="1200" dirty="0">
                <a:solidFill>
                  <a:srgbClr val="4D5B69"/>
                </a:solidFill>
                <a:latin typeface="Calibri" pitchFamily="34" charset="0"/>
                <a:ea typeface="Calibri" pitchFamily="34" charset="-122"/>
                <a:cs typeface="Calibri" pitchFamily="34" charset="-120"/>
              </a:rPr>
              <a:t>No split of the removals by sex or age has been published. A reason on the list is what the officer wrote down, and nobody checked 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THE ROLL</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The roll fell from 6.41 crore to 5.44 crore at the draft, and the final roll held 5.67 crore</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The state's roll, step by step, to the final roll of 23 February 2026</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786377" y="2483296"/>
            <a:ext cx="1109442" cy="3094544"/>
          </a:xfrm>
          <a:prstGeom prst="rect">
            <a:avLst/>
          </a:prstGeom>
          <a:solidFill>
            <a:srgbClr val="1F618D"/>
          </a:solidFill>
          <a:ln/>
        </p:spPr>
      </p:sp>
      <p:sp>
        <p:nvSpPr>
          <p:cNvPr id="48" name="Text 46"/>
          <p:cNvSpPr txBox="1"/>
          <p:nvPr/>
        </p:nvSpPr>
        <p:spPr>
          <a:xfrm>
            <a:off x="548640" y="2208976"/>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6,41,14,587</a:t>
            </a:r>
            <a:endParaRPr lang="en-US" sz="1000" dirty="0"/>
          </a:p>
        </p:txBody>
      </p:sp>
      <p:sp>
        <p:nvSpPr>
          <p:cNvPr id="49" name="Text 47"/>
          <p:cNvSpPr txBox="1"/>
          <p:nvPr/>
        </p:nvSpPr>
        <p:spPr>
          <a:xfrm>
            <a:off x="548640"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Roll before the revision</a:t>
            </a:r>
            <a:endParaRPr lang="en-US" sz="1000" dirty="0"/>
          </a:p>
        </p:txBody>
      </p:sp>
      <p:sp>
        <p:nvSpPr>
          <p:cNvPr id="50" name="Shape 48"/>
          <p:cNvSpPr/>
          <p:nvPr/>
        </p:nvSpPr>
        <p:spPr>
          <a:xfrm>
            <a:off x="2371294" y="2483296"/>
            <a:ext cx="1109442" cy="404509"/>
          </a:xfrm>
          <a:prstGeom prst="rect">
            <a:avLst/>
          </a:prstGeom>
          <a:solidFill>
            <a:srgbClr val="C0392B"/>
          </a:solidFill>
          <a:ln/>
        </p:spPr>
      </p:sp>
      <p:sp>
        <p:nvSpPr>
          <p:cNvPr id="51" name="Text 49"/>
          <p:cNvSpPr txBox="1"/>
          <p:nvPr/>
        </p:nvSpPr>
        <p:spPr>
          <a:xfrm>
            <a:off x="2133556" y="2208976"/>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−26,94,672</a:t>
            </a:r>
            <a:endParaRPr lang="en-US" sz="1000" dirty="0"/>
          </a:p>
        </p:txBody>
      </p:sp>
      <p:sp>
        <p:nvSpPr>
          <p:cNvPr id="52" name="Text 50"/>
          <p:cNvSpPr txBox="1"/>
          <p:nvPr/>
        </p:nvSpPr>
        <p:spPr>
          <a:xfrm>
            <a:off x="2133556"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Dead</a:t>
            </a:r>
            <a:endParaRPr lang="en-US" sz="1000" dirty="0"/>
          </a:p>
        </p:txBody>
      </p:sp>
      <p:sp>
        <p:nvSpPr>
          <p:cNvPr id="53" name="Shape 51"/>
          <p:cNvSpPr/>
          <p:nvPr/>
        </p:nvSpPr>
        <p:spPr>
          <a:xfrm>
            <a:off x="3956210" y="2887804"/>
            <a:ext cx="1109442" cy="997492"/>
          </a:xfrm>
          <a:prstGeom prst="rect">
            <a:avLst/>
          </a:prstGeom>
          <a:solidFill>
            <a:srgbClr val="C0392B"/>
          </a:solidFill>
          <a:ln/>
        </p:spPr>
      </p:sp>
      <p:sp>
        <p:nvSpPr>
          <p:cNvPr id="54" name="Text 52"/>
          <p:cNvSpPr txBox="1"/>
          <p:nvPr/>
        </p:nvSpPr>
        <p:spPr>
          <a:xfrm>
            <a:off x="3718473" y="2613484"/>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−66,44,881</a:t>
            </a:r>
            <a:endParaRPr lang="en-US" sz="1000" dirty="0"/>
          </a:p>
        </p:txBody>
      </p:sp>
      <p:sp>
        <p:nvSpPr>
          <p:cNvPr id="55" name="Text 53"/>
          <p:cNvSpPr txBox="1"/>
          <p:nvPr/>
        </p:nvSpPr>
        <p:spPr>
          <a:xfrm>
            <a:off x="3718473"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Shifted or absent</a:t>
            </a:r>
            <a:endParaRPr lang="en-US" sz="1000" dirty="0"/>
          </a:p>
        </p:txBody>
      </p:sp>
      <p:sp>
        <p:nvSpPr>
          <p:cNvPr id="56" name="Shape 54"/>
          <p:cNvSpPr/>
          <p:nvPr/>
        </p:nvSpPr>
        <p:spPr>
          <a:xfrm>
            <a:off x="5541127" y="3885296"/>
            <a:ext cx="1109442" cy="59787"/>
          </a:xfrm>
          <a:prstGeom prst="rect">
            <a:avLst/>
          </a:prstGeom>
          <a:solidFill>
            <a:srgbClr val="C0392B"/>
          </a:solidFill>
          <a:ln/>
        </p:spPr>
      </p:sp>
      <p:sp>
        <p:nvSpPr>
          <p:cNvPr id="57" name="Text 55"/>
          <p:cNvSpPr txBox="1"/>
          <p:nvPr/>
        </p:nvSpPr>
        <p:spPr>
          <a:xfrm>
            <a:off x="5303389" y="3610976"/>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−3,98,278</a:t>
            </a:r>
            <a:endParaRPr lang="en-US" sz="1000" dirty="0"/>
          </a:p>
        </p:txBody>
      </p:sp>
      <p:sp>
        <p:nvSpPr>
          <p:cNvPr id="58" name="Text 56"/>
          <p:cNvSpPr txBox="1"/>
          <p:nvPr/>
        </p:nvSpPr>
        <p:spPr>
          <a:xfrm>
            <a:off x="5303389"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Enrolled in more than one place</a:t>
            </a:r>
            <a:endParaRPr lang="en-US" sz="1000" dirty="0"/>
          </a:p>
        </p:txBody>
      </p:sp>
      <p:sp>
        <p:nvSpPr>
          <p:cNvPr id="59" name="Shape 57"/>
          <p:cNvSpPr/>
          <p:nvPr/>
        </p:nvSpPr>
        <p:spPr>
          <a:xfrm>
            <a:off x="7126043" y="3945083"/>
            <a:ext cx="1109442" cy="1632757"/>
          </a:xfrm>
          <a:prstGeom prst="rect">
            <a:avLst/>
          </a:prstGeom>
          <a:solidFill>
            <a:srgbClr val="1F618D"/>
          </a:solidFill>
          <a:ln/>
        </p:spPr>
      </p:sp>
      <p:sp>
        <p:nvSpPr>
          <p:cNvPr id="60" name="Text 58"/>
          <p:cNvSpPr txBox="1"/>
          <p:nvPr/>
        </p:nvSpPr>
        <p:spPr>
          <a:xfrm>
            <a:off x="6888306" y="3670763"/>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5,43,76,756</a:t>
            </a:r>
            <a:endParaRPr lang="en-US" sz="1000" dirty="0"/>
          </a:p>
        </p:txBody>
      </p:sp>
      <p:sp>
        <p:nvSpPr>
          <p:cNvPr id="61" name="Text 59"/>
          <p:cNvSpPr txBox="1"/>
          <p:nvPr/>
        </p:nvSpPr>
        <p:spPr>
          <a:xfrm>
            <a:off x="6888306"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Draft roll</a:t>
            </a:r>
            <a:endParaRPr lang="en-US" sz="1000" dirty="0"/>
          </a:p>
        </p:txBody>
      </p:sp>
      <p:sp>
        <p:nvSpPr>
          <p:cNvPr id="62" name="Shape 60"/>
          <p:cNvSpPr/>
          <p:nvPr/>
        </p:nvSpPr>
        <p:spPr>
          <a:xfrm>
            <a:off x="8710960" y="3595223"/>
            <a:ext cx="1109442" cy="349860"/>
          </a:xfrm>
          <a:prstGeom prst="rect">
            <a:avLst/>
          </a:prstGeom>
          <a:solidFill>
            <a:srgbClr val="17A589"/>
          </a:solidFill>
          <a:ln/>
        </p:spPr>
      </p:sp>
      <p:sp>
        <p:nvSpPr>
          <p:cNvPr id="63" name="Text 61"/>
          <p:cNvSpPr txBox="1"/>
          <p:nvPr/>
        </p:nvSpPr>
        <p:spPr>
          <a:xfrm>
            <a:off x="8473222" y="3320903"/>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+23,30,624</a:t>
            </a:r>
            <a:endParaRPr lang="en-US" sz="1000" dirty="0"/>
          </a:p>
        </p:txBody>
      </p:sp>
      <p:sp>
        <p:nvSpPr>
          <p:cNvPr id="64" name="Text 62"/>
          <p:cNvSpPr txBox="1"/>
          <p:nvPr/>
        </p:nvSpPr>
        <p:spPr>
          <a:xfrm>
            <a:off x="8473222"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Net change after the draft</a:t>
            </a:r>
            <a:endParaRPr lang="en-US" sz="1000" dirty="0"/>
          </a:p>
        </p:txBody>
      </p:sp>
      <p:sp>
        <p:nvSpPr>
          <p:cNvPr id="65" name="Shape 63"/>
          <p:cNvSpPr/>
          <p:nvPr/>
        </p:nvSpPr>
        <p:spPr>
          <a:xfrm>
            <a:off x="10295876" y="3595223"/>
            <a:ext cx="1109442" cy="1982617"/>
          </a:xfrm>
          <a:prstGeom prst="rect">
            <a:avLst/>
          </a:prstGeom>
          <a:solidFill>
            <a:srgbClr val="1F618D"/>
          </a:solidFill>
          <a:ln/>
        </p:spPr>
      </p:sp>
      <p:sp>
        <p:nvSpPr>
          <p:cNvPr id="66" name="Text 64"/>
          <p:cNvSpPr txBox="1"/>
          <p:nvPr/>
        </p:nvSpPr>
        <p:spPr>
          <a:xfrm>
            <a:off x="10058139" y="3320903"/>
            <a:ext cx="1584916"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5,67,07,380</a:t>
            </a:r>
            <a:endParaRPr lang="en-US" sz="1000" dirty="0"/>
          </a:p>
        </p:txBody>
      </p:sp>
      <p:sp>
        <p:nvSpPr>
          <p:cNvPr id="67" name="Text 65"/>
          <p:cNvSpPr txBox="1"/>
          <p:nvPr/>
        </p:nvSpPr>
        <p:spPr>
          <a:xfrm>
            <a:off x="10058139" y="5577840"/>
            <a:ext cx="1584916"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Final roll</a:t>
            </a:r>
            <a:endParaRPr lang="en-US" sz="1000" dirty="0"/>
          </a:p>
        </p:txBody>
      </p:sp>
      <p:sp>
        <p:nvSpPr>
          <p:cNvPr id="68" name="Shape 66"/>
          <p:cNvSpPr/>
          <p:nvPr/>
        </p:nvSpPr>
        <p:spPr>
          <a:xfrm>
            <a:off x="548640" y="5559552"/>
            <a:ext cx="11094415" cy="0"/>
          </a:xfrm>
          <a:prstGeom prst="line">
            <a:avLst/>
          </a:prstGeom>
          <a:noFill/>
          <a:ln w="9525">
            <a:solidFill>
              <a:srgbClr val="95A5A6"/>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BY DISTRICT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Chennai lost 35.6 of every 100 electors, against 15.2 for the state</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left off the draft roll per 100 electors on the roll before the revision, by district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645920"/>
          <a:ext cx="7040880" cy="461772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next four are Chengalpattu (25.2), Tiruppur (23.1), Coimbatore (20.2) and Kancheepuram (19.6).</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Ariyalur lost the fewest, 4.6.</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By constituency the rate runs from 4.3 in Jayankondam to 42.2 in Anna Nagar.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THE REASONS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68% of the names were entered as shifted or absent and 28% as dead</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Share of each district's removals by the reason entered, the twelve districts with the highest rates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9"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Where more names were removed, more were marked shifted or absent (rank correlation 0.74 across constituencies).</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In Chennai 87.7% were entered as shifted or absent.</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share entered as dead is highest in Thanjavur, 52.9%.</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A reason on the list is what the officer wrote down, and nobody checked 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CHENNAI</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Every one of Chennai's 16 constituencies lost more than 24 of every 100 electors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Removed per 100 electors, by reason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Anna Nagar lost 42.2, the most of any seat in the state.</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Chennai holds 6.2% of the roll and 14.6% of the names removed, 14,25,018 in all.</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At the final roll Chennai was still 29.3 per 100 smaller than before.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WOMEN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Women's share of the removals cannot be counted, because no split by sex has been published</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What can be counted is the change after the draft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3545738" cy="1645920"/>
          </a:xfrm>
          <a:prstGeom prst="roundRect">
            <a:avLst>
              <a:gd name="adj" fmla="val 4444"/>
            </a:avLst>
          </a:prstGeom>
          <a:solidFill>
            <a:srgbClr val="F4F6F7"/>
          </a:solidFill>
          <a:ln/>
        </p:spPr>
      </p:sp>
      <p:sp>
        <p:nvSpPr>
          <p:cNvPr id="48" name="Text 46"/>
          <p:cNvSpPr txBox="1"/>
          <p:nvPr/>
        </p:nvSpPr>
        <p:spPr>
          <a:xfrm>
            <a:off x="731520" y="2029968"/>
            <a:ext cx="3179978" cy="790042"/>
          </a:xfrm>
          <a:prstGeom prst="rect">
            <a:avLst/>
          </a:prstGeom>
          <a:noFill/>
          <a:ln/>
        </p:spPr>
        <p:txBody>
          <a:bodyPr wrap="square" lIns="0" tIns="0" rIns="0" bIns="0" rtlCol="0" anchor="b">
            <a:normAutofit/>
          </a:bodyPr>
          <a:lstStyle/>
          <a:p>
            <a:pPr indent="0" marL="0">
              <a:buNone/>
            </a:pPr>
            <a:r>
              <a:rPr lang="en-US" sz="2800" b="1" dirty="0">
                <a:solidFill>
                  <a:srgbClr val="8E442B"/>
                </a:solidFill>
                <a:latin typeface="Cambria" pitchFamily="34" charset="0"/>
                <a:ea typeface="Cambria" pitchFamily="34" charset="-122"/>
                <a:cs typeface="Cambria" pitchFamily="34" charset="-120"/>
              </a:rPr>
              <a:t>51.0%</a:t>
            </a:r>
            <a:endParaRPr lang="en-US" sz="2800" dirty="0"/>
          </a:p>
        </p:txBody>
      </p:sp>
      <p:sp>
        <p:nvSpPr>
          <p:cNvPr id="49" name="Text 47"/>
          <p:cNvSpPr txBox="1"/>
          <p:nvPr/>
        </p:nvSpPr>
        <p:spPr>
          <a:xfrm>
            <a:off x="731520" y="2838298"/>
            <a:ext cx="3179978" cy="63642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women's share of the draft roll</a:t>
            </a:r>
            <a:endParaRPr lang="en-US" sz="1200" dirty="0"/>
          </a:p>
        </p:txBody>
      </p:sp>
      <p:sp>
        <p:nvSpPr>
          <p:cNvPr id="50" name="Shape 48"/>
          <p:cNvSpPr/>
          <p:nvPr/>
        </p:nvSpPr>
        <p:spPr>
          <a:xfrm>
            <a:off x="4322978" y="1920240"/>
            <a:ext cx="3545738" cy="1645920"/>
          </a:xfrm>
          <a:prstGeom prst="roundRect">
            <a:avLst>
              <a:gd name="adj" fmla="val 4444"/>
            </a:avLst>
          </a:prstGeom>
          <a:solidFill>
            <a:srgbClr val="F4F6F7"/>
          </a:solidFill>
          <a:ln/>
        </p:spPr>
      </p:sp>
      <p:sp>
        <p:nvSpPr>
          <p:cNvPr id="51" name="Text 49"/>
          <p:cNvSpPr txBox="1"/>
          <p:nvPr/>
        </p:nvSpPr>
        <p:spPr>
          <a:xfrm>
            <a:off x="4505858" y="2029968"/>
            <a:ext cx="3179978" cy="790042"/>
          </a:xfrm>
          <a:prstGeom prst="rect">
            <a:avLst/>
          </a:prstGeom>
          <a:noFill/>
          <a:ln/>
        </p:spPr>
        <p:txBody>
          <a:bodyPr wrap="square" lIns="0" tIns="0" rIns="0" bIns="0" rtlCol="0" anchor="b">
            <a:normAutofit/>
          </a:bodyPr>
          <a:lstStyle/>
          <a:p>
            <a:pPr indent="0" marL="0">
              <a:buNone/>
            </a:pPr>
            <a:r>
              <a:rPr lang="en-US" sz="2800" b="1" dirty="0">
                <a:solidFill>
                  <a:srgbClr val="8E442B"/>
                </a:solidFill>
                <a:latin typeface="Cambria" pitchFamily="34" charset="0"/>
                <a:ea typeface="Cambria" pitchFamily="34" charset="-122"/>
                <a:cs typeface="Cambria" pitchFamily="34" charset="-120"/>
              </a:rPr>
              <a:t>53.8%</a:t>
            </a:r>
            <a:endParaRPr lang="en-US" sz="2800" dirty="0"/>
          </a:p>
        </p:txBody>
      </p:sp>
      <p:sp>
        <p:nvSpPr>
          <p:cNvPr id="52" name="Text 50"/>
          <p:cNvSpPr txBox="1"/>
          <p:nvPr/>
        </p:nvSpPr>
        <p:spPr>
          <a:xfrm>
            <a:off x="4505858" y="2838298"/>
            <a:ext cx="3179978" cy="63642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women's share of the net rise to the final roll</a:t>
            </a:r>
            <a:endParaRPr lang="en-US" sz="1200" dirty="0"/>
          </a:p>
        </p:txBody>
      </p:sp>
      <p:sp>
        <p:nvSpPr>
          <p:cNvPr id="53" name="Shape 51"/>
          <p:cNvSpPr/>
          <p:nvPr/>
        </p:nvSpPr>
        <p:spPr>
          <a:xfrm>
            <a:off x="8097317" y="1920240"/>
            <a:ext cx="3545738" cy="1645920"/>
          </a:xfrm>
          <a:prstGeom prst="roundRect">
            <a:avLst>
              <a:gd name="adj" fmla="val 4444"/>
            </a:avLst>
          </a:prstGeom>
          <a:solidFill>
            <a:srgbClr val="F4F6F7"/>
          </a:solidFill>
          <a:ln/>
        </p:spPr>
      </p:sp>
      <p:sp>
        <p:nvSpPr>
          <p:cNvPr id="54" name="Text 52"/>
          <p:cNvSpPr txBox="1"/>
          <p:nvPr/>
        </p:nvSpPr>
        <p:spPr>
          <a:xfrm>
            <a:off x="8280197" y="2029968"/>
            <a:ext cx="3179978" cy="790042"/>
          </a:xfrm>
          <a:prstGeom prst="rect">
            <a:avLst/>
          </a:prstGeom>
          <a:noFill/>
          <a:ln/>
        </p:spPr>
        <p:txBody>
          <a:bodyPr wrap="square" lIns="0" tIns="0" rIns="0" bIns="0" rtlCol="0" anchor="b">
            <a:normAutofit/>
          </a:bodyPr>
          <a:lstStyle/>
          <a:p>
            <a:pPr indent="0" marL="0">
              <a:buNone/>
            </a:pPr>
            <a:r>
              <a:rPr lang="en-US" sz="2800" b="1" dirty="0">
                <a:solidFill>
                  <a:srgbClr val="8E442B"/>
                </a:solidFill>
                <a:latin typeface="Cambria" pitchFamily="34" charset="0"/>
                <a:ea typeface="Cambria" pitchFamily="34" charset="-122"/>
                <a:cs typeface="Cambria" pitchFamily="34" charset="-120"/>
              </a:rPr>
              <a:t>51.1%</a:t>
            </a:r>
            <a:endParaRPr lang="en-US" sz="2800" dirty="0"/>
          </a:p>
        </p:txBody>
      </p:sp>
      <p:sp>
        <p:nvSpPr>
          <p:cNvPr id="55" name="Text 53"/>
          <p:cNvSpPr txBox="1"/>
          <p:nvPr/>
        </p:nvSpPr>
        <p:spPr>
          <a:xfrm>
            <a:off x="8280197" y="2838298"/>
            <a:ext cx="3179978" cy="63642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women's share of the final roll</a:t>
            </a:r>
            <a:endParaRPr lang="en-US" sz="1200" dirty="0"/>
          </a:p>
        </p:txBody>
      </p:sp>
      <p:sp>
        <p:nvSpPr>
          <p:cNvPr id="56" name="Text 54"/>
          <p:cNvSpPr txBox="1"/>
          <p:nvPr/>
        </p:nvSpPr>
        <p:spPr>
          <a:xfrm>
            <a:off x="548640" y="3931920"/>
            <a:ext cx="11094415" cy="1828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The Chief Electoral Officer has published no split of the names left off by sex, and no roll by sex from before the revision. The rise after the draft counts new voters as well as names put back, so it does not say how many women's names were restored.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AFTER THE DRAFT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The final roll put back at most 23.9% of the names removed, and the roll is still 74.1 lakh smaller</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Per 100 electors, removed at the draft and the fall that remains at the final roll, the twelve districts with the highest rates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final roll is 23.3 lakh larger than the draft.</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For the state the fall is 11.6 of every 100 electors at the final roll, from 15.2 at the draft.</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rise includes new voters, so it is the most that can have been restored.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THE 2026 ELECTION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In 211 of 234 constituencies, more names were left off than the 2026 winning margin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Seats by the names left off the draft as a multiple of the 2026 margin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In those seats the removals were large enough to decide the result.</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Whether they did depends on how those people would have voted, and the lists cannot show that.</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removal rate and the margin as a share of votes rise together a little (rank correlation 0.32), so the seats that lost most were not the closest contests.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THE 2026 ELECTION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Counting only the living removed at each seat's turnout, they outnumber the margin in 169 seats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Three ways of setting the removals against the margin, from the widest to the narrowest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3545738" cy="1737360"/>
          </a:xfrm>
          <a:prstGeom prst="roundRect">
            <a:avLst>
              <a:gd name="adj" fmla="val 4211"/>
            </a:avLst>
          </a:prstGeom>
          <a:solidFill>
            <a:srgbClr val="F4F6F7"/>
          </a:solidFill>
          <a:ln/>
        </p:spPr>
      </p:sp>
      <p:sp>
        <p:nvSpPr>
          <p:cNvPr id="48" name="Text 46"/>
          <p:cNvSpPr txBox="1"/>
          <p:nvPr/>
        </p:nvSpPr>
        <p:spPr>
          <a:xfrm>
            <a:off x="731520" y="2029968"/>
            <a:ext cx="3179978" cy="833933"/>
          </a:xfrm>
          <a:prstGeom prst="rect">
            <a:avLst/>
          </a:prstGeom>
          <a:noFill/>
          <a:ln/>
        </p:spPr>
        <p:txBody>
          <a:bodyPr wrap="square" lIns="0" tIns="0" rIns="0" bIns="0" rtlCol="0" anchor="b">
            <a:normAutofit/>
          </a:bodyPr>
          <a:lstStyle/>
          <a:p>
            <a:pPr indent="0" marL="0">
              <a:buNone/>
            </a:pPr>
            <a:r>
              <a:rPr lang="en-US" sz="2800" b="1" dirty="0">
                <a:solidFill>
                  <a:srgbClr val="8E442B"/>
                </a:solidFill>
                <a:latin typeface="Cambria" pitchFamily="34" charset="0"/>
                <a:ea typeface="Cambria" pitchFamily="34" charset="-122"/>
                <a:cs typeface="Cambria" pitchFamily="34" charset="-120"/>
              </a:rPr>
              <a:t>211 of 234</a:t>
            </a:r>
            <a:endParaRPr lang="en-US" sz="2800" dirty="0"/>
          </a:p>
        </p:txBody>
      </p:sp>
      <p:sp>
        <p:nvSpPr>
          <p:cNvPr id="49" name="Text 47"/>
          <p:cNvSpPr txBox="1"/>
          <p:nvPr/>
        </p:nvSpPr>
        <p:spPr>
          <a:xfrm>
            <a:off x="731520" y="2882189"/>
            <a:ext cx="3179978"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every name left off the draft</a:t>
            </a:r>
            <a:endParaRPr lang="en-US" sz="1200" dirty="0"/>
          </a:p>
        </p:txBody>
      </p:sp>
      <p:sp>
        <p:nvSpPr>
          <p:cNvPr id="50" name="Shape 48"/>
          <p:cNvSpPr/>
          <p:nvPr/>
        </p:nvSpPr>
        <p:spPr>
          <a:xfrm>
            <a:off x="4322978" y="1920240"/>
            <a:ext cx="3545738" cy="1737360"/>
          </a:xfrm>
          <a:prstGeom prst="roundRect">
            <a:avLst>
              <a:gd name="adj" fmla="val 4211"/>
            </a:avLst>
          </a:prstGeom>
          <a:solidFill>
            <a:srgbClr val="F4F6F7"/>
          </a:solidFill>
          <a:ln/>
        </p:spPr>
      </p:sp>
      <p:sp>
        <p:nvSpPr>
          <p:cNvPr id="51" name="Text 49"/>
          <p:cNvSpPr txBox="1"/>
          <p:nvPr/>
        </p:nvSpPr>
        <p:spPr>
          <a:xfrm>
            <a:off x="4505858" y="2029968"/>
            <a:ext cx="3179978" cy="833933"/>
          </a:xfrm>
          <a:prstGeom prst="rect">
            <a:avLst/>
          </a:prstGeom>
          <a:noFill/>
          <a:ln/>
        </p:spPr>
        <p:txBody>
          <a:bodyPr wrap="square" lIns="0" tIns="0" rIns="0" bIns="0" rtlCol="0" anchor="b">
            <a:normAutofit/>
          </a:bodyPr>
          <a:lstStyle/>
          <a:p>
            <a:pPr indent="0" marL="0">
              <a:buNone/>
            </a:pPr>
            <a:r>
              <a:rPr lang="en-US" sz="2800" b="1" dirty="0">
                <a:solidFill>
                  <a:srgbClr val="8E442B"/>
                </a:solidFill>
                <a:latin typeface="Cambria" pitchFamily="34" charset="0"/>
                <a:ea typeface="Cambria" pitchFamily="34" charset="-122"/>
                <a:cs typeface="Cambria" pitchFamily="34" charset="-120"/>
              </a:rPr>
              <a:t>191 of 234</a:t>
            </a:r>
            <a:endParaRPr lang="en-US" sz="2800" dirty="0"/>
          </a:p>
        </p:txBody>
      </p:sp>
      <p:sp>
        <p:nvSpPr>
          <p:cNvPr id="52" name="Text 50"/>
          <p:cNvSpPr txBox="1"/>
          <p:nvPr/>
        </p:nvSpPr>
        <p:spPr>
          <a:xfrm>
            <a:off x="4505858" y="2882189"/>
            <a:ext cx="3179978"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the net fall at the final roll</a:t>
            </a:r>
            <a:endParaRPr lang="en-US" sz="1200" dirty="0"/>
          </a:p>
        </p:txBody>
      </p:sp>
      <p:sp>
        <p:nvSpPr>
          <p:cNvPr id="53" name="Shape 51"/>
          <p:cNvSpPr/>
          <p:nvPr/>
        </p:nvSpPr>
        <p:spPr>
          <a:xfrm>
            <a:off x="8097317" y="1920240"/>
            <a:ext cx="3545738" cy="1737360"/>
          </a:xfrm>
          <a:prstGeom prst="roundRect">
            <a:avLst>
              <a:gd name="adj" fmla="val 4211"/>
            </a:avLst>
          </a:prstGeom>
          <a:solidFill>
            <a:srgbClr val="F4F6F7"/>
          </a:solidFill>
          <a:ln/>
        </p:spPr>
      </p:sp>
      <p:sp>
        <p:nvSpPr>
          <p:cNvPr id="54" name="Text 52"/>
          <p:cNvSpPr txBox="1"/>
          <p:nvPr/>
        </p:nvSpPr>
        <p:spPr>
          <a:xfrm>
            <a:off x="8280197" y="2029968"/>
            <a:ext cx="3179978" cy="833933"/>
          </a:xfrm>
          <a:prstGeom prst="rect">
            <a:avLst/>
          </a:prstGeom>
          <a:noFill/>
          <a:ln/>
        </p:spPr>
        <p:txBody>
          <a:bodyPr wrap="square" lIns="0" tIns="0" rIns="0" bIns="0" rtlCol="0" anchor="b">
            <a:normAutofit/>
          </a:bodyPr>
          <a:lstStyle/>
          <a:p>
            <a:pPr indent="0" marL="0">
              <a:buNone/>
            </a:pPr>
            <a:r>
              <a:rPr lang="en-US" sz="2800" b="1" dirty="0">
                <a:solidFill>
                  <a:srgbClr val="8E442B"/>
                </a:solidFill>
                <a:latin typeface="Cambria" pitchFamily="34" charset="0"/>
                <a:ea typeface="Cambria" pitchFamily="34" charset="-122"/>
                <a:cs typeface="Cambria" pitchFamily="34" charset="-120"/>
              </a:rPr>
              <a:t>169 of 234</a:t>
            </a:r>
            <a:endParaRPr lang="en-US" sz="2800" dirty="0"/>
          </a:p>
        </p:txBody>
      </p:sp>
      <p:sp>
        <p:nvSpPr>
          <p:cNvPr id="55" name="Text 53"/>
          <p:cNvSpPr txBox="1"/>
          <p:nvPr/>
        </p:nvSpPr>
        <p:spPr>
          <a:xfrm>
            <a:off x="8280197" y="2882189"/>
            <a:ext cx="3179978"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the names not marked dead, at the seat's 2026 turnout</a:t>
            </a:r>
            <a:endParaRPr lang="en-US" sz="1200" dirty="0"/>
          </a:p>
        </p:txBody>
      </p:sp>
      <p:sp>
        <p:nvSpPr>
          <p:cNvPr id="56" name="Text 54"/>
          <p:cNvSpPr txBox="1"/>
          <p:nvPr/>
        </p:nvSpPr>
        <p:spPr>
          <a:xfrm>
            <a:off x="548640" y="4023360"/>
            <a:ext cx="11094415" cy="1828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In the other 65 seats, the runner-up could not have won even if every living person removed had voted for the runner-up at the seat's turnout. Even the narrowest count assumes all of them would have, which nobody can know.</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THE 2026 ELECTION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Seats won by TVK lost 18.8 per 100 and DMK seats 12.6, and against their own districts they differ by 0.6 points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removed per 100 electors in the seats each party won, and against the rate of each seat's own district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949440" cy="914400"/>
        </p:xfrm>
        <a:graphic>
          <a:graphicData uri="http://schemas.openxmlformats.org/drawingml/2006/table">
            <a:tbl>
              <a:tblPr/>
              <a:tblGrid>
                <a:gridCol w="1828800"/>
                <a:gridCol w="914400"/>
                <a:gridCol w="1463040"/>
                <a:gridCol w="1463040"/>
                <a:gridCol w="1280160"/>
              </a:tblGrid>
              <a:tr h="2560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Party that won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3420"/>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Seats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3420"/>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Removed per 100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3420"/>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Against own district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3420"/>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Over the margin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6E3420"/>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TVK</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DMK</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AIADMK</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11.3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INC</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PMK</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IUML</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CPI</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VCK</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CPI(M)</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BJP</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DMDK</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AMMK</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14.2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TVK won most of the city seats, and the city seats lost the most names.</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Against their own districts, TVK seats come out at +0.6, DMK seats at -0.1 and AIADMK seats at -1.9.</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163 of the 234 seats changed hands from 2021.</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LIMITS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What the tables show, and what they cannot show</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Shape 44"/>
          <p:cNvSpPr/>
          <p:nvPr/>
        </p:nvSpPr>
        <p:spPr>
          <a:xfrm>
            <a:off x="548640" y="1554480"/>
            <a:ext cx="5440680" cy="2103120"/>
          </a:xfrm>
          <a:prstGeom prst="roundRect">
            <a:avLst>
              <a:gd name="adj" fmla="val 4348"/>
            </a:avLst>
          </a:prstGeom>
          <a:solidFill>
            <a:srgbClr val="FBEFE8"/>
          </a:solidFill>
          <a:ln/>
        </p:spPr>
      </p:sp>
      <p:sp>
        <p:nvSpPr>
          <p:cNvPr id="47" name="Text 45"/>
          <p:cNvSpPr txBox="1"/>
          <p:nvPr/>
        </p:nvSpPr>
        <p:spPr>
          <a:xfrm>
            <a:off x="777240"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How many names were left off the draft in every constituency, on what recorded reason, what the final roll put back, and how those numbers compare with the 2026 margins.</a:t>
            </a:r>
            <a:endParaRPr lang="en-US" sz="1500" dirty="0"/>
          </a:p>
        </p:txBody>
      </p:sp>
      <p:sp>
        <p:nvSpPr>
          <p:cNvPr id="48" name="Shape 46"/>
          <p:cNvSpPr/>
          <p:nvPr/>
        </p:nvSpPr>
        <p:spPr>
          <a:xfrm>
            <a:off x="6199632" y="1554480"/>
            <a:ext cx="5440680" cy="2103120"/>
          </a:xfrm>
          <a:prstGeom prst="roundRect">
            <a:avLst>
              <a:gd name="adj" fmla="val 4348"/>
            </a:avLst>
          </a:prstGeom>
          <a:solidFill>
            <a:srgbClr val="FBEFE8"/>
          </a:solidFill>
          <a:ln/>
        </p:spPr>
      </p:sp>
      <p:sp>
        <p:nvSpPr>
          <p:cNvPr id="49" name="Text 47"/>
          <p:cNvSpPr txBox="1"/>
          <p:nvPr/>
        </p:nvSpPr>
        <p:spPr>
          <a:xfrm>
            <a:off x="6428232"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Whether women, the old or the young were removed more often, because no split by sex or age has been published. Whether each removal was right, or how anyone removed would have voted.</a:t>
            </a:r>
            <a:endParaRPr lang="en-US" sz="1500" dirty="0"/>
          </a:p>
        </p:txBody>
      </p:sp>
      <p:sp>
        <p:nvSpPr>
          <p:cNvPr id="50" name="Text 48"/>
          <p:cNvSpPr txBox="1"/>
          <p:nvPr/>
        </p:nvSpPr>
        <p:spPr>
          <a:xfrm>
            <a:off x="548640" y="3931920"/>
            <a:ext cx="11094415" cy="13716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A reason on the list is what the officer wrote down, and nobody checked it. No list of removals can show intent.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WHAT THE ELECTION COMMISSION SHOULD DO</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Publish who was removed, and on what basis</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names removed by sex and age for every constituency, with the roll before the revision by sex.</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basis for the 66.4 lakh entries marked shifted or absent, including the visits made and the notice given.</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how many of those added for the final roll had been left off the draft.</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Explain why Chennai lost 35.6 of every 100 electors, more than twice the state's rate.</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roll the election was held on, constituency by constituency.</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8E442B"/>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6E3420"/>
                </a:solidFill>
                <a:latin typeface="Cambria" pitchFamily="34" charset="0"/>
                <a:ea typeface="Cambria" pitchFamily="34" charset="-122"/>
                <a:cs typeface="Cambria" pitchFamily="34" charset="-120"/>
              </a:rPr>
              <a:t>Where the figures come from</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Tamil Nadu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names left off the draft roll, by constituency and reason, and the draft and final rolls by constituency and sex, are the Chief Electoral Officer's tables. They add up to the state totals published with them.</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roll before the revision is the draft plus the names left off, 6,41,14,587 in all, because no constituency table of it was published.</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2026 result is from the Election Commission's result pages, and turnout is votes over the final roll. The 2021 result is from the Commission's statistical report, through a published compilation of it.</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Each seat's rate is also set against its own district's, because Chennai and the districts around it removed far more names than the rest of the state.</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Only counts are published, never a name, EPIC number or address.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6E3420"/>
        </a:solidFill>
      </p:bgPr>
    </p:bg>
    <p:spTree>
      <p:nvGrpSpPr>
        <p:cNvPr id="1" name=""/>
        <p:cNvGrpSpPr/>
        <p:nvPr/>
      </p:nvGrpSpPr>
      <p:grpSpPr>
        <a:xfrm>
          <a:off x="0" y="0"/>
          <a:ext cx="0" cy="0"/>
          <a:chOff x="0" y="0"/>
          <a:chExt cx="0" cy="0"/>
        </a:xfrm>
      </p:grpSpPr>
      <p:sp>
        <p:nvSpPr>
          <p:cNvPr id="2" name="Text 0"/>
          <p:cNvSpPr txBox="1"/>
          <p:nvPr/>
        </p:nvSpPr>
        <p:spPr>
          <a:xfrm>
            <a:off x="548640" y="1280160"/>
            <a:ext cx="11094415" cy="10972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full analysis</a:t>
            </a:r>
            <a:endParaRPr lang="en-US" sz="3400" dirty="0"/>
          </a:p>
        </p:txBody>
      </p:sp>
      <p:sp>
        <p:nvSpPr>
          <p:cNvPr id="3" name="Text 1"/>
          <p:cNvSpPr txBox="1"/>
          <p:nvPr/>
        </p:nvSpPr>
        <p:spPr>
          <a:xfrm>
            <a:off x="548640" y="2743200"/>
            <a:ext cx="11094415" cy="2377440"/>
          </a:xfrm>
          <a:prstGeom prst="rect">
            <a:avLst/>
          </a:prstGeom>
          <a:noFill/>
          <a:ln/>
        </p:spPr>
        <p:txBody>
          <a:bodyPr wrap="square" lIns="0" tIns="0" rIns="0" bIns="0" rtlCol="0" anchor="t"/>
          <a:lstStyle/>
          <a:p>
            <a:pPr indent="0" marL="0">
              <a:spcAft>
                <a:spcPts val="1000"/>
              </a:spcAft>
              <a:buNone/>
            </a:pPr>
            <a:r>
              <a:rPr lang="en-US" sz="1700" dirty="0">
                <a:solidFill>
                  <a:srgbClr val="F2DCCB"/>
                </a:solidFill>
                <a:latin typeface="Calibri" pitchFamily="34" charset="0"/>
                <a:ea typeface="Calibri" pitchFamily="34" charset="-122"/>
                <a:cs typeface="Calibri" pitchFamily="34" charset="-120"/>
              </a:rPr>
              <a:t>The constituency map, every district and constituency, and the full report are published online alongside this deck.</a:t>
            </a:r>
            <a:endParaRPr lang="en-US" sz="1700" dirty="0"/>
          </a:p>
          <a:p>
            <a:pPr indent="0" marL="0">
              <a:spcAft>
                <a:spcPts val="1000"/>
              </a:spcAft>
              <a:buNone/>
            </a:pPr>
            <a:r>
              <a:rPr lang="en-US" sz="1700" dirty="0">
                <a:solidFill>
                  <a:srgbClr val="F2DCCB"/>
                </a:solidFill>
                <a:latin typeface="Calibri" pitchFamily="34" charset="0"/>
                <a:ea typeface="Calibri" pitchFamily="34" charset="-122"/>
                <a:cs typeface="Calibri" pitchFamily="34" charset="-120"/>
              </a:rPr>
              <a:t>PinPoint Ventures</a:t>
            </a:r>
            <a:endParaRPr lang="en-US" sz="1700" dirty="0"/>
          </a:p>
        </p:txBody>
      </p:sp>
      <p:sp>
        <p:nvSpPr>
          <p:cNvPr id="4" name="Shape 2"/>
          <p:cNvSpPr/>
          <p:nvPr/>
        </p:nvSpPr>
        <p:spPr>
          <a:xfrm>
            <a:off x="0" y="6748272"/>
            <a:ext cx="304792" cy="109728"/>
          </a:xfrm>
          <a:prstGeom prst="rect">
            <a:avLst/>
          </a:prstGeom>
          <a:solidFill>
            <a:srgbClr val="C0392B"/>
          </a:solidFill>
          <a:ln/>
        </p:spPr>
      </p:sp>
      <p:sp>
        <p:nvSpPr>
          <p:cNvPr id="5" name="Shape 3"/>
          <p:cNvSpPr/>
          <p:nvPr/>
        </p:nvSpPr>
        <p:spPr>
          <a:xfrm>
            <a:off x="304792" y="6748272"/>
            <a:ext cx="304792" cy="109728"/>
          </a:xfrm>
          <a:prstGeom prst="rect">
            <a:avLst/>
          </a:prstGeom>
          <a:solidFill>
            <a:srgbClr val="E67E22"/>
          </a:solidFill>
          <a:ln/>
        </p:spPr>
      </p:sp>
      <p:sp>
        <p:nvSpPr>
          <p:cNvPr id="6" name="Shape 4"/>
          <p:cNvSpPr/>
          <p:nvPr/>
        </p:nvSpPr>
        <p:spPr>
          <a:xfrm>
            <a:off x="609585" y="6748272"/>
            <a:ext cx="304792" cy="109728"/>
          </a:xfrm>
          <a:prstGeom prst="rect">
            <a:avLst/>
          </a:prstGeom>
          <a:solidFill>
            <a:srgbClr val="27AE60"/>
          </a:solidFill>
          <a:ln/>
        </p:spPr>
      </p:sp>
      <p:sp>
        <p:nvSpPr>
          <p:cNvPr id="7" name="Shape 5"/>
          <p:cNvSpPr/>
          <p:nvPr/>
        </p:nvSpPr>
        <p:spPr>
          <a:xfrm>
            <a:off x="914377" y="6748272"/>
            <a:ext cx="304792" cy="109728"/>
          </a:xfrm>
          <a:prstGeom prst="rect">
            <a:avLst/>
          </a:prstGeom>
          <a:solidFill>
            <a:srgbClr val="1F618D"/>
          </a:solidFill>
          <a:ln/>
        </p:spPr>
      </p:sp>
      <p:sp>
        <p:nvSpPr>
          <p:cNvPr id="8" name="Shape 6"/>
          <p:cNvSpPr/>
          <p:nvPr/>
        </p:nvSpPr>
        <p:spPr>
          <a:xfrm>
            <a:off x="1219170" y="6748272"/>
            <a:ext cx="304792" cy="109728"/>
          </a:xfrm>
          <a:prstGeom prst="rect">
            <a:avLst/>
          </a:prstGeom>
          <a:solidFill>
            <a:srgbClr val="8E44AD"/>
          </a:solidFill>
          <a:ln/>
        </p:spPr>
      </p:sp>
      <p:sp>
        <p:nvSpPr>
          <p:cNvPr id="9" name="Shape 7"/>
          <p:cNvSpPr/>
          <p:nvPr/>
        </p:nvSpPr>
        <p:spPr>
          <a:xfrm>
            <a:off x="1523962" y="6748272"/>
            <a:ext cx="304792" cy="109728"/>
          </a:xfrm>
          <a:prstGeom prst="rect">
            <a:avLst/>
          </a:prstGeom>
          <a:solidFill>
            <a:srgbClr val="C0392B"/>
          </a:solidFill>
          <a:ln/>
        </p:spPr>
      </p:sp>
      <p:sp>
        <p:nvSpPr>
          <p:cNvPr id="10" name="Shape 8"/>
          <p:cNvSpPr/>
          <p:nvPr/>
        </p:nvSpPr>
        <p:spPr>
          <a:xfrm>
            <a:off x="1828754" y="6748272"/>
            <a:ext cx="304792" cy="109728"/>
          </a:xfrm>
          <a:prstGeom prst="rect">
            <a:avLst/>
          </a:prstGeom>
          <a:solidFill>
            <a:srgbClr val="E67E22"/>
          </a:solidFill>
          <a:ln/>
        </p:spPr>
      </p:sp>
      <p:sp>
        <p:nvSpPr>
          <p:cNvPr id="11" name="Shape 9"/>
          <p:cNvSpPr/>
          <p:nvPr/>
        </p:nvSpPr>
        <p:spPr>
          <a:xfrm>
            <a:off x="2133547" y="6748272"/>
            <a:ext cx="304792" cy="109728"/>
          </a:xfrm>
          <a:prstGeom prst="rect">
            <a:avLst/>
          </a:prstGeom>
          <a:solidFill>
            <a:srgbClr val="27AE60"/>
          </a:solidFill>
          <a:ln/>
        </p:spPr>
      </p:sp>
      <p:sp>
        <p:nvSpPr>
          <p:cNvPr id="12" name="Shape 10"/>
          <p:cNvSpPr/>
          <p:nvPr/>
        </p:nvSpPr>
        <p:spPr>
          <a:xfrm>
            <a:off x="2438339" y="6748272"/>
            <a:ext cx="304792" cy="109728"/>
          </a:xfrm>
          <a:prstGeom prst="rect">
            <a:avLst/>
          </a:prstGeom>
          <a:solidFill>
            <a:srgbClr val="1F618D"/>
          </a:solidFill>
          <a:ln/>
        </p:spPr>
      </p:sp>
      <p:sp>
        <p:nvSpPr>
          <p:cNvPr id="13" name="Shape 11"/>
          <p:cNvSpPr/>
          <p:nvPr/>
        </p:nvSpPr>
        <p:spPr>
          <a:xfrm>
            <a:off x="2743131" y="6748272"/>
            <a:ext cx="304792" cy="109728"/>
          </a:xfrm>
          <a:prstGeom prst="rect">
            <a:avLst/>
          </a:prstGeom>
          <a:solidFill>
            <a:srgbClr val="8E44AD"/>
          </a:solidFill>
          <a:ln/>
        </p:spPr>
      </p:sp>
      <p:sp>
        <p:nvSpPr>
          <p:cNvPr id="14" name="Shape 12"/>
          <p:cNvSpPr/>
          <p:nvPr/>
        </p:nvSpPr>
        <p:spPr>
          <a:xfrm>
            <a:off x="3047924" y="6748272"/>
            <a:ext cx="304792" cy="109728"/>
          </a:xfrm>
          <a:prstGeom prst="rect">
            <a:avLst/>
          </a:prstGeom>
          <a:solidFill>
            <a:srgbClr val="C0392B"/>
          </a:solidFill>
          <a:ln/>
        </p:spPr>
      </p:sp>
      <p:sp>
        <p:nvSpPr>
          <p:cNvPr id="15" name="Shape 13"/>
          <p:cNvSpPr/>
          <p:nvPr/>
        </p:nvSpPr>
        <p:spPr>
          <a:xfrm>
            <a:off x="3352716" y="6748272"/>
            <a:ext cx="304792" cy="109728"/>
          </a:xfrm>
          <a:prstGeom prst="rect">
            <a:avLst/>
          </a:prstGeom>
          <a:solidFill>
            <a:srgbClr val="E67E22"/>
          </a:solidFill>
          <a:ln/>
        </p:spPr>
      </p:sp>
      <p:sp>
        <p:nvSpPr>
          <p:cNvPr id="16" name="Shape 14"/>
          <p:cNvSpPr/>
          <p:nvPr/>
        </p:nvSpPr>
        <p:spPr>
          <a:xfrm>
            <a:off x="3657509" y="6748272"/>
            <a:ext cx="304792" cy="109728"/>
          </a:xfrm>
          <a:prstGeom prst="rect">
            <a:avLst/>
          </a:prstGeom>
          <a:solidFill>
            <a:srgbClr val="27AE60"/>
          </a:solidFill>
          <a:ln/>
        </p:spPr>
      </p:sp>
      <p:sp>
        <p:nvSpPr>
          <p:cNvPr id="17" name="Shape 15"/>
          <p:cNvSpPr/>
          <p:nvPr/>
        </p:nvSpPr>
        <p:spPr>
          <a:xfrm>
            <a:off x="3962301" y="6748272"/>
            <a:ext cx="304792" cy="109728"/>
          </a:xfrm>
          <a:prstGeom prst="rect">
            <a:avLst/>
          </a:prstGeom>
          <a:solidFill>
            <a:srgbClr val="1F618D"/>
          </a:solidFill>
          <a:ln/>
        </p:spPr>
      </p:sp>
      <p:sp>
        <p:nvSpPr>
          <p:cNvPr id="18" name="Shape 16"/>
          <p:cNvSpPr/>
          <p:nvPr/>
        </p:nvSpPr>
        <p:spPr>
          <a:xfrm>
            <a:off x="4267093" y="6748272"/>
            <a:ext cx="304792" cy="109728"/>
          </a:xfrm>
          <a:prstGeom prst="rect">
            <a:avLst/>
          </a:prstGeom>
          <a:solidFill>
            <a:srgbClr val="8E44AD"/>
          </a:solidFill>
          <a:ln/>
        </p:spPr>
      </p:sp>
      <p:sp>
        <p:nvSpPr>
          <p:cNvPr id="19" name="Shape 17"/>
          <p:cNvSpPr/>
          <p:nvPr/>
        </p:nvSpPr>
        <p:spPr>
          <a:xfrm>
            <a:off x="4571886" y="6748272"/>
            <a:ext cx="304792" cy="109728"/>
          </a:xfrm>
          <a:prstGeom prst="rect">
            <a:avLst/>
          </a:prstGeom>
          <a:solidFill>
            <a:srgbClr val="C0392B"/>
          </a:solidFill>
          <a:ln/>
        </p:spPr>
      </p:sp>
      <p:sp>
        <p:nvSpPr>
          <p:cNvPr id="20" name="Shape 18"/>
          <p:cNvSpPr/>
          <p:nvPr/>
        </p:nvSpPr>
        <p:spPr>
          <a:xfrm>
            <a:off x="4876678" y="6748272"/>
            <a:ext cx="304792" cy="109728"/>
          </a:xfrm>
          <a:prstGeom prst="rect">
            <a:avLst/>
          </a:prstGeom>
          <a:solidFill>
            <a:srgbClr val="E67E22"/>
          </a:solidFill>
          <a:ln/>
        </p:spPr>
      </p:sp>
      <p:sp>
        <p:nvSpPr>
          <p:cNvPr id="21" name="Shape 19"/>
          <p:cNvSpPr/>
          <p:nvPr/>
        </p:nvSpPr>
        <p:spPr>
          <a:xfrm>
            <a:off x="5181470" y="6748272"/>
            <a:ext cx="304792" cy="109728"/>
          </a:xfrm>
          <a:prstGeom prst="rect">
            <a:avLst/>
          </a:prstGeom>
          <a:solidFill>
            <a:srgbClr val="27AE60"/>
          </a:solidFill>
          <a:ln/>
        </p:spPr>
      </p:sp>
      <p:sp>
        <p:nvSpPr>
          <p:cNvPr id="22" name="Shape 20"/>
          <p:cNvSpPr/>
          <p:nvPr/>
        </p:nvSpPr>
        <p:spPr>
          <a:xfrm>
            <a:off x="5486263" y="6748272"/>
            <a:ext cx="304792" cy="109728"/>
          </a:xfrm>
          <a:prstGeom prst="rect">
            <a:avLst/>
          </a:prstGeom>
          <a:solidFill>
            <a:srgbClr val="1F618D"/>
          </a:solidFill>
          <a:ln/>
        </p:spPr>
      </p:sp>
      <p:sp>
        <p:nvSpPr>
          <p:cNvPr id="23" name="Shape 21"/>
          <p:cNvSpPr/>
          <p:nvPr/>
        </p:nvSpPr>
        <p:spPr>
          <a:xfrm>
            <a:off x="5791055" y="6748272"/>
            <a:ext cx="304792" cy="109728"/>
          </a:xfrm>
          <a:prstGeom prst="rect">
            <a:avLst/>
          </a:prstGeom>
          <a:solidFill>
            <a:srgbClr val="8E44AD"/>
          </a:solidFill>
          <a:ln/>
        </p:spPr>
      </p:sp>
      <p:sp>
        <p:nvSpPr>
          <p:cNvPr id="24" name="Shape 22"/>
          <p:cNvSpPr/>
          <p:nvPr/>
        </p:nvSpPr>
        <p:spPr>
          <a:xfrm>
            <a:off x="6095848" y="6748272"/>
            <a:ext cx="304792" cy="109728"/>
          </a:xfrm>
          <a:prstGeom prst="rect">
            <a:avLst/>
          </a:prstGeom>
          <a:solidFill>
            <a:srgbClr val="C0392B"/>
          </a:solidFill>
          <a:ln/>
        </p:spPr>
      </p:sp>
      <p:sp>
        <p:nvSpPr>
          <p:cNvPr id="25" name="Shape 23"/>
          <p:cNvSpPr/>
          <p:nvPr/>
        </p:nvSpPr>
        <p:spPr>
          <a:xfrm>
            <a:off x="6400640" y="6748272"/>
            <a:ext cx="304792" cy="109728"/>
          </a:xfrm>
          <a:prstGeom prst="rect">
            <a:avLst/>
          </a:prstGeom>
          <a:solidFill>
            <a:srgbClr val="E67E22"/>
          </a:solidFill>
          <a:ln/>
        </p:spPr>
      </p:sp>
      <p:sp>
        <p:nvSpPr>
          <p:cNvPr id="26" name="Shape 24"/>
          <p:cNvSpPr/>
          <p:nvPr/>
        </p:nvSpPr>
        <p:spPr>
          <a:xfrm>
            <a:off x="6705432" y="6748272"/>
            <a:ext cx="304792" cy="109728"/>
          </a:xfrm>
          <a:prstGeom prst="rect">
            <a:avLst/>
          </a:prstGeom>
          <a:solidFill>
            <a:srgbClr val="27AE60"/>
          </a:solidFill>
          <a:ln/>
        </p:spPr>
      </p:sp>
      <p:sp>
        <p:nvSpPr>
          <p:cNvPr id="27" name="Shape 25"/>
          <p:cNvSpPr/>
          <p:nvPr/>
        </p:nvSpPr>
        <p:spPr>
          <a:xfrm>
            <a:off x="7010225" y="6748272"/>
            <a:ext cx="304792" cy="109728"/>
          </a:xfrm>
          <a:prstGeom prst="rect">
            <a:avLst/>
          </a:prstGeom>
          <a:solidFill>
            <a:srgbClr val="1F618D"/>
          </a:solidFill>
          <a:ln/>
        </p:spPr>
      </p:sp>
      <p:sp>
        <p:nvSpPr>
          <p:cNvPr id="28" name="Shape 26"/>
          <p:cNvSpPr/>
          <p:nvPr/>
        </p:nvSpPr>
        <p:spPr>
          <a:xfrm>
            <a:off x="7315017" y="6748272"/>
            <a:ext cx="304792" cy="109728"/>
          </a:xfrm>
          <a:prstGeom prst="rect">
            <a:avLst/>
          </a:prstGeom>
          <a:solidFill>
            <a:srgbClr val="8E44AD"/>
          </a:solidFill>
          <a:ln/>
        </p:spPr>
      </p:sp>
      <p:sp>
        <p:nvSpPr>
          <p:cNvPr id="29" name="Shape 27"/>
          <p:cNvSpPr/>
          <p:nvPr/>
        </p:nvSpPr>
        <p:spPr>
          <a:xfrm>
            <a:off x="7619809" y="6748272"/>
            <a:ext cx="304792" cy="109728"/>
          </a:xfrm>
          <a:prstGeom prst="rect">
            <a:avLst/>
          </a:prstGeom>
          <a:solidFill>
            <a:srgbClr val="C0392B"/>
          </a:solidFill>
          <a:ln/>
        </p:spPr>
      </p:sp>
      <p:sp>
        <p:nvSpPr>
          <p:cNvPr id="30" name="Shape 28"/>
          <p:cNvSpPr/>
          <p:nvPr/>
        </p:nvSpPr>
        <p:spPr>
          <a:xfrm>
            <a:off x="7924602" y="6748272"/>
            <a:ext cx="304792" cy="109728"/>
          </a:xfrm>
          <a:prstGeom prst="rect">
            <a:avLst/>
          </a:prstGeom>
          <a:solidFill>
            <a:srgbClr val="E67E22"/>
          </a:solidFill>
          <a:ln/>
        </p:spPr>
      </p:sp>
      <p:sp>
        <p:nvSpPr>
          <p:cNvPr id="31" name="Shape 29"/>
          <p:cNvSpPr/>
          <p:nvPr/>
        </p:nvSpPr>
        <p:spPr>
          <a:xfrm>
            <a:off x="8229394" y="6748272"/>
            <a:ext cx="304792" cy="109728"/>
          </a:xfrm>
          <a:prstGeom prst="rect">
            <a:avLst/>
          </a:prstGeom>
          <a:solidFill>
            <a:srgbClr val="27AE60"/>
          </a:solidFill>
          <a:ln/>
        </p:spPr>
      </p:sp>
      <p:sp>
        <p:nvSpPr>
          <p:cNvPr id="32" name="Shape 30"/>
          <p:cNvSpPr/>
          <p:nvPr/>
        </p:nvSpPr>
        <p:spPr>
          <a:xfrm>
            <a:off x="8534187" y="6748272"/>
            <a:ext cx="304792" cy="109728"/>
          </a:xfrm>
          <a:prstGeom prst="rect">
            <a:avLst/>
          </a:prstGeom>
          <a:solidFill>
            <a:srgbClr val="1F618D"/>
          </a:solidFill>
          <a:ln/>
        </p:spPr>
      </p:sp>
      <p:sp>
        <p:nvSpPr>
          <p:cNvPr id="33" name="Shape 31"/>
          <p:cNvSpPr/>
          <p:nvPr/>
        </p:nvSpPr>
        <p:spPr>
          <a:xfrm>
            <a:off x="8838979" y="6748272"/>
            <a:ext cx="304792" cy="109728"/>
          </a:xfrm>
          <a:prstGeom prst="rect">
            <a:avLst/>
          </a:prstGeom>
          <a:solidFill>
            <a:srgbClr val="8E44AD"/>
          </a:solidFill>
          <a:ln/>
        </p:spPr>
      </p:sp>
      <p:sp>
        <p:nvSpPr>
          <p:cNvPr id="34" name="Shape 32"/>
          <p:cNvSpPr/>
          <p:nvPr/>
        </p:nvSpPr>
        <p:spPr>
          <a:xfrm>
            <a:off x="9143771" y="6748272"/>
            <a:ext cx="304792" cy="109728"/>
          </a:xfrm>
          <a:prstGeom prst="rect">
            <a:avLst/>
          </a:prstGeom>
          <a:solidFill>
            <a:srgbClr val="C0392B"/>
          </a:solidFill>
          <a:ln/>
        </p:spPr>
      </p:sp>
      <p:sp>
        <p:nvSpPr>
          <p:cNvPr id="35" name="Shape 33"/>
          <p:cNvSpPr/>
          <p:nvPr/>
        </p:nvSpPr>
        <p:spPr>
          <a:xfrm>
            <a:off x="9448564" y="6748272"/>
            <a:ext cx="304792" cy="109728"/>
          </a:xfrm>
          <a:prstGeom prst="rect">
            <a:avLst/>
          </a:prstGeom>
          <a:solidFill>
            <a:srgbClr val="E67E22"/>
          </a:solidFill>
          <a:ln/>
        </p:spPr>
      </p:sp>
      <p:sp>
        <p:nvSpPr>
          <p:cNvPr id="36" name="Shape 34"/>
          <p:cNvSpPr/>
          <p:nvPr/>
        </p:nvSpPr>
        <p:spPr>
          <a:xfrm>
            <a:off x="9753356" y="6748272"/>
            <a:ext cx="304792" cy="109728"/>
          </a:xfrm>
          <a:prstGeom prst="rect">
            <a:avLst/>
          </a:prstGeom>
          <a:solidFill>
            <a:srgbClr val="27AE60"/>
          </a:solidFill>
          <a:ln/>
        </p:spPr>
      </p:sp>
      <p:sp>
        <p:nvSpPr>
          <p:cNvPr id="37" name="Shape 35"/>
          <p:cNvSpPr/>
          <p:nvPr/>
        </p:nvSpPr>
        <p:spPr>
          <a:xfrm>
            <a:off x="10058149" y="6748272"/>
            <a:ext cx="304792" cy="109728"/>
          </a:xfrm>
          <a:prstGeom prst="rect">
            <a:avLst/>
          </a:prstGeom>
          <a:solidFill>
            <a:srgbClr val="1F618D"/>
          </a:solidFill>
          <a:ln/>
        </p:spPr>
      </p:sp>
      <p:sp>
        <p:nvSpPr>
          <p:cNvPr id="38" name="Shape 36"/>
          <p:cNvSpPr/>
          <p:nvPr/>
        </p:nvSpPr>
        <p:spPr>
          <a:xfrm>
            <a:off x="10362941" y="6748272"/>
            <a:ext cx="304792" cy="109728"/>
          </a:xfrm>
          <a:prstGeom prst="rect">
            <a:avLst/>
          </a:prstGeom>
          <a:solidFill>
            <a:srgbClr val="8E44AD"/>
          </a:solidFill>
          <a:ln/>
        </p:spPr>
      </p:sp>
      <p:sp>
        <p:nvSpPr>
          <p:cNvPr id="39" name="Shape 37"/>
          <p:cNvSpPr/>
          <p:nvPr/>
        </p:nvSpPr>
        <p:spPr>
          <a:xfrm>
            <a:off x="10667733" y="6748272"/>
            <a:ext cx="304792" cy="109728"/>
          </a:xfrm>
          <a:prstGeom prst="rect">
            <a:avLst/>
          </a:prstGeom>
          <a:solidFill>
            <a:srgbClr val="C0392B"/>
          </a:solidFill>
          <a:ln/>
        </p:spPr>
      </p:sp>
      <p:sp>
        <p:nvSpPr>
          <p:cNvPr id="40" name="Shape 38"/>
          <p:cNvSpPr/>
          <p:nvPr/>
        </p:nvSpPr>
        <p:spPr>
          <a:xfrm>
            <a:off x="10972526" y="6748272"/>
            <a:ext cx="304792" cy="109728"/>
          </a:xfrm>
          <a:prstGeom prst="rect">
            <a:avLst/>
          </a:prstGeom>
          <a:solidFill>
            <a:srgbClr val="E67E22"/>
          </a:solidFill>
          <a:ln/>
        </p:spPr>
      </p:sp>
      <p:sp>
        <p:nvSpPr>
          <p:cNvPr id="41" name="Shape 39"/>
          <p:cNvSpPr/>
          <p:nvPr/>
        </p:nvSpPr>
        <p:spPr>
          <a:xfrm>
            <a:off x="11277318" y="6748272"/>
            <a:ext cx="304792" cy="109728"/>
          </a:xfrm>
          <a:prstGeom prst="rect">
            <a:avLst/>
          </a:prstGeom>
          <a:solidFill>
            <a:srgbClr val="27AE60"/>
          </a:solidFill>
          <a:ln/>
        </p:spPr>
      </p:sp>
      <p:sp>
        <p:nvSpPr>
          <p:cNvPr id="42" name="Shape 40"/>
          <p:cNvSpPr/>
          <p:nvPr/>
        </p:nvSpPr>
        <p:spPr>
          <a:xfrm>
            <a:off x="11582110" y="6748272"/>
            <a:ext cx="304792" cy="109728"/>
          </a:xfrm>
          <a:prstGeom prst="rect">
            <a:avLst/>
          </a:prstGeom>
          <a:solidFill>
            <a:srgbClr val="1F618D"/>
          </a:solidFill>
          <a:ln/>
        </p:spPr>
      </p:sp>
      <p:sp>
        <p:nvSpPr>
          <p:cNvPr id="43" name="Shape 41"/>
          <p:cNvSpPr/>
          <p:nvPr/>
        </p:nvSpPr>
        <p:spPr>
          <a:xfrm>
            <a:off x="11886903" y="6748272"/>
            <a:ext cx="304792" cy="109728"/>
          </a:xfrm>
          <a:prstGeom prst="rect">
            <a:avLst/>
          </a:prstGeom>
          <a:solidFill>
            <a:srgbClr val="8E44AD"/>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Tamil Nadu SIR 2026</dc:title>
  <dc:subject>PptxGenJS Presentation</dc:subject>
  <dc:creator>PinPoint Ventures</dc:creator>
  <cp:lastModifiedBy>PinPoint Ventures</cp:lastModifiedBy>
  <cp:revision>1</cp:revision>
  <dcterms:created xsi:type="dcterms:W3CDTF">2026-10-10T08:55:17Z</dcterms:created>
  <dcterms:modified xsi:type="dcterms:W3CDTF">2026-10-10T08:55:17Z</dcterms:modified>
</cp:coreProperties>
</file>