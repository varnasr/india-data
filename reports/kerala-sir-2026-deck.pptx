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7.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14.0049</c:v>
                </c:pt>
                <c:pt idx="1">
                  <c:v>13.1674</c:v>
                </c:pt>
                <c:pt idx="2">
                  <c:v>11.6547</c:v>
                </c:pt>
                <c:pt idx="3">
                  <c:v>10.1769</c:v>
                </c:pt>
                <c:pt idx="4">
                  <c:v>9.7709</c:v>
                </c:pt>
                <c:pt idx="5">
                  <c:v>9.7032</c:v>
                </c:pt>
                <c:pt idx="6">
                  <c:v>7.8444</c:v>
                </c:pt>
                <c:pt idx="7">
                  <c:v>7.8061</c:v>
                </c:pt>
                <c:pt idx="8">
                  <c:v>7.3114</c:v>
                </c:pt>
                <c:pt idx="9">
                  <c:v>6.9572</c:v>
                </c:pt>
                <c:pt idx="10">
                  <c:v>5.8725</c:v>
                </c:pt>
                <c:pt idx="11">
                  <c:v>5.1354</c:v>
                </c:pt>
                <c:pt idx="12">
                  <c:v>4.7956</c:v>
                </c:pt>
                <c:pt idx="13">
                  <c:v>4.6727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52.5048</c:v>
                </c:pt>
                <c:pt idx="1">
                  <c:v>50.9006</c:v>
                </c:pt>
                <c:pt idx="2">
                  <c:v>51.3653</c:v>
                </c:pt>
                <c:pt idx="3">
                  <c:v>52.2353</c:v>
                </c:pt>
                <c:pt idx="4">
                  <c:v>52.6544</c:v>
                </c:pt>
                <c:pt idx="5">
                  <c:v>51.5097</c:v>
                </c:pt>
                <c:pt idx="6">
                  <c:v>52.1892</c:v>
                </c:pt>
                <c:pt idx="7">
                  <c:v>51.1746</c:v>
                </c:pt>
                <c:pt idx="8">
                  <c:v>52.4376</c:v>
                </c:pt>
                <c:pt idx="9">
                  <c:v>51.6359</c:v>
                </c:pt>
                <c:pt idx="10">
                  <c:v>51.1554</c:v>
                </c:pt>
                <c:pt idx="11">
                  <c:v>51.1339</c:v>
                </c:pt>
                <c:pt idx="12">
                  <c:v>50.0035</c:v>
                </c:pt>
                <c:pt idx="13">
                  <c:v>52.6231</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53.297</c:v>
                </c:pt>
                <c:pt idx="1">
                  <c:v>53.5602</c:v>
                </c:pt>
                <c:pt idx="2">
                  <c:v>53.1768</c:v>
                </c:pt>
                <c:pt idx="3">
                  <c:v>57.6271</c:v>
                </c:pt>
                <c:pt idx="4">
                  <c:v>56.7476</c:v>
                </c:pt>
                <c:pt idx="5">
                  <c:v>54.3148</c:v>
                </c:pt>
                <c:pt idx="6">
                  <c:v>56.6463</c:v>
                </c:pt>
                <c:pt idx="7">
                  <c:v>55.7018</c:v>
                </c:pt>
                <c:pt idx="8">
                  <c:v>54.3795</c:v>
                </c:pt>
                <c:pt idx="9">
                  <c:v>56.4727</c:v>
                </c:pt>
                <c:pt idx="10">
                  <c:v>53.2204</c:v>
                </c:pt>
                <c:pt idx="11">
                  <c:v>58.4348</c:v>
                </c:pt>
                <c:pt idx="12">
                  <c:v>59.9185</c:v>
                </c:pt>
                <c:pt idx="13">
                  <c:v>54.2749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Sheet1!$B$2:$B$15</c:f>
              <c:numCache>
                <c:formatCode>General</c:formatCode>
                <c:ptCount val="14"/>
                <c:pt idx="0">
                  <c:v>14</c:v>
                </c:pt>
                <c:pt idx="1">
                  <c:v>13.2</c:v>
                </c:pt>
                <c:pt idx="2">
                  <c:v>11.7</c:v>
                </c:pt>
                <c:pt idx="3">
                  <c:v>10.2</c:v>
                </c:pt>
                <c:pt idx="4">
                  <c:v>9.8</c:v>
                </c:pt>
                <c:pt idx="5">
                  <c:v>9.7</c:v>
                </c:pt>
                <c:pt idx="6">
                  <c:v>7.8</c:v>
                </c:pt>
                <c:pt idx="7">
                  <c:v>7.8</c:v>
                </c:pt>
                <c:pt idx="8">
                  <c:v>7.3</c:v>
                </c:pt>
                <c:pt idx="9">
                  <c:v>7</c:v>
                </c:pt>
                <c:pt idx="10">
                  <c:v>5.9</c:v>
                </c:pt>
                <c:pt idx="11">
                  <c:v>5.1</c:v>
                </c:pt>
                <c:pt idx="12">
                  <c:v>4.8</c:v>
                </c:pt>
                <c:pt idx="13">
                  <c:v>4.7</c:v>
                </c:pt>
              </c:numCache>
            </c:numRef>
          </c:val>
        </c:ser>
        <c:ser>
          <c:idx val="1"/>
          <c:order val="1"/>
          <c:tx>
            <c:strRef>
              <c:f>Sheet1!$C$1</c:f>
              <c:strCache>
                <c:ptCount val="1"/>
                <c:pt idx="0">
                  <c:v>At the final roll</c:v>
                </c:pt>
              </c:strCache>
            </c:strRef>
          </c:tx>
          <c:spPr>
            <a:solidFill>
              <a:srgbClr val="5D8AA8"/>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Sheet1!$C$2:$C$15</c:f>
              <c:numCache>
                <c:formatCode>General</c:formatCode>
                <c:ptCount val="14"/>
                <c:pt idx="0">
                  <c:v>11</c:v>
                </c:pt>
                <c:pt idx="1">
                  <c:v>10.6</c:v>
                </c:pt>
                <c:pt idx="2">
                  <c:v>6.4</c:v>
                </c:pt>
                <c:pt idx="3">
                  <c:v>6</c:v>
                </c:pt>
                <c:pt idx="4">
                  <c:v>7.4</c:v>
                </c:pt>
                <c:pt idx="5">
                  <c:v>6.6</c:v>
                </c:pt>
                <c:pt idx="6">
                  <c:v>4.7</c:v>
                </c:pt>
                <c:pt idx="7">
                  <c:v>3</c:v>
                </c:pt>
                <c:pt idx="8">
                  <c:v>3</c:v>
                </c:pt>
                <c:pt idx="9">
                  <c:v>0</c:v>
                </c:pt>
                <c:pt idx="10">
                  <c:v>0.2</c:v>
                </c:pt>
                <c:pt idx="11">
                  <c:v>-1.8</c:v>
                </c:pt>
                <c:pt idx="12">
                  <c:v>-6.3</c:v>
                </c:pt>
                <c:pt idx="13">
                  <c:v>-2.2</c:v>
                </c:pt>
              </c:numCache>
            </c:numRef>
          </c:val>
        </c:ser>
        <c:ser>
          <c:idx val="2"/>
          <c:order val="2"/>
          <c:tx>
            <c:strRef>
              <c:f>Sheet1!$D$1</c:f>
              <c:strCache>
                <c:ptCount val="1"/>
                <c:pt idx="0">
                  <c:v>March 2026</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Sheet1!$A$2:$A$15</c:f>
              <c:multiLvlStrCache>
                <c:ptCount val="14"/>
                <c:lvl>
                  <c:pt idx="0">
                    <c:v>Thiruvananthapuram</c:v>
                  </c:pt>
                  <c:pt idx="1">
                    <c:v>Idukki</c:v>
                  </c:pt>
                  <c:pt idx="2">
                    <c:v>Ernakulam</c:v>
                  </c:pt>
                  <c:pt idx="3">
                    <c:v>Thrissur</c:v>
                  </c:pt>
                  <c:pt idx="4">
                    <c:v>Pathanamthitta</c:v>
                  </c:pt>
                  <c:pt idx="5">
                    <c:v>Kottayam</c:v>
                  </c:pt>
                  <c:pt idx="6">
                    <c:v>Alappuzha</c:v>
                  </c:pt>
                  <c:pt idx="7">
                    <c:v>Palakkad</c:v>
                  </c:pt>
                  <c:pt idx="8">
                    <c:v>Kollam</c:v>
                  </c:pt>
                  <c:pt idx="9">
                    <c:v>Kozhikode</c:v>
                  </c:pt>
                  <c:pt idx="10">
                    <c:v>Wayanad</c:v>
                  </c:pt>
                  <c:pt idx="11">
                    <c:v>Kasaragod</c:v>
                  </c:pt>
                  <c:pt idx="12">
                    <c:v>Malappuram</c:v>
                  </c:pt>
                  <c:pt idx="13">
                    <c:v>Kannur</c:v>
                  </c:pt>
                </c:lvl>
              </c:multiLvlStrCache>
            </c:multiLvlStrRef>
          </c:cat>
          <c:val>
            <c:numRef>
              <c:f>Sheet1!$D$2:$D$15</c:f>
              <c:numCache>
                <c:formatCode>General</c:formatCode>
                <c:ptCount val="14"/>
                <c:pt idx="0">
                  <c:v>10.3</c:v>
                </c:pt>
                <c:pt idx="1">
                  <c:v>9.9</c:v>
                </c:pt>
                <c:pt idx="2">
                  <c:v>5.1</c:v>
                </c:pt>
                <c:pt idx="3">
                  <c:v>5.3</c:v>
                </c:pt>
                <c:pt idx="4">
                  <c:v>6.9</c:v>
                </c:pt>
                <c:pt idx="5">
                  <c:v>5.9</c:v>
                </c:pt>
                <c:pt idx="6">
                  <c:v>4.1</c:v>
                </c:pt>
                <c:pt idx="7">
                  <c:v>2.3</c:v>
                </c:pt>
                <c:pt idx="8">
                  <c:v>2.4</c:v>
                </c:pt>
                <c:pt idx="9">
                  <c:v>-0.4</c:v>
                </c:pt>
                <c:pt idx="10">
                  <c:v>-0.2</c:v>
                </c:pt>
                <c:pt idx="11">
                  <c:v>-2.5</c:v>
                </c:pt>
                <c:pt idx="12">
                  <c:v>-6.8</c:v>
                </c:pt>
                <c:pt idx="13">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0E5E6F"/>
              </a:solidFill>
              <a:effectLst/>
            </c:spPr>
          </c:dPt>
          <c:dPt>
            <c:idx val="2"/>
            <c:invertIfNegative val="0"/>
            <c:bubble3D val="0"/>
            <c:spPr>
              <a:solidFill>
                <a:srgbClr val="0E5E6F"/>
              </a:solidFill>
              <a:effectLst/>
            </c:spPr>
          </c:dPt>
          <c:dPt>
            <c:idx val="3"/>
            <c:invertIfNegative val="0"/>
            <c:bubble3D val="0"/>
            <c:spPr>
              <a:solidFill>
                <a:srgbClr val="0E5E6F"/>
              </a:solidFill>
              <a:effectLst/>
            </c:spPr>
          </c:dPt>
          <c:dPt>
            <c:idx val="4"/>
            <c:invertIfNegative val="0"/>
            <c:bubble3D val="0"/>
            <c:spPr>
              <a:solidFill>
                <a:srgbClr val="0E5E6F"/>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66</c:v>
                </c:pt>
                <c:pt idx="1">
                  <c:v>37</c:v>
                </c:pt>
                <c:pt idx="2">
                  <c:v>18</c:v>
                </c:pt>
                <c:pt idx="3">
                  <c:v>12</c:v>
                </c:pt>
                <c:pt idx="4">
                  <c:v>7</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at the draft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No table of the names left off has been published. The deck measures the fall in the roll from January 2025,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fall in the roll is the January 2025 roll less a later one, so it counts names removed less names added, ordinary deaths and moves included. Per 100 electors is that fall for every 100 people on the January 2025 roll.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state the fall to the draft, 23,68,590, is close to the 24,08,503 names reported left off with the draft. For one constituency the two may differ more. The rise after the draft counts new voters and electors registered abroad.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CDE6EB"/>
                </a:solidFill>
                <a:latin typeface="Calibri" pitchFamily="34" charset="0"/>
                <a:ea typeface="Calibri" pitchFamily="34" charset="-122"/>
                <a:cs typeface="Calibri" pitchFamily="34" charset="-120"/>
              </a:rPr>
              <a:t>SPECIAL INTENSIVE REVISION · KERALA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Kerala's draft roll was 23.7 lakh smaller than in January 2025</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CDE6EB"/>
                </a:solidFill>
                <a:latin typeface="Calibri" pitchFamily="34" charset="0"/>
                <a:ea typeface="Calibri" pitchFamily="34" charset="-122"/>
                <a:cs typeface="Calibri" pitchFamily="34" charset="-120"/>
              </a:rPr>
              <a:t>How much smaller each roll was at the draft, who was missing, how much came back before the 2026 election, and how that compares with the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083843"/>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23,68,590</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fewer electors on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083843"/>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8.5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every 100 electors on the January 2025 roll</a:t>
            </a:r>
            <a:endParaRPr lang="en-US" sz="1250" dirty="0"/>
          </a:p>
        </p:txBody>
      </p:sp>
      <p:sp>
        <p:nvSpPr>
          <p:cNvPr id="11" name="Shape 9"/>
          <p:cNvSpPr/>
          <p:nvPr/>
        </p:nvSpPr>
        <p:spPr>
          <a:xfrm>
            <a:off x="6233008" y="3429000"/>
            <a:ext cx="2567864" cy="1737360"/>
          </a:xfrm>
          <a:prstGeom prst="roundRect">
            <a:avLst>
              <a:gd name="adj" fmla="val 4211"/>
            </a:avLst>
          </a:prstGeom>
          <a:solidFill>
            <a:srgbClr val="083843"/>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55.3%</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of the fall were women, against 51.7% of the roll</a:t>
            </a:r>
            <a:endParaRPr lang="en-US" sz="1250" dirty="0"/>
          </a:p>
        </p:txBody>
      </p:sp>
      <p:sp>
        <p:nvSpPr>
          <p:cNvPr id="14" name="Shape 12"/>
          <p:cNvSpPr/>
          <p:nvPr/>
        </p:nvSpPr>
        <p:spPr>
          <a:xfrm>
            <a:off x="9075191" y="3429000"/>
            <a:ext cx="2567864" cy="1737360"/>
          </a:xfrm>
          <a:prstGeom prst="roundRect">
            <a:avLst>
              <a:gd name="adj" fmla="val 4211"/>
            </a:avLst>
          </a:prstGeom>
          <a:solidFill>
            <a:srgbClr val="083843"/>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74 of 140</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CDE6EB"/>
                </a:solidFill>
                <a:latin typeface="Calibri" pitchFamily="34" charset="0"/>
                <a:ea typeface="Calibri" pitchFamily="34" charset="-122"/>
                <a:cs typeface="Calibri" pitchFamily="34" charset="-120"/>
              </a:rPr>
              <a:t>seats where the fall exceeded the 2026 margin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CDE6E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0B4A57"/>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7</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8–10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11</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13–14</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draft roll was 8.5 per 100 smaller, and women were 55.3% of the fall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rolls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Kerala's draft roll was 23.7 lakh smaller than its roll of January 2025, 8.5 of every 100 electors.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74 of the 140 constituencies the roll fell by more at the draft than the 2026 margin. On the roll the election was held on, it was still more than the margin in 38, large enough to decide them.</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Women were 55.3% of the fall, against 51.7% of the roll, and more than their share in all 14 districts.</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Thiruvananthapuram fell most, by 14.0 per 100, and Kannur least, by 4.7.</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By the election the roll had risen 17.0 lakh from the draft, counting new voters too, and it was 6.7 lakh smaller than in January 2025.</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count of the names removed has been published, so these are falls in the roll, which take in ordinary changes too.</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The roll fell from 2.78 crore to 2.54 crore at the draft, and stood at 2.71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from January 2025 to the roll of 23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563777"/>
            <a:ext cx="1109442" cy="3014063"/>
          </a:xfrm>
          <a:prstGeom prst="rect">
            <a:avLst/>
          </a:prstGeom>
          <a:solidFill>
            <a:srgbClr val="1F618D"/>
          </a:solidFill>
          <a:ln/>
        </p:spPr>
      </p:sp>
      <p:sp>
        <p:nvSpPr>
          <p:cNvPr id="48" name="Text 46"/>
          <p:cNvSpPr txBox="1"/>
          <p:nvPr/>
        </p:nvSpPr>
        <p:spPr>
          <a:xfrm>
            <a:off x="548640"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2,78,10,942</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January 2025</a:t>
            </a:r>
            <a:endParaRPr lang="en-US" sz="1000" dirty="0"/>
          </a:p>
        </p:txBody>
      </p:sp>
      <p:sp>
        <p:nvSpPr>
          <p:cNvPr id="50" name="Shape 48"/>
          <p:cNvSpPr/>
          <p:nvPr/>
        </p:nvSpPr>
        <p:spPr>
          <a:xfrm>
            <a:off x="2371294" y="2563777"/>
            <a:ext cx="1109442" cy="1048178"/>
          </a:xfrm>
          <a:prstGeom prst="rect">
            <a:avLst/>
          </a:prstGeom>
          <a:solidFill>
            <a:srgbClr val="C0392B"/>
          </a:solidFill>
          <a:ln/>
        </p:spPr>
      </p:sp>
      <p:sp>
        <p:nvSpPr>
          <p:cNvPr id="51" name="Text 49"/>
          <p:cNvSpPr txBox="1"/>
          <p:nvPr/>
        </p:nvSpPr>
        <p:spPr>
          <a:xfrm>
            <a:off x="2133556" y="2289457"/>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−23,68,590</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Fall to the draft</a:t>
            </a:r>
            <a:endParaRPr lang="en-US" sz="1000" dirty="0"/>
          </a:p>
        </p:txBody>
      </p:sp>
      <p:sp>
        <p:nvSpPr>
          <p:cNvPr id="53" name="Shape 51"/>
          <p:cNvSpPr/>
          <p:nvPr/>
        </p:nvSpPr>
        <p:spPr>
          <a:xfrm>
            <a:off x="3956210" y="3611955"/>
            <a:ext cx="1109442" cy="1965885"/>
          </a:xfrm>
          <a:prstGeom prst="rect">
            <a:avLst/>
          </a:prstGeom>
          <a:solidFill>
            <a:srgbClr val="1F618D"/>
          </a:solidFill>
          <a:ln/>
        </p:spPr>
      </p:sp>
      <p:sp>
        <p:nvSpPr>
          <p:cNvPr id="54" name="Text 52"/>
          <p:cNvSpPr txBox="1"/>
          <p:nvPr/>
        </p:nvSpPr>
        <p:spPr>
          <a:xfrm>
            <a:off x="3718473" y="333763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2,54,42,352</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56" name="Shape 54"/>
          <p:cNvSpPr/>
          <p:nvPr/>
        </p:nvSpPr>
        <p:spPr>
          <a:xfrm>
            <a:off x="5541127" y="2943159"/>
            <a:ext cx="1109442" cy="668796"/>
          </a:xfrm>
          <a:prstGeom prst="rect">
            <a:avLst/>
          </a:prstGeom>
          <a:solidFill>
            <a:srgbClr val="17A589"/>
          </a:solidFill>
          <a:ln/>
        </p:spPr>
      </p:sp>
      <p:sp>
        <p:nvSpPr>
          <p:cNvPr id="57" name="Text 55"/>
          <p:cNvSpPr txBox="1"/>
          <p:nvPr/>
        </p:nvSpPr>
        <p:spPr>
          <a:xfrm>
            <a:off x="5303389"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+15,11,292</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the final roll</a:t>
            </a:r>
            <a:endParaRPr lang="en-US" sz="1000" dirty="0"/>
          </a:p>
        </p:txBody>
      </p:sp>
      <p:sp>
        <p:nvSpPr>
          <p:cNvPr id="59" name="Shape 57"/>
          <p:cNvSpPr/>
          <p:nvPr/>
        </p:nvSpPr>
        <p:spPr>
          <a:xfrm>
            <a:off x="7126043" y="2943159"/>
            <a:ext cx="1109442" cy="2634681"/>
          </a:xfrm>
          <a:prstGeom prst="rect">
            <a:avLst/>
          </a:prstGeom>
          <a:solidFill>
            <a:srgbClr val="1F618D"/>
          </a:solidFill>
          <a:ln/>
        </p:spPr>
      </p:sp>
      <p:sp>
        <p:nvSpPr>
          <p:cNvPr id="60" name="Text 58"/>
          <p:cNvSpPr txBox="1"/>
          <p:nvPr/>
        </p:nvSpPr>
        <p:spPr>
          <a:xfrm>
            <a:off x="6888306" y="2668839"/>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2,69,53,644</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2" name="Shape 60"/>
          <p:cNvSpPr/>
          <p:nvPr/>
        </p:nvSpPr>
        <p:spPr>
          <a:xfrm>
            <a:off x="8710960" y="2859385"/>
            <a:ext cx="1109442" cy="83775"/>
          </a:xfrm>
          <a:prstGeom prst="rect">
            <a:avLst/>
          </a:prstGeom>
          <a:solidFill>
            <a:srgbClr val="17A589"/>
          </a:solidFill>
          <a:ln/>
        </p:spPr>
      </p:sp>
      <p:sp>
        <p:nvSpPr>
          <p:cNvPr id="63" name="Text 61"/>
          <p:cNvSpPr txBox="1"/>
          <p:nvPr/>
        </p:nvSpPr>
        <p:spPr>
          <a:xfrm>
            <a:off x="8473222"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+1,89,308</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to March 2026</a:t>
            </a:r>
            <a:endParaRPr lang="en-US" sz="1000" dirty="0"/>
          </a:p>
        </p:txBody>
      </p:sp>
      <p:sp>
        <p:nvSpPr>
          <p:cNvPr id="65" name="Shape 63"/>
          <p:cNvSpPr/>
          <p:nvPr/>
        </p:nvSpPr>
        <p:spPr>
          <a:xfrm>
            <a:off x="10295876" y="2859385"/>
            <a:ext cx="1109442" cy="2718455"/>
          </a:xfrm>
          <a:prstGeom prst="rect">
            <a:avLst/>
          </a:prstGeom>
          <a:solidFill>
            <a:srgbClr val="1F618D"/>
          </a:solidFill>
          <a:ln/>
        </p:spPr>
      </p:sp>
      <p:sp>
        <p:nvSpPr>
          <p:cNvPr id="66" name="Text 64"/>
          <p:cNvSpPr txBox="1"/>
          <p:nvPr/>
        </p:nvSpPr>
        <p:spPr>
          <a:xfrm>
            <a:off x="10058139" y="2585065"/>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2,71,42,952</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23 March 2026</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Thiruvananthapuram's roll was 14.0 per 100 smaller at the draft, against 8.5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January 2025 to the draft, per 100 electors,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Idukki and Ernakulam come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fall runs from 2.5 in Nilambur to 26.1 in Thiruvananthapuram.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No reasons have been published, by constituency or for the state, so none of these can be split by reason.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Women were more than their share of the fall in all 14 districts and 131 of 140 constituencies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January 2025 roll and of the fall at the draft,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women were 55.3% of the fall, against 51.7% of the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Of the rise after the draft, women were 50.8%.</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By the election the roll was still 6.7 lakh smaller than in January 2025, and 5 districts had grown past it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on the January 2025 roll, the fall at the draft, at the final roll and on the roll of March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negative figure means the roll was larger than in January 2025.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Kozhikode, Wayanad, Kasaragod, Malappuram and Kannur ended above their January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rise counts new voters, including those who turned eighteen and those registered abroad, so it cannot show how many of those left off were restored.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 74 of 140 constituencies, the roll fell by more at the draft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at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-0.15).</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By the election most of the fall had been made up, so the count on the roll the election was held on is smaller.</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On the roll the election was held on, the fall still exceeded the margin in 38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74 of 140</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38 of 140</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0E5E6F"/>
                </a:solidFill>
                <a:latin typeface="Cambria" pitchFamily="34" charset="0"/>
                <a:ea typeface="Cambria" pitchFamily="34" charset="-122"/>
                <a:cs typeface="Cambria" pitchFamily="34" charset="-120"/>
              </a:rPr>
              <a:t>30 of 140</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those seats the fall was large enough to decide the result. The rise after the draft counts new voters too, and nobody can know how anyone missing from the roll would have voted.</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INC seats lost 9.4 per 100 at the draft and CPI(M) seats 7.8, and against their own districts they differ by 1.5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at the draft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 at the draft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0B4A5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RSP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CMP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KEC(J)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RJD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RMPI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INC won 63 seats, the CPI(M) 26 and the IUML 22.</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they come out at +0.4, -1.0 and -0.3, so most of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Comparisons are by party, because the fronts of the independents are not in the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What the rolls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8F3F5"/>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much smaller every constituency's roll was at the draft and at the election than in January 2025, by sex, and how that compares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E8F3F5"/>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place, or on what reason, because no table of the names left off has been published. How many of those left off were put back.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 list of removals can show intent, and the fall in the roll is a different count from the names struck off.</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Publish the names left off, where and why</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left off the draft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women were 55.3% of the fall at the draft, against 51.7% of the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Thiruvananthapuram lost 14.0 of every 100 electors at the draft, 3.0 times the rate of Kannur.</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0E5E6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0B4A57"/>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Kerala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Four rolls by constituency and sex, all the Chief Electoral Officer's, are the final roll of the 2025 summary revision (6 January 2025), the draft (23 December 2025), the final roll (21 February 2026) and the roll of 23 March 2026, on which the election was held.</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No table of the names left off has been published, so the figures measure the fall in the roll. For the state it is 23,68,590, against 24,08,503 names reported left off with the draft.</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The 2026 result is from the Election Commission's result pages. Each seat's fall is also set against its own district's.</a:t>
            </a:r>
            <a:endParaRPr lang="en-US" sz="1600" dirty="0"/>
          </a:p>
          <a:p>
            <a:pPr marL="342900" indent="-342900">
              <a:spcAft>
                <a:spcPts val="800"/>
              </a:spcAft>
              <a:buSzPct val="100000"/>
              <a:buChar char="•"/>
            </a:pPr>
            <a:r>
              <a:rPr lang="en-US" sz="16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4A57"/>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CDE6E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Kerala SIR 2026</dc:title>
  <dc:subject>PptxGenJS Presentation</dc:subject>
  <dc:creator>PinPoint Ventures</dc:creator>
  <cp:lastModifiedBy>PinPoint Ventures</cp:lastModifiedBy>
  <cp:revision>1</cp:revision>
  <dcterms:created xsi:type="dcterms:W3CDTF">2026-10-10T08:55:17Z</dcterms:created>
  <dcterms:modified xsi:type="dcterms:W3CDTF">2026-10-10T08:55:17Z</dcterms:modified>
</cp:coreProperties>
</file>