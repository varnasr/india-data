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5.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16.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17.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18.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Fall per 100</c:v>
                </c:pt>
              </c:strCache>
            </c:strRef>
          </c:tx>
          <c:spPr>
            <a:solidFill>
              <a:srgbClr val="C0392B"/>
            </a:solidFill>
            <a:effectLst/>
          </c:spPr>
          <c:invertIfNegative val="0"/>
          <c:dLbls>
            <c:numFmt formatCode="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1F618D"/>
              </a:solidFill>
              <a:effectLst/>
            </c:spPr>
          </c:dPt>
          <c:dPt>
            <c:idx val="2"/>
            <c:invertIfNegative val="0"/>
            <c:bubble3D val="0"/>
            <c:spPr>
              <a:solidFill>
                <a:srgbClr val="1F618D"/>
              </a:solidFill>
              <a:effectLst/>
            </c:spPr>
          </c:dPt>
          <c:dPt>
            <c:idx val="3"/>
            <c:invertIfNegative val="0"/>
            <c:bubble3D val="0"/>
            <c:spPr>
              <a:solidFill>
                <a:srgbClr val="1F618D"/>
              </a:solidFill>
              <a:effectLst/>
            </c:spPr>
          </c:dPt>
          <c:dPt>
            <c:idx val="4"/>
            <c:invertIfNegative val="0"/>
            <c:bubble3D val="0"/>
            <c:spPr>
              <a:solidFill>
                <a:srgbClr val="1F618D"/>
              </a:solidFill>
              <a:effectLst/>
            </c:spPr>
          </c:dPt>
          <c:dPt>
            <c:idx val="5"/>
            <c:invertIfNegative val="0"/>
            <c:bubble3D val="0"/>
            <c:spPr>
              <a:solidFill>
                <a:srgbClr val="1F618D"/>
              </a:solidFill>
              <a:effectLst/>
            </c:spPr>
          </c:dPt>
          <c:dPt>
            <c:idx val="6"/>
            <c:invertIfNegative val="0"/>
            <c:bubble3D val="0"/>
            <c:spPr>
              <a:solidFill>
                <a:srgbClr val="1F618D"/>
              </a:solidFill>
              <a:effectLst/>
            </c:spPr>
          </c:dPt>
          <c:dPt>
            <c:idx val="7"/>
            <c:invertIfNegative val="0"/>
            <c:bubble3D val="0"/>
            <c:spPr>
              <a:solidFill>
                <a:srgbClr val="1F618D"/>
              </a:solidFill>
              <a:effectLst/>
            </c:spPr>
          </c:dPt>
          <c:dPt>
            <c:idx val="8"/>
            <c:invertIfNegative val="0"/>
            <c:bubble3D val="0"/>
            <c:spPr>
              <a:solidFill>
                <a:srgbClr val="1F618D"/>
              </a:solidFill>
              <a:effectLst/>
            </c:spPr>
          </c:dPt>
          <c:dPt>
            <c:idx val="9"/>
            <c:invertIfNegative val="0"/>
            <c:bubble3D val="0"/>
            <c:spPr>
              <a:solidFill>
                <a:srgbClr val="1F618D"/>
              </a:solidFill>
              <a:effectLst/>
            </c:spPr>
          </c:dPt>
          <c:dPt>
            <c:idx val="10"/>
            <c:invertIfNegative val="0"/>
            <c:bubble3D val="0"/>
            <c:spPr>
              <a:solidFill>
                <a:srgbClr val="1F618D"/>
              </a:solidFill>
              <a:effectLst/>
            </c:spPr>
          </c:dPt>
          <c:dPt>
            <c:idx val="11"/>
            <c:invertIfNegative val="0"/>
            <c:bubble3D val="0"/>
            <c:spPr>
              <a:solidFill>
                <a:srgbClr val="1F618D"/>
              </a:solidFill>
              <a:effectLst/>
            </c:spPr>
          </c:dPt>
          <c:dPt>
            <c:idx val="12"/>
            <c:invertIfNegative val="0"/>
            <c:bubble3D val="0"/>
            <c:spPr>
              <a:solidFill>
                <a:srgbClr val="1F618D"/>
              </a:solidFill>
              <a:effectLst/>
            </c:spPr>
          </c:dPt>
          <c:dPt>
            <c:idx val="13"/>
            <c:invertIfNegative val="0"/>
            <c:bubble3D val="0"/>
            <c:spPr>
              <a:solidFill>
                <a:srgbClr val="1F618D"/>
              </a:solidFill>
              <a:effectLst/>
            </c:spPr>
          </c:dPt>
          <c:cat>
            <c:multiLvlStrRef>
              <c:f>Sheet1!$A$2:$A$15</c:f>
              <c:multiLvlStrCache>
                <c:ptCount val="14"/>
                <c:lvl>
                  <c:pt idx="0">
                    <c:v>Thiruvananthapuram</c:v>
                  </c:pt>
                  <c:pt idx="1">
                    <c:v>Idukki</c:v>
                  </c:pt>
                  <c:pt idx="2">
                    <c:v>Ernakulam</c:v>
                  </c:pt>
                  <c:pt idx="3">
                    <c:v>Thrissur</c:v>
                  </c:pt>
                  <c:pt idx="4">
                    <c:v>Pathanamthitta</c:v>
                  </c:pt>
                  <c:pt idx="5">
                    <c:v>Kottayam</c:v>
                  </c:pt>
                  <c:pt idx="6">
                    <c:v>Alappuzha</c:v>
                  </c:pt>
                  <c:pt idx="7">
                    <c:v>Palakkad</c:v>
                  </c:pt>
                  <c:pt idx="8">
                    <c:v>Kollam</c:v>
                  </c:pt>
                  <c:pt idx="9">
                    <c:v>Kozhikode</c:v>
                  </c:pt>
                  <c:pt idx="10">
                    <c:v>Wayanad</c:v>
                  </c:pt>
                  <c:pt idx="11">
                    <c:v>Kasaragod</c:v>
                  </c:pt>
                  <c:pt idx="12">
                    <c:v>Malappuram</c:v>
                  </c:pt>
                  <c:pt idx="13">
                    <c:v>Kannur</c:v>
                  </c:pt>
                </c:lvl>
              </c:multiLvlStrCache>
            </c:multiLvlStrRef>
          </c:cat>
          <c:val>
            <c:numRef>
              <c:f>Sheet1!$B$2:$B$15</c:f>
              <c:numCache>
                <c:formatCode>General</c:formatCode>
                <c:ptCount val="14"/>
                <c:pt idx="0">
                  <c:v>14</c:v>
                </c:pt>
                <c:pt idx="1">
                  <c:v>13.17</c:v>
                </c:pt>
                <c:pt idx="2">
                  <c:v>11.65</c:v>
                </c:pt>
                <c:pt idx="3">
                  <c:v>10.18</c:v>
                </c:pt>
                <c:pt idx="4">
                  <c:v>9.77</c:v>
                </c:pt>
                <c:pt idx="5">
                  <c:v>9.7</c:v>
                </c:pt>
                <c:pt idx="6">
                  <c:v>7.84</c:v>
                </c:pt>
                <c:pt idx="7">
                  <c:v>7.81</c:v>
                </c:pt>
                <c:pt idx="8">
                  <c:v>7.31</c:v>
                </c:pt>
                <c:pt idx="9">
                  <c:v>6.96</c:v>
                </c:pt>
                <c:pt idx="10">
                  <c:v>5.87</c:v>
                </c:pt>
                <c:pt idx="11">
                  <c:v>5.14</c:v>
                </c:pt>
                <c:pt idx="12">
                  <c:v>4.8</c:v>
                </c:pt>
                <c:pt idx="13">
                  <c:v>4.67</c:v>
                </c:pt>
              </c:numCache>
            </c:numRef>
          </c:val>
        </c:ser>
        <c:dLbls>
          <c:numFmt formatCode="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the roll</c:v>
                </c:pt>
              </c:strCache>
            </c:strRef>
          </c:tx>
          <c:spPr>
            <a:solidFill>
              <a:srgbClr val="AEB6BF"/>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Sheet1!$A$2:$A$15</c:f>
              <c:multiLvlStrCache>
                <c:ptCount val="14"/>
                <c:lvl>
                  <c:pt idx="0">
                    <c:v>Thiruvananthapuram</c:v>
                  </c:pt>
                  <c:pt idx="1">
                    <c:v>Idukki</c:v>
                  </c:pt>
                  <c:pt idx="2">
                    <c:v>Ernakulam</c:v>
                  </c:pt>
                  <c:pt idx="3">
                    <c:v>Thrissur</c:v>
                  </c:pt>
                  <c:pt idx="4">
                    <c:v>Pathanamthitta</c:v>
                  </c:pt>
                  <c:pt idx="5">
                    <c:v>Kottayam</c:v>
                  </c:pt>
                  <c:pt idx="6">
                    <c:v>Alappuzha</c:v>
                  </c:pt>
                  <c:pt idx="7">
                    <c:v>Palakkad</c:v>
                  </c:pt>
                  <c:pt idx="8">
                    <c:v>Kollam</c:v>
                  </c:pt>
                  <c:pt idx="9">
                    <c:v>Kozhikode</c:v>
                  </c:pt>
                  <c:pt idx="10">
                    <c:v>Wayanad</c:v>
                  </c:pt>
                  <c:pt idx="11">
                    <c:v>Kasaragod</c:v>
                  </c:pt>
                  <c:pt idx="12">
                    <c:v>Malappuram</c:v>
                  </c:pt>
                  <c:pt idx="13">
                    <c:v>Kannur</c:v>
                  </c:pt>
                </c:lvl>
              </c:multiLvlStrCache>
            </c:multiLvlStrRef>
          </c:cat>
          <c:val>
            <c:numRef>
              <c:f>Sheet1!$B$2:$B$15</c:f>
              <c:numCache>
                <c:formatCode>General</c:formatCode>
                <c:ptCount val="14"/>
                <c:pt idx="0">
                  <c:v>52.5</c:v>
                </c:pt>
                <c:pt idx="1">
                  <c:v>50.9</c:v>
                </c:pt>
                <c:pt idx="2">
                  <c:v>51.37</c:v>
                </c:pt>
                <c:pt idx="3">
                  <c:v>52.24</c:v>
                </c:pt>
                <c:pt idx="4">
                  <c:v>52.65</c:v>
                </c:pt>
                <c:pt idx="5">
                  <c:v>51.51</c:v>
                </c:pt>
                <c:pt idx="6">
                  <c:v>52.19</c:v>
                </c:pt>
                <c:pt idx="7">
                  <c:v>51.17</c:v>
                </c:pt>
                <c:pt idx="8">
                  <c:v>52.44</c:v>
                </c:pt>
                <c:pt idx="9">
                  <c:v>51.64</c:v>
                </c:pt>
                <c:pt idx="10">
                  <c:v>51.16</c:v>
                </c:pt>
                <c:pt idx="11">
                  <c:v>51.13</c:v>
                </c:pt>
                <c:pt idx="12">
                  <c:v>50</c:v>
                </c:pt>
                <c:pt idx="13">
                  <c:v>52.62</c:v>
                </c:pt>
              </c:numCache>
            </c:numRef>
          </c:val>
        </c:ser>
        <c:ser>
          <c:idx val="1"/>
          <c:order val="1"/>
          <c:tx>
            <c:strRef>
              <c:f>Sheet1!$C$1</c:f>
              <c:strCache>
                <c:ptCount val="1"/>
                <c:pt idx="0">
                  <c:v>Share of the fall</c:v>
                </c:pt>
              </c:strCache>
            </c:strRef>
          </c:tx>
          <c:spPr>
            <a:solidFill>
              <a:srgbClr val="AF3B6E"/>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Sheet1!$A$2:$A$15</c:f>
              <c:multiLvlStrCache>
                <c:ptCount val="14"/>
                <c:lvl>
                  <c:pt idx="0">
                    <c:v>Thiruvananthapuram</c:v>
                  </c:pt>
                  <c:pt idx="1">
                    <c:v>Idukki</c:v>
                  </c:pt>
                  <c:pt idx="2">
                    <c:v>Ernakulam</c:v>
                  </c:pt>
                  <c:pt idx="3">
                    <c:v>Thrissur</c:v>
                  </c:pt>
                  <c:pt idx="4">
                    <c:v>Pathanamthitta</c:v>
                  </c:pt>
                  <c:pt idx="5">
                    <c:v>Kottayam</c:v>
                  </c:pt>
                  <c:pt idx="6">
                    <c:v>Alappuzha</c:v>
                  </c:pt>
                  <c:pt idx="7">
                    <c:v>Palakkad</c:v>
                  </c:pt>
                  <c:pt idx="8">
                    <c:v>Kollam</c:v>
                  </c:pt>
                  <c:pt idx="9">
                    <c:v>Kozhikode</c:v>
                  </c:pt>
                  <c:pt idx="10">
                    <c:v>Wayanad</c:v>
                  </c:pt>
                  <c:pt idx="11">
                    <c:v>Kasaragod</c:v>
                  </c:pt>
                  <c:pt idx="12">
                    <c:v>Malappuram</c:v>
                  </c:pt>
                  <c:pt idx="13">
                    <c:v>Kannur</c:v>
                  </c:pt>
                </c:lvl>
              </c:multiLvlStrCache>
            </c:multiLvlStrRef>
          </c:cat>
          <c:val>
            <c:numRef>
              <c:f>Sheet1!$C$2:$C$15</c:f>
              <c:numCache>
                <c:formatCode>General</c:formatCode>
                <c:ptCount val="14"/>
                <c:pt idx="0">
                  <c:v>53.3</c:v>
                </c:pt>
                <c:pt idx="1">
                  <c:v>53.56</c:v>
                </c:pt>
                <c:pt idx="2">
                  <c:v>53.18</c:v>
                </c:pt>
                <c:pt idx="3">
                  <c:v>57.63</c:v>
                </c:pt>
                <c:pt idx="4">
                  <c:v>56.75</c:v>
                </c:pt>
                <c:pt idx="5">
                  <c:v>54.31</c:v>
                </c:pt>
                <c:pt idx="6">
                  <c:v>56.65</c:v>
                </c:pt>
                <c:pt idx="7">
                  <c:v>55.7</c:v>
                </c:pt>
                <c:pt idx="8">
                  <c:v>54.38</c:v>
                </c:pt>
                <c:pt idx="9">
                  <c:v>56.47</c:v>
                </c:pt>
                <c:pt idx="10">
                  <c:v>53.22</c:v>
                </c:pt>
                <c:pt idx="11">
                  <c:v>58.43</c:v>
                </c:pt>
                <c:pt idx="12">
                  <c:v>59.92</c:v>
                </c:pt>
                <c:pt idx="13">
                  <c:v>54.27</c:v>
                </c:pt>
              </c:numCache>
            </c:numRef>
          </c:val>
        </c:ser>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max val="65"/>
          <c:min val="40"/>
        </c:scaling>
        <c:delete val="0"/>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At the draft</c:v>
                </c:pt>
              </c:strCache>
            </c:strRef>
          </c:tx>
          <c:spPr>
            <a:solidFill>
              <a:srgbClr val="AEB6BF"/>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Sheet1!$A$2:$A$15</c:f>
              <c:multiLvlStrCache>
                <c:ptCount val="14"/>
                <c:lvl>
                  <c:pt idx="0">
                    <c:v>Thiruvananthapuram</c:v>
                  </c:pt>
                  <c:pt idx="1">
                    <c:v>Idukki</c:v>
                  </c:pt>
                  <c:pt idx="2">
                    <c:v>Ernakulam</c:v>
                  </c:pt>
                  <c:pt idx="3">
                    <c:v>Thrissur</c:v>
                  </c:pt>
                  <c:pt idx="4">
                    <c:v>Pathanamthitta</c:v>
                  </c:pt>
                  <c:pt idx="5">
                    <c:v>Kottayam</c:v>
                  </c:pt>
                  <c:pt idx="6">
                    <c:v>Alappuzha</c:v>
                  </c:pt>
                  <c:pt idx="7">
                    <c:v>Palakkad</c:v>
                  </c:pt>
                  <c:pt idx="8">
                    <c:v>Kollam</c:v>
                  </c:pt>
                  <c:pt idx="9">
                    <c:v>Kozhikode</c:v>
                  </c:pt>
                  <c:pt idx="10">
                    <c:v>Wayanad</c:v>
                  </c:pt>
                  <c:pt idx="11">
                    <c:v>Kasaragod</c:v>
                  </c:pt>
                  <c:pt idx="12">
                    <c:v>Malappuram</c:v>
                  </c:pt>
                  <c:pt idx="13">
                    <c:v>Kannur</c:v>
                  </c:pt>
                </c:lvl>
              </c:multiLvlStrCache>
            </c:multiLvlStrRef>
          </c:cat>
          <c:val>
            <c:numRef>
              <c:f>Sheet1!$B$2:$B$15</c:f>
              <c:numCache>
                <c:formatCode>General</c:formatCode>
                <c:ptCount val="14"/>
                <c:pt idx="0">
                  <c:v>14</c:v>
                </c:pt>
                <c:pt idx="1">
                  <c:v>13.2</c:v>
                </c:pt>
                <c:pt idx="2">
                  <c:v>11.7</c:v>
                </c:pt>
                <c:pt idx="3">
                  <c:v>10.2</c:v>
                </c:pt>
                <c:pt idx="4">
                  <c:v>9.8</c:v>
                </c:pt>
                <c:pt idx="5">
                  <c:v>9.7</c:v>
                </c:pt>
                <c:pt idx="6">
                  <c:v>7.8</c:v>
                </c:pt>
                <c:pt idx="7">
                  <c:v>7.8</c:v>
                </c:pt>
                <c:pt idx="8">
                  <c:v>7.3</c:v>
                </c:pt>
                <c:pt idx="9">
                  <c:v>7</c:v>
                </c:pt>
                <c:pt idx="10">
                  <c:v>5.9</c:v>
                </c:pt>
                <c:pt idx="11">
                  <c:v>5.1</c:v>
                </c:pt>
                <c:pt idx="12">
                  <c:v>4.8</c:v>
                </c:pt>
                <c:pt idx="13">
                  <c:v>4.7</c:v>
                </c:pt>
              </c:numCache>
            </c:numRef>
          </c:val>
        </c:ser>
        <c:ser>
          <c:idx val="1"/>
          <c:order val="1"/>
          <c:tx>
            <c:strRef>
              <c:f>Sheet1!$C$1</c:f>
              <c:strCache>
                <c:ptCount val="1"/>
                <c:pt idx="0">
                  <c:v>At the final roll</c:v>
                </c:pt>
              </c:strCache>
            </c:strRef>
          </c:tx>
          <c:spPr>
            <a:solidFill>
              <a:srgbClr val="5D8AA8"/>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Sheet1!$A$2:$A$15</c:f>
              <c:multiLvlStrCache>
                <c:ptCount val="14"/>
                <c:lvl>
                  <c:pt idx="0">
                    <c:v>Thiruvananthapuram</c:v>
                  </c:pt>
                  <c:pt idx="1">
                    <c:v>Idukki</c:v>
                  </c:pt>
                  <c:pt idx="2">
                    <c:v>Ernakulam</c:v>
                  </c:pt>
                  <c:pt idx="3">
                    <c:v>Thrissur</c:v>
                  </c:pt>
                  <c:pt idx="4">
                    <c:v>Pathanamthitta</c:v>
                  </c:pt>
                  <c:pt idx="5">
                    <c:v>Kottayam</c:v>
                  </c:pt>
                  <c:pt idx="6">
                    <c:v>Alappuzha</c:v>
                  </c:pt>
                  <c:pt idx="7">
                    <c:v>Palakkad</c:v>
                  </c:pt>
                  <c:pt idx="8">
                    <c:v>Kollam</c:v>
                  </c:pt>
                  <c:pt idx="9">
                    <c:v>Kozhikode</c:v>
                  </c:pt>
                  <c:pt idx="10">
                    <c:v>Wayanad</c:v>
                  </c:pt>
                  <c:pt idx="11">
                    <c:v>Kasaragod</c:v>
                  </c:pt>
                  <c:pt idx="12">
                    <c:v>Malappuram</c:v>
                  </c:pt>
                  <c:pt idx="13">
                    <c:v>Kannur</c:v>
                  </c:pt>
                </c:lvl>
              </c:multiLvlStrCache>
            </c:multiLvlStrRef>
          </c:cat>
          <c:val>
            <c:numRef>
              <c:f>Sheet1!$C$2:$C$15</c:f>
              <c:numCache>
                <c:formatCode>General</c:formatCode>
                <c:ptCount val="14"/>
                <c:pt idx="0">
                  <c:v>11</c:v>
                </c:pt>
                <c:pt idx="1">
                  <c:v>10.6</c:v>
                </c:pt>
                <c:pt idx="2">
                  <c:v>6.4</c:v>
                </c:pt>
                <c:pt idx="3">
                  <c:v>6</c:v>
                </c:pt>
                <c:pt idx="4">
                  <c:v>7.4</c:v>
                </c:pt>
                <c:pt idx="5">
                  <c:v>6.6</c:v>
                </c:pt>
                <c:pt idx="6">
                  <c:v>4.7</c:v>
                </c:pt>
                <c:pt idx="7">
                  <c:v>3</c:v>
                </c:pt>
                <c:pt idx="8">
                  <c:v>3</c:v>
                </c:pt>
                <c:pt idx="9">
                  <c:v>0</c:v>
                </c:pt>
                <c:pt idx="10">
                  <c:v>0.2</c:v>
                </c:pt>
                <c:pt idx="11">
                  <c:v>-1.8</c:v>
                </c:pt>
                <c:pt idx="12">
                  <c:v>-6.3</c:v>
                </c:pt>
                <c:pt idx="13">
                  <c:v>-2.2</c:v>
                </c:pt>
              </c:numCache>
            </c:numRef>
          </c:val>
        </c:ser>
        <c:ser>
          <c:idx val="2"/>
          <c:order val="2"/>
          <c:tx>
            <c:strRef>
              <c:f>Sheet1!$D$1</c:f>
              <c:strCache>
                <c:ptCount val="1"/>
                <c:pt idx="0">
                  <c:v>March 2026</c:v>
                </c:pt>
              </c:strCache>
            </c:strRef>
          </c:tx>
          <c:spPr>
            <a:solidFill>
              <a:srgbClr val="0E5E6F"/>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Sheet1!$A$2:$A$15</c:f>
              <c:multiLvlStrCache>
                <c:ptCount val="14"/>
                <c:lvl>
                  <c:pt idx="0">
                    <c:v>Thiruvananthapuram</c:v>
                  </c:pt>
                  <c:pt idx="1">
                    <c:v>Idukki</c:v>
                  </c:pt>
                  <c:pt idx="2">
                    <c:v>Ernakulam</c:v>
                  </c:pt>
                  <c:pt idx="3">
                    <c:v>Thrissur</c:v>
                  </c:pt>
                  <c:pt idx="4">
                    <c:v>Pathanamthitta</c:v>
                  </c:pt>
                  <c:pt idx="5">
                    <c:v>Kottayam</c:v>
                  </c:pt>
                  <c:pt idx="6">
                    <c:v>Alappuzha</c:v>
                  </c:pt>
                  <c:pt idx="7">
                    <c:v>Palakkad</c:v>
                  </c:pt>
                  <c:pt idx="8">
                    <c:v>Kollam</c:v>
                  </c:pt>
                  <c:pt idx="9">
                    <c:v>Kozhikode</c:v>
                  </c:pt>
                  <c:pt idx="10">
                    <c:v>Wayanad</c:v>
                  </c:pt>
                  <c:pt idx="11">
                    <c:v>Kasaragod</c:v>
                  </c:pt>
                  <c:pt idx="12">
                    <c:v>Malappuram</c:v>
                  </c:pt>
                  <c:pt idx="13">
                    <c:v>Kannur</c:v>
                  </c:pt>
                </c:lvl>
              </c:multiLvlStrCache>
            </c:multiLvlStrRef>
          </c:cat>
          <c:val>
            <c:numRef>
              <c:f>Sheet1!$D$2:$D$15</c:f>
              <c:numCache>
                <c:formatCode>General</c:formatCode>
                <c:ptCount val="14"/>
                <c:pt idx="0">
                  <c:v>10.3</c:v>
                </c:pt>
                <c:pt idx="1">
                  <c:v>9.9</c:v>
                </c:pt>
                <c:pt idx="2">
                  <c:v>5.1</c:v>
                </c:pt>
                <c:pt idx="3">
                  <c:v>5.3</c:v>
                </c:pt>
                <c:pt idx="4">
                  <c:v>6.9</c:v>
                </c:pt>
                <c:pt idx="5">
                  <c:v>5.8</c:v>
                </c:pt>
                <c:pt idx="6">
                  <c:v>4.1</c:v>
                </c:pt>
                <c:pt idx="7">
                  <c:v>2.3</c:v>
                </c:pt>
                <c:pt idx="8">
                  <c:v>2.5</c:v>
                </c:pt>
                <c:pt idx="9">
                  <c:v>-0.4</c:v>
                </c:pt>
                <c:pt idx="10">
                  <c:v>-0.2</c:v>
                </c:pt>
                <c:pt idx="11">
                  <c:v>-2.5</c:v>
                </c:pt>
                <c:pt idx="12">
                  <c:v>-6.8</c:v>
                </c:pt>
                <c:pt idx="13">
                  <c:v>-3</c:v>
                </c:pt>
              </c:numCache>
            </c:numRef>
          </c:val>
        </c:ser>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Seats</c:v>
                </c:pt>
              </c:strCache>
            </c:strRef>
          </c:tx>
          <c:spPr>
            <a:solidFill>
              <a:srgbClr val="95A5A6"/>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dPt>
            <c:idx val="0"/>
            <c:invertIfNegative val="0"/>
            <c:bubble3D val="0"/>
            <c:spPr>
              <a:solidFill>
                <a:srgbClr val="95A5A6"/>
              </a:solidFill>
              <a:effectLst/>
            </c:spPr>
          </c:dPt>
          <c:dPt>
            <c:idx val="1"/>
            <c:invertIfNegative val="0"/>
            <c:bubble3D val="0"/>
            <c:spPr>
              <a:solidFill>
                <a:srgbClr val="0E5E6F"/>
              </a:solidFill>
              <a:effectLst/>
            </c:spPr>
          </c:dPt>
          <c:dPt>
            <c:idx val="2"/>
            <c:invertIfNegative val="0"/>
            <c:bubble3D val="0"/>
            <c:spPr>
              <a:solidFill>
                <a:srgbClr val="0E5E6F"/>
              </a:solidFill>
              <a:effectLst/>
            </c:spPr>
          </c:dPt>
          <c:dPt>
            <c:idx val="3"/>
            <c:invertIfNegative val="0"/>
            <c:bubble3D val="0"/>
            <c:spPr>
              <a:solidFill>
                <a:srgbClr val="0E5E6F"/>
              </a:solidFill>
              <a:effectLst/>
            </c:spPr>
          </c:dPt>
          <c:dPt>
            <c:idx val="4"/>
            <c:invertIfNegative val="0"/>
            <c:bubble3D val="0"/>
            <c:spPr>
              <a:solidFill>
                <a:srgbClr val="0E5E6F"/>
              </a:solidFill>
              <a:effectLst/>
            </c:spPr>
          </c:dPt>
          <c:cat>
            <c:multiLvlStrRef>
              <c:f>Sheet1!$A$2:$A$6</c:f>
              <c:multiLvlStrCache>
                <c:ptCount val="5"/>
                <c:lvl>
                  <c:pt idx="0">
                    <c:v>under 1×</c:v>
                  </c:pt>
                  <c:pt idx="1">
                    <c:v>1 to 2×</c:v>
                  </c:pt>
                  <c:pt idx="2">
                    <c:v>2 to 5×</c:v>
                  </c:pt>
                  <c:pt idx="3">
                    <c:v>5 to 10×</c:v>
                  </c:pt>
                  <c:pt idx="4">
                    <c:v>10× or more</c:v>
                  </c:pt>
                </c:lvl>
              </c:multiLvlStrCache>
            </c:multiLvlStrRef>
          </c:cat>
          <c:val>
            <c:numRef>
              <c:f>Sheet1!$B$2:$B$6</c:f>
              <c:numCache>
                <c:formatCode>General</c:formatCode>
                <c:ptCount val="5"/>
                <c:pt idx="0">
                  <c:v>66</c:v>
                </c:pt>
                <c:pt idx="1">
                  <c:v>37</c:v>
                </c:pt>
                <c:pt idx="2">
                  <c:v>18</c:v>
                </c:pt>
                <c:pt idx="3">
                  <c:v>12</c:v>
                </c:pt>
                <c:pt idx="4">
                  <c:v>7</c:v>
                </c:pt>
              </c:numCache>
            </c:numRef>
          </c:val>
        </c:ser>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4D5B69"/>
                    </a:solidFill>
                    <a:latin typeface="Arial"/>
                  </a:defRPr>
                </a:pPr>
                <a:r>
                  <a:rPr sz="1100" b="0" i="0" u="none" strike="noStrike">
                    <a:solidFill>
                      <a:srgbClr val="4D5B69"/>
                    </a:solidFill>
                    <a:latin typeface="Arial"/>
                  </a:rPr>
                  <a:t>Fall at the draft as a multiple of the margin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1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Special Intensive Revision (SIR) is the Election Commission's house-to-house recheck of the electoral roll, the list of people entitled to vote. No table of the names left off has been published. The deck measures the fall in the roll from January 2025, which takes in ordinary changes as well as the revision and is a different count from the names struck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fall in the roll is the January 2025 roll less a later one, so it counts names removed less names added, ordinary deaths and moves included. Per 100 electors is that fall for every 100 people on the January 2025 roll. The winning margin is the winner's votes less the runner-up's.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state the fall to the draft, 23,68,590, is close to the 24,08,503 names reported left off with the draft. For one constituency the two may differ more. The rise after the draft counts new voters and electors registered abroad.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the margin means large enough to decide a seat, and says nothing about whether the fall did. Nobody can know how anyone missing from the roll would have voted. A rank correlation runs from -1 to 1 and measures how far two orderings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Against own district is each seat's figure less its district's, averaged over the party's seats. A minus means a smaller fall than the district as a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4A57"/>
        </a:solidFill>
      </p:bgPr>
    </p:bg>
    <p:spTree>
      <p:nvGrpSpPr>
        <p:cNvPr id="1" name=""/>
        <p:cNvGrpSpPr/>
        <p:nvPr/>
      </p:nvGrpSpPr>
      <p:grpSpPr>
        <a:xfrm>
          <a:off x="0" y="0"/>
          <a:ext cx="0" cy="0"/>
          <a:chOff x="0" y="0"/>
          <a:chExt cx="0" cy="0"/>
        </a:xfrm>
      </p:grpSpPr>
      <p:sp>
        <p:nvSpPr>
          <p:cNvPr id="2" name="Text 0"/>
          <p:cNvSpPr txBox="1"/>
          <p:nvPr/>
        </p:nvSpPr>
        <p:spPr>
          <a:xfrm>
            <a:off x="548640" y="640080"/>
            <a:ext cx="10058400" cy="365760"/>
          </a:xfrm>
          <a:prstGeom prst="rect">
            <a:avLst/>
          </a:prstGeom>
          <a:noFill/>
          <a:ln/>
        </p:spPr>
        <p:txBody>
          <a:bodyPr wrap="square" lIns="0" tIns="0" rIns="0" bIns="0" rtlCol="0" anchor="ctr"/>
          <a:lstStyle/>
          <a:p>
            <a:pPr indent="0" marL="0">
              <a:buNone/>
            </a:pPr>
            <a:r>
              <a:rPr lang="en-US" sz="1300" b="1" spc="300" kern="0" dirty="0">
                <a:solidFill>
                  <a:srgbClr val="CDE6EB"/>
                </a:solidFill>
                <a:latin typeface="Calibri" pitchFamily="34" charset="0"/>
                <a:ea typeface="Calibri" pitchFamily="34" charset="-122"/>
                <a:cs typeface="Calibri" pitchFamily="34" charset="-120"/>
              </a:rPr>
              <a:t>SPECIAL INTENSIVE REVISION · KERALA 2026</a:t>
            </a:r>
            <a:endParaRPr lang="en-US" sz="1300" dirty="0"/>
          </a:p>
        </p:txBody>
      </p:sp>
      <p:sp>
        <p:nvSpPr>
          <p:cNvPr id="3" name="Text 1"/>
          <p:cNvSpPr txBox="1"/>
          <p:nvPr/>
        </p:nvSpPr>
        <p:spPr>
          <a:xfrm>
            <a:off x="548640" y="1051560"/>
            <a:ext cx="11094415" cy="128016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Kerala's draft roll was 23.7 lakh smaller than in January 2025</a:t>
            </a:r>
            <a:endParaRPr lang="en-US" sz="3800" dirty="0"/>
          </a:p>
        </p:txBody>
      </p:sp>
      <p:sp>
        <p:nvSpPr>
          <p:cNvPr id="4" name="Text 2"/>
          <p:cNvSpPr txBox="1"/>
          <p:nvPr/>
        </p:nvSpPr>
        <p:spPr>
          <a:xfrm>
            <a:off x="548640" y="2377440"/>
            <a:ext cx="10180015" cy="731520"/>
          </a:xfrm>
          <a:prstGeom prst="rect">
            <a:avLst/>
          </a:prstGeom>
          <a:noFill/>
          <a:ln/>
        </p:spPr>
        <p:txBody>
          <a:bodyPr wrap="square" lIns="0" tIns="0" rIns="0" bIns="0" rtlCol="0" anchor="t"/>
          <a:lstStyle/>
          <a:p>
            <a:pPr indent="0" marL="0">
              <a:buNone/>
            </a:pPr>
            <a:r>
              <a:rPr lang="en-US" sz="1700" dirty="0">
                <a:solidFill>
                  <a:srgbClr val="CDE6EB"/>
                </a:solidFill>
                <a:latin typeface="Calibri" pitchFamily="34" charset="0"/>
                <a:ea typeface="Calibri" pitchFamily="34" charset="-122"/>
                <a:cs typeface="Calibri" pitchFamily="34" charset="-120"/>
              </a:rPr>
              <a:t>How much smaller each roll was at the draft, who was missing, how much came back before the 2026 election, and how that compares with the result</a:t>
            </a:r>
            <a:endParaRPr lang="en-US" sz="1700" dirty="0"/>
          </a:p>
        </p:txBody>
      </p:sp>
      <p:sp>
        <p:nvSpPr>
          <p:cNvPr id="5" name="Shape 3"/>
          <p:cNvSpPr/>
          <p:nvPr/>
        </p:nvSpPr>
        <p:spPr>
          <a:xfrm>
            <a:off x="548640" y="3429000"/>
            <a:ext cx="2567864" cy="1737360"/>
          </a:xfrm>
          <a:prstGeom prst="roundRect">
            <a:avLst>
              <a:gd name="adj" fmla="val 4211"/>
            </a:avLst>
          </a:prstGeom>
          <a:solidFill>
            <a:srgbClr val="083843"/>
          </a:solidFill>
          <a:ln/>
        </p:spPr>
      </p:sp>
      <p:sp>
        <p:nvSpPr>
          <p:cNvPr id="6" name="Text 4"/>
          <p:cNvSpPr txBox="1"/>
          <p:nvPr/>
        </p:nvSpPr>
        <p:spPr>
          <a:xfrm>
            <a:off x="731520"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23,68,590</a:t>
            </a:r>
            <a:endParaRPr lang="en-US" sz="3000" dirty="0"/>
          </a:p>
        </p:txBody>
      </p:sp>
      <p:sp>
        <p:nvSpPr>
          <p:cNvPr id="7" name="Text 5"/>
          <p:cNvSpPr txBox="1"/>
          <p:nvPr/>
        </p:nvSpPr>
        <p:spPr>
          <a:xfrm>
            <a:off x="731520"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CDE6EB"/>
                </a:solidFill>
                <a:latin typeface="Calibri" pitchFamily="34" charset="0"/>
                <a:ea typeface="Calibri" pitchFamily="34" charset="-122"/>
                <a:cs typeface="Calibri" pitchFamily="34" charset="-120"/>
              </a:rPr>
              <a:t>fewer electors on the draft roll</a:t>
            </a:r>
            <a:endParaRPr lang="en-US" sz="1250" dirty="0"/>
          </a:p>
        </p:txBody>
      </p:sp>
      <p:sp>
        <p:nvSpPr>
          <p:cNvPr id="8" name="Shape 6"/>
          <p:cNvSpPr/>
          <p:nvPr/>
        </p:nvSpPr>
        <p:spPr>
          <a:xfrm>
            <a:off x="3390824" y="3429000"/>
            <a:ext cx="2567864" cy="1737360"/>
          </a:xfrm>
          <a:prstGeom prst="roundRect">
            <a:avLst>
              <a:gd name="adj" fmla="val 4211"/>
            </a:avLst>
          </a:prstGeom>
          <a:solidFill>
            <a:srgbClr val="083843"/>
          </a:solidFill>
          <a:ln/>
        </p:spPr>
      </p:sp>
      <p:sp>
        <p:nvSpPr>
          <p:cNvPr id="9" name="Text 7"/>
          <p:cNvSpPr txBox="1"/>
          <p:nvPr/>
        </p:nvSpPr>
        <p:spPr>
          <a:xfrm>
            <a:off x="3573704"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8.5</a:t>
            </a:r>
            <a:endParaRPr lang="en-US" sz="3000" dirty="0"/>
          </a:p>
        </p:txBody>
      </p:sp>
      <p:sp>
        <p:nvSpPr>
          <p:cNvPr id="10" name="Text 8"/>
          <p:cNvSpPr txBox="1"/>
          <p:nvPr/>
        </p:nvSpPr>
        <p:spPr>
          <a:xfrm>
            <a:off x="3573704"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CDE6EB"/>
                </a:solidFill>
                <a:latin typeface="Calibri" pitchFamily="34" charset="0"/>
                <a:ea typeface="Calibri" pitchFamily="34" charset="-122"/>
                <a:cs typeface="Calibri" pitchFamily="34" charset="-120"/>
              </a:rPr>
              <a:t>of every 100 electors on the January 2025 roll</a:t>
            </a:r>
            <a:endParaRPr lang="en-US" sz="1250" dirty="0"/>
          </a:p>
        </p:txBody>
      </p:sp>
      <p:sp>
        <p:nvSpPr>
          <p:cNvPr id="11" name="Shape 9"/>
          <p:cNvSpPr/>
          <p:nvPr/>
        </p:nvSpPr>
        <p:spPr>
          <a:xfrm>
            <a:off x="6233008" y="3429000"/>
            <a:ext cx="2567864" cy="1737360"/>
          </a:xfrm>
          <a:prstGeom prst="roundRect">
            <a:avLst>
              <a:gd name="adj" fmla="val 4211"/>
            </a:avLst>
          </a:prstGeom>
          <a:solidFill>
            <a:srgbClr val="083843"/>
          </a:solidFill>
          <a:ln/>
        </p:spPr>
      </p:sp>
      <p:sp>
        <p:nvSpPr>
          <p:cNvPr id="12" name="Text 10"/>
          <p:cNvSpPr txBox="1"/>
          <p:nvPr/>
        </p:nvSpPr>
        <p:spPr>
          <a:xfrm>
            <a:off x="6415888"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55.3%</a:t>
            </a:r>
            <a:endParaRPr lang="en-US" sz="3000" dirty="0"/>
          </a:p>
        </p:txBody>
      </p:sp>
      <p:sp>
        <p:nvSpPr>
          <p:cNvPr id="13" name="Text 11"/>
          <p:cNvSpPr txBox="1"/>
          <p:nvPr/>
        </p:nvSpPr>
        <p:spPr>
          <a:xfrm>
            <a:off x="6415888"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CDE6EB"/>
                </a:solidFill>
                <a:latin typeface="Calibri" pitchFamily="34" charset="0"/>
                <a:ea typeface="Calibri" pitchFamily="34" charset="-122"/>
                <a:cs typeface="Calibri" pitchFamily="34" charset="-120"/>
              </a:rPr>
              <a:t>of the fall were women, against 51.7% of the roll</a:t>
            </a:r>
            <a:endParaRPr lang="en-US" sz="1250" dirty="0"/>
          </a:p>
        </p:txBody>
      </p:sp>
      <p:sp>
        <p:nvSpPr>
          <p:cNvPr id="14" name="Shape 12"/>
          <p:cNvSpPr/>
          <p:nvPr/>
        </p:nvSpPr>
        <p:spPr>
          <a:xfrm>
            <a:off x="9075191" y="3429000"/>
            <a:ext cx="2567864" cy="1737360"/>
          </a:xfrm>
          <a:prstGeom prst="roundRect">
            <a:avLst>
              <a:gd name="adj" fmla="val 4211"/>
            </a:avLst>
          </a:prstGeom>
          <a:solidFill>
            <a:srgbClr val="083843"/>
          </a:solidFill>
          <a:ln/>
        </p:spPr>
      </p:sp>
      <p:sp>
        <p:nvSpPr>
          <p:cNvPr id="15" name="Text 13"/>
          <p:cNvSpPr txBox="1"/>
          <p:nvPr/>
        </p:nvSpPr>
        <p:spPr>
          <a:xfrm>
            <a:off x="9258071"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74 of 140</a:t>
            </a:r>
            <a:endParaRPr lang="en-US" sz="3000" dirty="0"/>
          </a:p>
        </p:txBody>
      </p:sp>
      <p:sp>
        <p:nvSpPr>
          <p:cNvPr id="16" name="Text 14"/>
          <p:cNvSpPr txBox="1"/>
          <p:nvPr/>
        </p:nvSpPr>
        <p:spPr>
          <a:xfrm>
            <a:off x="9258071"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CDE6EB"/>
                </a:solidFill>
                <a:latin typeface="Calibri" pitchFamily="34" charset="0"/>
                <a:ea typeface="Calibri" pitchFamily="34" charset="-122"/>
                <a:cs typeface="Calibri" pitchFamily="34" charset="-120"/>
              </a:rPr>
              <a:t>seats where the fall exceeded the 2026 margin</a:t>
            </a:r>
            <a:endParaRPr lang="en-US" sz="1250" dirty="0"/>
          </a:p>
        </p:txBody>
      </p:sp>
      <p:sp>
        <p:nvSpPr>
          <p:cNvPr id="17" name="Text 15"/>
          <p:cNvSpPr txBox="1"/>
          <p:nvPr/>
        </p:nvSpPr>
        <p:spPr>
          <a:xfrm>
            <a:off x="548640" y="5760720"/>
            <a:ext cx="7315200" cy="365760"/>
          </a:xfrm>
          <a:prstGeom prst="rect">
            <a:avLst/>
          </a:prstGeom>
          <a:noFill/>
          <a:ln/>
        </p:spPr>
        <p:txBody>
          <a:bodyPr wrap="square" lIns="0" tIns="0" rIns="0" bIns="0" rtlCol="0" anchor="ctr"/>
          <a:lstStyle/>
          <a:p>
            <a:pPr indent="0" marL="0">
              <a:buNone/>
            </a:pPr>
            <a:r>
              <a:rPr lang="en-US" sz="1300" dirty="0">
                <a:solidFill>
                  <a:srgbClr val="CDE6EB"/>
                </a:solidFill>
                <a:latin typeface="Calibri" pitchFamily="34" charset="0"/>
                <a:ea typeface="Calibri" pitchFamily="34" charset="-122"/>
                <a:cs typeface="Calibri" pitchFamily="34" charset="-120"/>
              </a:rPr>
              <a:t>PinPoint Ventures</a:t>
            </a:r>
            <a:endParaRPr lang="en-US" sz="1300" dirty="0"/>
          </a:p>
        </p:txBody>
      </p:sp>
      <p:sp>
        <p:nvSpPr>
          <p:cNvPr id="18" name="Shape 16"/>
          <p:cNvSpPr/>
          <p:nvPr/>
        </p:nvSpPr>
        <p:spPr>
          <a:xfrm>
            <a:off x="0" y="6748272"/>
            <a:ext cx="304792" cy="109728"/>
          </a:xfrm>
          <a:prstGeom prst="rect">
            <a:avLst/>
          </a:prstGeom>
          <a:solidFill>
            <a:srgbClr val="C0392B"/>
          </a:solidFill>
          <a:ln/>
        </p:spPr>
      </p:sp>
      <p:sp>
        <p:nvSpPr>
          <p:cNvPr id="19" name="Shape 17"/>
          <p:cNvSpPr/>
          <p:nvPr/>
        </p:nvSpPr>
        <p:spPr>
          <a:xfrm>
            <a:off x="304792" y="6748272"/>
            <a:ext cx="304792" cy="109728"/>
          </a:xfrm>
          <a:prstGeom prst="rect">
            <a:avLst/>
          </a:prstGeom>
          <a:solidFill>
            <a:srgbClr val="E67E22"/>
          </a:solidFill>
          <a:ln/>
        </p:spPr>
      </p:sp>
      <p:sp>
        <p:nvSpPr>
          <p:cNvPr id="20" name="Shape 18"/>
          <p:cNvSpPr/>
          <p:nvPr/>
        </p:nvSpPr>
        <p:spPr>
          <a:xfrm>
            <a:off x="609585" y="6748272"/>
            <a:ext cx="304792" cy="109728"/>
          </a:xfrm>
          <a:prstGeom prst="rect">
            <a:avLst/>
          </a:prstGeom>
          <a:solidFill>
            <a:srgbClr val="27AE60"/>
          </a:solidFill>
          <a:ln/>
        </p:spPr>
      </p:sp>
      <p:sp>
        <p:nvSpPr>
          <p:cNvPr id="21" name="Shape 19"/>
          <p:cNvSpPr/>
          <p:nvPr/>
        </p:nvSpPr>
        <p:spPr>
          <a:xfrm>
            <a:off x="914377" y="6748272"/>
            <a:ext cx="304792" cy="109728"/>
          </a:xfrm>
          <a:prstGeom prst="rect">
            <a:avLst/>
          </a:prstGeom>
          <a:solidFill>
            <a:srgbClr val="1F618D"/>
          </a:solidFill>
          <a:ln/>
        </p:spPr>
      </p:sp>
      <p:sp>
        <p:nvSpPr>
          <p:cNvPr id="22" name="Shape 20"/>
          <p:cNvSpPr/>
          <p:nvPr/>
        </p:nvSpPr>
        <p:spPr>
          <a:xfrm>
            <a:off x="1219170" y="6748272"/>
            <a:ext cx="304792" cy="109728"/>
          </a:xfrm>
          <a:prstGeom prst="rect">
            <a:avLst/>
          </a:prstGeom>
          <a:solidFill>
            <a:srgbClr val="8E44AD"/>
          </a:solidFill>
          <a:ln/>
        </p:spPr>
      </p:sp>
      <p:sp>
        <p:nvSpPr>
          <p:cNvPr id="23" name="Shape 21"/>
          <p:cNvSpPr/>
          <p:nvPr/>
        </p:nvSpPr>
        <p:spPr>
          <a:xfrm>
            <a:off x="1523962" y="6748272"/>
            <a:ext cx="304792" cy="109728"/>
          </a:xfrm>
          <a:prstGeom prst="rect">
            <a:avLst/>
          </a:prstGeom>
          <a:solidFill>
            <a:srgbClr val="C0392B"/>
          </a:solidFill>
          <a:ln/>
        </p:spPr>
      </p:sp>
      <p:sp>
        <p:nvSpPr>
          <p:cNvPr id="24" name="Shape 22"/>
          <p:cNvSpPr/>
          <p:nvPr/>
        </p:nvSpPr>
        <p:spPr>
          <a:xfrm>
            <a:off x="1828754" y="6748272"/>
            <a:ext cx="304792" cy="109728"/>
          </a:xfrm>
          <a:prstGeom prst="rect">
            <a:avLst/>
          </a:prstGeom>
          <a:solidFill>
            <a:srgbClr val="E67E22"/>
          </a:solidFill>
          <a:ln/>
        </p:spPr>
      </p:sp>
      <p:sp>
        <p:nvSpPr>
          <p:cNvPr id="25" name="Shape 23"/>
          <p:cNvSpPr/>
          <p:nvPr/>
        </p:nvSpPr>
        <p:spPr>
          <a:xfrm>
            <a:off x="2133547" y="6748272"/>
            <a:ext cx="304792" cy="109728"/>
          </a:xfrm>
          <a:prstGeom prst="rect">
            <a:avLst/>
          </a:prstGeom>
          <a:solidFill>
            <a:srgbClr val="27AE60"/>
          </a:solidFill>
          <a:ln/>
        </p:spPr>
      </p:sp>
      <p:sp>
        <p:nvSpPr>
          <p:cNvPr id="26" name="Shape 24"/>
          <p:cNvSpPr/>
          <p:nvPr/>
        </p:nvSpPr>
        <p:spPr>
          <a:xfrm>
            <a:off x="2438339" y="6748272"/>
            <a:ext cx="304792" cy="109728"/>
          </a:xfrm>
          <a:prstGeom prst="rect">
            <a:avLst/>
          </a:prstGeom>
          <a:solidFill>
            <a:srgbClr val="1F618D"/>
          </a:solidFill>
          <a:ln/>
        </p:spPr>
      </p:sp>
      <p:sp>
        <p:nvSpPr>
          <p:cNvPr id="27" name="Shape 25"/>
          <p:cNvSpPr/>
          <p:nvPr/>
        </p:nvSpPr>
        <p:spPr>
          <a:xfrm>
            <a:off x="2743131" y="6748272"/>
            <a:ext cx="304792" cy="109728"/>
          </a:xfrm>
          <a:prstGeom prst="rect">
            <a:avLst/>
          </a:prstGeom>
          <a:solidFill>
            <a:srgbClr val="8E44AD"/>
          </a:solidFill>
          <a:ln/>
        </p:spPr>
      </p:sp>
      <p:sp>
        <p:nvSpPr>
          <p:cNvPr id="28" name="Shape 26"/>
          <p:cNvSpPr/>
          <p:nvPr/>
        </p:nvSpPr>
        <p:spPr>
          <a:xfrm>
            <a:off x="3047924" y="6748272"/>
            <a:ext cx="304792" cy="109728"/>
          </a:xfrm>
          <a:prstGeom prst="rect">
            <a:avLst/>
          </a:prstGeom>
          <a:solidFill>
            <a:srgbClr val="C0392B"/>
          </a:solidFill>
          <a:ln/>
        </p:spPr>
      </p:sp>
      <p:sp>
        <p:nvSpPr>
          <p:cNvPr id="29" name="Shape 27"/>
          <p:cNvSpPr/>
          <p:nvPr/>
        </p:nvSpPr>
        <p:spPr>
          <a:xfrm>
            <a:off x="3352716" y="6748272"/>
            <a:ext cx="304792" cy="109728"/>
          </a:xfrm>
          <a:prstGeom prst="rect">
            <a:avLst/>
          </a:prstGeom>
          <a:solidFill>
            <a:srgbClr val="E67E22"/>
          </a:solidFill>
          <a:ln/>
        </p:spPr>
      </p:sp>
      <p:sp>
        <p:nvSpPr>
          <p:cNvPr id="30" name="Shape 28"/>
          <p:cNvSpPr/>
          <p:nvPr/>
        </p:nvSpPr>
        <p:spPr>
          <a:xfrm>
            <a:off x="3657509" y="6748272"/>
            <a:ext cx="304792" cy="109728"/>
          </a:xfrm>
          <a:prstGeom prst="rect">
            <a:avLst/>
          </a:prstGeom>
          <a:solidFill>
            <a:srgbClr val="27AE60"/>
          </a:solidFill>
          <a:ln/>
        </p:spPr>
      </p:sp>
      <p:sp>
        <p:nvSpPr>
          <p:cNvPr id="31" name="Shape 29"/>
          <p:cNvSpPr/>
          <p:nvPr/>
        </p:nvSpPr>
        <p:spPr>
          <a:xfrm>
            <a:off x="3962301" y="6748272"/>
            <a:ext cx="304792" cy="109728"/>
          </a:xfrm>
          <a:prstGeom prst="rect">
            <a:avLst/>
          </a:prstGeom>
          <a:solidFill>
            <a:srgbClr val="1F618D"/>
          </a:solidFill>
          <a:ln/>
        </p:spPr>
      </p:sp>
      <p:sp>
        <p:nvSpPr>
          <p:cNvPr id="32" name="Shape 30"/>
          <p:cNvSpPr/>
          <p:nvPr/>
        </p:nvSpPr>
        <p:spPr>
          <a:xfrm>
            <a:off x="4267093" y="6748272"/>
            <a:ext cx="304792" cy="109728"/>
          </a:xfrm>
          <a:prstGeom prst="rect">
            <a:avLst/>
          </a:prstGeom>
          <a:solidFill>
            <a:srgbClr val="8E44AD"/>
          </a:solidFill>
          <a:ln/>
        </p:spPr>
      </p:sp>
      <p:sp>
        <p:nvSpPr>
          <p:cNvPr id="33" name="Shape 31"/>
          <p:cNvSpPr/>
          <p:nvPr/>
        </p:nvSpPr>
        <p:spPr>
          <a:xfrm>
            <a:off x="4571886" y="6748272"/>
            <a:ext cx="304792" cy="109728"/>
          </a:xfrm>
          <a:prstGeom prst="rect">
            <a:avLst/>
          </a:prstGeom>
          <a:solidFill>
            <a:srgbClr val="C0392B"/>
          </a:solidFill>
          <a:ln/>
        </p:spPr>
      </p:sp>
      <p:sp>
        <p:nvSpPr>
          <p:cNvPr id="34" name="Shape 32"/>
          <p:cNvSpPr/>
          <p:nvPr/>
        </p:nvSpPr>
        <p:spPr>
          <a:xfrm>
            <a:off x="4876678" y="6748272"/>
            <a:ext cx="304792" cy="109728"/>
          </a:xfrm>
          <a:prstGeom prst="rect">
            <a:avLst/>
          </a:prstGeom>
          <a:solidFill>
            <a:srgbClr val="E67E22"/>
          </a:solidFill>
          <a:ln/>
        </p:spPr>
      </p:sp>
      <p:sp>
        <p:nvSpPr>
          <p:cNvPr id="35" name="Shape 33"/>
          <p:cNvSpPr/>
          <p:nvPr/>
        </p:nvSpPr>
        <p:spPr>
          <a:xfrm>
            <a:off x="5181470" y="6748272"/>
            <a:ext cx="304792" cy="109728"/>
          </a:xfrm>
          <a:prstGeom prst="rect">
            <a:avLst/>
          </a:prstGeom>
          <a:solidFill>
            <a:srgbClr val="27AE60"/>
          </a:solidFill>
          <a:ln/>
        </p:spPr>
      </p:sp>
      <p:sp>
        <p:nvSpPr>
          <p:cNvPr id="36" name="Shape 34"/>
          <p:cNvSpPr/>
          <p:nvPr/>
        </p:nvSpPr>
        <p:spPr>
          <a:xfrm>
            <a:off x="5486263" y="6748272"/>
            <a:ext cx="304792" cy="109728"/>
          </a:xfrm>
          <a:prstGeom prst="rect">
            <a:avLst/>
          </a:prstGeom>
          <a:solidFill>
            <a:srgbClr val="1F618D"/>
          </a:solidFill>
          <a:ln/>
        </p:spPr>
      </p:sp>
      <p:sp>
        <p:nvSpPr>
          <p:cNvPr id="37" name="Shape 35"/>
          <p:cNvSpPr/>
          <p:nvPr/>
        </p:nvSpPr>
        <p:spPr>
          <a:xfrm>
            <a:off x="5791055" y="6748272"/>
            <a:ext cx="304792" cy="109728"/>
          </a:xfrm>
          <a:prstGeom prst="rect">
            <a:avLst/>
          </a:prstGeom>
          <a:solidFill>
            <a:srgbClr val="8E44AD"/>
          </a:solidFill>
          <a:ln/>
        </p:spPr>
      </p:sp>
      <p:sp>
        <p:nvSpPr>
          <p:cNvPr id="38" name="Shape 36"/>
          <p:cNvSpPr/>
          <p:nvPr/>
        </p:nvSpPr>
        <p:spPr>
          <a:xfrm>
            <a:off x="6095848" y="6748272"/>
            <a:ext cx="304792" cy="109728"/>
          </a:xfrm>
          <a:prstGeom prst="rect">
            <a:avLst/>
          </a:prstGeom>
          <a:solidFill>
            <a:srgbClr val="C0392B"/>
          </a:solidFill>
          <a:ln/>
        </p:spPr>
      </p:sp>
      <p:sp>
        <p:nvSpPr>
          <p:cNvPr id="39" name="Shape 37"/>
          <p:cNvSpPr/>
          <p:nvPr/>
        </p:nvSpPr>
        <p:spPr>
          <a:xfrm>
            <a:off x="6400640" y="6748272"/>
            <a:ext cx="304792" cy="109728"/>
          </a:xfrm>
          <a:prstGeom prst="rect">
            <a:avLst/>
          </a:prstGeom>
          <a:solidFill>
            <a:srgbClr val="E67E22"/>
          </a:solidFill>
          <a:ln/>
        </p:spPr>
      </p:sp>
      <p:sp>
        <p:nvSpPr>
          <p:cNvPr id="40" name="Shape 38"/>
          <p:cNvSpPr/>
          <p:nvPr/>
        </p:nvSpPr>
        <p:spPr>
          <a:xfrm>
            <a:off x="6705432" y="6748272"/>
            <a:ext cx="304792" cy="109728"/>
          </a:xfrm>
          <a:prstGeom prst="rect">
            <a:avLst/>
          </a:prstGeom>
          <a:solidFill>
            <a:srgbClr val="27AE60"/>
          </a:solidFill>
          <a:ln/>
        </p:spPr>
      </p:sp>
      <p:sp>
        <p:nvSpPr>
          <p:cNvPr id="41" name="Shape 39"/>
          <p:cNvSpPr/>
          <p:nvPr/>
        </p:nvSpPr>
        <p:spPr>
          <a:xfrm>
            <a:off x="7010225" y="6748272"/>
            <a:ext cx="304792" cy="109728"/>
          </a:xfrm>
          <a:prstGeom prst="rect">
            <a:avLst/>
          </a:prstGeom>
          <a:solidFill>
            <a:srgbClr val="1F618D"/>
          </a:solidFill>
          <a:ln/>
        </p:spPr>
      </p:sp>
      <p:sp>
        <p:nvSpPr>
          <p:cNvPr id="42" name="Shape 40"/>
          <p:cNvSpPr/>
          <p:nvPr/>
        </p:nvSpPr>
        <p:spPr>
          <a:xfrm>
            <a:off x="7315017" y="6748272"/>
            <a:ext cx="304792" cy="109728"/>
          </a:xfrm>
          <a:prstGeom prst="rect">
            <a:avLst/>
          </a:prstGeom>
          <a:solidFill>
            <a:srgbClr val="8E44AD"/>
          </a:solidFill>
          <a:ln/>
        </p:spPr>
      </p:sp>
      <p:sp>
        <p:nvSpPr>
          <p:cNvPr id="43" name="Shape 41"/>
          <p:cNvSpPr/>
          <p:nvPr/>
        </p:nvSpPr>
        <p:spPr>
          <a:xfrm>
            <a:off x="7619809" y="6748272"/>
            <a:ext cx="304792" cy="109728"/>
          </a:xfrm>
          <a:prstGeom prst="rect">
            <a:avLst/>
          </a:prstGeom>
          <a:solidFill>
            <a:srgbClr val="C0392B"/>
          </a:solidFill>
          <a:ln/>
        </p:spPr>
      </p:sp>
      <p:sp>
        <p:nvSpPr>
          <p:cNvPr id="44" name="Shape 42"/>
          <p:cNvSpPr/>
          <p:nvPr/>
        </p:nvSpPr>
        <p:spPr>
          <a:xfrm>
            <a:off x="7924602" y="6748272"/>
            <a:ext cx="304792" cy="109728"/>
          </a:xfrm>
          <a:prstGeom prst="rect">
            <a:avLst/>
          </a:prstGeom>
          <a:solidFill>
            <a:srgbClr val="E67E22"/>
          </a:solidFill>
          <a:ln/>
        </p:spPr>
      </p:sp>
      <p:sp>
        <p:nvSpPr>
          <p:cNvPr id="45" name="Shape 43"/>
          <p:cNvSpPr/>
          <p:nvPr/>
        </p:nvSpPr>
        <p:spPr>
          <a:xfrm>
            <a:off x="8229394" y="6748272"/>
            <a:ext cx="304792" cy="109728"/>
          </a:xfrm>
          <a:prstGeom prst="rect">
            <a:avLst/>
          </a:prstGeom>
          <a:solidFill>
            <a:srgbClr val="27AE60"/>
          </a:solidFill>
          <a:ln/>
        </p:spPr>
      </p:sp>
      <p:sp>
        <p:nvSpPr>
          <p:cNvPr id="46" name="Shape 44"/>
          <p:cNvSpPr/>
          <p:nvPr/>
        </p:nvSpPr>
        <p:spPr>
          <a:xfrm>
            <a:off x="8534187" y="6748272"/>
            <a:ext cx="304792" cy="109728"/>
          </a:xfrm>
          <a:prstGeom prst="rect">
            <a:avLst/>
          </a:prstGeom>
          <a:solidFill>
            <a:srgbClr val="1F618D"/>
          </a:solidFill>
          <a:ln/>
        </p:spPr>
      </p:sp>
      <p:sp>
        <p:nvSpPr>
          <p:cNvPr id="47" name="Shape 45"/>
          <p:cNvSpPr/>
          <p:nvPr/>
        </p:nvSpPr>
        <p:spPr>
          <a:xfrm>
            <a:off x="8838979" y="6748272"/>
            <a:ext cx="304792" cy="109728"/>
          </a:xfrm>
          <a:prstGeom prst="rect">
            <a:avLst/>
          </a:prstGeom>
          <a:solidFill>
            <a:srgbClr val="8E44AD"/>
          </a:solidFill>
          <a:ln/>
        </p:spPr>
      </p:sp>
      <p:sp>
        <p:nvSpPr>
          <p:cNvPr id="48" name="Shape 46"/>
          <p:cNvSpPr/>
          <p:nvPr/>
        </p:nvSpPr>
        <p:spPr>
          <a:xfrm>
            <a:off x="9143771" y="6748272"/>
            <a:ext cx="304792" cy="109728"/>
          </a:xfrm>
          <a:prstGeom prst="rect">
            <a:avLst/>
          </a:prstGeom>
          <a:solidFill>
            <a:srgbClr val="C0392B"/>
          </a:solidFill>
          <a:ln/>
        </p:spPr>
      </p:sp>
      <p:sp>
        <p:nvSpPr>
          <p:cNvPr id="49" name="Shape 47"/>
          <p:cNvSpPr/>
          <p:nvPr/>
        </p:nvSpPr>
        <p:spPr>
          <a:xfrm>
            <a:off x="9448564" y="6748272"/>
            <a:ext cx="304792" cy="109728"/>
          </a:xfrm>
          <a:prstGeom prst="rect">
            <a:avLst/>
          </a:prstGeom>
          <a:solidFill>
            <a:srgbClr val="E67E22"/>
          </a:solidFill>
          <a:ln/>
        </p:spPr>
      </p:sp>
      <p:sp>
        <p:nvSpPr>
          <p:cNvPr id="50" name="Shape 48"/>
          <p:cNvSpPr/>
          <p:nvPr/>
        </p:nvSpPr>
        <p:spPr>
          <a:xfrm>
            <a:off x="9753356" y="6748272"/>
            <a:ext cx="304792" cy="109728"/>
          </a:xfrm>
          <a:prstGeom prst="rect">
            <a:avLst/>
          </a:prstGeom>
          <a:solidFill>
            <a:srgbClr val="27AE60"/>
          </a:solidFill>
          <a:ln/>
        </p:spPr>
      </p:sp>
      <p:sp>
        <p:nvSpPr>
          <p:cNvPr id="51" name="Shape 49"/>
          <p:cNvSpPr/>
          <p:nvPr/>
        </p:nvSpPr>
        <p:spPr>
          <a:xfrm>
            <a:off x="10058149" y="6748272"/>
            <a:ext cx="304792" cy="109728"/>
          </a:xfrm>
          <a:prstGeom prst="rect">
            <a:avLst/>
          </a:prstGeom>
          <a:solidFill>
            <a:srgbClr val="1F618D"/>
          </a:solidFill>
          <a:ln/>
        </p:spPr>
      </p:sp>
      <p:sp>
        <p:nvSpPr>
          <p:cNvPr id="52" name="Shape 50"/>
          <p:cNvSpPr/>
          <p:nvPr/>
        </p:nvSpPr>
        <p:spPr>
          <a:xfrm>
            <a:off x="10362941" y="6748272"/>
            <a:ext cx="304792" cy="109728"/>
          </a:xfrm>
          <a:prstGeom prst="rect">
            <a:avLst/>
          </a:prstGeom>
          <a:solidFill>
            <a:srgbClr val="8E44AD"/>
          </a:solidFill>
          <a:ln/>
        </p:spPr>
      </p:sp>
      <p:sp>
        <p:nvSpPr>
          <p:cNvPr id="53" name="Shape 51"/>
          <p:cNvSpPr/>
          <p:nvPr/>
        </p:nvSpPr>
        <p:spPr>
          <a:xfrm>
            <a:off x="10667733" y="6748272"/>
            <a:ext cx="304792" cy="109728"/>
          </a:xfrm>
          <a:prstGeom prst="rect">
            <a:avLst/>
          </a:prstGeom>
          <a:solidFill>
            <a:srgbClr val="C0392B"/>
          </a:solidFill>
          <a:ln/>
        </p:spPr>
      </p:sp>
      <p:sp>
        <p:nvSpPr>
          <p:cNvPr id="54" name="Shape 52"/>
          <p:cNvSpPr/>
          <p:nvPr/>
        </p:nvSpPr>
        <p:spPr>
          <a:xfrm>
            <a:off x="10972526" y="6748272"/>
            <a:ext cx="304792" cy="109728"/>
          </a:xfrm>
          <a:prstGeom prst="rect">
            <a:avLst/>
          </a:prstGeom>
          <a:solidFill>
            <a:srgbClr val="E67E22"/>
          </a:solidFill>
          <a:ln/>
        </p:spPr>
      </p:sp>
      <p:sp>
        <p:nvSpPr>
          <p:cNvPr id="55" name="Shape 53"/>
          <p:cNvSpPr/>
          <p:nvPr/>
        </p:nvSpPr>
        <p:spPr>
          <a:xfrm>
            <a:off x="11277318" y="6748272"/>
            <a:ext cx="304792" cy="109728"/>
          </a:xfrm>
          <a:prstGeom prst="rect">
            <a:avLst/>
          </a:prstGeom>
          <a:solidFill>
            <a:srgbClr val="27AE60"/>
          </a:solidFill>
          <a:ln/>
        </p:spPr>
      </p:sp>
      <p:sp>
        <p:nvSpPr>
          <p:cNvPr id="56" name="Shape 54"/>
          <p:cNvSpPr/>
          <p:nvPr/>
        </p:nvSpPr>
        <p:spPr>
          <a:xfrm>
            <a:off x="11582110" y="6748272"/>
            <a:ext cx="304792" cy="109728"/>
          </a:xfrm>
          <a:prstGeom prst="rect">
            <a:avLst/>
          </a:prstGeom>
          <a:solidFill>
            <a:srgbClr val="1F618D"/>
          </a:solidFill>
          <a:ln/>
        </p:spPr>
      </p:sp>
      <p:sp>
        <p:nvSpPr>
          <p:cNvPr id="57" name="Shape 55"/>
          <p:cNvSpPr/>
          <p:nvPr/>
        </p:nvSpPr>
        <p:spPr>
          <a:xfrm>
            <a:off x="11886903" y="6748272"/>
            <a:ext cx="304792" cy="109728"/>
          </a:xfrm>
          <a:prstGeom prst="rect">
            <a:avLst/>
          </a:prstGeom>
          <a:solidFill>
            <a:srgbClr val="8E44AD"/>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lstStyle/>
          <a:p>
            <a:pPr indent="0" marL="0">
              <a:buNone/>
            </a:pPr>
            <a:r>
              <a:rPr lang="en-US" sz="3000" b="1" dirty="0">
                <a:solidFill>
                  <a:srgbClr val="0B4A57"/>
                </a:solidFill>
                <a:latin typeface="Cambria" pitchFamily="34" charset="0"/>
                <a:ea typeface="Cambria" pitchFamily="34" charset="-122"/>
                <a:cs typeface="Cambria" pitchFamily="34" charset="-120"/>
              </a:rPr>
              <a:t>Contents</a:t>
            </a:r>
            <a:endParaRPr lang="en-US" sz="3000" dirty="0"/>
          </a:p>
        </p:txBody>
      </p:sp>
      <p:sp>
        <p:nvSpPr>
          <p:cNvPr id="3" name="Shape 1"/>
          <p:cNvSpPr/>
          <p:nvPr/>
        </p:nvSpPr>
        <p:spPr>
          <a:xfrm>
            <a:off x="0" y="6748272"/>
            <a:ext cx="304792" cy="109728"/>
          </a:xfrm>
          <a:prstGeom prst="rect">
            <a:avLst/>
          </a:prstGeom>
          <a:solidFill>
            <a:srgbClr val="C0392B"/>
          </a:solidFill>
          <a:ln/>
        </p:spPr>
      </p:sp>
      <p:sp>
        <p:nvSpPr>
          <p:cNvPr id="4" name="Shape 2"/>
          <p:cNvSpPr/>
          <p:nvPr/>
        </p:nvSpPr>
        <p:spPr>
          <a:xfrm>
            <a:off x="304792" y="6748272"/>
            <a:ext cx="304792" cy="109728"/>
          </a:xfrm>
          <a:prstGeom prst="rect">
            <a:avLst/>
          </a:prstGeom>
          <a:solidFill>
            <a:srgbClr val="E67E22"/>
          </a:solidFill>
          <a:ln/>
        </p:spPr>
      </p:sp>
      <p:sp>
        <p:nvSpPr>
          <p:cNvPr id="5" name="Shape 3"/>
          <p:cNvSpPr/>
          <p:nvPr/>
        </p:nvSpPr>
        <p:spPr>
          <a:xfrm>
            <a:off x="609585" y="6748272"/>
            <a:ext cx="304792" cy="109728"/>
          </a:xfrm>
          <a:prstGeom prst="rect">
            <a:avLst/>
          </a:prstGeom>
          <a:solidFill>
            <a:srgbClr val="27AE60"/>
          </a:solidFill>
          <a:ln/>
        </p:spPr>
      </p:sp>
      <p:sp>
        <p:nvSpPr>
          <p:cNvPr id="6" name="Shape 4"/>
          <p:cNvSpPr/>
          <p:nvPr/>
        </p:nvSpPr>
        <p:spPr>
          <a:xfrm>
            <a:off x="914377" y="6748272"/>
            <a:ext cx="304792" cy="109728"/>
          </a:xfrm>
          <a:prstGeom prst="rect">
            <a:avLst/>
          </a:prstGeom>
          <a:solidFill>
            <a:srgbClr val="1F618D"/>
          </a:solidFill>
          <a:ln/>
        </p:spPr>
      </p:sp>
      <p:sp>
        <p:nvSpPr>
          <p:cNvPr id="7" name="Shape 5"/>
          <p:cNvSpPr/>
          <p:nvPr/>
        </p:nvSpPr>
        <p:spPr>
          <a:xfrm>
            <a:off x="1219170" y="6748272"/>
            <a:ext cx="304792" cy="109728"/>
          </a:xfrm>
          <a:prstGeom prst="rect">
            <a:avLst/>
          </a:prstGeom>
          <a:solidFill>
            <a:srgbClr val="8E44AD"/>
          </a:solidFill>
          <a:ln/>
        </p:spPr>
      </p:sp>
      <p:sp>
        <p:nvSpPr>
          <p:cNvPr id="8" name="Shape 6"/>
          <p:cNvSpPr/>
          <p:nvPr/>
        </p:nvSpPr>
        <p:spPr>
          <a:xfrm>
            <a:off x="1523962" y="6748272"/>
            <a:ext cx="304792" cy="109728"/>
          </a:xfrm>
          <a:prstGeom prst="rect">
            <a:avLst/>
          </a:prstGeom>
          <a:solidFill>
            <a:srgbClr val="C0392B"/>
          </a:solidFill>
          <a:ln/>
        </p:spPr>
      </p:sp>
      <p:sp>
        <p:nvSpPr>
          <p:cNvPr id="9" name="Shape 7"/>
          <p:cNvSpPr/>
          <p:nvPr/>
        </p:nvSpPr>
        <p:spPr>
          <a:xfrm>
            <a:off x="1828754" y="6748272"/>
            <a:ext cx="304792" cy="109728"/>
          </a:xfrm>
          <a:prstGeom prst="rect">
            <a:avLst/>
          </a:prstGeom>
          <a:solidFill>
            <a:srgbClr val="E67E22"/>
          </a:solidFill>
          <a:ln/>
        </p:spPr>
      </p:sp>
      <p:sp>
        <p:nvSpPr>
          <p:cNvPr id="10" name="Shape 8"/>
          <p:cNvSpPr/>
          <p:nvPr/>
        </p:nvSpPr>
        <p:spPr>
          <a:xfrm>
            <a:off x="2133547" y="6748272"/>
            <a:ext cx="304792" cy="109728"/>
          </a:xfrm>
          <a:prstGeom prst="rect">
            <a:avLst/>
          </a:prstGeom>
          <a:solidFill>
            <a:srgbClr val="27AE60"/>
          </a:solidFill>
          <a:ln/>
        </p:spPr>
      </p:sp>
      <p:sp>
        <p:nvSpPr>
          <p:cNvPr id="11" name="Shape 9"/>
          <p:cNvSpPr/>
          <p:nvPr/>
        </p:nvSpPr>
        <p:spPr>
          <a:xfrm>
            <a:off x="2438339" y="6748272"/>
            <a:ext cx="304792" cy="109728"/>
          </a:xfrm>
          <a:prstGeom prst="rect">
            <a:avLst/>
          </a:prstGeom>
          <a:solidFill>
            <a:srgbClr val="1F618D"/>
          </a:solidFill>
          <a:ln/>
        </p:spPr>
      </p:sp>
      <p:sp>
        <p:nvSpPr>
          <p:cNvPr id="12" name="Shape 10"/>
          <p:cNvSpPr/>
          <p:nvPr/>
        </p:nvSpPr>
        <p:spPr>
          <a:xfrm>
            <a:off x="2743131" y="6748272"/>
            <a:ext cx="304792" cy="109728"/>
          </a:xfrm>
          <a:prstGeom prst="rect">
            <a:avLst/>
          </a:prstGeom>
          <a:solidFill>
            <a:srgbClr val="8E44AD"/>
          </a:solidFill>
          <a:ln/>
        </p:spPr>
      </p:sp>
      <p:sp>
        <p:nvSpPr>
          <p:cNvPr id="13" name="Shape 11"/>
          <p:cNvSpPr/>
          <p:nvPr/>
        </p:nvSpPr>
        <p:spPr>
          <a:xfrm>
            <a:off x="3047924" y="6748272"/>
            <a:ext cx="304792" cy="109728"/>
          </a:xfrm>
          <a:prstGeom prst="rect">
            <a:avLst/>
          </a:prstGeom>
          <a:solidFill>
            <a:srgbClr val="C0392B"/>
          </a:solidFill>
          <a:ln/>
        </p:spPr>
      </p:sp>
      <p:sp>
        <p:nvSpPr>
          <p:cNvPr id="14" name="Shape 12"/>
          <p:cNvSpPr/>
          <p:nvPr/>
        </p:nvSpPr>
        <p:spPr>
          <a:xfrm>
            <a:off x="3352716" y="6748272"/>
            <a:ext cx="304792" cy="109728"/>
          </a:xfrm>
          <a:prstGeom prst="rect">
            <a:avLst/>
          </a:prstGeom>
          <a:solidFill>
            <a:srgbClr val="E67E22"/>
          </a:solidFill>
          <a:ln/>
        </p:spPr>
      </p:sp>
      <p:sp>
        <p:nvSpPr>
          <p:cNvPr id="15" name="Shape 13"/>
          <p:cNvSpPr/>
          <p:nvPr/>
        </p:nvSpPr>
        <p:spPr>
          <a:xfrm>
            <a:off x="3657509" y="6748272"/>
            <a:ext cx="304792" cy="109728"/>
          </a:xfrm>
          <a:prstGeom prst="rect">
            <a:avLst/>
          </a:prstGeom>
          <a:solidFill>
            <a:srgbClr val="27AE60"/>
          </a:solidFill>
          <a:ln/>
        </p:spPr>
      </p:sp>
      <p:sp>
        <p:nvSpPr>
          <p:cNvPr id="16" name="Shape 14"/>
          <p:cNvSpPr/>
          <p:nvPr/>
        </p:nvSpPr>
        <p:spPr>
          <a:xfrm>
            <a:off x="3962301" y="6748272"/>
            <a:ext cx="304792" cy="109728"/>
          </a:xfrm>
          <a:prstGeom prst="rect">
            <a:avLst/>
          </a:prstGeom>
          <a:solidFill>
            <a:srgbClr val="1F618D"/>
          </a:solidFill>
          <a:ln/>
        </p:spPr>
      </p:sp>
      <p:sp>
        <p:nvSpPr>
          <p:cNvPr id="17" name="Shape 15"/>
          <p:cNvSpPr/>
          <p:nvPr/>
        </p:nvSpPr>
        <p:spPr>
          <a:xfrm>
            <a:off x="4267093" y="6748272"/>
            <a:ext cx="304792" cy="109728"/>
          </a:xfrm>
          <a:prstGeom prst="rect">
            <a:avLst/>
          </a:prstGeom>
          <a:solidFill>
            <a:srgbClr val="8E44AD"/>
          </a:solidFill>
          <a:ln/>
        </p:spPr>
      </p:sp>
      <p:sp>
        <p:nvSpPr>
          <p:cNvPr id="18" name="Shape 16"/>
          <p:cNvSpPr/>
          <p:nvPr/>
        </p:nvSpPr>
        <p:spPr>
          <a:xfrm>
            <a:off x="4571886" y="6748272"/>
            <a:ext cx="304792" cy="109728"/>
          </a:xfrm>
          <a:prstGeom prst="rect">
            <a:avLst/>
          </a:prstGeom>
          <a:solidFill>
            <a:srgbClr val="C0392B"/>
          </a:solidFill>
          <a:ln/>
        </p:spPr>
      </p:sp>
      <p:sp>
        <p:nvSpPr>
          <p:cNvPr id="19" name="Shape 17"/>
          <p:cNvSpPr/>
          <p:nvPr/>
        </p:nvSpPr>
        <p:spPr>
          <a:xfrm>
            <a:off x="4876678" y="6748272"/>
            <a:ext cx="304792" cy="109728"/>
          </a:xfrm>
          <a:prstGeom prst="rect">
            <a:avLst/>
          </a:prstGeom>
          <a:solidFill>
            <a:srgbClr val="E67E22"/>
          </a:solidFill>
          <a:ln/>
        </p:spPr>
      </p:sp>
      <p:sp>
        <p:nvSpPr>
          <p:cNvPr id="20" name="Shape 18"/>
          <p:cNvSpPr/>
          <p:nvPr/>
        </p:nvSpPr>
        <p:spPr>
          <a:xfrm>
            <a:off x="5181470" y="6748272"/>
            <a:ext cx="304792" cy="109728"/>
          </a:xfrm>
          <a:prstGeom prst="rect">
            <a:avLst/>
          </a:prstGeom>
          <a:solidFill>
            <a:srgbClr val="27AE60"/>
          </a:solidFill>
          <a:ln/>
        </p:spPr>
      </p:sp>
      <p:sp>
        <p:nvSpPr>
          <p:cNvPr id="21" name="Shape 19"/>
          <p:cNvSpPr/>
          <p:nvPr/>
        </p:nvSpPr>
        <p:spPr>
          <a:xfrm>
            <a:off x="5486263" y="6748272"/>
            <a:ext cx="304792" cy="109728"/>
          </a:xfrm>
          <a:prstGeom prst="rect">
            <a:avLst/>
          </a:prstGeom>
          <a:solidFill>
            <a:srgbClr val="1F618D"/>
          </a:solidFill>
          <a:ln/>
        </p:spPr>
      </p:sp>
      <p:sp>
        <p:nvSpPr>
          <p:cNvPr id="22" name="Shape 20"/>
          <p:cNvSpPr/>
          <p:nvPr/>
        </p:nvSpPr>
        <p:spPr>
          <a:xfrm>
            <a:off x="5791055" y="6748272"/>
            <a:ext cx="304792" cy="109728"/>
          </a:xfrm>
          <a:prstGeom prst="rect">
            <a:avLst/>
          </a:prstGeom>
          <a:solidFill>
            <a:srgbClr val="8E44AD"/>
          </a:solidFill>
          <a:ln/>
        </p:spPr>
      </p:sp>
      <p:sp>
        <p:nvSpPr>
          <p:cNvPr id="23" name="Shape 21"/>
          <p:cNvSpPr/>
          <p:nvPr/>
        </p:nvSpPr>
        <p:spPr>
          <a:xfrm>
            <a:off x="6095848" y="6748272"/>
            <a:ext cx="304792" cy="109728"/>
          </a:xfrm>
          <a:prstGeom prst="rect">
            <a:avLst/>
          </a:prstGeom>
          <a:solidFill>
            <a:srgbClr val="C0392B"/>
          </a:solidFill>
          <a:ln/>
        </p:spPr>
      </p:sp>
      <p:sp>
        <p:nvSpPr>
          <p:cNvPr id="24" name="Shape 22"/>
          <p:cNvSpPr/>
          <p:nvPr/>
        </p:nvSpPr>
        <p:spPr>
          <a:xfrm>
            <a:off x="6400640" y="6748272"/>
            <a:ext cx="304792" cy="109728"/>
          </a:xfrm>
          <a:prstGeom prst="rect">
            <a:avLst/>
          </a:prstGeom>
          <a:solidFill>
            <a:srgbClr val="E67E22"/>
          </a:solidFill>
          <a:ln/>
        </p:spPr>
      </p:sp>
      <p:sp>
        <p:nvSpPr>
          <p:cNvPr id="25" name="Shape 23"/>
          <p:cNvSpPr/>
          <p:nvPr/>
        </p:nvSpPr>
        <p:spPr>
          <a:xfrm>
            <a:off x="6705432" y="6748272"/>
            <a:ext cx="304792" cy="109728"/>
          </a:xfrm>
          <a:prstGeom prst="rect">
            <a:avLst/>
          </a:prstGeom>
          <a:solidFill>
            <a:srgbClr val="27AE60"/>
          </a:solidFill>
          <a:ln/>
        </p:spPr>
      </p:sp>
      <p:sp>
        <p:nvSpPr>
          <p:cNvPr id="26" name="Shape 24"/>
          <p:cNvSpPr/>
          <p:nvPr/>
        </p:nvSpPr>
        <p:spPr>
          <a:xfrm>
            <a:off x="7010225" y="6748272"/>
            <a:ext cx="304792" cy="109728"/>
          </a:xfrm>
          <a:prstGeom prst="rect">
            <a:avLst/>
          </a:prstGeom>
          <a:solidFill>
            <a:srgbClr val="1F618D"/>
          </a:solidFill>
          <a:ln/>
        </p:spPr>
      </p:sp>
      <p:sp>
        <p:nvSpPr>
          <p:cNvPr id="27" name="Shape 25"/>
          <p:cNvSpPr/>
          <p:nvPr/>
        </p:nvSpPr>
        <p:spPr>
          <a:xfrm>
            <a:off x="7315017" y="6748272"/>
            <a:ext cx="304792" cy="109728"/>
          </a:xfrm>
          <a:prstGeom prst="rect">
            <a:avLst/>
          </a:prstGeom>
          <a:solidFill>
            <a:srgbClr val="8E44AD"/>
          </a:solidFill>
          <a:ln/>
        </p:spPr>
      </p:sp>
      <p:sp>
        <p:nvSpPr>
          <p:cNvPr id="28" name="Shape 26"/>
          <p:cNvSpPr/>
          <p:nvPr/>
        </p:nvSpPr>
        <p:spPr>
          <a:xfrm>
            <a:off x="7619809" y="6748272"/>
            <a:ext cx="304792" cy="109728"/>
          </a:xfrm>
          <a:prstGeom prst="rect">
            <a:avLst/>
          </a:prstGeom>
          <a:solidFill>
            <a:srgbClr val="C0392B"/>
          </a:solidFill>
          <a:ln/>
        </p:spPr>
      </p:sp>
      <p:sp>
        <p:nvSpPr>
          <p:cNvPr id="29" name="Shape 27"/>
          <p:cNvSpPr/>
          <p:nvPr/>
        </p:nvSpPr>
        <p:spPr>
          <a:xfrm>
            <a:off x="7924602" y="6748272"/>
            <a:ext cx="304792" cy="109728"/>
          </a:xfrm>
          <a:prstGeom prst="rect">
            <a:avLst/>
          </a:prstGeom>
          <a:solidFill>
            <a:srgbClr val="E67E22"/>
          </a:solidFill>
          <a:ln/>
        </p:spPr>
      </p:sp>
      <p:sp>
        <p:nvSpPr>
          <p:cNvPr id="30" name="Shape 28"/>
          <p:cNvSpPr/>
          <p:nvPr/>
        </p:nvSpPr>
        <p:spPr>
          <a:xfrm>
            <a:off x="8229394" y="6748272"/>
            <a:ext cx="304792" cy="109728"/>
          </a:xfrm>
          <a:prstGeom prst="rect">
            <a:avLst/>
          </a:prstGeom>
          <a:solidFill>
            <a:srgbClr val="27AE60"/>
          </a:solidFill>
          <a:ln/>
        </p:spPr>
      </p:sp>
      <p:sp>
        <p:nvSpPr>
          <p:cNvPr id="31" name="Shape 29"/>
          <p:cNvSpPr/>
          <p:nvPr/>
        </p:nvSpPr>
        <p:spPr>
          <a:xfrm>
            <a:off x="8534187" y="6748272"/>
            <a:ext cx="304792" cy="109728"/>
          </a:xfrm>
          <a:prstGeom prst="rect">
            <a:avLst/>
          </a:prstGeom>
          <a:solidFill>
            <a:srgbClr val="1F618D"/>
          </a:solidFill>
          <a:ln/>
        </p:spPr>
      </p:sp>
      <p:sp>
        <p:nvSpPr>
          <p:cNvPr id="32" name="Shape 30"/>
          <p:cNvSpPr/>
          <p:nvPr/>
        </p:nvSpPr>
        <p:spPr>
          <a:xfrm>
            <a:off x="8838979" y="6748272"/>
            <a:ext cx="304792" cy="109728"/>
          </a:xfrm>
          <a:prstGeom prst="rect">
            <a:avLst/>
          </a:prstGeom>
          <a:solidFill>
            <a:srgbClr val="8E44AD"/>
          </a:solidFill>
          <a:ln/>
        </p:spPr>
      </p:sp>
      <p:sp>
        <p:nvSpPr>
          <p:cNvPr id="33" name="Shape 31"/>
          <p:cNvSpPr/>
          <p:nvPr/>
        </p:nvSpPr>
        <p:spPr>
          <a:xfrm>
            <a:off x="9143771" y="6748272"/>
            <a:ext cx="304792" cy="109728"/>
          </a:xfrm>
          <a:prstGeom prst="rect">
            <a:avLst/>
          </a:prstGeom>
          <a:solidFill>
            <a:srgbClr val="C0392B"/>
          </a:solidFill>
          <a:ln/>
        </p:spPr>
      </p:sp>
      <p:sp>
        <p:nvSpPr>
          <p:cNvPr id="34" name="Shape 32"/>
          <p:cNvSpPr/>
          <p:nvPr/>
        </p:nvSpPr>
        <p:spPr>
          <a:xfrm>
            <a:off x="9448564" y="6748272"/>
            <a:ext cx="304792" cy="109728"/>
          </a:xfrm>
          <a:prstGeom prst="rect">
            <a:avLst/>
          </a:prstGeom>
          <a:solidFill>
            <a:srgbClr val="E67E22"/>
          </a:solidFill>
          <a:ln/>
        </p:spPr>
      </p:sp>
      <p:sp>
        <p:nvSpPr>
          <p:cNvPr id="35" name="Shape 33"/>
          <p:cNvSpPr/>
          <p:nvPr/>
        </p:nvSpPr>
        <p:spPr>
          <a:xfrm>
            <a:off x="9753356" y="6748272"/>
            <a:ext cx="304792" cy="109728"/>
          </a:xfrm>
          <a:prstGeom prst="rect">
            <a:avLst/>
          </a:prstGeom>
          <a:solidFill>
            <a:srgbClr val="27AE60"/>
          </a:solidFill>
          <a:ln/>
        </p:spPr>
      </p:sp>
      <p:sp>
        <p:nvSpPr>
          <p:cNvPr id="36" name="Shape 34"/>
          <p:cNvSpPr/>
          <p:nvPr/>
        </p:nvSpPr>
        <p:spPr>
          <a:xfrm>
            <a:off x="10058149" y="6748272"/>
            <a:ext cx="304792" cy="109728"/>
          </a:xfrm>
          <a:prstGeom prst="rect">
            <a:avLst/>
          </a:prstGeom>
          <a:solidFill>
            <a:srgbClr val="1F618D"/>
          </a:solidFill>
          <a:ln/>
        </p:spPr>
      </p:sp>
      <p:sp>
        <p:nvSpPr>
          <p:cNvPr id="37" name="Shape 35"/>
          <p:cNvSpPr/>
          <p:nvPr/>
        </p:nvSpPr>
        <p:spPr>
          <a:xfrm>
            <a:off x="10362941" y="6748272"/>
            <a:ext cx="304792" cy="109728"/>
          </a:xfrm>
          <a:prstGeom prst="rect">
            <a:avLst/>
          </a:prstGeom>
          <a:solidFill>
            <a:srgbClr val="8E44AD"/>
          </a:solidFill>
          <a:ln/>
        </p:spPr>
      </p:sp>
      <p:sp>
        <p:nvSpPr>
          <p:cNvPr id="38" name="Shape 36"/>
          <p:cNvSpPr/>
          <p:nvPr/>
        </p:nvSpPr>
        <p:spPr>
          <a:xfrm>
            <a:off x="10667733" y="6748272"/>
            <a:ext cx="304792" cy="109728"/>
          </a:xfrm>
          <a:prstGeom prst="rect">
            <a:avLst/>
          </a:prstGeom>
          <a:solidFill>
            <a:srgbClr val="C0392B"/>
          </a:solidFill>
          <a:ln/>
        </p:spPr>
      </p:sp>
      <p:sp>
        <p:nvSpPr>
          <p:cNvPr id="39" name="Shape 37"/>
          <p:cNvSpPr/>
          <p:nvPr/>
        </p:nvSpPr>
        <p:spPr>
          <a:xfrm>
            <a:off x="10972526" y="6748272"/>
            <a:ext cx="304792" cy="109728"/>
          </a:xfrm>
          <a:prstGeom prst="rect">
            <a:avLst/>
          </a:prstGeom>
          <a:solidFill>
            <a:srgbClr val="E67E22"/>
          </a:solidFill>
          <a:ln/>
        </p:spPr>
      </p:sp>
      <p:sp>
        <p:nvSpPr>
          <p:cNvPr id="40" name="Shape 38"/>
          <p:cNvSpPr/>
          <p:nvPr/>
        </p:nvSpPr>
        <p:spPr>
          <a:xfrm>
            <a:off x="11277318" y="6748272"/>
            <a:ext cx="304792" cy="109728"/>
          </a:xfrm>
          <a:prstGeom prst="rect">
            <a:avLst/>
          </a:prstGeom>
          <a:solidFill>
            <a:srgbClr val="27AE60"/>
          </a:solidFill>
          <a:ln/>
        </p:spPr>
      </p:sp>
      <p:sp>
        <p:nvSpPr>
          <p:cNvPr id="41" name="Shape 39"/>
          <p:cNvSpPr/>
          <p:nvPr/>
        </p:nvSpPr>
        <p:spPr>
          <a:xfrm>
            <a:off x="11582110" y="6748272"/>
            <a:ext cx="304792" cy="109728"/>
          </a:xfrm>
          <a:prstGeom prst="rect">
            <a:avLst/>
          </a:prstGeom>
          <a:solidFill>
            <a:srgbClr val="1F618D"/>
          </a:solidFill>
          <a:ln/>
        </p:spPr>
      </p:sp>
      <p:sp>
        <p:nvSpPr>
          <p:cNvPr id="42" name="Shape 40"/>
          <p:cNvSpPr/>
          <p:nvPr/>
        </p:nvSpPr>
        <p:spPr>
          <a:xfrm>
            <a:off x="11886903" y="6748272"/>
            <a:ext cx="304792" cy="109728"/>
          </a:xfrm>
          <a:prstGeom prst="rect">
            <a:avLst/>
          </a:prstGeom>
          <a:solidFill>
            <a:srgbClr val="8E44AD"/>
          </a:solidFill>
          <a:ln/>
        </p:spPr>
      </p:sp>
      <p:sp>
        <p:nvSpPr>
          <p:cNvPr id="43" name="Text 41"/>
          <p:cNvSpPr txBox="1"/>
          <p:nvPr/>
        </p:nvSpPr>
        <p:spPr>
          <a:xfrm>
            <a:off x="548640" y="1463040"/>
            <a:ext cx="5394960" cy="4480560"/>
          </a:xfrm>
          <a:prstGeom prst="rect">
            <a:avLst/>
          </a:prstGeom>
          <a:noFill/>
          <a:ln/>
        </p:spPr>
        <p:txBody>
          <a:bodyPr wrap="square" lIns="0" tIns="0" rIns="0" bIns="0" rtlCol="0" anchor="t"/>
          <a:lstStyle/>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In short   3</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The roll   4</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By district   5</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Women   6</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After the draft   7</a:t>
            </a:r>
            <a:endParaRPr lang="en-US" sz="1700" dirty="0"/>
          </a:p>
        </p:txBody>
      </p:sp>
      <p:sp>
        <p:nvSpPr>
          <p:cNvPr id="44" name="Text 42"/>
          <p:cNvSpPr txBox="1"/>
          <p:nvPr/>
        </p:nvSpPr>
        <p:spPr>
          <a:xfrm>
            <a:off x="6217920" y="1463040"/>
            <a:ext cx="5394960" cy="4480560"/>
          </a:xfrm>
          <a:prstGeom prst="rect">
            <a:avLst/>
          </a:prstGeom>
          <a:noFill/>
          <a:ln/>
        </p:spPr>
        <p:txBody>
          <a:bodyPr wrap="square" lIns="0" tIns="0" rIns="0" bIns="0" rtlCol="0" anchor="t"/>
          <a:lstStyle/>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The 2026 election   8–10</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Limits   11</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What the Election Commission should do   12</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Method   13–14</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0E5E6F"/>
                </a:solidFill>
                <a:latin typeface="Calibri" pitchFamily="34" charset="0"/>
                <a:ea typeface="Calibri" pitchFamily="34" charset="-122"/>
                <a:cs typeface="Calibri" pitchFamily="34" charset="-120"/>
              </a:rPr>
              <a:t>IN SHORT</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0B4A57"/>
                </a:solidFill>
                <a:latin typeface="Cambria" pitchFamily="34" charset="0"/>
                <a:ea typeface="Cambria" pitchFamily="34" charset="-122"/>
                <a:cs typeface="Cambria" pitchFamily="34" charset="-120"/>
              </a:rPr>
              <a:t>The draft roll was 8.5 per 100 smaller, and women were 55.3% of the fall</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Five findings, each computed from the published rolls</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Kerala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Text 45"/>
          <p:cNvSpPr txBox="1"/>
          <p:nvPr/>
        </p:nvSpPr>
        <p:spPr>
          <a:xfrm>
            <a:off x="548640" y="1737360"/>
            <a:ext cx="11094415" cy="379476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600" dirty="0">
                <a:solidFill>
                  <a:srgbClr val="1C2833"/>
                </a:solidFill>
                <a:latin typeface="Calibri" pitchFamily="34" charset="0"/>
                <a:ea typeface="Calibri" pitchFamily="34" charset="-122"/>
                <a:cs typeface="Calibri" pitchFamily="34" charset="-120"/>
              </a:rPr>
              <a:t>Kerala's draft roll was 23.7 lakh smaller than its roll of January 2025, 8.5 of every 100 electors.</a:t>
            </a:r>
            <a:endParaRPr lang="en-US" sz="1600" dirty="0"/>
          </a:p>
          <a:p>
            <a:pPr marL="342900" indent="-342900">
              <a:spcAft>
                <a:spcPts val="1000"/>
              </a:spcAft>
              <a:buSzPct val="100000"/>
              <a:buFont typeface="+mj-lt"/>
              <a:buAutoNum type="arabicPeriod" startAt="1"/>
            </a:pPr>
            <a:r>
              <a:rPr lang="en-US" sz="1600" dirty="0">
                <a:solidFill>
                  <a:srgbClr val="1C2833"/>
                </a:solidFill>
                <a:latin typeface="Calibri" pitchFamily="34" charset="0"/>
                <a:ea typeface="Calibri" pitchFamily="34" charset="-122"/>
                <a:cs typeface="Calibri" pitchFamily="34" charset="-120"/>
              </a:rPr>
              <a:t>In 74 of the 140 constituencies the roll fell by more at the draft than the 2026 margin. On the roll the election was held on, it was still more than the margin in 38, large enough to decide them.</a:t>
            </a:r>
            <a:endParaRPr lang="en-US" sz="1600" dirty="0"/>
          </a:p>
          <a:p>
            <a:pPr marL="342900" indent="-342900">
              <a:spcAft>
                <a:spcPts val="1000"/>
              </a:spcAft>
              <a:buSzPct val="100000"/>
              <a:buFont typeface="+mj-lt"/>
              <a:buAutoNum type="arabicPeriod" startAt="1"/>
            </a:pPr>
            <a:r>
              <a:rPr lang="en-US" sz="1600" dirty="0">
                <a:solidFill>
                  <a:srgbClr val="1C2833"/>
                </a:solidFill>
                <a:latin typeface="Calibri" pitchFamily="34" charset="0"/>
                <a:ea typeface="Calibri" pitchFamily="34" charset="-122"/>
                <a:cs typeface="Calibri" pitchFamily="34" charset="-120"/>
              </a:rPr>
              <a:t>Women were 55.3% of the fall, against 51.7% of the roll, and more than their share in all 14 districts.</a:t>
            </a:r>
            <a:endParaRPr lang="en-US" sz="1600" dirty="0"/>
          </a:p>
          <a:p>
            <a:pPr marL="342900" indent="-342900">
              <a:spcAft>
                <a:spcPts val="1000"/>
              </a:spcAft>
              <a:buSzPct val="100000"/>
              <a:buFont typeface="+mj-lt"/>
              <a:buAutoNum type="arabicPeriod" startAt="1"/>
            </a:pPr>
            <a:r>
              <a:rPr lang="en-US" sz="1600" dirty="0">
                <a:solidFill>
                  <a:srgbClr val="1C2833"/>
                </a:solidFill>
                <a:latin typeface="Calibri" pitchFamily="34" charset="0"/>
                <a:ea typeface="Calibri" pitchFamily="34" charset="-122"/>
                <a:cs typeface="Calibri" pitchFamily="34" charset="-120"/>
              </a:rPr>
              <a:t>Thiruvananthapuram fell most, by 14.0 per 100, and Kannur least, by 4.7.</a:t>
            </a:r>
            <a:endParaRPr lang="en-US" sz="1600" dirty="0"/>
          </a:p>
          <a:p>
            <a:pPr marL="342900" indent="-342900">
              <a:spcAft>
                <a:spcPts val="1000"/>
              </a:spcAft>
              <a:buSzPct val="100000"/>
              <a:buFont typeface="+mj-lt"/>
              <a:buAutoNum type="arabicPeriod" startAt="1"/>
            </a:pPr>
            <a:r>
              <a:rPr lang="en-US" sz="1600" dirty="0">
                <a:solidFill>
                  <a:srgbClr val="1C2833"/>
                </a:solidFill>
                <a:latin typeface="Calibri" pitchFamily="34" charset="0"/>
                <a:ea typeface="Calibri" pitchFamily="34" charset="-122"/>
                <a:cs typeface="Calibri" pitchFamily="34" charset="-120"/>
              </a:rPr>
              <a:t>By the election the roll had risen 17.0 lakh from the draft, counting new voters too, and it was 6.7 lakh smaller than in January 2025.</a:t>
            </a:r>
            <a:endParaRPr lang="en-US" sz="1600" dirty="0"/>
          </a:p>
        </p:txBody>
      </p:sp>
      <p:sp>
        <p:nvSpPr>
          <p:cNvPr id="48" name="Text 46"/>
          <p:cNvSpPr txBox="1"/>
          <p:nvPr/>
        </p:nvSpPr>
        <p:spPr>
          <a:xfrm>
            <a:off x="548640" y="5806440"/>
            <a:ext cx="11094415" cy="457200"/>
          </a:xfrm>
          <a:prstGeom prst="rect">
            <a:avLst/>
          </a:prstGeom>
          <a:noFill/>
          <a:ln/>
        </p:spPr>
        <p:txBody>
          <a:bodyPr wrap="square" lIns="0" tIns="0" rIns="0" bIns="0" rtlCol="0" anchor="t">
            <a:normAutofit/>
          </a:bodyPr>
          <a:lstStyle/>
          <a:p>
            <a:pPr indent="0" marL="0">
              <a:spcAft>
                <a:spcPts val="800"/>
              </a:spcAft>
              <a:buNone/>
            </a:pPr>
            <a:r>
              <a:rPr lang="en-US" sz="1200" dirty="0">
                <a:solidFill>
                  <a:srgbClr val="4D5B69"/>
                </a:solidFill>
                <a:latin typeface="Calibri" pitchFamily="34" charset="0"/>
                <a:ea typeface="Calibri" pitchFamily="34" charset="-122"/>
                <a:cs typeface="Calibri" pitchFamily="34" charset="-120"/>
              </a:rPr>
              <a:t>No count of the names removed has been published, so these are falls in the roll, which take in ordinary changes too.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0E5E6F"/>
                </a:solidFill>
                <a:latin typeface="Calibri" pitchFamily="34" charset="0"/>
                <a:ea typeface="Calibri" pitchFamily="34" charset="-122"/>
                <a:cs typeface="Calibri" pitchFamily="34" charset="-120"/>
              </a:rPr>
              <a:t>THE ROLL</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0B4A57"/>
                </a:solidFill>
                <a:latin typeface="Cambria" pitchFamily="34" charset="0"/>
                <a:ea typeface="Cambria" pitchFamily="34" charset="-122"/>
                <a:cs typeface="Cambria" pitchFamily="34" charset="-120"/>
              </a:rPr>
              <a:t>The roll fell from 2.78 crore to 2.54 crore at the draft, and stood at 2.71 crore for the election</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The state's roll from January 2025 to the roll of 23 March 2026</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Kerala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Shape 45"/>
          <p:cNvSpPr/>
          <p:nvPr/>
        </p:nvSpPr>
        <p:spPr>
          <a:xfrm>
            <a:off x="786377" y="2563777"/>
            <a:ext cx="1109442" cy="3014063"/>
          </a:xfrm>
          <a:prstGeom prst="rect">
            <a:avLst/>
          </a:prstGeom>
          <a:solidFill>
            <a:srgbClr val="1F618D"/>
          </a:solidFill>
          <a:ln/>
        </p:spPr>
      </p:sp>
      <p:sp>
        <p:nvSpPr>
          <p:cNvPr id="48" name="Text 46"/>
          <p:cNvSpPr txBox="1"/>
          <p:nvPr/>
        </p:nvSpPr>
        <p:spPr>
          <a:xfrm>
            <a:off x="548640" y="2289457"/>
            <a:ext cx="1584916"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2,78,10,942</a:t>
            </a:r>
            <a:endParaRPr lang="en-US" sz="1000" dirty="0"/>
          </a:p>
        </p:txBody>
      </p:sp>
      <p:sp>
        <p:nvSpPr>
          <p:cNvPr id="49" name="Text 47"/>
          <p:cNvSpPr txBox="1"/>
          <p:nvPr/>
        </p:nvSpPr>
        <p:spPr>
          <a:xfrm>
            <a:off x="548640" y="5577840"/>
            <a:ext cx="1584916"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Roll of January 2025</a:t>
            </a:r>
            <a:endParaRPr lang="en-US" sz="1000" dirty="0"/>
          </a:p>
        </p:txBody>
      </p:sp>
      <p:sp>
        <p:nvSpPr>
          <p:cNvPr id="50" name="Shape 48"/>
          <p:cNvSpPr/>
          <p:nvPr/>
        </p:nvSpPr>
        <p:spPr>
          <a:xfrm>
            <a:off x="2371294" y="2563777"/>
            <a:ext cx="1109442" cy="1048178"/>
          </a:xfrm>
          <a:prstGeom prst="rect">
            <a:avLst/>
          </a:prstGeom>
          <a:solidFill>
            <a:srgbClr val="C0392B"/>
          </a:solidFill>
          <a:ln/>
        </p:spPr>
      </p:sp>
      <p:sp>
        <p:nvSpPr>
          <p:cNvPr id="51" name="Text 49"/>
          <p:cNvSpPr txBox="1"/>
          <p:nvPr/>
        </p:nvSpPr>
        <p:spPr>
          <a:xfrm>
            <a:off x="2133556" y="2289457"/>
            <a:ext cx="1584916"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−23,68,590</a:t>
            </a:r>
            <a:endParaRPr lang="en-US" sz="1000" dirty="0"/>
          </a:p>
        </p:txBody>
      </p:sp>
      <p:sp>
        <p:nvSpPr>
          <p:cNvPr id="52" name="Text 50"/>
          <p:cNvSpPr txBox="1"/>
          <p:nvPr/>
        </p:nvSpPr>
        <p:spPr>
          <a:xfrm>
            <a:off x="2133556" y="5577840"/>
            <a:ext cx="1584916"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Fall to the draft</a:t>
            </a:r>
            <a:endParaRPr lang="en-US" sz="1000" dirty="0"/>
          </a:p>
        </p:txBody>
      </p:sp>
      <p:sp>
        <p:nvSpPr>
          <p:cNvPr id="53" name="Shape 51"/>
          <p:cNvSpPr/>
          <p:nvPr/>
        </p:nvSpPr>
        <p:spPr>
          <a:xfrm>
            <a:off x="3956210" y="3611955"/>
            <a:ext cx="1109442" cy="1965885"/>
          </a:xfrm>
          <a:prstGeom prst="rect">
            <a:avLst/>
          </a:prstGeom>
          <a:solidFill>
            <a:srgbClr val="1F618D"/>
          </a:solidFill>
          <a:ln/>
        </p:spPr>
      </p:sp>
      <p:sp>
        <p:nvSpPr>
          <p:cNvPr id="54" name="Text 52"/>
          <p:cNvSpPr txBox="1"/>
          <p:nvPr/>
        </p:nvSpPr>
        <p:spPr>
          <a:xfrm>
            <a:off x="3718473" y="3337635"/>
            <a:ext cx="1584916"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2,54,42,352</a:t>
            </a:r>
            <a:endParaRPr lang="en-US" sz="1000" dirty="0"/>
          </a:p>
        </p:txBody>
      </p:sp>
      <p:sp>
        <p:nvSpPr>
          <p:cNvPr id="55" name="Text 53"/>
          <p:cNvSpPr txBox="1"/>
          <p:nvPr/>
        </p:nvSpPr>
        <p:spPr>
          <a:xfrm>
            <a:off x="3718473" y="5577840"/>
            <a:ext cx="1584916"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Draft roll</a:t>
            </a:r>
            <a:endParaRPr lang="en-US" sz="1000" dirty="0"/>
          </a:p>
        </p:txBody>
      </p:sp>
      <p:sp>
        <p:nvSpPr>
          <p:cNvPr id="56" name="Shape 54"/>
          <p:cNvSpPr/>
          <p:nvPr/>
        </p:nvSpPr>
        <p:spPr>
          <a:xfrm>
            <a:off x="5541127" y="2943159"/>
            <a:ext cx="1109442" cy="668796"/>
          </a:xfrm>
          <a:prstGeom prst="rect">
            <a:avLst/>
          </a:prstGeom>
          <a:solidFill>
            <a:srgbClr val="17A589"/>
          </a:solidFill>
          <a:ln/>
        </p:spPr>
      </p:sp>
      <p:sp>
        <p:nvSpPr>
          <p:cNvPr id="57" name="Text 55"/>
          <p:cNvSpPr txBox="1"/>
          <p:nvPr/>
        </p:nvSpPr>
        <p:spPr>
          <a:xfrm>
            <a:off x="5303389" y="2668839"/>
            <a:ext cx="1584916"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+15,11,292</a:t>
            </a:r>
            <a:endParaRPr lang="en-US" sz="1000" dirty="0"/>
          </a:p>
        </p:txBody>
      </p:sp>
      <p:sp>
        <p:nvSpPr>
          <p:cNvPr id="58" name="Text 56"/>
          <p:cNvSpPr txBox="1"/>
          <p:nvPr/>
        </p:nvSpPr>
        <p:spPr>
          <a:xfrm>
            <a:off x="5303389" y="5577840"/>
            <a:ext cx="1584916"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Net change to the final roll</a:t>
            </a:r>
            <a:endParaRPr lang="en-US" sz="1000" dirty="0"/>
          </a:p>
        </p:txBody>
      </p:sp>
      <p:sp>
        <p:nvSpPr>
          <p:cNvPr id="59" name="Shape 57"/>
          <p:cNvSpPr/>
          <p:nvPr/>
        </p:nvSpPr>
        <p:spPr>
          <a:xfrm>
            <a:off x="7126043" y="2943159"/>
            <a:ext cx="1109442" cy="2634681"/>
          </a:xfrm>
          <a:prstGeom prst="rect">
            <a:avLst/>
          </a:prstGeom>
          <a:solidFill>
            <a:srgbClr val="1F618D"/>
          </a:solidFill>
          <a:ln/>
        </p:spPr>
      </p:sp>
      <p:sp>
        <p:nvSpPr>
          <p:cNvPr id="60" name="Text 58"/>
          <p:cNvSpPr txBox="1"/>
          <p:nvPr/>
        </p:nvSpPr>
        <p:spPr>
          <a:xfrm>
            <a:off x="6888306" y="2668839"/>
            <a:ext cx="1584916"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2,69,53,644</a:t>
            </a:r>
            <a:endParaRPr lang="en-US" sz="1000" dirty="0"/>
          </a:p>
        </p:txBody>
      </p:sp>
      <p:sp>
        <p:nvSpPr>
          <p:cNvPr id="61" name="Text 59"/>
          <p:cNvSpPr txBox="1"/>
          <p:nvPr/>
        </p:nvSpPr>
        <p:spPr>
          <a:xfrm>
            <a:off x="6888306" y="5577840"/>
            <a:ext cx="1584916"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Final roll</a:t>
            </a:r>
            <a:endParaRPr lang="en-US" sz="1000" dirty="0"/>
          </a:p>
        </p:txBody>
      </p:sp>
      <p:sp>
        <p:nvSpPr>
          <p:cNvPr id="62" name="Shape 60"/>
          <p:cNvSpPr/>
          <p:nvPr/>
        </p:nvSpPr>
        <p:spPr>
          <a:xfrm>
            <a:off x="8710960" y="2859385"/>
            <a:ext cx="1109442" cy="83775"/>
          </a:xfrm>
          <a:prstGeom prst="rect">
            <a:avLst/>
          </a:prstGeom>
          <a:solidFill>
            <a:srgbClr val="17A589"/>
          </a:solidFill>
          <a:ln/>
        </p:spPr>
      </p:sp>
      <p:sp>
        <p:nvSpPr>
          <p:cNvPr id="63" name="Text 61"/>
          <p:cNvSpPr txBox="1"/>
          <p:nvPr/>
        </p:nvSpPr>
        <p:spPr>
          <a:xfrm>
            <a:off x="8473222" y="2585065"/>
            <a:ext cx="1584916"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+1,89,308</a:t>
            </a:r>
            <a:endParaRPr lang="en-US" sz="1000" dirty="0"/>
          </a:p>
        </p:txBody>
      </p:sp>
      <p:sp>
        <p:nvSpPr>
          <p:cNvPr id="64" name="Text 62"/>
          <p:cNvSpPr txBox="1"/>
          <p:nvPr/>
        </p:nvSpPr>
        <p:spPr>
          <a:xfrm>
            <a:off x="8473222" y="5577840"/>
            <a:ext cx="1584916"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Net change to March 2026</a:t>
            </a:r>
            <a:endParaRPr lang="en-US" sz="1000" dirty="0"/>
          </a:p>
        </p:txBody>
      </p:sp>
      <p:sp>
        <p:nvSpPr>
          <p:cNvPr id="65" name="Shape 63"/>
          <p:cNvSpPr/>
          <p:nvPr/>
        </p:nvSpPr>
        <p:spPr>
          <a:xfrm>
            <a:off x="10295876" y="2859385"/>
            <a:ext cx="1109442" cy="2718455"/>
          </a:xfrm>
          <a:prstGeom prst="rect">
            <a:avLst/>
          </a:prstGeom>
          <a:solidFill>
            <a:srgbClr val="1F618D"/>
          </a:solidFill>
          <a:ln/>
        </p:spPr>
      </p:sp>
      <p:sp>
        <p:nvSpPr>
          <p:cNvPr id="66" name="Text 64"/>
          <p:cNvSpPr txBox="1"/>
          <p:nvPr/>
        </p:nvSpPr>
        <p:spPr>
          <a:xfrm>
            <a:off x="10058139" y="2585065"/>
            <a:ext cx="1584916"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2,71,42,952</a:t>
            </a:r>
            <a:endParaRPr lang="en-US" sz="1000" dirty="0"/>
          </a:p>
        </p:txBody>
      </p:sp>
      <p:sp>
        <p:nvSpPr>
          <p:cNvPr id="67" name="Text 65"/>
          <p:cNvSpPr txBox="1"/>
          <p:nvPr/>
        </p:nvSpPr>
        <p:spPr>
          <a:xfrm>
            <a:off x="10058139" y="5577840"/>
            <a:ext cx="1584916"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Roll of 23 March 2026</a:t>
            </a:r>
            <a:endParaRPr lang="en-US" sz="1000" dirty="0"/>
          </a:p>
        </p:txBody>
      </p:sp>
      <p:sp>
        <p:nvSpPr>
          <p:cNvPr id="68" name="Shape 66"/>
          <p:cNvSpPr/>
          <p:nvPr/>
        </p:nvSpPr>
        <p:spPr>
          <a:xfrm>
            <a:off x="548640" y="5559552"/>
            <a:ext cx="11094415" cy="0"/>
          </a:xfrm>
          <a:prstGeom prst="line">
            <a:avLst/>
          </a:prstGeom>
          <a:noFill/>
          <a:ln w="9525">
            <a:solidFill>
              <a:srgbClr val="95A5A6"/>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0E5E6F"/>
                </a:solidFill>
                <a:latin typeface="Calibri" pitchFamily="34" charset="0"/>
                <a:ea typeface="Calibri" pitchFamily="34" charset="-122"/>
                <a:cs typeface="Calibri" pitchFamily="34" charset="-120"/>
              </a:rPr>
              <a:t>BY DISTRICT</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0B4A57"/>
                </a:solidFill>
                <a:latin typeface="Cambria" pitchFamily="34" charset="0"/>
                <a:ea typeface="Cambria" pitchFamily="34" charset="-122"/>
                <a:cs typeface="Cambria" pitchFamily="34" charset="-120"/>
              </a:rPr>
              <a:t>Thiruvananthapuram's roll was 14.0 per 100 smaller at the draft, against 8.5 for the state</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Fall in the roll from January 2025 to the draft, per 100 electors, by district</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Kerala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Idukki and Ernakulam come next.</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By constituency the fall runs from 2.5 in Nilambur to 26.1 in Thiruvananthapuram.</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No reasons have been published, by constituency or for the state, so none of these can be split by reason.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0E5E6F"/>
                </a:solidFill>
                <a:latin typeface="Calibri" pitchFamily="34" charset="0"/>
                <a:ea typeface="Calibri" pitchFamily="34" charset="-122"/>
                <a:cs typeface="Calibri" pitchFamily="34" charset="-120"/>
              </a:rPr>
              <a:t>WOMEN</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0B4A57"/>
                </a:solidFill>
                <a:latin typeface="Cambria" pitchFamily="34" charset="0"/>
                <a:ea typeface="Cambria" pitchFamily="34" charset="-122"/>
                <a:cs typeface="Cambria" pitchFamily="34" charset="-120"/>
              </a:rPr>
              <a:t>Women were more than their share of the fall in all 14 districts and 131 of 140 constituencies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Women's share of the January 2025 roll and of the fall at the draft, by district</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Kerala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For the state women were 55.3% of the fall, against 51.7% of the roll.</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Of the rise after the draft, women were 50.8%.</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0E5E6F"/>
                </a:solidFill>
                <a:latin typeface="Calibri" pitchFamily="34" charset="0"/>
                <a:ea typeface="Calibri" pitchFamily="34" charset="-122"/>
                <a:cs typeface="Calibri" pitchFamily="34" charset="-120"/>
              </a:rPr>
              <a:t>AFTER THE DRAFT</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0B4A57"/>
                </a:solidFill>
                <a:latin typeface="Cambria" pitchFamily="34" charset="0"/>
                <a:ea typeface="Cambria" pitchFamily="34" charset="-122"/>
                <a:cs typeface="Cambria" pitchFamily="34" charset="-120"/>
              </a:rPr>
              <a:t>By the election the roll was still 6.7 lakh smaller than in January 2025, and 5 districts had grown past it</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Per 100 electors on the January 2025 roll, the fall at the draft, at the final roll and on the roll of March 2026</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Kerala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A negative figure means the roll was larger than in January 2025.</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Kozhikode, Wayanad, Kasaragod, Malappuram and Kannur ended above their January roll.</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The rise counts new voters, including those who turned eighteen and those registered abroad, so it cannot show how many of those left off were restored.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0E5E6F"/>
                </a:solidFill>
                <a:latin typeface="Calibri" pitchFamily="34" charset="0"/>
                <a:ea typeface="Calibri" pitchFamily="34" charset="-122"/>
                <a:cs typeface="Calibri" pitchFamily="34" charset="-120"/>
              </a:rPr>
              <a:t>THE 2026 ELECTION</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0B4A57"/>
                </a:solidFill>
                <a:latin typeface="Cambria" pitchFamily="34" charset="0"/>
                <a:ea typeface="Cambria" pitchFamily="34" charset="-122"/>
                <a:cs typeface="Cambria" pitchFamily="34" charset="-120"/>
              </a:rPr>
              <a:t>In 74 of 140 constituencies, the roll fell by more at the draft than the 2026 winning margin</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Seats by the fall in the roll at the draft as a multiple of the 2026 margin</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Kerala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The fall and the margin as a share of votes are close to unrelated (rank correlation -0.15).</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By the election most of the fall had been made up, so the count on the roll the election was held on is smaller.</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0E5E6F"/>
                </a:solidFill>
                <a:latin typeface="Calibri" pitchFamily="34" charset="0"/>
                <a:ea typeface="Calibri" pitchFamily="34" charset="-122"/>
                <a:cs typeface="Calibri" pitchFamily="34" charset="-120"/>
              </a:rPr>
              <a:t>THE 2026 ELECTION</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0B4A57"/>
                </a:solidFill>
                <a:latin typeface="Cambria" pitchFamily="34" charset="0"/>
                <a:ea typeface="Cambria" pitchFamily="34" charset="-122"/>
                <a:cs typeface="Cambria" pitchFamily="34" charset="-120"/>
              </a:rPr>
              <a:t>On the roll the election was held on, the fall still exceeded the margin in 38 seats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Three ways of setting the fall in the roll against the margin</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Kerala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Shape 45"/>
          <p:cNvSpPr/>
          <p:nvPr/>
        </p:nvSpPr>
        <p:spPr>
          <a:xfrm>
            <a:off x="548640" y="1920240"/>
            <a:ext cx="3545738" cy="1737360"/>
          </a:xfrm>
          <a:prstGeom prst="roundRect">
            <a:avLst>
              <a:gd name="adj" fmla="val 4211"/>
            </a:avLst>
          </a:prstGeom>
          <a:solidFill>
            <a:srgbClr val="F4F6F7"/>
          </a:solidFill>
          <a:ln/>
        </p:spPr>
      </p:sp>
      <p:sp>
        <p:nvSpPr>
          <p:cNvPr id="48" name="Text 46"/>
          <p:cNvSpPr txBox="1"/>
          <p:nvPr/>
        </p:nvSpPr>
        <p:spPr>
          <a:xfrm>
            <a:off x="731520" y="2029968"/>
            <a:ext cx="3179978" cy="833933"/>
          </a:xfrm>
          <a:prstGeom prst="rect">
            <a:avLst/>
          </a:prstGeom>
          <a:noFill/>
          <a:ln/>
        </p:spPr>
        <p:txBody>
          <a:bodyPr wrap="square" lIns="0" tIns="0" rIns="0" bIns="0" rtlCol="0" anchor="b">
            <a:normAutofit/>
          </a:bodyPr>
          <a:lstStyle/>
          <a:p>
            <a:pPr indent="0" marL="0">
              <a:buNone/>
            </a:pPr>
            <a:r>
              <a:rPr lang="en-US" sz="2800" b="1" dirty="0">
                <a:solidFill>
                  <a:srgbClr val="0E5E6F"/>
                </a:solidFill>
                <a:latin typeface="Cambria" pitchFamily="34" charset="0"/>
                <a:ea typeface="Cambria" pitchFamily="34" charset="-122"/>
                <a:cs typeface="Cambria" pitchFamily="34" charset="-120"/>
              </a:rPr>
              <a:t>74 of 140</a:t>
            </a:r>
            <a:endParaRPr lang="en-US" sz="2800" dirty="0"/>
          </a:p>
        </p:txBody>
      </p:sp>
      <p:sp>
        <p:nvSpPr>
          <p:cNvPr id="49" name="Text 47"/>
          <p:cNvSpPr txBox="1"/>
          <p:nvPr/>
        </p:nvSpPr>
        <p:spPr>
          <a:xfrm>
            <a:off x="731520" y="2882189"/>
            <a:ext cx="3179978"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fall to the draft roll</a:t>
            </a:r>
            <a:endParaRPr lang="en-US" sz="1200" dirty="0"/>
          </a:p>
        </p:txBody>
      </p:sp>
      <p:sp>
        <p:nvSpPr>
          <p:cNvPr id="50" name="Shape 48"/>
          <p:cNvSpPr/>
          <p:nvPr/>
        </p:nvSpPr>
        <p:spPr>
          <a:xfrm>
            <a:off x="4322978" y="1920240"/>
            <a:ext cx="3545738" cy="1737360"/>
          </a:xfrm>
          <a:prstGeom prst="roundRect">
            <a:avLst>
              <a:gd name="adj" fmla="val 4211"/>
            </a:avLst>
          </a:prstGeom>
          <a:solidFill>
            <a:srgbClr val="F4F6F7"/>
          </a:solidFill>
          <a:ln/>
        </p:spPr>
      </p:sp>
      <p:sp>
        <p:nvSpPr>
          <p:cNvPr id="51" name="Text 49"/>
          <p:cNvSpPr txBox="1"/>
          <p:nvPr/>
        </p:nvSpPr>
        <p:spPr>
          <a:xfrm>
            <a:off x="4505858" y="2029968"/>
            <a:ext cx="3179978" cy="833933"/>
          </a:xfrm>
          <a:prstGeom prst="rect">
            <a:avLst/>
          </a:prstGeom>
          <a:noFill/>
          <a:ln/>
        </p:spPr>
        <p:txBody>
          <a:bodyPr wrap="square" lIns="0" tIns="0" rIns="0" bIns="0" rtlCol="0" anchor="b">
            <a:normAutofit/>
          </a:bodyPr>
          <a:lstStyle/>
          <a:p>
            <a:pPr indent="0" marL="0">
              <a:buNone/>
            </a:pPr>
            <a:r>
              <a:rPr lang="en-US" sz="2800" b="1" dirty="0">
                <a:solidFill>
                  <a:srgbClr val="0E5E6F"/>
                </a:solidFill>
                <a:latin typeface="Cambria" pitchFamily="34" charset="0"/>
                <a:ea typeface="Cambria" pitchFamily="34" charset="-122"/>
                <a:cs typeface="Cambria" pitchFamily="34" charset="-120"/>
              </a:rPr>
              <a:t>38 of 140</a:t>
            </a:r>
            <a:endParaRPr lang="en-US" sz="2800" dirty="0"/>
          </a:p>
        </p:txBody>
      </p:sp>
      <p:sp>
        <p:nvSpPr>
          <p:cNvPr id="52" name="Text 50"/>
          <p:cNvSpPr txBox="1"/>
          <p:nvPr/>
        </p:nvSpPr>
        <p:spPr>
          <a:xfrm>
            <a:off x="4505858" y="2882189"/>
            <a:ext cx="3179978"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fall to the roll the election was held on</a:t>
            </a:r>
            <a:endParaRPr lang="en-US" sz="1200" dirty="0"/>
          </a:p>
        </p:txBody>
      </p:sp>
      <p:sp>
        <p:nvSpPr>
          <p:cNvPr id="53" name="Shape 51"/>
          <p:cNvSpPr/>
          <p:nvPr/>
        </p:nvSpPr>
        <p:spPr>
          <a:xfrm>
            <a:off x="8097317" y="1920240"/>
            <a:ext cx="3545738" cy="1737360"/>
          </a:xfrm>
          <a:prstGeom prst="roundRect">
            <a:avLst>
              <a:gd name="adj" fmla="val 4211"/>
            </a:avLst>
          </a:prstGeom>
          <a:solidFill>
            <a:srgbClr val="F4F6F7"/>
          </a:solidFill>
          <a:ln/>
        </p:spPr>
      </p:sp>
      <p:sp>
        <p:nvSpPr>
          <p:cNvPr id="54" name="Text 52"/>
          <p:cNvSpPr txBox="1"/>
          <p:nvPr/>
        </p:nvSpPr>
        <p:spPr>
          <a:xfrm>
            <a:off x="8280197" y="2029968"/>
            <a:ext cx="3179978" cy="833933"/>
          </a:xfrm>
          <a:prstGeom prst="rect">
            <a:avLst/>
          </a:prstGeom>
          <a:noFill/>
          <a:ln/>
        </p:spPr>
        <p:txBody>
          <a:bodyPr wrap="square" lIns="0" tIns="0" rIns="0" bIns="0" rtlCol="0" anchor="b">
            <a:normAutofit/>
          </a:bodyPr>
          <a:lstStyle/>
          <a:p>
            <a:pPr indent="0" marL="0">
              <a:buNone/>
            </a:pPr>
            <a:r>
              <a:rPr lang="en-US" sz="2800" b="1" dirty="0">
                <a:solidFill>
                  <a:srgbClr val="0E5E6F"/>
                </a:solidFill>
                <a:latin typeface="Cambria" pitchFamily="34" charset="0"/>
                <a:ea typeface="Cambria" pitchFamily="34" charset="-122"/>
                <a:cs typeface="Cambria" pitchFamily="34" charset="-120"/>
              </a:rPr>
              <a:t>30 of 140</a:t>
            </a:r>
            <a:endParaRPr lang="en-US" sz="2800" dirty="0"/>
          </a:p>
        </p:txBody>
      </p:sp>
      <p:sp>
        <p:nvSpPr>
          <p:cNvPr id="55" name="Text 53"/>
          <p:cNvSpPr txBox="1"/>
          <p:nvPr/>
        </p:nvSpPr>
        <p:spPr>
          <a:xfrm>
            <a:off x="8280197" y="2882189"/>
            <a:ext cx="3179978"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the same, at the seat's 2026 turnout</a:t>
            </a:r>
            <a:endParaRPr lang="en-US" sz="1200" dirty="0"/>
          </a:p>
        </p:txBody>
      </p:sp>
      <p:sp>
        <p:nvSpPr>
          <p:cNvPr id="56" name="Text 54"/>
          <p:cNvSpPr txBox="1"/>
          <p:nvPr/>
        </p:nvSpPr>
        <p:spPr>
          <a:xfrm>
            <a:off x="548640" y="4023360"/>
            <a:ext cx="11094415" cy="182880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In those seats the fall was large enough to decide the result. The rise after the draft counts new voters too, and nobody can know how anyone missing from the roll would have voted.</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0E5E6F"/>
                </a:solidFill>
                <a:latin typeface="Calibri" pitchFamily="34" charset="0"/>
                <a:ea typeface="Calibri" pitchFamily="34" charset="-122"/>
                <a:cs typeface="Calibri" pitchFamily="34" charset="-120"/>
              </a:rPr>
              <a:t>THE 2026 ELECTION</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0B4A57"/>
                </a:solidFill>
                <a:latin typeface="Cambria" pitchFamily="34" charset="0"/>
                <a:ea typeface="Cambria" pitchFamily="34" charset="-122"/>
                <a:cs typeface="Cambria" pitchFamily="34" charset="-120"/>
              </a:rPr>
              <a:t>INC seats lost 9.4 per 100 at the draft and CPI(M) seats 7.8, and against their own districts they differ by 1.4 points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Fall at the draft per 100 in the seats each party won, and against the fall of each seat's own district</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Kerala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949440" cy="914400"/>
        </p:xfrm>
        <a:graphic>
          <a:graphicData uri="http://schemas.openxmlformats.org/drawingml/2006/table">
            <a:tbl>
              <a:tblPr/>
              <a:tblGrid>
                <a:gridCol w="1828800"/>
                <a:gridCol w="914400"/>
                <a:gridCol w="1463040"/>
                <a:gridCol w="1463040"/>
                <a:gridCol w="1280160"/>
              </a:tblGrid>
              <a:tr h="25603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Party that won</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0B4A57"/>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Seats</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0B4A57"/>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Fall per 100 at the draft</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0B4A57"/>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Against own district</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0B4A57"/>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Over the margin</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0B4A5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INC</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63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9.4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CPI(M)</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7.8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IUML</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5.5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CPI</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8.5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KEC</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9.1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IND</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6.3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BJP</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17.0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RSP</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7.2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CMP</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26.1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+12.1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KEC(J)</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10.3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RJD</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RMPI</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6.2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bl>
          </a:graphicData>
        </a:graphic>
      </p:graphicFrame>
      <p:sp>
        <p:nvSpPr>
          <p:cNvPr id="49"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The INC won 63 seats, the CPI(M) 26 and the IUML 22.</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Against their own districts they come out at +0.4, -1.0 and -0.3, so most of the difference is about where the seats are.</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Comparisons are by party, because the fronts of the independents are not in the data.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0E5E6F"/>
                </a:solidFill>
                <a:latin typeface="Calibri" pitchFamily="34" charset="0"/>
                <a:ea typeface="Calibri" pitchFamily="34" charset="-122"/>
                <a:cs typeface="Calibri" pitchFamily="34" charset="-120"/>
              </a:rPr>
              <a:t>LIMITS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0B4A57"/>
                </a:solidFill>
                <a:latin typeface="Cambria" pitchFamily="34" charset="0"/>
                <a:ea typeface="Cambria" pitchFamily="34" charset="-122"/>
                <a:cs typeface="Cambria" pitchFamily="34" charset="-120"/>
              </a:rPr>
              <a:t>What the rolls show, and what they cannot show</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Kerala SIR 2026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Shape 44"/>
          <p:cNvSpPr/>
          <p:nvPr/>
        </p:nvSpPr>
        <p:spPr>
          <a:xfrm>
            <a:off x="548640" y="1554480"/>
            <a:ext cx="5440680" cy="2103120"/>
          </a:xfrm>
          <a:prstGeom prst="roundRect">
            <a:avLst>
              <a:gd name="adj" fmla="val 4348"/>
            </a:avLst>
          </a:prstGeom>
          <a:solidFill>
            <a:srgbClr val="E8F3F5"/>
          </a:solidFill>
          <a:ln/>
        </p:spPr>
      </p:sp>
      <p:sp>
        <p:nvSpPr>
          <p:cNvPr id="47" name="Text 45"/>
          <p:cNvSpPr txBox="1"/>
          <p:nvPr/>
        </p:nvSpPr>
        <p:spPr>
          <a:xfrm>
            <a:off x="777240" y="1719072"/>
            <a:ext cx="4983480" cy="1773936"/>
          </a:xfrm>
          <a:prstGeom prst="rect">
            <a:avLst/>
          </a:prstGeom>
          <a:noFill/>
          <a:ln/>
        </p:spPr>
        <p:txBody>
          <a:bodyPr wrap="square" lIns="0" tIns="0" rIns="0" bIns="0" rtlCol="0" anchor="t">
            <a:normAutofit/>
          </a:bodyPr>
          <a:lstStyle/>
          <a:p>
            <a:pPr indent="0" marL="0">
              <a:buNone/>
            </a:pPr>
            <a:r>
              <a:rPr lang="en-US" sz="1500" dirty="0">
                <a:solidFill>
                  <a:srgbClr val="1C2833"/>
                </a:solidFill>
                <a:latin typeface="Calibri" pitchFamily="34" charset="0"/>
                <a:ea typeface="Calibri" pitchFamily="34" charset="-122"/>
                <a:cs typeface="Calibri" pitchFamily="34" charset="-120"/>
              </a:rPr>
              <a:t>How much smaller every constituency's roll was at the draft and at the election than in January 2025, by sex, and how that compares with the 2026 margins.</a:t>
            </a:r>
            <a:endParaRPr lang="en-US" sz="1500" dirty="0"/>
          </a:p>
        </p:txBody>
      </p:sp>
      <p:sp>
        <p:nvSpPr>
          <p:cNvPr id="48" name="Shape 46"/>
          <p:cNvSpPr/>
          <p:nvPr/>
        </p:nvSpPr>
        <p:spPr>
          <a:xfrm>
            <a:off x="6199632" y="1554480"/>
            <a:ext cx="5440680" cy="2103120"/>
          </a:xfrm>
          <a:prstGeom prst="roundRect">
            <a:avLst>
              <a:gd name="adj" fmla="val 4348"/>
            </a:avLst>
          </a:prstGeom>
          <a:solidFill>
            <a:srgbClr val="E8F3F5"/>
          </a:solidFill>
          <a:ln/>
        </p:spPr>
      </p:sp>
      <p:sp>
        <p:nvSpPr>
          <p:cNvPr id="49" name="Text 47"/>
          <p:cNvSpPr txBox="1"/>
          <p:nvPr/>
        </p:nvSpPr>
        <p:spPr>
          <a:xfrm>
            <a:off x="6428232" y="1719072"/>
            <a:ext cx="4983480" cy="1773936"/>
          </a:xfrm>
          <a:prstGeom prst="rect">
            <a:avLst/>
          </a:prstGeom>
          <a:noFill/>
          <a:ln/>
        </p:spPr>
        <p:txBody>
          <a:bodyPr wrap="square" lIns="0" tIns="0" rIns="0" bIns="0" rtlCol="0" anchor="t">
            <a:normAutofit/>
          </a:bodyPr>
          <a:lstStyle/>
          <a:p>
            <a:pPr indent="0" marL="0">
              <a:buNone/>
            </a:pPr>
            <a:r>
              <a:rPr lang="en-US" sz="1500" dirty="0">
                <a:solidFill>
                  <a:srgbClr val="1C2833"/>
                </a:solidFill>
                <a:latin typeface="Calibri" pitchFamily="34" charset="0"/>
                <a:ea typeface="Calibri" pitchFamily="34" charset="-122"/>
                <a:cs typeface="Calibri" pitchFamily="34" charset="-120"/>
              </a:rPr>
              <a:t>How many names were removed in each place, or on what reason, because no table of the names left off has been published. How many of those left off were put back. How anyone missing from the roll would have voted.</a:t>
            </a:r>
            <a:endParaRPr lang="en-US" sz="1500" dirty="0"/>
          </a:p>
        </p:txBody>
      </p:sp>
      <p:sp>
        <p:nvSpPr>
          <p:cNvPr id="50" name="Text 48"/>
          <p:cNvSpPr txBox="1"/>
          <p:nvPr/>
        </p:nvSpPr>
        <p:spPr>
          <a:xfrm>
            <a:off x="548640" y="3931920"/>
            <a:ext cx="11094415" cy="137160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No list of removals can show intent, and the fall in the roll is a different count from the names struck off.</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0E5E6F"/>
                </a:solidFill>
                <a:latin typeface="Calibri" pitchFamily="34" charset="0"/>
                <a:ea typeface="Calibri" pitchFamily="34" charset="-122"/>
                <a:cs typeface="Calibri" pitchFamily="34" charset="-120"/>
              </a:rPr>
              <a:t>WHAT THE ELECTION COMMISSION SHOULD DO</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0B4A57"/>
                </a:solidFill>
                <a:latin typeface="Cambria" pitchFamily="34" charset="0"/>
                <a:ea typeface="Cambria" pitchFamily="34" charset="-122"/>
                <a:cs typeface="Cambria" pitchFamily="34" charset="-120"/>
              </a:rPr>
              <a:t>Publish the names left off, where and why</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Kerala SIR 2026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Text 44"/>
          <p:cNvSpPr txBox="1"/>
          <p:nvPr/>
        </p:nvSpPr>
        <p:spPr>
          <a:xfrm>
            <a:off x="548640" y="1645920"/>
            <a:ext cx="11094415" cy="461772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the names left off the draft by constituency and polling station, with the reason and the sex of each.</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Explain why women were 55.3% of the fall at the draft, against 51.7% of the roll.</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how many of those added for the final roll had been left off the draft.</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Explain why Thiruvananthapuram lost 14.0 of every 100 electors at the draft, 3.0 times the rate of Kannur.</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0E5E6F"/>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0B4A57"/>
                </a:solidFill>
                <a:latin typeface="Cambria" pitchFamily="34" charset="0"/>
                <a:ea typeface="Cambria" pitchFamily="34" charset="-122"/>
                <a:cs typeface="Cambria" pitchFamily="34" charset="-120"/>
              </a:rPr>
              <a:t>Where the figures come from</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Kerala SIR 2026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Text 44"/>
          <p:cNvSpPr txBox="1"/>
          <p:nvPr/>
        </p:nvSpPr>
        <p:spPr>
          <a:xfrm>
            <a:off x="548640" y="1645920"/>
            <a:ext cx="11094415" cy="461772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600" dirty="0">
                <a:solidFill>
                  <a:srgbClr val="1C2833"/>
                </a:solidFill>
                <a:latin typeface="Calibri" pitchFamily="34" charset="0"/>
                <a:ea typeface="Calibri" pitchFamily="34" charset="-122"/>
                <a:cs typeface="Calibri" pitchFamily="34" charset="-120"/>
              </a:rPr>
              <a:t>Four rolls by constituency and sex, all the Chief Electoral Officer's, are the final roll of the 2025 summary revision (6 January 2025), the draft (23 December 2025), the final roll (21 February 2026) and the roll of 23 March 2026, on which the election was held.</a:t>
            </a:r>
            <a:endParaRPr lang="en-US" sz="1600" dirty="0"/>
          </a:p>
          <a:p>
            <a:pPr marL="342900" indent="-342900">
              <a:spcAft>
                <a:spcPts val="800"/>
              </a:spcAft>
              <a:buSzPct val="100000"/>
              <a:buChar char="•"/>
            </a:pPr>
            <a:r>
              <a:rPr lang="en-US" sz="1600" dirty="0">
                <a:solidFill>
                  <a:srgbClr val="1C2833"/>
                </a:solidFill>
                <a:latin typeface="Calibri" pitchFamily="34" charset="0"/>
                <a:ea typeface="Calibri" pitchFamily="34" charset="-122"/>
                <a:cs typeface="Calibri" pitchFamily="34" charset="-120"/>
              </a:rPr>
              <a:t>No table of the names left off has been published, so the figures measure the fall in the roll. For the state it is 23,68,590, against 24,08,503 names reported left off with the draft.</a:t>
            </a:r>
            <a:endParaRPr lang="en-US" sz="1600" dirty="0"/>
          </a:p>
          <a:p>
            <a:pPr marL="342900" indent="-342900">
              <a:spcAft>
                <a:spcPts val="800"/>
              </a:spcAft>
              <a:buSzPct val="100000"/>
              <a:buChar char="•"/>
            </a:pPr>
            <a:r>
              <a:rPr lang="en-US" sz="1600" dirty="0">
                <a:solidFill>
                  <a:srgbClr val="1C2833"/>
                </a:solidFill>
                <a:latin typeface="Calibri" pitchFamily="34" charset="0"/>
                <a:ea typeface="Calibri" pitchFamily="34" charset="-122"/>
                <a:cs typeface="Calibri" pitchFamily="34" charset="-120"/>
              </a:rPr>
              <a:t>The 2026 result is from the Election Commission's result pages. Each seat's fall is also set against its own district's.</a:t>
            </a:r>
            <a:endParaRPr lang="en-US" sz="1600" dirty="0"/>
          </a:p>
          <a:p>
            <a:pPr marL="342900" indent="-342900">
              <a:spcAft>
                <a:spcPts val="800"/>
              </a:spcAft>
              <a:buSzPct val="100000"/>
              <a:buChar char="•"/>
            </a:pPr>
            <a:r>
              <a:rPr lang="en-US" sz="1600" dirty="0">
                <a:solidFill>
                  <a:srgbClr val="1C2833"/>
                </a:solidFill>
                <a:latin typeface="Calibri" pitchFamily="34" charset="0"/>
                <a:ea typeface="Calibri" pitchFamily="34" charset="-122"/>
                <a:cs typeface="Calibri" pitchFamily="34" charset="-120"/>
              </a:rPr>
              <a:t>Only counts are published, never a name, EPIC number or address.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4A57"/>
        </a:solidFill>
      </p:bgPr>
    </p:bg>
    <p:spTree>
      <p:nvGrpSpPr>
        <p:cNvPr id="1" name=""/>
        <p:cNvGrpSpPr/>
        <p:nvPr/>
      </p:nvGrpSpPr>
      <p:grpSpPr>
        <a:xfrm>
          <a:off x="0" y="0"/>
          <a:ext cx="0" cy="0"/>
          <a:chOff x="0" y="0"/>
          <a:chExt cx="0" cy="0"/>
        </a:xfrm>
      </p:grpSpPr>
      <p:sp>
        <p:nvSpPr>
          <p:cNvPr id="2" name="Text 0"/>
          <p:cNvSpPr txBox="1"/>
          <p:nvPr/>
        </p:nvSpPr>
        <p:spPr>
          <a:xfrm>
            <a:off x="548640" y="1280160"/>
            <a:ext cx="11094415" cy="10972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full analysis</a:t>
            </a:r>
            <a:endParaRPr lang="en-US" sz="3400" dirty="0"/>
          </a:p>
        </p:txBody>
      </p:sp>
      <p:sp>
        <p:nvSpPr>
          <p:cNvPr id="3" name="Text 1"/>
          <p:cNvSpPr txBox="1"/>
          <p:nvPr/>
        </p:nvSpPr>
        <p:spPr>
          <a:xfrm>
            <a:off x="548640" y="2743200"/>
            <a:ext cx="11094415" cy="2377440"/>
          </a:xfrm>
          <a:prstGeom prst="rect">
            <a:avLst/>
          </a:prstGeom>
          <a:noFill/>
          <a:ln/>
        </p:spPr>
        <p:txBody>
          <a:bodyPr wrap="square" lIns="0" tIns="0" rIns="0" bIns="0" rtlCol="0" anchor="t"/>
          <a:lstStyle/>
          <a:p>
            <a:pPr indent="0" marL="0">
              <a:spcAft>
                <a:spcPts val="1000"/>
              </a:spcAft>
              <a:buNone/>
            </a:pPr>
            <a:r>
              <a:rPr lang="en-US" sz="1700" dirty="0">
                <a:solidFill>
                  <a:srgbClr val="CDE6EB"/>
                </a:solidFill>
                <a:latin typeface="Calibri" pitchFamily="34" charset="0"/>
                <a:ea typeface="Calibri" pitchFamily="34" charset="-122"/>
                <a:cs typeface="Calibri" pitchFamily="34" charset="-120"/>
              </a:rPr>
              <a:t>The constituency map, every district and constituency, and the full report are published online alongside this deck.</a:t>
            </a:r>
            <a:endParaRPr lang="en-US" sz="1700" dirty="0"/>
          </a:p>
          <a:p>
            <a:pPr indent="0" marL="0">
              <a:spcAft>
                <a:spcPts val="1000"/>
              </a:spcAft>
              <a:buNone/>
            </a:pPr>
            <a:r>
              <a:rPr lang="en-US" sz="1700" dirty="0">
                <a:solidFill>
                  <a:srgbClr val="CDE6EB"/>
                </a:solidFill>
                <a:latin typeface="Calibri" pitchFamily="34" charset="0"/>
                <a:ea typeface="Calibri" pitchFamily="34" charset="-122"/>
                <a:cs typeface="Calibri" pitchFamily="34" charset="-120"/>
              </a:rPr>
              <a:t>PinPoint Ventures</a:t>
            </a:r>
            <a:endParaRPr lang="en-US" sz="1700" dirty="0"/>
          </a:p>
        </p:txBody>
      </p:sp>
      <p:sp>
        <p:nvSpPr>
          <p:cNvPr id="4" name="Shape 2"/>
          <p:cNvSpPr/>
          <p:nvPr/>
        </p:nvSpPr>
        <p:spPr>
          <a:xfrm>
            <a:off x="0" y="6748272"/>
            <a:ext cx="304792" cy="109728"/>
          </a:xfrm>
          <a:prstGeom prst="rect">
            <a:avLst/>
          </a:prstGeom>
          <a:solidFill>
            <a:srgbClr val="C0392B"/>
          </a:solidFill>
          <a:ln/>
        </p:spPr>
      </p:sp>
      <p:sp>
        <p:nvSpPr>
          <p:cNvPr id="5" name="Shape 3"/>
          <p:cNvSpPr/>
          <p:nvPr/>
        </p:nvSpPr>
        <p:spPr>
          <a:xfrm>
            <a:off x="304792" y="6748272"/>
            <a:ext cx="304792" cy="109728"/>
          </a:xfrm>
          <a:prstGeom prst="rect">
            <a:avLst/>
          </a:prstGeom>
          <a:solidFill>
            <a:srgbClr val="E67E22"/>
          </a:solidFill>
          <a:ln/>
        </p:spPr>
      </p:sp>
      <p:sp>
        <p:nvSpPr>
          <p:cNvPr id="6" name="Shape 4"/>
          <p:cNvSpPr/>
          <p:nvPr/>
        </p:nvSpPr>
        <p:spPr>
          <a:xfrm>
            <a:off x="609585" y="6748272"/>
            <a:ext cx="304792" cy="109728"/>
          </a:xfrm>
          <a:prstGeom prst="rect">
            <a:avLst/>
          </a:prstGeom>
          <a:solidFill>
            <a:srgbClr val="27AE60"/>
          </a:solidFill>
          <a:ln/>
        </p:spPr>
      </p:sp>
      <p:sp>
        <p:nvSpPr>
          <p:cNvPr id="7" name="Shape 5"/>
          <p:cNvSpPr/>
          <p:nvPr/>
        </p:nvSpPr>
        <p:spPr>
          <a:xfrm>
            <a:off x="914377" y="6748272"/>
            <a:ext cx="304792" cy="109728"/>
          </a:xfrm>
          <a:prstGeom prst="rect">
            <a:avLst/>
          </a:prstGeom>
          <a:solidFill>
            <a:srgbClr val="1F618D"/>
          </a:solidFill>
          <a:ln/>
        </p:spPr>
      </p:sp>
      <p:sp>
        <p:nvSpPr>
          <p:cNvPr id="8" name="Shape 6"/>
          <p:cNvSpPr/>
          <p:nvPr/>
        </p:nvSpPr>
        <p:spPr>
          <a:xfrm>
            <a:off x="1219170" y="6748272"/>
            <a:ext cx="304792" cy="109728"/>
          </a:xfrm>
          <a:prstGeom prst="rect">
            <a:avLst/>
          </a:prstGeom>
          <a:solidFill>
            <a:srgbClr val="8E44AD"/>
          </a:solidFill>
          <a:ln/>
        </p:spPr>
      </p:sp>
      <p:sp>
        <p:nvSpPr>
          <p:cNvPr id="9" name="Shape 7"/>
          <p:cNvSpPr/>
          <p:nvPr/>
        </p:nvSpPr>
        <p:spPr>
          <a:xfrm>
            <a:off x="1523962" y="6748272"/>
            <a:ext cx="304792" cy="109728"/>
          </a:xfrm>
          <a:prstGeom prst="rect">
            <a:avLst/>
          </a:prstGeom>
          <a:solidFill>
            <a:srgbClr val="C0392B"/>
          </a:solidFill>
          <a:ln/>
        </p:spPr>
      </p:sp>
      <p:sp>
        <p:nvSpPr>
          <p:cNvPr id="10" name="Shape 8"/>
          <p:cNvSpPr/>
          <p:nvPr/>
        </p:nvSpPr>
        <p:spPr>
          <a:xfrm>
            <a:off x="1828754" y="6748272"/>
            <a:ext cx="304792" cy="109728"/>
          </a:xfrm>
          <a:prstGeom prst="rect">
            <a:avLst/>
          </a:prstGeom>
          <a:solidFill>
            <a:srgbClr val="E67E22"/>
          </a:solidFill>
          <a:ln/>
        </p:spPr>
      </p:sp>
      <p:sp>
        <p:nvSpPr>
          <p:cNvPr id="11" name="Shape 9"/>
          <p:cNvSpPr/>
          <p:nvPr/>
        </p:nvSpPr>
        <p:spPr>
          <a:xfrm>
            <a:off x="2133547" y="6748272"/>
            <a:ext cx="304792" cy="109728"/>
          </a:xfrm>
          <a:prstGeom prst="rect">
            <a:avLst/>
          </a:prstGeom>
          <a:solidFill>
            <a:srgbClr val="27AE60"/>
          </a:solidFill>
          <a:ln/>
        </p:spPr>
      </p:sp>
      <p:sp>
        <p:nvSpPr>
          <p:cNvPr id="12" name="Shape 10"/>
          <p:cNvSpPr/>
          <p:nvPr/>
        </p:nvSpPr>
        <p:spPr>
          <a:xfrm>
            <a:off x="2438339" y="6748272"/>
            <a:ext cx="304792" cy="109728"/>
          </a:xfrm>
          <a:prstGeom prst="rect">
            <a:avLst/>
          </a:prstGeom>
          <a:solidFill>
            <a:srgbClr val="1F618D"/>
          </a:solidFill>
          <a:ln/>
        </p:spPr>
      </p:sp>
      <p:sp>
        <p:nvSpPr>
          <p:cNvPr id="13" name="Shape 11"/>
          <p:cNvSpPr/>
          <p:nvPr/>
        </p:nvSpPr>
        <p:spPr>
          <a:xfrm>
            <a:off x="2743131" y="6748272"/>
            <a:ext cx="304792" cy="109728"/>
          </a:xfrm>
          <a:prstGeom prst="rect">
            <a:avLst/>
          </a:prstGeom>
          <a:solidFill>
            <a:srgbClr val="8E44AD"/>
          </a:solidFill>
          <a:ln/>
        </p:spPr>
      </p:sp>
      <p:sp>
        <p:nvSpPr>
          <p:cNvPr id="14" name="Shape 12"/>
          <p:cNvSpPr/>
          <p:nvPr/>
        </p:nvSpPr>
        <p:spPr>
          <a:xfrm>
            <a:off x="3047924" y="6748272"/>
            <a:ext cx="304792" cy="109728"/>
          </a:xfrm>
          <a:prstGeom prst="rect">
            <a:avLst/>
          </a:prstGeom>
          <a:solidFill>
            <a:srgbClr val="C0392B"/>
          </a:solidFill>
          <a:ln/>
        </p:spPr>
      </p:sp>
      <p:sp>
        <p:nvSpPr>
          <p:cNvPr id="15" name="Shape 13"/>
          <p:cNvSpPr/>
          <p:nvPr/>
        </p:nvSpPr>
        <p:spPr>
          <a:xfrm>
            <a:off x="3352716" y="6748272"/>
            <a:ext cx="304792" cy="109728"/>
          </a:xfrm>
          <a:prstGeom prst="rect">
            <a:avLst/>
          </a:prstGeom>
          <a:solidFill>
            <a:srgbClr val="E67E22"/>
          </a:solidFill>
          <a:ln/>
        </p:spPr>
      </p:sp>
      <p:sp>
        <p:nvSpPr>
          <p:cNvPr id="16" name="Shape 14"/>
          <p:cNvSpPr/>
          <p:nvPr/>
        </p:nvSpPr>
        <p:spPr>
          <a:xfrm>
            <a:off x="3657509" y="6748272"/>
            <a:ext cx="304792" cy="109728"/>
          </a:xfrm>
          <a:prstGeom prst="rect">
            <a:avLst/>
          </a:prstGeom>
          <a:solidFill>
            <a:srgbClr val="27AE60"/>
          </a:solidFill>
          <a:ln/>
        </p:spPr>
      </p:sp>
      <p:sp>
        <p:nvSpPr>
          <p:cNvPr id="17" name="Shape 15"/>
          <p:cNvSpPr/>
          <p:nvPr/>
        </p:nvSpPr>
        <p:spPr>
          <a:xfrm>
            <a:off x="3962301" y="6748272"/>
            <a:ext cx="304792" cy="109728"/>
          </a:xfrm>
          <a:prstGeom prst="rect">
            <a:avLst/>
          </a:prstGeom>
          <a:solidFill>
            <a:srgbClr val="1F618D"/>
          </a:solidFill>
          <a:ln/>
        </p:spPr>
      </p:sp>
      <p:sp>
        <p:nvSpPr>
          <p:cNvPr id="18" name="Shape 16"/>
          <p:cNvSpPr/>
          <p:nvPr/>
        </p:nvSpPr>
        <p:spPr>
          <a:xfrm>
            <a:off x="4267093" y="6748272"/>
            <a:ext cx="304792" cy="109728"/>
          </a:xfrm>
          <a:prstGeom prst="rect">
            <a:avLst/>
          </a:prstGeom>
          <a:solidFill>
            <a:srgbClr val="8E44AD"/>
          </a:solidFill>
          <a:ln/>
        </p:spPr>
      </p:sp>
      <p:sp>
        <p:nvSpPr>
          <p:cNvPr id="19" name="Shape 17"/>
          <p:cNvSpPr/>
          <p:nvPr/>
        </p:nvSpPr>
        <p:spPr>
          <a:xfrm>
            <a:off x="4571886" y="6748272"/>
            <a:ext cx="304792" cy="109728"/>
          </a:xfrm>
          <a:prstGeom prst="rect">
            <a:avLst/>
          </a:prstGeom>
          <a:solidFill>
            <a:srgbClr val="C0392B"/>
          </a:solidFill>
          <a:ln/>
        </p:spPr>
      </p:sp>
      <p:sp>
        <p:nvSpPr>
          <p:cNvPr id="20" name="Shape 18"/>
          <p:cNvSpPr/>
          <p:nvPr/>
        </p:nvSpPr>
        <p:spPr>
          <a:xfrm>
            <a:off x="4876678" y="6748272"/>
            <a:ext cx="304792" cy="109728"/>
          </a:xfrm>
          <a:prstGeom prst="rect">
            <a:avLst/>
          </a:prstGeom>
          <a:solidFill>
            <a:srgbClr val="E67E22"/>
          </a:solidFill>
          <a:ln/>
        </p:spPr>
      </p:sp>
      <p:sp>
        <p:nvSpPr>
          <p:cNvPr id="21" name="Shape 19"/>
          <p:cNvSpPr/>
          <p:nvPr/>
        </p:nvSpPr>
        <p:spPr>
          <a:xfrm>
            <a:off x="5181470" y="6748272"/>
            <a:ext cx="304792" cy="109728"/>
          </a:xfrm>
          <a:prstGeom prst="rect">
            <a:avLst/>
          </a:prstGeom>
          <a:solidFill>
            <a:srgbClr val="27AE60"/>
          </a:solidFill>
          <a:ln/>
        </p:spPr>
      </p:sp>
      <p:sp>
        <p:nvSpPr>
          <p:cNvPr id="22" name="Shape 20"/>
          <p:cNvSpPr/>
          <p:nvPr/>
        </p:nvSpPr>
        <p:spPr>
          <a:xfrm>
            <a:off x="5486263" y="6748272"/>
            <a:ext cx="304792" cy="109728"/>
          </a:xfrm>
          <a:prstGeom prst="rect">
            <a:avLst/>
          </a:prstGeom>
          <a:solidFill>
            <a:srgbClr val="1F618D"/>
          </a:solidFill>
          <a:ln/>
        </p:spPr>
      </p:sp>
      <p:sp>
        <p:nvSpPr>
          <p:cNvPr id="23" name="Shape 21"/>
          <p:cNvSpPr/>
          <p:nvPr/>
        </p:nvSpPr>
        <p:spPr>
          <a:xfrm>
            <a:off x="5791055" y="6748272"/>
            <a:ext cx="304792" cy="109728"/>
          </a:xfrm>
          <a:prstGeom prst="rect">
            <a:avLst/>
          </a:prstGeom>
          <a:solidFill>
            <a:srgbClr val="8E44AD"/>
          </a:solidFill>
          <a:ln/>
        </p:spPr>
      </p:sp>
      <p:sp>
        <p:nvSpPr>
          <p:cNvPr id="24" name="Shape 22"/>
          <p:cNvSpPr/>
          <p:nvPr/>
        </p:nvSpPr>
        <p:spPr>
          <a:xfrm>
            <a:off x="6095848" y="6748272"/>
            <a:ext cx="304792" cy="109728"/>
          </a:xfrm>
          <a:prstGeom prst="rect">
            <a:avLst/>
          </a:prstGeom>
          <a:solidFill>
            <a:srgbClr val="C0392B"/>
          </a:solidFill>
          <a:ln/>
        </p:spPr>
      </p:sp>
      <p:sp>
        <p:nvSpPr>
          <p:cNvPr id="25" name="Shape 23"/>
          <p:cNvSpPr/>
          <p:nvPr/>
        </p:nvSpPr>
        <p:spPr>
          <a:xfrm>
            <a:off x="6400640" y="6748272"/>
            <a:ext cx="304792" cy="109728"/>
          </a:xfrm>
          <a:prstGeom prst="rect">
            <a:avLst/>
          </a:prstGeom>
          <a:solidFill>
            <a:srgbClr val="E67E22"/>
          </a:solidFill>
          <a:ln/>
        </p:spPr>
      </p:sp>
      <p:sp>
        <p:nvSpPr>
          <p:cNvPr id="26" name="Shape 24"/>
          <p:cNvSpPr/>
          <p:nvPr/>
        </p:nvSpPr>
        <p:spPr>
          <a:xfrm>
            <a:off x="6705432" y="6748272"/>
            <a:ext cx="304792" cy="109728"/>
          </a:xfrm>
          <a:prstGeom prst="rect">
            <a:avLst/>
          </a:prstGeom>
          <a:solidFill>
            <a:srgbClr val="27AE60"/>
          </a:solidFill>
          <a:ln/>
        </p:spPr>
      </p:sp>
      <p:sp>
        <p:nvSpPr>
          <p:cNvPr id="27" name="Shape 25"/>
          <p:cNvSpPr/>
          <p:nvPr/>
        </p:nvSpPr>
        <p:spPr>
          <a:xfrm>
            <a:off x="7010225" y="6748272"/>
            <a:ext cx="304792" cy="109728"/>
          </a:xfrm>
          <a:prstGeom prst="rect">
            <a:avLst/>
          </a:prstGeom>
          <a:solidFill>
            <a:srgbClr val="1F618D"/>
          </a:solidFill>
          <a:ln/>
        </p:spPr>
      </p:sp>
      <p:sp>
        <p:nvSpPr>
          <p:cNvPr id="28" name="Shape 26"/>
          <p:cNvSpPr/>
          <p:nvPr/>
        </p:nvSpPr>
        <p:spPr>
          <a:xfrm>
            <a:off x="7315017" y="6748272"/>
            <a:ext cx="304792" cy="109728"/>
          </a:xfrm>
          <a:prstGeom prst="rect">
            <a:avLst/>
          </a:prstGeom>
          <a:solidFill>
            <a:srgbClr val="8E44AD"/>
          </a:solidFill>
          <a:ln/>
        </p:spPr>
      </p:sp>
      <p:sp>
        <p:nvSpPr>
          <p:cNvPr id="29" name="Shape 27"/>
          <p:cNvSpPr/>
          <p:nvPr/>
        </p:nvSpPr>
        <p:spPr>
          <a:xfrm>
            <a:off x="7619809" y="6748272"/>
            <a:ext cx="304792" cy="109728"/>
          </a:xfrm>
          <a:prstGeom prst="rect">
            <a:avLst/>
          </a:prstGeom>
          <a:solidFill>
            <a:srgbClr val="C0392B"/>
          </a:solidFill>
          <a:ln/>
        </p:spPr>
      </p:sp>
      <p:sp>
        <p:nvSpPr>
          <p:cNvPr id="30" name="Shape 28"/>
          <p:cNvSpPr/>
          <p:nvPr/>
        </p:nvSpPr>
        <p:spPr>
          <a:xfrm>
            <a:off x="7924602" y="6748272"/>
            <a:ext cx="304792" cy="109728"/>
          </a:xfrm>
          <a:prstGeom prst="rect">
            <a:avLst/>
          </a:prstGeom>
          <a:solidFill>
            <a:srgbClr val="E67E22"/>
          </a:solidFill>
          <a:ln/>
        </p:spPr>
      </p:sp>
      <p:sp>
        <p:nvSpPr>
          <p:cNvPr id="31" name="Shape 29"/>
          <p:cNvSpPr/>
          <p:nvPr/>
        </p:nvSpPr>
        <p:spPr>
          <a:xfrm>
            <a:off x="8229394" y="6748272"/>
            <a:ext cx="304792" cy="109728"/>
          </a:xfrm>
          <a:prstGeom prst="rect">
            <a:avLst/>
          </a:prstGeom>
          <a:solidFill>
            <a:srgbClr val="27AE60"/>
          </a:solidFill>
          <a:ln/>
        </p:spPr>
      </p:sp>
      <p:sp>
        <p:nvSpPr>
          <p:cNvPr id="32" name="Shape 30"/>
          <p:cNvSpPr/>
          <p:nvPr/>
        </p:nvSpPr>
        <p:spPr>
          <a:xfrm>
            <a:off x="8534187" y="6748272"/>
            <a:ext cx="304792" cy="109728"/>
          </a:xfrm>
          <a:prstGeom prst="rect">
            <a:avLst/>
          </a:prstGeom>
          <a:solidFill>
            <a:srgbClr val="1F618D"/>
          </a:solidFill>
          <a:ln/>
        </p:spPr>
      </p:sp>
      <p:sp>
        <p:nvSpPr>
          <p:cNvPr id="33" name="Shape 31"/>
          <p:cNvSpPr/>
          <p:nvPr/>
        </p:nvSpPr>
        <p:spPr>
          <a:xfrm>
            <a:off x="8838979" y="6748272"/>
            <a:ext cx="304792" cy="109728"/>
          </a:xfrm>
          <a:prstGeom prst="rect">
            <a:avLst/>
          </a:prstGeom>
          <a:solidFill>
            <a:srgbClr val="8E44AD"/>
          </a:solidFill>
          <a:ln/>
        </p:spPr>
      </p:sp>
      <p:sp>
        <p:nvSpPr>
          <p:cNvPr id="34" name="Shape 32"/>
          <p:cNvSpPr/>
          <p:nvPr/>
        </p:nvSpPr>
        <p:spPr>
          <a:xfrm>
            <a:off x="9143771" y="6748272"/>
            <a:ext cx="304792" cy="109728"/>
          </a:xfrm>
          <a:prstGeom prst="rect">
            <a:avLst/>
          </a:prstGeom>
          <a:solidFill>
            <a:srgbClr val="C0392B"/>
          </a:solidFill>
          <a:ln/>
        </p:spPr>
      </p:sp>
      <p:sp>
        <p:nvSpPr>
          <p:cNvPr id="35" name="Shape 33"/>
          <p:cNvSpPr/>
          <p:nvPr/>
        </p:nvSpPr>
        <p:spPr>
          <a:xfrm>
            <a:off x="9448564" y="6748272"/>
            <a:ext cx="304792" cy="109728"/>
          </a:xfrm>
          <a:prstGeom prst="rect">
            <a:avLst/>
          </a:prstGeom>
          <a:solidFill>
            <a:srgbClr val="E67E22"/>
          </a:solidFill>
          <a:ln/>
        </p:spPr>
      </p:sp>
      <p:sp>
        <p:nvSpPr>
          <p:cNvPr id="36" name="Shape 34"/>
          <p:cNvSpPr/>
          <p:nvPr/>
        </p:nvSpPr>
        <p:spPr>
          <a:xfrm>
            <a:off x="9753356" y="6748272"/>
            <a:ext cx="304792" cy="109728"/>
          </a:xfrm>
          <a:prstGeom prst="rect">
            <a:avLst/>
          </a:prstGeom>
          <a:solidFill>
            <a:srgbClr val="27AE60"/>
          </a:solidFill>
          <a:ln/>
        </p:spPr>
      </p:sp>
      <p:sp>
        <p:nvSpPr>
          <p:cNvPr id="37" name="Shape 35"/>
          <p:cNvSpPr/>
          <p:nvPr/>
        </p:nvSpPr>
        <p:spPr>
          <a:xfrm>
            <a:off x="10058149" y="6748272"/>
            <a:ext cx="304792" cy="109728"/>
          </a:xfrm>
          <a:prstGeom prst="rect">
            <a:avLst/>
          </a:prstGeom>
          <a:solidFill>
            <a:srgbClr val="1F618D"/>
          </a:solidFill>
          <a:ln/>
        </p:spPr>
      </p:sp>
      <p:sp>
        <p:nvSpPr>
          <p:cNvPr id="38" name="Shape 36"/>
          <p:cNvSpPr/>
          <p:nvPr/>
        </p:nvSpPr>
        <p:spPr>
          <a:xfrm>
            <a:off x="10362941" y="6748272"/>
            <a:ext cx="304792" cy="109728"/>
          </a:xfrm>
          <a:prstGeom prst="rect">
            <a:avLst/>
          </a:prstGeom>
          <a:solidFill>
            <a:srgbClr val="8E44AD"/>
          </a:solidFill>
          <a:ln/>
        </p:spPr>
      </p:sp>
      <p:sp>
        <p:nvSpPr>
          <p:cNvPr id="39" name="Shape 37"/>
          <p:cNvSpPr/>
          <p:nvPr/>
        </p:nvSpPr>
        <p:spPr>
          <a:xfrm>
            <a:off x="10667733" y="6748272"/>
            <a:ext cx="304792" cy="109728"/>
          </a:xfrm>
          <a:prstGeom prst="rect">
            <a:avLst/>
          </a:prstGeom>
          <a:solidFill>
            <a:srgbClr val="C0392B"/>
          </a:solidFill>
          <a:ln/>
        </p:spPr>
      </p:sp>
      <p:sp>
        <p:nvSpPr>
          <p:cNvPr id="40" name="Shape 38"/>
          <p:cNvSpPr/>
          <p:nvPr/>
        </p:nvSpPr>
        <p:spPr>
          <a:xfrm>
            <a:off x="10972526" y="6748272"/>
            <a:ext cx="304792" cy="109728"/>
          </a:xfrm>
          <a:prstGeom prst="rect">
            <a:avLst/>
          </a:prstGeom>
          <a:solidFill>
            <a:srgbClr val="E67E22"/>
          </a:solidFill>
          <a:ln/>
        </p:spPr>
      </p:sp>
      <p:sp>
        <p:nvSpPr>
          <p:cNvPr id="41" name="Shape 39"/>
          <p:cNvSpPr/>
          <p:nvPr/>
        </p:nvSpPr>
        <p:spPr>
          <a:xfrm>
            <a:off x="11277318" y="6748272"/>
            <a:ext cx="304792" cy="109728"/>
          </a:xfrm>
          <a:prstGeom prst="rect">
            <a:avLst/>
          </a:prstGeom>
          <a:solidFill>
            <a:srgbClr val="27AE60"/>
          </a:solidFill>
          <a:ln/>
        </p:spPr>
      </p:sp>
      <p:sp>
        <p:nvSpPr>
          <p:cNvPr id="42" name="Shape 40"/>
          <p:cNvSpPr/>
          <p:nvPr/>
        </p:nvSpPr>
        <p:spPr>
          <a:xfrm>
            <a:off x="11582110" y="6748272"/>
            <a:ext cx="304792" cy="109728"/>
          </a:xfrm>
          <a:prstGeom prst="rect">
            <a:avLst/>
          </a:prstGeom>
          <a:solidFill>
            <a:srgbClr val="1F618D"/>
          </a:solidFill>
          <a:ln/>
        </p:spPr>
      </p:sp>
      <p:sp>
        <p:nvSpPr>
          <p:cNvPr id="43" name="Shape 41"/>
          <p:cNvSpPr/>
          <p:nvPr/>
        </p:nvSpPr>
        <p:spPr>
          <a:xfrm>
            <a:off x="11886903" y="6748272"/>
            <a:ext cx="304792" cy="109728"/>
          </a:xfrm>
          <a:prstGeom prst="rect">
            <a:avLst/>
          </a:prstGeom>
          <a:solidFill>
            <a:srgbClr val="8E44AD"/>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Kerala SIR 2026</dc:title>
  <dc:subject>PptxGenJS Presentation</dc:subject>
  <dc:creator>PinPoint Ventures</dc:creator>
  <cp:lastModifiedBy>PinPoint Ventures</cp:lastModifiedBy>
  <cp:revision>1</cp:revision>
  <dcterms:created xsi:type="dcterms:W3CDTF">2026-10-05T14:28:29Z</dcterms:created>
  <dcterms:modified xsi:type="dcterms:W3CDTF">2026-10-05T14:28:29Z</dcterms:modified>
</cp:coreProperties>
</file>