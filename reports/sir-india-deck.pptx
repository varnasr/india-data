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Dead</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Phase 1 (Bihar)</c:v>
                  </c:pt>
                  <c:pt idx="1">
                    <c:v>Phase 2 (12)</c:v>
                  </c:pt>
                  <c:pt idx="2">
                    <c:v>Phase 3 (18)</c:v>
                  </c:pt>
                </c:lvl>
              </c:multiLvlStrCache>
            </c:multiLvlStrRef>
          </c:cat>
          <c:val>
            <c:numRef>
              <c:f>Sheet1!$B$2:$B$4</c:f>
              <c:numCache>
                <c:formatCode>General</c:formatCode>
                <c:ptCount val="3"/>
                <c:pt idx="0">
                  <c:v>22.3</c:v>
                </c:pt>
                <c:pt idx="1">
                  <c:v>146.1</c:v>
                </c:pt>
                <c:pt idx="2">
                  <c:v>109.7</c:v>
                </c:pt>
              </c:numCache>
            </c:numRef>
          </c:val>
        </c:ser>
        <c:ser>
          <c:idx val="1"/>
          <c:order val="1"/>
          <c:tx>
            <c:strRef>
              <c:f>Sheet1!$C$1</c:f>
              <c:strCache>
                <c:ptCount val="1"/>
                <c:pt idx="0">
                  <c:v>Shifted, absent or other</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Phase 1 (Bihar)</c:v>
                  </c:pt>
                  <c:pt idx="1">
                    <c:v>Phase 2 (12)</c:v>
                  </c:pt>
                  <c:pt idx="2">
                    <c:v>Phase 3 (18)</c:v>
                  </c:pt>
                </c:lvl>
              </c:multiLvlStrCache>
            </c:multiLvlStrRef>
          </c:cat>
          <c:val>
            <c:numRef>
              <c:f>Sheet1!$C$2:$C$4</c:f>
              <c:numCache>
                <c:formatCode>General</c:formatCode>
                <c:ptCount val="3"/>
                <c:pt idx="0">
                  <c:v>36.3</c:v>
                </c:pt>
                <c:pt idx="1">
                  <c:v>466.5</c:v>
                </c:pt>
                <c:pt idx="2">
                  <c:v>445.2</c:v>
                </c:pt>
              </c:numCache>
            </c:numRef>
          </c:val>
        </c:ser>
        <c:ser>
          <c:idx val="2"/>
          <c:order val="2"/>
          <c:tx>
            <c:strRef>
              <c:f>Sheet1!$D$1</c:f>
              <c:strCache>
                <c:ptCount val="1"/>
                <c:pt idx="0">
                  <c:v>Enrolled more than once</c:v>
                </c:pt>
              </c:strCache>
            </c:strRef>
          </c:tx>
          <c:spPr>
            <a:solidFill>
              <a:srgbClr val="D4AC0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Phase 1 (Bihar)</c:v>
                  </c:pt>
                  <c:pt idx="1">
                    <c:v>Phase 2 (12)</c:v>
                  </c:pt>
                  <c:pt idx="2">
                    <c:v>Phase 3 (18)</c:v>
                  </c:pt>
                </c:lvl>
              </c:multiLvlStrCache>
            </c:multiLvlStrRef>
          </c:cat>
          <c:val>
            <c:numRef>
              <c:f>Sheet1!$D$2:$D$4</c:f>
              <c:numCache>
                <c:formatCode>General</c:formatCode>
                <c:ptCount val="3"/>
                <c:pt idx="0">
                  <c:v>7</c:v>
                </c:pt>
                <c:pt idx="1">
                  <c:v>44.1</c:v>
                </c:pt>
                <c:pt idx="2">
                  <c:v>49.7</c:v>
                </c:pt>
              </c:numCache>
            </c:numRef>
          </c:val>
        </c:ser>
        <c:ser>
          <c:idx val="3"/>
          <c:order val="3"/>
          <c:tx>
            <c:strRef>
              <c:f>Sheet1!$E$1</c:f>
              <c:strCache>
                <c:ptCount val="1"/>
                <c:pt idx="0">
                  <c:v>Not split</c:v>
                </c:pt>
              </c:strCache>
            </c:strRef>
          </c:tx>
          <c:spPr>
            <a:solidFill>
              <a:srgbClr val="8E7CC3"/>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Phase 1 (Bihar)</c:v>
                  </c:pt>
                  <c:pt idx="1">
                    <c:v>Phase 2 (12)</c:v>
                  </c:pt>
                  <c:pt idx="2">
                    <c:v>Phase 3 (18)</c:v>
                  </c:pt>
                </c:lvl>
              </c:multiLvlStrCache>
            </c:multiLvlStrRef>
          </c:cat>
          <c:val>
            <c:numRef>
              <c:f>Sheet1!$E$2:$E$4</c:f>
              <c:numCache>
                <c:formatCode>General</c:formatCode>
                <c:ptCount val="3"/>
                <c:pt idx="0">
                  <c:v>0</c:v>
                </c:pt>
                <c:pt idx="1">
                  <c:v>0.3</c:v>
                </c:pt>
                <c:pt idx="2">
                  <c:v>12.1</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5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 100 electors</c:v>
                </c:pt>
              </c:strCache>
            </c:strRef>
          </c:tx>
          <c:spPr>
            <a:solidFill>
              <a:srgbClr val="1F618D"/>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1F618D"/>
              </a:solidFill>
              <a:effectLst/>
            </c:spPr>
          </c:dPt>
          <c:dPt>
            <c:idx val="1"/>
            <c:invertIfNegative val="0"/>
            <c:bubble3D val="0"/>
            <c:spPr>
              <a:solidFill>
                <a:srgbClr val="1F618D"/>
              </a:solidFill>
              <a:effectLst/>
            </c:spPr>
          </c:dPt>
          <c:dPt>
            <c:idx val="2"/>
            <c:invertIfNegative val="0"/>
            <c:bubble3D val="0"/>
            <c:spPr>
              <a:solidFill>
                <a:srgbClr val="1F618D"/>
              </a:solidFill>
              <a:effectLst/>
            </c:spPr>
          </c:dPt>
          <c:dPt>
            <c:idx val="3"/>
            <c:invertIfNegative val="0"/>
            <c:bubble3D val="0"/>
            <c:spPr>
              <a:solidFill>
                <a:srgbClr val="1F618D"/>
              </a:solidFill>
              <a:effectLst/>
            </c:spPr>
          </c:dPt>
          <c:dPt>
            <c:idx val="4"/>
            <c:invertIfNegative val="0"/>
            <c:bubble3D val="0"/>
            <c:spPr>
              <a:solidFill>
                <a:srgbClr val="1F618D"/>
              </a:solidFill>
              <a:effectLst/>
            </c:spPr>
          </c:dPt>
          <c:dPt>
            <c:idx val="5"/>
            <c:invertIfNegative val="0"/>
            <c:bubble3D val="0"/>
            <c:spPr>
              <a:solidFill>
                <a:srgbClr val="1F618D"/>
              </a:solidFill>
              <a:effectLst/>
            </c:spPr>
          </c:dPt>
          <c:dPt>
            <c:idx val="6"/>
            <c:invertIfNegative val="0"/>
            <c:bubble3D val="0"/>
            <c:spPr>
              <a:solidFill>
                <a:srgbClr val="1F618D"/>
              </a:solidFill>
              <a:effectLst/>
            </c:spPr>
          </c:dPt>
          <c:dPt>
            <c:idx val="7"/>
            <c:invertIfNegative val="0"/>
            <c:bubble3D val="0"/>
            <c:spPr>
              <a:solidFill>
                <a:srgbClr val="1F618D"/>
              </a:solidFill>
              <a:effectLst/>
            </c:spPr>
          </c:dPt>
          <c:dPt>
            <c:idx val="8"/>
            <c:invertIfNegative val="0"/>
            <c:bubble3D val="0"/>
            <c:spPr>
              <a:solidFill>
                <a:srgbClr val="1F618D"/>
              </a:solidFill>
              <a:effectLst/>
            </c:spPr>
          </c:dPt>
          <c:dPt>
            <c:idx val="9"/>
            <c:invertIfNegative val="0"/>
            <c:bubble3D val="0"/>
            <c:spPr>
              <a:solidFill>
                <a:srgbClr val="C0392B"/>
              </a:solidFill>
              <a:effectLst/>
            </c:spPr>
          </c:dPt>
          <c:dPt>
            <c:idx val="10"/>
            <c:invertIfNegative val="0"/>
            <c:bubble3D val="0"/>
            <c:spPr>
              <a:solidFill>
                <a:srgbClr val="1F618D"/>
              </a:solidFill>
              <a:effectLst/>
            </c:spPr>
          </c:dPt>
          <c:dPt>
            <c:idx val="11"/>
            <c:invertIfNegative val="0"/>
            <c:bubble3D val="0"/>
            <c:spPr>
              <a:solidFill>
                <a:srgbClr val="1F618D"/>
              </a:solidFill>
              <a:effectLst/>
            </c:spPr>
          </c:dPt>
          <c:dPt>
            <c:idx val="12"/>
            <c:invertIfNegative val="0"/>
            <c:bubble3D val="0"/>
            <c:spPr>
              <a:solidFill>
                <a:srgbClr val="1F618D"/>
              </a:solidFill>
              <a:effectLst/>
            </c:spPr>
          </c:dPt>
          <c:dPt>
            <c:idx val="13"/>
            <c:invertIfNegative val="0"/>
            <c:bubble3D val="0"/>
            <c:spPr>
              <a:solidFill>
                <a:srgbClr val="1F618D"/>
              </a:solidFill>
              <a:effectLst/>
            </c:spPr>
          </c:dPt>
          <c:dPt>
            <c:idx val="14"/>
            <c:invertIfNegative val="0"/>
            <c:bubble3D val="0"/>
            <c:spPr>
              <a:solidFill>
                <a:srgbClr val="1F618D"/>
              </a:solidFill>
              <a:effectLst/>
            </c:spPr>
          </c:dPt>
          <c:dPt>
            <c:idx val="15"/>
            <c:invertIfNegative val="0"/>
            <c:bubble3D val="0"/>
            <c:spPr>
              <a:solidFill>
                <a:srgbClr val="1F618D"/>
              </a:solidFill>
              <a:effectLst/>
            </c:spPr>
          </c:dPt>
          <c:dPt>
            <c:idx val="16"/>
            <c:invertIfNegative val="0"/>
            <c:bubble3D val="0"/>
            <c:spPr>
              <a:solidFill>
                <a:srgbClr val="1F618D"/>
              </a:solidFill>
              <a:effectLst/>
            </c:spPr>
          </c:dPt>
          <c:dPt>
            <c:idx val="17"/>
            <c:invertIfNegative val="0"/>
            <c:bubble3D val="0"/>
            <c:spPr>
              <a:solidFill>
                <a:srgbClr val="1F618D"/>
              </a:solidFill>
              <a:effectLst/>
            </c:spPr>
          </c:dPt>
          <c:dPt>
            <c:idx val="18"/>
            <c:invertIfNegative val="0"/>
            <c:bubble3D val="0"/>
            <c:spPr>
              <a:solidFill>
                <a:srgbClr val="1F618D"/>
              </a:solidFill>
              <a:effectLst/>
            </c:spPr>
          </c:dPt>
          <c:dPt>
            <c:idx val="19"/>
            <c:invertIfNegative val="0"/>
            <c:bubble3D val="0"/>
            <c:spPr>
              <a:solidFill>
                <a:srgbClr val="1F618D"/>
              </a:solidFill>
              <a:effectLst/>
            </c:spPr>
          </c:dPt>
          <c:dPt>
            <c:idx val="20"/>
            <c:invertIfNegative val="0"/>
            <c:bubble3D val="0"/>
            <c:spPr>
              <a:solidFill>
                <a:srgbClr val="1F618D"/>
              </a:solidFill>
              <a:effectLst/>
            </c:spPr>
          </c:dPt>
          <c:dPt>
            <c:idx val="21"/>
            <c:invertIfNegative val="0"/>
            <c:bubble3D val="0"/>
            <c:spPr>
              <a:solidFill>
                <a:srgbClr val="1F618D"/>
              </a:solidFill>
              <a:effectLst/>
            </c:spPr>
          </c:dPt>
          <c:dPt>
            <c:idx val="22"/>
            <c:invertIfNegative val="0"/>
            <c:bubble3D val="0"/>
            <c:spPr>
              <a:solidFill>
                <a:srgbClr val="1F618D"/>
              </a:solidFill>
              <a:effectLst/>
            </c:spPr>
          </c:dPt>
          <c:dPt>
            <c:idx val="23"/>
            <c:invertIfNegative val="0"/>
            <c:bubble3D val="0"/>
            <c:spPr>
              <a:solidFill>
                <a:srgbClr val="1F618D"/>
              </a:solidFill>
              <a:effectLst/>
            </c:spPr>
          </c:dPt>
          <c:dPt>
            <c:idx val="24"/>
            <c:invertIfNegative val="0"/>
            <c:bubble3D val="0"/>
            <c:spPr>
              <a:solidFill>
                <a:srgbClr val="1F618D"/>
              </a:solidFill>
              <a:effectLst/>
            </c:spPr>
          </c:dPt>
          <c:dPt>
            <c:idx val="25"/>
            <c:invertIfNegative val="0"/>
            <c:bubble3D val="0"/>
            <c:spPr>
              <a:solidFill>
                <a:srgbClr val="1F618D"/>
              </a:solidFill>
              <a:effectLst/>
            </c:spPr>
          </c:dPt>
          <c:dPt>
            <c:idx val="26"/>
            <c:invertIfNegative val="0"/>
            <c:bubble3D val="0"/>
            <c:spPr>
              <a:solidFill>
                <a:srgbClr val="1F618D"/>
              </a:solidFill>
              <a:effectLst/>
            </c:spPr>
          </c:dPt>
          <c:dPt>
            <c:idx val="27"/>
            <c:invertIfNegative val="0"/>
            <c:bubble3D val="0"/>
            <c:spPr>
              <a:solidFill>
                <a:srgbClr val="1F618D"/>
              </a:solidFill>
              <a:effectLst/>
            </c:spPr>
          </c:dPt>
          <c:dPt>
            <c:idx val="28"/>
            <c:invertIfNegative val="0"/>
            <c:bubble3D val="0"/>
            <c:spPr>
              <a:solidFill>
                <a:srgbClr val="1F618D"/>
              </a:solidFill>
              <a:effectLst/>
            </c:spPr>
          </c:dPt>
          <c:dPt>
            <c:idx val="29"/>
            <c:invertIfNegative val="0"/>
            <c:bubble3D val="0"/>
            <c:spPr>
              <a:solidFill>
                <a:srgbClr val="1F618D"/>
              </a:solidFill>
              <a:effectLst/>
            </c:spPr>
          </c:dPt>
          <c:cat>
            <c:multiLvlStrRef>
              <c:f>Sheet1!$A$2:$A$31</c:f>
              <c:multiLvlStrCache>
                <c:ptCount val="30"/>
                <c:lvl>
                  <c:pt idx="0">
                    <c:v>Lakshadweep</c:v>
                  </c:pt>
                  <c:pt idx="1">
                    <c:v>Mizoram</c:v>
                  </c:pt>
                  <c:pt idx="2">
                    <c:v>Odisha</c:v>
                  </c:pt>
                  <c:pt idx="3">
                    <c:v>Madhya Pradesh</c:v>
                  </c:pt>
                  <c:pt idx="4">
                    <c:v>Manipur</c:v>
                  </c:pt>
                  <c:pt idx="5">
                    <c:v>West Bengal</c:v>
                  </c:pt>
                  <c:pt idx="6">
                    <c:v>Rajasthan</c:v>
                  </c:pt>
                  <c:pt idx="7">
                    <c:v>Meghalaya</c:v>
                  </c:pt>
                  <c:pt idx="8">
                    <c:v>Sikkim</c:v>
                  </c:pt>
                  <c:pt idx="9">
                    <c:v>Bihar</c:v>
                  </c:pt>
                  <c:pt idx="10">
                    <c:v>Goa</c:v>
                  </c:pt>
                  <c:pt idx="11">
                    <c:v>Kerala</c:v>
                  </c:pt>
                  <c:pt idx="12">
                    <c:v>Punjab</c:v>
                  </c:pt>
                  <c:pt idx="13">
                    <c:v>Puducherry</c:v>
                  </c:pt>
                  <c:pt idx="14">
                    <c:v>Uttarakhand</c:v>
                  </c:pt>
                  <c:pt idx="15">
                    <c:v>Andhra Pradesh</c:v>
                  </c:pt>
                  <c:pt idx="16">
                    <c:v>Nagaland</c:v>
                  </c:pt>
                  <c:pt idx="17">
                    <c:v>Chhattisgarh</c:v>
                  </c:pt>
                  <c:pt idx="18">
                    <c:v>Gujarat</c:v>
                  </c:pt>
                  <c:pt idx="19">
                    <c:v>Tamil Nadu</c:v>
                  </c:pt>
                  <c:pt idx="20">
                    <c:v>Haryana</c:v>
                  </c:pt>
                  <c:pt idx="21">
                    <c:v>Jharkhand</c:v>
                  </c:pt>
                  <c:pt idx="22">
                    <c:v>Uttar Pradesh</c:v>
                  </c:pt>
                  <c:pt idx="23">
                    <c:v>Arunachal Pradesh</c:v>
                  </c:pt>
                  <c:pt idx="24">
                    <c:v>Karnataka</c:v>
                  </c:pt>
                  <c:pt idx="25">
                    <c:v>Andaman and Nicobar Islands</c:v>
                  </c:pt>
                  <c:pt idx="26">
                    <c:v>Maharashtra</c:v>
                  </c:pt>
                  <c:pt idx="27">
                    <c:v>Telangana</c:v>
                  </c:pt>
                  <c:pt idx="28">
                    <c:v>Dadra and Nagar Haveli and Daman and Diu</c:v>
                  </c:pt>
                  <c:pt idx="29">
                    <c:v>Delhi</c:v>
                  </c:pt>
                </c:lvl>
              </c:multiLvlStrCache>
            </c:multiLvlStrRef>
          </c:cat>
          <c:val>
            <c:numRef>
              <c:f>Sheet1!$B$2:$B$31</c:f>
              <c:numCache>
                <c:formatCode>General</c:formatCode>
                <c:ptCount val="30"/>
                <c:pt idx="0">
                  <c:v>2.47</c:v>
                </c:pt>
                <c:pt idx="1">
                  <c:v>5.28</c:v>
                </c:pt>
                <c:pt idx="2">
                  <c:v>6.03</c:v>
                </c:pt>
                <c:pt idx="3">
                  <c:v>7.45</c:v>
                </c:pt>
                <c:pt idx="4">
                  <c:v>7.58</c:v>
                </c:pt>
                <c:pt idx="5">
                  <c:v>7.6</c:v>
                </c:pt>
                <c:pt idx="6">
                  <c:v>7.65</c:v>
                </c:pt>
                <c:pt idx="7">
                  <c:v>7.68</c:v>
                </c:pt>
                <c:pt idx="8">
                  <c:v>8.01</c:v>
                </c:pt>
                <c:pt idx="9">
                  <c:v>8.31</c:v>
                </c:pt>
                <c:pt idx="10">
                  <c:v>8.44</c:v>
                </c:pt>
                <c:pt idx="11">
                  <c:v>8.65</c:v>
                </c:pt>
                <c:pt idx="12">
                  <c:v>9.63</c:v>
                </c:pt>
                <c:pt idx="13">
                  <c:v>10.13</c:v>
                </c:pt>
                <c:pt idx="14">
                  <c:v>10.39</c:v>
                </c:pt>
                <c:pt idx="15">
                  <c:v>10.79</c:v>
                </c:pt>
                <c:pt idx="16">
                  <c:v>11.62</c:v>
                </c:pt>
                <c:pt idx="17">
                  <c:v>12.88</c:v>
                </c:pt>
                <c:pt idx="18">
                  <c:v>14.51</c:v>
                </c:pt>
                <c:pt idx="19">
                  <c:v>15.19</c:v>
                </c:pt>
                <c:pt idx="20">
                  <c:v>16.42</c:v>
                </c:pt>
                <c:pt idx="21">
                  <c:v>16.52</c:v>
                </c:pt>
                <c:pt idx="22">
                  <c:v>18.72</c:v>
                </c:pt>
                <c:pt idx="23">
                  <c:v>19.09</c:v>
                </c:pt>
                <c:pt idx="24">
                  <c:v>19.48</c:v>
                </c:pt>
                <c:pt idx="25">
                  <c:v>20.62</c:v>
                </c:pt>
                <c:pt idx="26">
                  <c:v>21.15</c:v>
                </c:pt>
                <c:pt idx="27">
                  <c:v>21.71</c:v>
                </c:pt>
                <c:pt idx="28">
                  <c:v>29.65</c:v>
                </c:pt>
                <c:pt idx="29">
                  <c:v>32.8</c:v>
                </c:pt>
              </c:numCache>
            </c:numRef>
          </c:val>
        </c:ser>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Dead</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Sheet1!$A$2:$A$28</c:f>
              <c:multiLvlStrCache>
                <c:ptCount val="27"/>
                <c:lvl>
                  <c:pt idx="0">
                    <c:v>Lakshadweep</c:v>
                  </c:pt>
                  <c:pt idx="1">
                    <c:v>Andhra Pradesh</c:v>
                  </c:pt>
                  <c:pt idx="2">
                    <c:v>Odisha</c:v>
                  </c:pt>
                  <c:pt idx="3">
                    <c:v>Meghalaya</c:v>
                  </c:pt>
                  <c:pt idx="4">
                    <c:v>Bihar</c:v>
                  </c:pt>
                  <c:pt idx="5">
                    <c:v>West Bengal</c:v>
                  </c:pt>
                  <c:pt idx="6">
                    <c:v>Sikkim</c:v>
                  </c:pt>
                  <c:pt idx="7">
                    <c:v>Punjab</c:v>
                  </c:pt>
                  <c:pt idx="8">
                    <c:v>Kerala</c:v>
                  </c:pt>
                  <c:pt idx="9">
                    <c:v>Tamil Nadu</c:v>
                  </c:pt>
                  <c:pt idx="10">
                    <c:v>Manipur</c:v>
                  </c:pt>
                  <c:pt idx="11">
                    <c:v>Chhattisgarh</c:v>
                  </c:pt>
                  <c:pt idx="12">
                    <c:v>Gujarat</c:v>
                  </c:pt>
                  <c:pt idx="13">
                    <c:v>Rajasthan</c:v>
                  </c:pt>
                  <c:pt idx="14">
                    <c:v>Haryana</c:v>
                  </c:pt>
                  <c:pt idx="15">
                    <c:v>Jharkhand</c:v>
                  </c:pt>
                  <c:pt idx="16">
                    <c:v>Goa</c:v>
                  </c:pt>
                  <c:pt idx="17">
                    <c:v>Madhya Pradesh</c:v>
                  </c:pt>
                  <c:pt idx="18">
                    <c:v>Maharashtra</c:v>
                  </c:pt>
                  <c:pt idx="19">
                    <c:v>Uttar Pradesh</c:v>
                  </c:pt>
                  <c:pt idx="20">
                    <c:v>Puducherry</c:v>
                  </c:pt>
                  <c:pt idx="21">
                    <c:v>Karnataka</c:v>
                  </c:pt>
                  <c:pt idx="22">
                    <c:v>Telangana</c:v>
                  </c:pt>
                  <c:pt idx="23">
                    <c:v>Nagaland</c:v>
                  </c:pt>
                  <c:pt idx="24">
                    <c:v>Andaman and Nicobar Islands</c:v>
                  </c:pt>
                  <c:pt idx="25">
                    <c:v>Arunachal Pradesh</c:v>
                  </c:pt>
                  <c:pt idx="26">
                    <c:v>Delhi</c:v>
                  </c:pt>
                </c:lvl>
              </c:multiLvlStrCache>
            </c:multiLvlStrRef>
          </c:cat>
          <c:val>
            <c:numRef>
              <c:f>Sheet1!$B$2:$B$28</c:f>
              <c:numCache>
                <c:formatCode>General</c:formatCode>
                <c:ptCount val="27"/>
                <c:pt idx="0">
                  <c:v>49.34</c:v>
                </c:pt>
                <c:pt idx="1">
                  <c:v>33.91</c:v>
                </c:pt>
                <c:pt idx="2">
                  <c:v>41.67</c:v>
                </c:pt>
                <c:pt idx="3">
                  <c:v>45.17</c:v>
                </c:pt>
                <c:pt idx="4">
                  <c:v>34.04</c:v>
                </c:pt>
                <c:pt idx="5">
                  <c:v>41.52</c:v>
                </c:pt>
                <c:pt idx="6">
                  <c:v>28.72</c:v>
                </c:pt>
                <c:pt idx="7">
                  <c:v>28.02</c:v>
                </c:pt>
                <c:pt idx="8">
                  <c:v>26.98</c:v>
                </c:pt>
                <c:pt idx="9">
                  <c:v>27.67</c:v>
                </c:pt>
                <c:pt idx="10">
                  <c:v>27.1</c:v>
                </c:pt>
                <c:pt idx="11">
                  <c:v>23.48</c:v>
                </c:pt>
                <c:pt idx="12">
                  <c:v>24.51</c:v>
                </c:pt>
                <c:pt idx="13">
                  <c:v>20.94</c:v>
                </c:pt>
                <c:pt idx="14">
                  <c:v>22.64</c:v>
                </c:pt>
                <c:pt idx="15">
                  <c:v>17.98</c:v>
                </c:pt>
                <c:pt idx="16">
                  <c:v>25.56</c:v>
                </c:pt>
                <c:pt idx="17">
                  <c:v>19.79</c:v>
                </c:pt>
                <c:pt idx="18">
                  <c:v>16.82</c:v>
                </c:pt>
                <c:pt idx="19">
                  <c:v>16.01</c:v>
                </c:pt>
                <c:pt idx="20">
                  <c:v>20.1</c:v>
                </c:pt>
                <c:pt idx="21">
                  <c:v>15.19</c:v>
                </c:pt>
                <c:pt idx="22">
                  <c:v>12.57</c:v>
                </c:pt>
                <c:pt idx="23">
                  <c:v>18.35</c:v>
                </c:pt>
                <c:pt idx="24">
                  <c:v>14.36</c:v>
                </c:pt>
                <c:pt idx="25">
                  <c:v>15.09</c:v>
                </c:pt>
                <c:pt idx="26">
                  <c:v>5.93</c:v>
                </c:pt>
              </c:numCache>
            </c:numRef>
          </c:val>
        </c:ser>
        <c:ser>
          <c:idx val="1"/>
          <c:order val="1"/>
          <c:tx>
            <c:strRef>
              <c:f>Sheet1!$C$1</c:f>
              <c:strCache>
                <c:ptCount val="1"/>
                <c:pt idx="0">
                  <c:v>Shifted, absent or other</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Sheet1!$A$2:$A$28</c:f>
              <c:multiLvlStrCache>
                <c:ptCount val="27"/>
                <c:lvl>
                  <c:pt idx="0">
                    <c:v>Lakshadweep</c:v>
                  </c:pt>
                  <c:pt idx="1">
                    <c:v>Andhra Pradesh</c:v>
                  </c:pt>
                  <c:pt idx="2">
                    <c:v>Odisha</c:v>
                  </c:pt>
                  <c:pt idx="3">
                    <c:v>Meghalaya</c:v>
                  </c:pt>
                  <c:pt idx="4">
                    <c:v>Bihar</c:v>
                  </c:pt>
                  <c:pt idx="5">
                    <c:v>West Bengal</c:v>
                  </c:pt>
                  <c:pt idx="6">
                    <c:v>Sikkim</c:v>
                  </c:pt>
                  <c:pt idx="7">
                    <c:v>Punjab</c:v>
                  </c:pt>
                  <c:pt idx="8">
                    <c:v>Kerala</c:v>
                  </c:pt>
                  <c:pt idx="9">
                    <c:v>Tamil Nadu</c:v>
                  </c:pt>
                  <c:pt idx="10">
                    <c:v>Manipur</c:v>
                  </c:pt>
                  <c:pt idx="11">
                    <c:v>Chhattisgarh</c:v>
                  </c:pt>
                  <c:pt idx="12">
                    <c:v>Gujarat</c:v>
                  </c:pt>
                  <c:pt idx="13">
                    <c:v>Rajasthan</c:v>
                  </c:pt>
                  <c:pt idx="14">
                    <c:v>Haryana</c:v>
                  </c:pt>
                  <c:pt idx="15">
                    <c:v>Jharkhand</c:v>
                  </c:pt>
                  <c:pt idx="16">
                    <c:v>Goa</c:v>
                  </c:pt>
                  <c:pt idx="17">
                    <c:v>Madhya Pradesh</c:v>
                  </c:pt>
                  <c:pt idx="18">
                    <c:v>Maharashtra</c:v>
                  </c:pt>
                  <c:pt idx="19">
                    <c:v>Uttar Pradesh</c:v>
                  </c:pt>
                  <c:pt idx="20">
                    <c:v>Puducherry</c:v>
                  </c:pt>
                  <c:pt idx="21">
                    <c:v>Karnataka</c:v>
                  </c:pt>
                  <c:pt idx="22">
                    <c:v>Telangana</c:v>
                  </c:pt>
                  <c:pt idx="23">
                    <c:v>Nagaland</c:v>
                  </c:pt>
                  <c:pt idx="24">
                    <c:v>Andaman and Nicobar Islands</c:v>
                  </c:pt>
                  <c:pt idx="25">
                    <c:v>Arunachal Pradesh</c:v>
                  </c:pt>
                  <c:pt idx="26">
                    <c:v>Delhi</c:v>
                  </c:pt>
                </c:lvl>
              </c:multiLvlStrCache>
            </c:multiLvlStrRef>
          </c:cat>
          <c:val>
            <c:numRef>
              <c:f>Sheet1!$C$2:$C$28</c:f>
              <c:numCache>
                <c:formatCode>General</c:formatCode>
                <c:ptCount val="27"/>
                <c:pt idx="0">
                  <c:v>17.63</c:v>
                </c:pt>
                <c:pt idx="1">
                  <c:v>49.68</c:v>
                </c:pt>
                <c:pt idx="2">
                  <c:v>50.42</c:v>
                </c:pt>
                <c:pt idx="3">
                  <c:v>51.11</c:v>
                </c:pt>
                <c:pt idx="4">
                  <c:v>55.28</c:v>
                </c:pt>
                <c:pt idx="5">
                  <c:v>56.11</c:v>
                </c:pt>
                <c:pt idx="6">
                  <c:v>64.93</c:v>
                </c:pt>
                <c:pt idx="7">
                  <c:v>66.17</c:v>
                </c:pt>
                <c:pt idx="8">
                  <c:v>67.37</c:v>
                </c:pt>
                <c:pt idx="9">
                  <c:v>68.24</c:v>
                </c:pt>
                <c:pt idx="10">
                  <c:v>68.24</c:v>
                </c:pt>
                <c:pt idx="11">
                  <c:v>69.97</c:v>
                </c:pt>
                <c:pt idx="12">
                  <c:v>70.32</c:v>
                </c:pt>
                <c:pt idx="13">
                  <c:v>70.83</c:v>
                </c:pt>
                <c:pt idx="14">
                  <c:v>71.33</c:v>
                </c:pt>
                <c:pt idx="15">
                  <c:v>71.69</c:v>
                </c:pt>
                <c:pt idx="16">
                  <c:v>72.44</c:v>
                </c:pt>
                <c:pt idx="17">
                  <c:v>73.72</c:v>
                </c:pt>
                <c:pt idx="18">
                  <c:v>74.67</c:v>
                </c:pt>
                <c:pt idx="19">
                  <c:v>75.16</c:v>
                </c:pt>
                <c:pt idx="20">
                  <c:v>77.94</c:v>
                </c:pt>
                <c:pt idx="21">
                  <c:v>78.24</c:v>
                </c:pt>
                <c:pt idx="22">
                  <c:v>78.3</c:v>
                </c:pt>
                <c:pt idx="23">
                  <c:v>78.45</c:v>
                </c:pt>
                <c:pt idx="24">
                  <c:v>81.09</c:v>
                </c:pt>
                <c:pt idx="25">
                  <c:v>81.99</c:v>
                </c:pt>
                <c:pt idx="26">
                  <c:v>91.1</c:v>
                </c:pt>
              </c:numCache>
            </c:numRef>
          </c:val>
        </c:ser>
        <c:ser>
          <c:idx val="2"/>
          <c:order val="2"/>
          <c:tx>
            <c:strRef>
              <c:f>Sheet1!$D$1</c:f>
              <c:strCache>
                <c:ptCount val="1"/>
                <c:pt idx="0">
                  <c:v>Enrolled more than once</c:v>
                </c:pt>
              </c:strCache>
            </c:strRef>
          </c:tx>
          <c:spPr>
            <a:solidFill>
              <a:srgbClr val="D4AC0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Sheet1!$A$2:$A$28</c:f>
              <c:multiLvlStrCache>
                <c:ptCount val="27"/>
                <c:lvl>
                  <c:pt idx="0">
                    <c:v>Lakshadweep</c:v>
                  </c:pt>
                  <c:pt idx="1">
                    <c:v>Andhra Pradesh</c:v>
                  </c:pt>
                  <c:pt idx="2">
                    <c:v>Odisha</c:v>
                  </c:pt>
                  <c:pt idx="3">
                    <c:v>Meghalaya</c:v>
                  </c:pt>
                  <c:pt idx="4">
                    <c:v>Bihar</c:v>
                  </c:pt>
                  <c:pt idx="5">
                    <c:v>West Bengal</c:v>
                  </c:pt>
                  <c:pt idx="6">
                    <c:v>Sikkim</c:v>
                  </c:pt>
                  <c:pt idx="7">
                    <c:v>Punjab</c:v>
                  </c:pt>
                  <c:pt idx="8">
                    <c:v>Kerala</c:v>
                  </c:pt>
                  <c:pt idx="9">
                    <c:v>Tamil Nadu</c:v>
                  </c:pt>
                  <c:pt idx="10">
                    <c:v>Manipur</c:v>
                  </c:pt>
                  <c:pt idx="11">
                    <c:v>Chhattisgarh</c:v>
                  </c:pt>
                  <c:pt idx="12">
                    <c:v>Gujarat</c:v>
                  </c:pt>
                  <c:pt idx="13">
                    <c:v>Rajasthan</c:v>
                  </c:pt>
                  <c:pt idx="14">
                    <c:v>Haryana</c:v>
                  </c:pt>
                  <c:pt idx="15">
                    <c:v>Jharkhand</c:v>
                  </c:pt>
                  <c:pt idx="16">
                    <c:v>Goa</c:v>
                  </c:pt>
                  <c:pt idx="17">
                    <c:v>Madhya Pradesh</c:v>
                  </c:pt>
                  <c:pt idx="18">
                    <c:v>Maharashtra</c:v>
                  </c:pt>
                  <c:pt idx="19">
                    <c:v>Uttar Pradesh</c:v>
                  </c:pt>
                  <c:pt idx="20">
                    <c:v>Puducherry</c:v>
                  </c:pt>
                  <c:pt idx="21">
                    <c:v>Karnataka</c:v>
                  </c:pt>
                  <c:pt idx="22">
                    <c:v>Telangana</c:v>
                  </c:pt>
                  <c:pt idx="23">
                    <c:v>Nagaland</c:v>
                  </c:pt>
                  <c:pt idx="24">
                    <c:v>Andaman and Nicobar Islands</c:v>
                  </c:pt>
                  <c:pt idx="25">
                    <c:v>Arunachal Pradesh</c:v>
                  </c:pt>
                  <c:pt idx="26">
                    <c:v>Delhi</c:v>
                  </c:pt>
                </c:lvl>
              </c:multiLvlStrCache>
            </c:multiLvlStrRef>
          </c:cat>
          <c:val>
            <c:numRef>
              <c:f>Sheet1!$D$2:$D$28</c:f>
              <c:numCache>
                <c:formatCode>General</c:formatCode>
                <c:ptCount val="27"/>
                <c:pt idx="0">
                  <c:v>33.03</c:v>
                </c:pt>
                <c:pt idx="1">
                  <c:v>16.42</c:v>
                </c:pt>
                <c:pt idx="2">
                  <c:v>7.91</c:v>
                </c:pt>
                <c:pt idx="3">
                  <c:v>3.71</c:v>
                </c:pt>
                <c:pt idx="4">
                  <c:v>10.69</c:v>
                </c:pt>
                <c:pt idx="5">
                  <c:v>2.37</c:v>
                </c:pt>
                <c:pt idx="6">
                  <c:v>6.35</c:v>
                </c:pt>
                <c:pt idx="7">
                  <c:v>5.81</c:v>
                </c:pt>
                <c:pt idx="8">
                  <c:v>5.65</c:v>
                </c:pt>
                <c:pt idx="9">
                  <c:v>4.09</c:v>
                </c:pt>
                <c:pt idx="10">
                  <c:v>4.66</c:v>
                </c:pt>
                <c:pt idx="11">
                  <c:v>6.55</c:v>
                </c:pt>
                <c:pt idx="12">
                  <c:v>5.17</c:v>
                </c:pt>
                <c:pt idx="13">
                  <c:v>8.23</c:v>
                </c:pt>
                <c:pt idx="14">
                  <c:v>6.03</c:v>
                </c:pt>
                <c:pt idx="15">
                  <c:v>10.32</c:v>
                </c:pt>
                <c:pt idx="16">
                  <c:v>2</c:v>
                </c:pt>
                <c:pt idx="17">
                  <c:v>6.48</c:v>
                </c:pt>
                <c:pt idx="18">
                  <c:v>8.52</c:v>
                </c:pt>
                <c:pt idx="19">
                  <c:v>8.82</c:v>
                </c:pt>
                <c:pt idx="20">
                  <c:v>1.96</c:v>
                </c:pt>
                <c:pt idx="21">
                  <c:v>6.58</c:v>
                </c:pt>
                <c:pt idx="22">
                  <c:v>9.13</c:v>
                </c:pt>
                <c:pt idx="23">
                  <c:v>3.21</c:v>
                </c:pt>
                <c:pt idx="24">
                  <c:v>4.56</c:v>
                </c:pt>
                <c:pt idx="25">
                  <c:v>2.92</c:v>
                </c:pt>
                <c:pt idx="26">
                  <c:v>2.97</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Women, % of the roll</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Delhi</c:v>
                  </c:pt>
                  <c:pt idx="1">
                    <c:v>Karnataka</c:v>
                  </c:pt>
                  <c:pt idx="2">
                    <c:v>Tamil Nadu</c:v>
                  </c:pt>
                  <c:pt idx="3">
                    <c:v>Gujarat</c:v>
                  </c:pt>
                  <c:pt idx="4">
                    <c:v>Kerala</c:v>
                  </c:pt>
                  <c:pt idx="5">
                    <c:v>West Bengal</c:v>
                  </c:pt>
                  <c:pt idx="6">
                    <c:v>Madhya Pradesh</c:v>
                  </c:pt>
                  <c:pt idx="7">
                    <c:v>Uttar Pradesh</c:v>
                  </c:pt>
                  <c:pt idx="8">
                    <c:v>Odisha</c:v>
                  </c:pt>
                  <c:pt idx="9">
                    <c:v>Bihar</c:v>
                  </c:pt>
                </c:lvl>
              </c:multiLvlStrCache>
            </c:multiLvlStrRef>
          </c:cat>
          <c:val>
            <c:numRef>
              <c:f>Sheet1!$B$2:$B$11</c:f>
              <c:numCache>
                <c:formatCode>General</c:formatCode>
                <c:ptCount val="10"/>
                <c:pt idx="0">
                  <c:v>46.85</c:v>
                </c:pt>
                <c:pt idx="1">
                  <c:v>50.22</c:v>
                </c:pt>
                <c:pt idx="2">
                  <c:v>51.02</c:v>
                </c:pt>
                <c:pt idx="3">
                  <c:v>48.82</c:v>
                </c:pt>
                <c:pt idx="4">
                  <c:v>51.67</c:v>
                </c:pt>
                <c:pt idx="5">
                  <c:v>49.24</c:v>
                </c:pt>
                <c:pt idx="6">
                  <c:v>48.59</c:v>
                </c:pt>
                <c:pt idx="7">
                  <c:v>46.76</c:v>
                </c:pt>
                <c:pt idx="8">
                  <c:v>49.44</c:v>
                </c:pt>
                <c:pt idx="9">
                  <c:v>47.86</c:v>
                </c:pt>
              </c:numCache>
            </c:numRef>
          </c:val>
        </c:ser>
        <c:ser>
          <c:idx val="1"/>
          <c:order val="1"/>
          <c:tx>
            <c:strRef>
              <c:f>Sheet1!$C$1</c:f>
              <c:strCache>
                <c:ptCount val="1"/>
                <c:pt idx="0">
                  <c:v>Women, % of names removed</c:v>
                </c:pt>
              </c:strCache>
            </c:strRef>
          </c:tx>
          <c:spPr>
            <a:solidFill>
              <a:srgbClr val="AF3B6E"/>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Delhi</c:v>
                  </c:pt>
                  <c:pt idx="1">
                    <c:v>Karnataka</c:v>
                  </c:pt>
                  <c:pt idx="2">
                    <c:v>Tamil Nadu</c:v>
                  </c:pt>
                  <c:pt idx="3">
                    <c:v>Gujarat</c:v>
                  </c:pt>
                  <c:pt idx="4">
                    <c:v>Kerala</c:v>
                  </c:pt>
                  <c:pt idx="5">
                    <c:v>West Bengal</c:v>
                  </c:pt>
                  <c:pt idx="6">
                    <c:v>Madhya Pradesh</c:v>
                  </c:pt>
                  <c:pt idx="7">
                    <c:v>Uttar Pradesh</c:v>
                  </c:pt>
                  <c:pt idx="8">
                    <c:v>Odisha</c:v>
                  </c:pt>
                  <c:pt idx="9">
                    <c:v>Bihar</c:v>
                  </c:pt>
                </c:lvl>
              </c:multiLvlStrCache>
            </c:multiLvlStrRef>
          </c:cat>
          <c:val>
            <c:numRef>
              <c:f>Sheet1!$C$2:$C$11</c:f>
              <c:numCache>
                <c:formatCode>General</c:formatCode>
                <c:ptCount val="10"/>
                <c:pt idx="0">
                  <c:v>42.77</c:v>
                </c:pt>
                <c:pt idx="1">
                  <c:v>49.69</c:v>
                </c:pt>
                <c:pt idx="2">
                  <c:v>51.34</c:v>
                </c:pt>
                <c:pt idx="3">
                  <c:v>51.42</c:v>
                </c:pt>
                <c:pt idx="4">
                  <c:v>55.32</c:v>
                </c:pt>
                <c:pt idx="5">
                  <c:v>53.61</c:v>
                </c:pt>
                <c:pt idx="6">
                  <c:v>55.33</c:v>
                </c:pt>
                <c:pt idx="7">
                  <c:v>53.63</c:v>
                </c:pt>
                <c:pt idx="8">
                  <c:v>56.96</c:v>
                </c:pt>
                <c:pt idx="9">
                  <c:v>55.49</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max val="60"/>
          <c:min val="40"/>
        </c:scaling>
        <c:delete val="0"/>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Outside Bihar the figures are the Chief Electoral Officers' own, from their press notes or as reported in the press; Bihar is counted from the deletion lists. Shares are of the removals each state split by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D6E4F0"/>
                </a:solidFill>
                <a:latin typeface="Calibri" pitchFamily="34" charset="0"/>
                <a:ea typeface="Calibri" pitchFamily="34" charset="-122"/>
                <a:cs typeface="Calibri" pitchFamily="34" charset="-120"/>
              </a:rPr>
              <a:t>SPECIAL INTENSIVE REVISION · INDIA 2025-26</a:t>
            </a:r>
            <a:endParaRPr lang="en-US" sz="1300" dirty="0"/>
          </a:p>
        </p:txBody>
      </p:sp>
      <p:sp>
        <p:nvSpPr>
          <p:cNvPr id="3" name="Text 1"/>
          <p:cNvSpPr txBox="1"/>
          <p:nvPr/>
        </p:nvSpPr>
        <p:spPr>
          <a:xfrm>
            <a:off x="548640" y="1051560"/>
            <a:ext cx="11094415"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13.39 crore names were left off the draft rolls, and four in five were not entered as dead</a:t>
            </a:r>
            <a:endParaRPr lang="en-US" sz="3800" dirty="0"/>
          </a:p>
        </p:txBody>
      </p:sp>
      <p:sp>
        <p:nvSpPr>
          <p:cNvPr id="4" name="Text 2"/>
          <p:cNvSpPr txBox="1"/>
          <p:nvPr/>
        </p:nvSpPr>
        <p:spPr>
          <a:xfrm>
            <a:off x="548640" y="2377440"/>
            <a:ext cx="10180015" cy="731520"/>
          </a:xfrm>
          <a:prstGeom prst="rect">
            <a:avLst/>
          </a:prstGeom>
          <a:noFill/>
          <a:ln/>
        </p:spPr>
        <p:txBody>
          <a:bodyPr wrap="square" lIns="0" tIns="0" rIns="0" bIns="0" rtlCol="0" anchor="t"/>
          <a:lstStyle/>
          <a:p>
            <a:pPr indent="0" marL="0">
              <a:buNone/>
            </a:pPr>
            <a:r>
              <a:rPr lang="en-US" sz="1700" dirty="0">
                <a:solidFill>
                  <a:srgbClr val="D6E4F0"/>
                </a:solidFill>
                <a:latin typeface="Calibri" pitchFamily="34" charset="0"/>
                <a:ea typeface="Calibri" pitchFamily="34" charset="-122"/>
                <a:cs typeface="Calibri" pitchFamily="34" charset="-120"/>
              </a:rPr>
              <a:t>The reason recorded for every removal, state by state: women among the removed, and what goes with the removal rate</a:t>
            </a:r>
            <a:endParaRPr lang="en-US" sz="1700" dirty="0"/>
          </a:p>
        </p:txBody>
      </p:sp>
      <p:sp>
        <p:nvSpPr>
          <p:cNvPr id="5" name="Shape 3"/>
          <p:cNvSpPr/>
          <p:nvPr/>
        </p:nvSpPr>
        <p:spPr>
          <a:xfrm>
            <a:off x="548640" y="3429000"/>
            <a:ext cx="2567864" cy="1737360"/>
          </a:xfrm>
          <a:prstGeom prst="roundRect">
            <a:avLst>
              <a:gd name="adj" fmla="val 4211"/>
            </a:avLst>
          </a:prstGeom>
          <a:solidFill>
            <a:srgbClr val="163A5C"/>
          </a:solidFill>
          <a:ln/>
        </p:spPr>
      </p:sp>
      <p:sp>
        <p:nvSpPr>
          <p:cNvPr id="6" name="Text 4"/>
          <p:cNvSpPr txBox="1"/>
          <p:nvPr/>
        </p:nvSpPr>
        <p:spPr>
          <a:xfrm>
            <a:off x="731520"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13.39 crore</a:t>
            </a:r>
            <a:endParaRPr lang="en-US" sz="3000" dirty="0"/>
          </a:p>
        </p:txBody>
      </p:sp>
      <p:sp>
        <p:nvSpPr>
          <p:cNvPr id="7" name="Text 5"/>
          <p:cNvSpPr txBox="1"/>
          <p:nvPr/>
        </p:nvSpPr>
        <p:spPr>
          <a:xfrm>
            <a:off x="731520"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left off the draft rolls in 31 states and union territories</a:t>
            </a:r>
            <a:endParaRPr lang="en-US" sz="1250" dirty="0"/>
          </a:p>
        </p:txBody>
      </p:sp>
      <p:sp>
        <p:nvSpPr>
          <p:cNvPr id="8" name="Shape 6"/>
          <p:cNvSpPr/>
          <p:nvPr/>
        </p:nvSpPr>
        <p:spPr>
          <a:xfrm>
            <a:off x="3390824" y="3429000"/>
            <a:ext cx="2567864" cy="1737360"/>
          </a:xfrm>
          <a:prstGeom prst="roundRect">
            <a:avLst>
              <a:gd name="adj" fmla="val 4211"/>
            </a:avLst>
          </a:prstGeom>
          <a:solidFill>
            <a:srgbClr val="163A5C"/>
          </a:solidFill>
          <a:ln/>
        </p:spPr>
      </p:sp>
      <p:sp>
        <p:nvSpPr>
          <p:cNvPr id="9" name="Text 7"/>
          <p:cNvSpPr txBox="1"/>
          <p:nvPr/>
        </p:nvSpPr>
        <p:spPr>
          <a:xfrm>
            <a:off x="3573704"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71.4%</a:t>
            </a:r>
            <a:endParaRPr lang="en-US" sz="3000" dirty="0"/>
          </a:p>
        </p:txBody>
      </p:sp>
      <p:sp>
        <p:nvSpPr>
          <p:cNvPr id="10" name="Text 8"/>
          <p:cNvSpPr txBox="1"/>
          <p:nvPr/>
        </p:nvSpPr>
        <p:spPr>
          <a:xfrm>
            <a:off x="3573704"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entered as shifted, absent or other</a:t>
            </a:r>
            <a:endParaRPr lang="en-US" sz="1250" dirty="0"/>
          </a:p>
        </p:txBody>
      </p:sp>
      <p:sp>
        <p:nvSpPr>
          <p:cNvPr id="11" name="Shape 9"/>
          <p:cNvSpPr/>
          <p:nvPr/>
        </p:nvSpPr>
        <p:spPr>
          <a:xfrm>
            <a:off x="6233008" y="3429000"/>
            <a:ext cx="2567864" cy="1737360"/>
          </a:xfrm>
          <a:prstGeom prst="roundRect">
            <a:avLst>
              <a:gd name="adj" fmla="val 4211"/>
            </a:avLst>
          </a:prstGeom>
          <a:solidFill>
            <a:srgbClr val="163A5C"/>
          </a:solidFill>
          <a:ln/>
        </p:spPr>
      </p:sp>
      <p:sp>
        <p:nvSpPr>
          <p:cNvPr id="12" name="Text 10"/>
          <p:cNvSpPr txBox="1"/>
          <p:nvPr/>
        </p:nvSpPr>
        <p:spPr>
          <a:xfrm>
            <a:off x="6415888"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21.0%</a:t>
            </a:r>
            <a:endParaRPr lang="en-US" sz="3000" dirty="0"/>
          </a:p>
        </p:txBody>
      </p:sp>
      <p:sp>
        <p:nvSpPr>
          <p:cNvPr id="13" name="Text 11"/>
          <p:cNvSpPr txBox="1"/>
          <p:nvPr/>
        </p:nvSpPr>
        <p:spPr>
          <a:xfrm>
            <a:off x="6415888"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entered as dead</a:t>
            </a:r>
            <a:endParaRPr lang="en-US" sz="1250" dirty="0"/>
          </a:p>
        </p:txBody>
      </p:sp>
      <p:sp>
        <p:nvSpPr>
          <p:cNvPr id="14" name="Shape 12"/>
          <p:cNvSpPr/>
          <p:nvPr/>
        </p:nvSpPr>
        <p:spPr>
          <a:xfrm>
            <a:off x="9075191" y="3429000"/>
            <a:ext cx="2567864" cy="1737360"/>
          </a:xfrm>
          <a:prstGeom prst="roundRect">
            <a:avLst>
              <a:gd name="adj" fmla="val 4211"/>
            </a:avLst>
          </a:prstGeom>
          <a:solidFill>
            <a:srgbClr val="163A5C"/>
          </a:solidFill>
          <a:ln/>
        </p:spPr>
      </p:sp>
      <p:sp>
        <p:nvSpPr>
          <p:cNvPr id="15" name="Text 13"/>
          <p:cNvSpPr txBox="1"/>
          <p:nvPr/>
        </p:nvSpPr>
        <p:spPr>
          <a:xfrm>
            <a:off x="9258071"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7.6%</a:t>
            </a:r>
            <a:endParaRPr lang="en-US" sz="3000" dirty="0"/>
          </a:p>
        </p:txBody>
      </p:sp>
      <p:sp>
        <p:nvSpPr>
          <p:cNvPr id="16" name="Text 14"/>
          <p:cNvSpPr txBox="1"/>
          <p:nvPr/>
        </p:nvSpPr>
        <p:spPr>
          <a:xfrm>
            <a:off x="9258071"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entered as enrolled more than once</a:t>
            </a:r>
            <a:endParaRPr lang="en-US" sz="1250" dirty="0"/>
          </a:p>
        </p:txBody>
      </p:sp>
      <p:sp>
        <p:nvSpPr>
          <p:cNvPr id="17" name="Text 15"/>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rgbClr val="D6E4F0"/>
                </a:solidFill>
                <a:latin typeface="Calibri" pitchFamily="34" charset="0"/>
                <a:ea typeface="Calibri" pitchFamily="34" charset="-122"/>
                <a:cs typeface="Calibri" pitchFamily="34" charset="-120"/>
              </a:rPr>
              <a:t>Varna Sri Raman</a:t>
            </a:r>
            <a:endParaRPr lang="en-US" sz="1300" dirty="0"/>
          </a:p>
        </p:txBody>
      </p:sp>
      <p:sp>
        <p:nvSpPr>
          <p:cNvPr id="18" name="Shape 16"/>
          <p:cNvSpPr/>
          <p:nvPr/>
        </p:nvSpPr>
        <p:spPr>
          <a:xfrm>
            <a:off x="0" y="6748272"/>
            <a:ext cx="304792" cy="109728"/>
          </a:xfrm>
          <a:prstGeom prst="rect">
            <a:avLst/>
          </a:prstGeom>
          <a:solidFill>
            <a:srgbClr val="C0392B"/>
          </a:solidFill>
          <a:ln/>
        </p:spPr>
      </p:sp>
      <p:sp>
        <p:nvSpPr>
          <p:cNvPr id="19" name="Shape 17"/>
          <p:cNvSpPr/>
          <p:nvPr/>
        </p:nvSpPr>
        <p:spPr>
          <a:xfrm>
            <a:off x="304792" y="6748272"/>
            <a:ext cx="304792" cy="109728"/>
          </a:xfrm>
          <a:prstGeom prst="rect">
            <a:avLst/>
          </a:prstGeom>
          <a:solidFill>
            <a:srgbClr val="E67E22"/>
          </a:solidFill>
          <a:ln/>
        </p:spPr>
      </p:sp>
      <p:sp>
        <p:nvSpPr>
          <p:cNvPr id="20" name="Shape 18"/>
          <p:cNvSpPr/>
          <p:nvPr/>
        </p:nvSpPr>
        <p:spPr>
          <a:xfrm>
            <a:off x="609585" y="6748272"/>
            <a:ext cx="304792" cy="109728"/>
          </a:xfrm>
          <a:prstGeom prst="rect">
            <a:avLst/>
          </a:prstGeom>
          <a:solidFill>
            <a:srgbClr val="27AE60"/>
          </a:solidFill>
          <a:ln/>
        </p:spPr>
      </p:sp>
      <p:sp>
        <p:nvSpPr>
          <p:cNvPr id="21" name="Shape 19"/>
          <p:cNvSpPr/>
          <p:nvPr/>
        </p:nvSpPr>
        <p:spPr>
          <a:xfrm>
            <a:off x="914377" y="6748272"/>
            <a:ext cx="304792" cy="109728"/>
          </a:xfrm>
          <a:prstGeom prst="rect">
            <a:avLst/>
          </a:prstGeom>
          <a:solidFill>
            <a:srgbClr val="1F618D"/>
          </a:solidFill>
          <a:ln/>
        </p:spPr>
      </p:sp>
      <p:sp>
        <p:nvSpPr>
          <p:cNvPr id="22" name="Shape 20"/>
          <p:cNvSpPr/>
          <p:nvPr/>
        </p:nvSpPr>
        <p:spPr>
          <a:xfrm>
            <a:off x="1219170" y="6748272"/>
            <a:ext cx="304792" cy="109728"/>
          </a:xfrm>
          <a:prstGeom prst="rect">
            <a:avLst/>
          </a:prstGeom>
          <a:solidFill>
            <a:srgbClr val="8E44AD"/>
          </a:solidFill>
          <a:ln/>
        </p:spPr>
      </p:sp>
      <p:sp>
        <p:nvSpPr>
          <p:cNvPr id="23" name="Shape 21"/>
          <p:cNvSpPr/>
          <p:nvPr/>
        </p:nvSpPr>
        <p:spPr>
          <a:xfrm>
            <a:off x="1523962" y="6748272"/>
            <a:ext cx="304792" cy="109728"/>
          </a:xfrm>
          <a:prstGeom prst="rect">
            <a:avLst/>
          </a:prstGeom>
          <a:solidFill>
            <a:srgbClr val="C0392B"/>
          </a:solidFill>
          <a:ln/>
        </p:spPr>
      </p:sp>
      <p:sp>
        <p:nvSpPr>
          <p:cNvPr id="24" name="Shape 22"/>
          <p:cNvSpPr/>
          <p:nvPr/>
        </p:nvSpPr>
        <p:spPr>
          <a:xfrm>
            <a:off x="1828754" y="6748272"/>
            <a:ext cx="304792" cy="109728"/>
          </a:xfrm>
          <a:prstGeom prst="rect">
            <a:avLst/>
          </a:prstGeom>
          <a:solidFill>
            <a:srgbClr val="E67E22"/>
          </a:solidFill>
          <a:ln/>
        </p:spPr>
      </p:sp>
      <p:sp>
        <p:nvSpPr>
          <p:cNvPr id="25" name="Shape 23"/>
          <p:cNvSpPr/>
          <p:nvPr/>
        </p:nvSpPr>
        <p:spPr>
          <a:xfrm>
            <a:off x="2133547" y="6748272"/>
            <a:ext cx="304792" cy="109728"/>
          </a:xfrm>
          <a:prstGeom prst="rect">
            <a:avLst/>
          </a:prstGeom>
          <a:solidFill>
            <a:srgbClr val="27AE60"/>
          </a:solidFill>
          <a:ln/>
        </p:spPr>
      </p:sp>
      <p:sp>
        <p:nvSpPr>
          <p:cNvPr id="26" name="Shape 24"/>
          <p:cNvSpPr/>
          <p:nvPr/>
        </p:nvSpPr>
        <p:spPr>
          <a:xfrm>
            <a:off x="2438339" y="6748272"/>
            <a:ext cx="304792" cy="109728"/>
          </a:xfrm>
          <a:prstGeom prst="rect">
            <a:avLst/>
          </a:prstGeom>
          <a:solidFill>
            <a:srgbClr val="1F618D"/>
          </a:solidFill>
          <a:ln/>
        </p:spPr>
      </p:sp>
      <p:sp>
        <p:nvSpPr>
          <p:cNvPr id="27" name="Shape 25"/>
          <p:cNvSpPr/>
          <p:nvPr/>
        </p:nvSpPr>
        <p:spPr>
          <a:xfrm>
            <a:off x="2743131" y="6748272"/>
            <a:ext cx="304792" cy="109728"/>
          </a:xfrm>
          <a:prstGeom prst="rect">
            <a:avLst/>
          </a:prstGeom>
          <a:solidFill>
            <a:srgbClr val="8E44AD"/>
          </a:solidFill>
          <a:ln/>
        </p:spPr>
      </p:sp>
      <p:sp>
        <p:nvSpPr>
          <p:cNvPr id="28" name="Shape 26"/>
          <p:cNvSpPr/>
          <p:nvPr/>
        </p:nvSpPr>
        <p:spPr>
          <a:xfrm>
            <a:off x="3047924" y="6748272"/>
            <a:ext cx="304792" cy="109728"/>
          </a:xfrm>
          <a:prstGeom prst="rect">
            <a:avLst/>
          </a:prstGeom>
          <a:solidFill>
            <a:srgbClr val="C0392B"/>
          </a:solidFill>
          <a:ln/>
        </p:spPr>
      </p:sp>
      <p:sp>
        <p:nvSpPr>
          <p:cNvPr id="29" name="Shape 27"/>
          <p:cNvSpPr/>
          <p:nvPr/>
        </p:nvSpPr>
        <p:spPr>
          <a:xfrm>
            <a:off x="3352716" y="6748272"/>
            <a:ext cx="304792" cy="109728"/>
          </a:xfrm>
          <a:prstGeom prst="rect">
            <a:avLst/>
          </a:prstGeom>
          <a:solidFill>
            <a:srgbClr val="E67E22"/>
          </a:solidFill>
          <a:ln/>
        </p:spPr>
      </p:sp>
      <p:sp>
        <p:nvSpPr>
          <p:cNvPr id="30" name="Shape 28"/>
          <p:cNvSpPr/>
          <p:nvPr/>
        </p:nvSpPr>
        <p:spPr>
          <a:xfrm>
            <a:off x="3657509" y="6748272"/>
            <a:ext cx="304792" cy="109728"/>
          </a:xfrm>
          <a:prstGeom prst="rect">
            <a:avLst/>
          </a:prstGeom>
          <a:solidFill>
            <a:srgbClr val="27AE60"/>
          </a:solidFill>
          <a:ln/>
        </p:spPr>
      </p:sp>
      <p:sp>
        <p:nvSpPr>
          <p:cNvPr id="31" name="Shape 29"/>
          <p:cNvSpPr/>
          <p:nvPr/>
        </p:nvSpPr>
        <p:spPr>
          <a:xfrm>
            <a:off x="3962301" y="6748272"/>
            <a:ext cx="304792" cy="109728"/>
          </a:xfrm>
          <a:prstGeom prst="rect">
            <a:avLst/>
          </a:prstGeom>
          <a:solidFill>
            <a:srgbClr val="1F618D"/>
          </a:solidFill>
          <a:ln/>
        </p:spPr>
      </p:sp>
      <p:sp>
        <p:nvSpPr>
          <p:cNvPr id="32" name="Shape 30"/>
          <p:cNvSpPr/>
          <p:nvPr/>
        </p:nvSpPr>
        <p:spPr>
          <a:xfrm>
            <a:off x="4267093" y="6748272"/>
            <a:ext cx="304792" cy="109728"/>
          </a:xfrm>
          <a:prstGeom prst="rect">
            <a:avLst/>
          </a:prstGeom>
          <a:solidFill>
            <a:srgbClr val="8E44AD"/>
          </a:solidFill>
          <a:ln/>
        </p:spPr>
      </p:sp>
      <p:sp>
        <p:nvSpPr>
          <p:cNvPr id="33" name="Shape 31"/>
          <p:cNvSpPr/>
          <p:nvPr/>
        </p:nvSpPr>
        <p:spPr>
          <a:xfrm>
            <a:off x="4571886" y="6748272"/>
            <a:ext cx="304792" cy="109728"/>
          </a:xfrm>
          <a:prstGeom prst="rect">
            <a:avLst/>
          </a:prstGeom>
          <a:solidFill>
            <a:srgbClr val="C0392B"/>
          </a:solidFill>
          <a:ln/>
        </p:spPr>
      </p:sp>
      <p:sp>
        <p:nvSpPr>
          <p:cNvPr id="34" name="Shape 32"/>
          <p:cNvSpPr/>
          <p:nvPr/>
        </p:nvSpPr>
        <p:spPr>
          <a:xfrm>
            <a:off x="4876678" y="6748272"/>
            <a:ext cx="304792" cy="109728"/>
          </a:xfrm>
          <a:prstGeom prst="rect">
            <a:avLst/>
          </a:prstGeom>
          <a:solidFill>
            <a:srgbClr val="E67E22"/>
          </a:solidFill>
          <a:ln/>
        </p:spPr>
      </p:sp>
      <p:sp>
        <p:nvSpPr>
          <p:cNvPr id="35" name="Shape 33"/>
          <p:cNvSpPr/>
          <p:nvPr/>
        </p:nvSpPr>
        <p:spPr>
          <a:xfrm>
            <a:off x="5181470" y="6748272"/>
            <a:ext cx="304792" cy="109728"/>
          </a:xfrm>
          <a:prstGeom prst="rect">
            <a:avLst/>
          </a:prstGeom>
          <a:solidFill>
            <a:srgbClr val="27AE60"/>
          </a:solidFill>
          <a:ln/>
        </p:spPr>
      </p:sp>
      <p:sp>
        <p:nvSpPr>
          <p:cNvPr id="36" name="Shape 34"/>
          <p:cNvSpPr/>
          <p:nvPr/>
        </p:nvSpPr>
        <p:spPr>
          <a:xfrm>
            <a:off x="5486263" y="6748272"/>
            <a:ext cx="304792" cy="109728"/>
          </a:xfrm>
          <a:prstGeom prst="rect">
            <a:avLst/>
          </a:prstGeom>
          <a:solidFill>
            <a:srgbClr val="1F618D"/>
          </a:solidFill>
          <a:ln/>
        </p:spPr>
      </p:sp>
      <p:sp>
        <p:nvSpPr>
          <p:cNvPr id="37" name="Shape 35"/>
          <p:cNvSpPr/>
          <p:nvPr/>
        </p:nvSpPr>
        <p:spPr>
          <a:xfrm>
            <a:off x="5791055" y="6748272"/>
            <a:ext cx="304792" cy="109728"/>
          </a:xfrm>
          <a:prstGeom prst="rect">
            <a:avLst/>
          </a:prstGeom>
          <a:solidFill>
            <a:srgbClr val="8E44AD"/>
          </a:solidFill>
          <a:ln/>
        </p:spPr>
      </p:sp>
      <p:sp>
        <p:nvSpPr>
          <p:cNvPr id="38" name="Shape 36"/>
          <p:cNvSpPr/>
          <p:nvPr/>
        </p:nvSpPr>
        <p:spPr>
          <a:xfrm>
            <a:off x="6095848" y="6748272"/>
            <a:ext cx="304792" cy="109728"/>
          </a:xfrm>
          <a:prstGeom prst="rect">
            <a:avLst/>
          </a:prstGeom>
          <a:solidFill>
            <a:srgbClr val="C0392B"/>
          </a:solidFill>
          <a:ln/>
        </p:spPr>
      </p:sp>
      <p:sp>
        <p:nvSpPr>
          <p:cNvPr id="39" name="Shape 37"/>
          <p:cNvSpPr/>
          <p:nvPr/>
        </p:nvSpPr>
        <p:spPr>
          <a:xfrm>
            <a:off x="6400640" y="6748272"/>
            <a:ext cx="304792" cy="109728"/>
          </a:xfrm>
          <a:prstGeom prst="rect">
            <a:avLst/>
          </a:prstGeom>
          <a:solidFill>
            <a:srgbClr val="E67E22"/>
          </a:solidFill>
          <a:ln/>
        </p:spPr>
      </p:sp>
      <p:sp>
        <p:nvSpPr>
          <p:cNvPr id="40" name="Shape 38"/>
          <p:cNvSpPr/>
          <p:nvPr/>
        </p:nvSpPr>
        <p:spPr>
          <a:xfrm>
            <a:off x="6705432" y="6748272"/>
            <a:ext cx="304792" cy="109728"/>
          </a:xfrm>
          <a:prstGeom prst="rect">
            <a:avLst/>
          </a:prstGeom>
          <a:solidFill>
            <a:srgbClr val="27AE60"/>
          </a:solidFill>
          <a:ln/>
        </p:spPr>
      </p:sp>
      <p:sp>
        <p:nvSpPr>
          <p:cNvPr id="41" name="Shape 39"/>
          <p:cNvSpPr/>
          <p:nvPr/>
        </p:nvSpPr>
        <p:spPr>
          <a:xfrm>
            <a:off x="7010225" y="6748272"/>
            <a:ext cx="304792" cy="109728"/>
          </a:xfrm>
          <a:prstGeom prst="rect">
            <a:avLst/>
          </a:prstGeom>
          <a:solidFill>
            <a:srgbClr val="1F618D"/>
          </a:solidFill>
          <a:ln/>
        </p:spPr>
      </p:sp>
      <p:sp>
        <p:nvSpPr>
          <p:cNvPr id="42" name="Shape 40"/>
          <p:cNvSpPr/>
          <p:nvPr/>
        </p:nvSpPr>
        <p:spPr>
          <a:xfrm>
            <a:off x="7315017" y="6748272"/>
            <a:ext cx="304792" cy="109728"/>
          </a:xfrm>
          <a:prstGeom prst="rect">
            <a:avLst/>
          </a:prstGeom>
          <a:solidFill>
            <a:srgbClr val="8E44AD"/>
          </a:solidFill>
          <a:ln/>
        </p:spPr>
      </p:sp>
      <p:sp>
        <p:nvSpPr>
          <p:cNvPr id="43" name="Shape 41"/>
          <p:cNvSpPr/>
          <p:nvPr/>
        </p:nvSpPr>
        <p:spPr>
          <a:xfrm>
            <a:off x="7619809" y="6748272"/>
            <a:ext cx="304792" cy="109728"/>
          </a:xfrm>
          <a:prstGeom prst="rect">
            <a:avLst/>
          </a:prstGeom>
          <a:solidFill>
            <a:srgbClr val="C0392B"/>
          </a:solidFill>
          <a:ln/>
        </p:spPr>
      </p:sp>
      <p:sp>
        <p:nvSpPr>
          <p:cNvPr id="44" name="Shape 42"/>
          <p:cNvSpPr/>
          <p:nvPr/>
        </p:nvSpPr>
        <p:spPr>
          <a:xfrm>
            <a:off x="7924602" y="6748272"/>
            <a:ext cx="304792" cy="109728"/>
          </a:xfrm>
          <a:prstGeom prst="rect">
            <a:avLst/>
          </a:prstGeom>
          <a:solidFill>
            <a:srgbClr val="E67E22"/>
          </a:solidFill>
          <a:ln/>
        </p:spPr>
      </p:sp>
      <p:sp>
        <p:nvSpPr>
          <p:cNvPr id="45" name="Shape 43"/>
          <p:cNvSpPr/>
          <p:nvPr/>
        </p:nvSpPr>
        <p:spPr>
          <a:xfrm>
            <a:off x="8229394" y="6748272"/>
            <a:ext cx="304792" cy="109728"/>
          </a:xfrm>
          <a:prstGeom prst="rect">
            <a:avLst/>
          </a:prstGeom>
          <a:solidFill>
            <a:srgbClr val="27AE60"/>
          </a:solidFill>
          <a:ln/>
        </p:spPr>
      </p:sp>
      <p:sp>
        <p:nvSpPr>
          <p:cNvPr id="46" name="Shape 44"/>
          <p:cNvSpPr/>
          <p:nvPr/>
        </p:nvSpPr>
        <p:spPr>
          <a:xfrm>
            <a:off x="8534187" y="6748272"/>
            <a:ext cx="304792" cy="109728"/>
          </a:xfrm>
          <a:prstGeom prst="rect">
            <a:avLst/>
          </a:prstGeom>
          <a:solidFill>
            <a:srgbClr val="1F618D"/>
          </a:solidFill>
          <a:ln/>
        </p:spPr>
      </p:sp>
      <p:sp>
        <p:nvSpPr>
          <p:cNvPr id="47" name="Shape 45"/>
          <p:cNvSpPr/>
          <p:nvPr/>
        </p:nvSpPr>
        <p:spPr>
          <a:xfrm>
            <a:off x="8838979" y="6748272"/>
            <a:ext cx="304792" cy="109728"/>
          </a:xfrm>
          <a:prstGeom prst="rect">
            <a:avLst/>
          </a:prstGeom>
          <a:solidFill>
            <a:srgbClr val="8E44AD"/>
          </a:solidFill>
          <a:ln/>
        </p:spPr>
      </p:sp>
      <p:sp>
        <p:nvSpPr>
          <p:cNvPr id="48" name="Shape 46"/>
          <p:cNvSpPr/>
          <p:nvPr/>
        </p:nvSpPr>
        <p:spPr>
          <a:xfrm>
            <a:off x="9143771" y="6748272"/>
            <a:ext cx="304792" cy="109728"/>
          </a:xfrm>
          <a:prstGeom prst="rect">
            <a:avLst/>
          </a:prstGeom>
          <a:solidFill>
            <a:srgbClr val="C0392B"/>
          </a:solidFill>
          <a:ln/>
        </p:spPr>
      </p:sp>
      <p:sp>
        <p:nvSpPr>
          <p:cNvPr id="49" name="Shape 47"/>
          <p:cNvSpPr/>
          <p:nvPr/>
        </p:nvSpPr>
        <p:spPr>
          <a:xfrm>
            <a:off x="9448564" y="6748272"/>
            <a:ext cx="304792" cy="109728"/>
          </a:xfrm>
          <a:prstGeom prst="rect">
            <a:avLst/>
          </a:prstGeom>
          <a:solidFill>
            <a:srgbClr val="E67E22"/>
          </a:solidFill>
          <a:ln/>
        </p:spPr>
      </p:sp>
      <p:sp>
        <p:nvSpPr>
          <p:cNvPr id="50" name="Shape 48"/>
          <p:cNvSpPr/>
          <p:nvPr/>
        </p:nvSpPr>
        <p:spPr>
          <a:xfrm>
            <a:off x="9753356" y="6748272"/>
            <a:ext cx="304792" cy="109728"/>
          </a:xfrm>
          <a:prstGeom prst="rect">
            <a:avLst/>
          </a:prstGeom>
          <a:solidFill>
            <a:srgbClr val="27AE60"/>
          </a:solidFill>
          <a:ln/>
        </p:spPr>
      </p:sp>
      <p:sp>
        <p:nvSpPr>
          <p:cNvPr id="51" name="Shape 49"/>
          <p:cNvSpPr/>
          <p:nvPr/>
        </p:nvSpPr>
        <p:spPr>
          <a:xfrm>
            <a:off x="10058149" y="6748272"/>
            <a:ext cx="304792" cy="109728"/>
          </a:xfrm>
          <a:prstGeom prst="rect">
            <a:avLst/>
          </a:prstGeom>
          <a:solidFill>
            <a:srgbClr val="1F618D"/>
          </a:solidFill>
          <a:ln/>
        </p:spPr>
      </p:sp>
      <p:sp>
        <p:nvSpPr>
          <p:cNvPr id="52" name="Shape 50"/>
          <p:cNvSpPr/>
          <p:nvPr/>
        </p:nvSpPr>
        <p:spPr>
          <a:xfrm>
            <a:off x="10362941" y="6748272"/>
            <a:ext cx="304792" cy="109728"/>
          </a:xfrm>
          <a:prstGeom prst="rect">
            <a:avLst/>
          </a:prstGeom>
          <a:solidFill>
            <a:srgbClr val="8E44AD"/>
          </a:solidFill>
          <a:ln/>
        </p:spPr>
      </p:sp>
      <p:sp>
        <p:nvSpPr>
          <p:cNvPr id="53" name="Shape 51"/>
          <p:cNvSpPr/>
          <p:nvPr/>
        </p:nvSpPr>
        <p:spPr>
          <a:xfrm>
            <a:off x="10667733" y="6748272"/>
            <a:ext cx="304792" cy="109728"/>
          </a:xfrm>
          <a:prstGeom prst="rect">
            <a:avLst/>
          </a:prstGeom>
          <a:solidFill>
            <a:srgbClr val="C0392B"/>
          </a:solidFill>
          <a:ln/>
        </p:spPr>
      </p:sp>
      <p:sp>
        <p:nvSpPr>
          <p:cNvPr id="54" name="Shape 52"/>
          <p:cNvSpPr/>
          <p:nvPr/>
        </p:nvSpPr>
        <p:spPr>
          <a:xfrm>
            <a:off x="10972526" y="6748272"/>
            <a:ext cx="304792" cy="109728"/>
          </a:xfrm>
          <a:prstGeom prst="rect">
            <a:avLst/>
          </a:prstGeom>
          <a:solidFill>
            <a:srgbClr val="E67E22"/>
          </a:solidFill>
          <a:ln/>
        </p:spPr>
      </p:sp>
      <p:sp>
        <p:nvSpPr>
          <p:cNvPr id="55" name="Shape 53"/>
          <p:cNvSpPr/>
          <p:nvPr/>
        </p:nvSpPr>
        <p:spPr>
          <a:xfrm>
            <a:off x="11277318" y="6748272"/>
            <a:ext cx="304792" cy="109728"/>
          </a:xfrm>
          <a:prstGeom prst="rect">
            <a:avLst/>
          </a:prstGeom>
          <a:solidFill>
            <a:srgbClr val="27AE60"/>
          </a:solidFill>
          <a:ln/>
        </p:spPr>
      </p:sp>
      <p:sp>
        <p:nvSpPr>
          <p:cNvPr id="56" name="Shape 54"/>
          <p:cNvSpPr/>
          <p:nvPr/>
        </p:nvSpPr>
        <p:spPr>
          <a:xfrm>
            <a:off x="11582110" y="6748272"/>
            <a:ext cx="304792" cy="109728"/>
          </a:xfrm>
          <a:prstGeom prst="rect">
            <a:avLst/>
          </a:prstGeom>
          <a:solidFill>
            <a:srgbClr val="1F618D"/>
          </a:solidFill>
          <a:ln/>
        </p:spPr>
      </p:sp>
      <p:sp>
        <p:nvSpPr>
          <p:cNvPr id="57" name="Shape 55"/>
          <p:cNvSpPr/>
          <p:nvPr/>
        </p:nvSpPr>
        <p:spPr>
          <a:xfrm>
            <a:off x="11886903" y="6748272"/>
            <a:ext cx="304792" cy="109728"/>
          </a:xfrm>
          <a:prstGeom prst="rect">
            <a:avLst/>
          </a:prstGeom>
          <a:solidFill>
            <a:srgbClr val="8E44A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000" b="1" dirty="0">
                <a:solidFill>
                  <a:srgbClr val="1F4E79"/>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0" y="6748272"/>
            <a:ext cx="304792" cy="109728"/>
          </a:xfrm>
          <a:prstGeom prst="rect">
            <a:avLst/>
          </a:prstGeom>
          <a:solidFill>
            <a:srgbClr val="C0392B"/>
          </a:solidFill>
          <a:ln/>
        </p:spPr>
      </p:sp>
      <p:sp>
        <p:nvSpPr>
          <p:cNvPr id="4" name="Shape 2"/>
          <p:cNvSpPr/>
          <p:nvPr/>
        </p:nvSpPr>
        <p:spPr>
          <a:xfrm>
            <a:off x="304792" y="6748272"/>
            <a:ext cx="304792" cy="109728"/>
          </a:xfrm>
          <a:prstGeom prst="rect">
            <a:avLst/>
          </a:prstGeom>
          <a:solidFill>
            <a:srgbClr val="E67E22"/>
          </a:solidFill>
          <a:ln/>
        </p:spPr>
      </p:sp>
      <p:sp>
        <p:nvSpPr>
          <p:cNvPr id="5" name="Shape 3"/>
          <p:cNvSpPr/>
          <p:nvPr/>
        </p:nvSpPr>
        <p:spPr>
          <a:xfrm>
            <a:off x="609585" y="6748272"/>
            <a:ext cx="304792" cy="109728"/>
          </a:xfrm>
          <a:prstGeom prst="rect">
            <a:avLst/>
          </a:prstGeom>
          <a:solidFill>
            <a:srgbClr val="27AE60"/>
          </a:solidFill>
          <a:ln/>
        </p:spPr>
      </p:sp>
      <p:sp>
        <p:nvSpPr>
          <p:cNvPr id="6" name="Shape 4"/>
          <p:cNvSpPr/>
          <p:nvPr/>
        </p:nvSpPr>
        <p:spPr>
          <a:xfrm>
            <a:off x="914377" y="6748272"/>
            <a:ext cx="304792" cy="109728"/>
          </a:xfrm>
          <a:prstGeom prst="rect">
            <a:avLst/>
          </a:prstGeom>
          <a:solidFill>
            <a:srgbClr val="1F618D"/>
          </a:solidFill>
          <a:ln/>
        </p:spPr>
      </p:sp>
      <p:sp>
        <p:nvSpPr>
          <p:cNvPr id="7" name="Shape 5"/>
          <p:cNvSpPr/>
          <p:nvPr/>
        </p:nvSpPr>
        <p:spPr>
          <a:xfrm>
            <a:off x="1219170" y="6748272"/>
            <a:ext cx="304792" cy="109728"/>
          </a:xfrm>
          <a:prstGeom prst="rect">
            <a:avLst/>
          </a:prstGeom>
          <a:solidFill>
            <a:srgbClr val="8E44AD"/>
          </a:solidFill>
          <a:ln/>
        </p:spPr>
      </p:sp>
      <p:sp>
        <p:nvSpPr>
          <p:cNvPr id="8" name="Shape 6"/>
          <p:cNvSpPr/>
          <p:nvPr/>
        </p:nvSpPr>
        <p:spPr>
          <a:xfrm>
            <a:off x="1523962" y="6748272"/>
            <a:ext cx="304792" cy="109728"/>
          </a:xfrm>
          <a:prstGeom prst="rect">
            <a:avLst/>
          </a:prstGeom>
          <a:solidFill>
            <a:srgbClr val="C0392B"/>
          </a:solidFill>
          <a:ln/>
        </p:spPr>
      </p:sp>
      <p:sp>
        <p:nvSpPr>
          <p:cNvPr id="9" name="Shape 7"/>
          <p:cNvSpPr/>
          <p:nvPr/>
        </p:nvSpPr>
        <p:spPr>
          <a:xfrm>
            <a:off x="1828754" y="6748272"/>
            <a:ext cx="304792" cy="109728"/>
          </a:xfrm>
          <a:prstGeom prst="rect">
            <a:avLst/>
          </a:prstGeom>
          <a:solidFill>
            <a:srgbClr val="E67E22"/>
          </a:solidFill>
          <a:ln/>
        </p:spPr>
      </p:sp>
      <p:sp>
        <p:nvSpPr>
          <p:cNvPr id="10" name="Shape 8"/>
          <p:cNvSpPr/>
          <p:nvPr/>
        </p:nvSpPr>
        <p:spPr>
          <a:xfrm>
            <a:off x="2133547" y="6748272"/>
            <a:ext cx="304792" cy="109728"/>
          </a:xfrm>
          <a:prstGeom prst="rect">
            <a:avLst/>
          </a:prstGeom>
          <a:solidFill>
            <a:srgbClr val="27AE60"/>
          </a:solidFill>
          <a:ln/>
        </p:spPr>
      </p:sp>
      <p:sp>
        <p:nvSpPr>
          <p:cNvPr id="11" name="Shape 9"/>
          <p:cNvSpPr/>
          <p:nvPr/>
        </p:nvSpPr>
        <p:spPr>
          <a:xfrm>
            <a:off x="2438339" y="6748272"/>
            <a:ext cx="304792" cy="109728"/>
          </a:xfrm>
          <a:prstGeom prst="rect">
            <a:avLst/>
          </a:prstGeom>
          <a:solidFill>
            <a:srgbClr val="1F618D"/>
          </a:solidFill>
          <a:ln/>
        </p:spPr>
      </p:sp>
      <p:sp>
        <p:nvSpPr>
          <p:cNvPr id="12" name="Shape 10"/>
          <p:cNvSpPr/>
          <p:nvPr/>
        </p:nvSpPr>
        <p:spPr>
          <a:xfrm>
            <a:off x="2743131" y="6748272"/>
            <a:ext cx="304792" cy="109728"/>
          </a:xfrm>
          <a:prstGeom prst="rect">
            <a:avLst/>
          </a:prstGeom>
          <a:solidFill>
            <a:srgbClr val="8E44AD"/>
          </a:solidFill>
          <a:ln/>
        </p:spPr>
      </p:sp>
      <p:sp>
        <p:nvSpPr>
          <p:cNvPr id="13" name="Shape 11"/>
          <p:cNvSpPr/>
          <p:nvPr/>
        </p:nvSpPr>
        <p:spPr>
          <a:xfrm>
            <a:off x="3047924" y="6748272"/>
            <a:ext cx="304792" cy="109728"/>
          </a:xfrm>
          <a:prstGeom prst="rect">
            <a:avLst/>
          </a:prstGeom>
          <a:solidFill>
            <a:srgbClr val="C0392B"/>
          </a:solidFill>
          <a:ln/>
        </p:spPr>
      </p:sp>
      <p:sp>
        <p:nvSpPr>
          <p:cNvPr id="14" name="Shape 12"/>
          <p:cNvSpPr/>
          <p:nvPr/>
        </p:nvSpPr>
        <p:spPr>
          <a:xfrm>
            <a:off x="3352716" y="6748272"/>
            <a:ext cx="304792" cy="109728"/>
          </a:xfrm>
          <a:prstGeom prst="rect">
            <a:avLst/>
          </a:prstGeom>
          <a:solidFill>
            <a:srgbClr val="E67E22"/>
          </a:solidFill>
          <a:ln/>
        </p:spPr>
      </p:sp>
      <p:sp>
        <p:nvSpPr>
          <p:cNvPr id="15" name="Shape 13"/>
          <p:cNvSpPr/>
          <p:nvPr/>
        </p:nvSpPr>
        <p:spPr>
          <a:xfrm>
            <a:off x="3657509" y="6748272"/>
            <a:ext cx="304792" cy="109728"/>
          </a:xfrm>
          <a:prstGeom prst="rect">
            <a:avLst/>
          </a:prstGeom>
          <a:solidFill>
            <a:srgbClr val="27AE60"/>
          </a:solidFill>
          <a:ln/>
        </p:spPr>
      </p:sp>
      <p:sp>
        <p:nvSpPr>
          <p:cNvPr id="16" name="Shape 14"/>
          <p:cNvSpPr/>
          <p:nvPr/>
        </p:nvSpPr>
        <p:spPr>
          <a:xfrm>
            <a:off x="3962301" y="6748272"/>
            <a:ext cx="304792" cy="109728"/>
          </a:xfrm>
          <a:prstGeom prst="rect">
            <a:avLst/>
          </a:prstGeom>
          <a:solidFill>
            <a:srgbClr val="1F618D"/>
          </a:solidFill>
          <a:ln/>
        </p:spPr>
      </p:sp>
      <p:sp>
        <p:nvSpPr>
          <p:cNvPr id="17" name="Shape 15"/>
          <p:cNvSpPr/>
          <p:nvPr/>
        </p:nvSpPr>
        <p:spPr>
          <a:xfrm>
            <a:off x="4267093" y="6748272"/>
            <a:ext cx="304792" cy="109728"/>
          </a:xfrm>
          <a:prstGeom prst="rect">
            <a:avLst/>
          </a:prstGeom>
          <a:solidFill>
            <a:srgbClr val="8E44AD"/>
          </a:solidFill>
          <a:ln/>
        </p:spPr>
      </p:sp>
      <p:sp>
        <p:nvSpPr>
          <p:cNvPr id="18" name="Shape 16"/>
          <p:cNvSpPr/>
          <p:nvPr/>
        </p:nvSpPr>
        <p:spPr>
          <a:xfrm>
            <a:off x="4571886" y="6748272"/>
            <a:ext cx="304792" cy="109728"/>
          </a:xfrm>
          <a:prstGeom prst="rect">
            <a:avLst/>
          </a:prstGeom>
          <a:solidFill>
            <a:srgbClr val="C0392B"/>
          </a:solidFill>
          <a:ln/>
        </p:spPr>
      </p:sp>
      <p:sp>
        <p:nvSpPr>
          <p:cNvPr id="19" name="Shape 17"/>
          <p:cNvSpPr/>
          <p:nvPr/>
        </p:nvSpPr>
        <p:spPr>
          <a:xfrm>
            <a:off x="4876678" y="6748272"/>
            <a:ext cx="304792" cy="109728"/>
          </a:xfrm>
          <a:prstGeom prst="rect">
            <a:avLst/>
          </a:prstGeom>
          <a:solidFill>
            <a:srgbClr val="E67E22"/>
          </a:solidFill>
          <a:ln/>
        </p:spPr>
      </p:sp>
      <p:sp>
        <p:nvSpPr>
          <p:cNvPr id="20" name="Shape 18"/>
          <p:cNvSpPr/>
          <p:nvPr/>
        </p:nvSpPr>
        <p:spPr>
          <a:xfrm>
            <a:off x="5181470" y="6748272"/>
            <a:ext cx="304792" cy="109728"/>
          </a:xfrm>
          <a:prstGeom prst="rect">
            <a:avLst/>
          </a:prstGeom>
          <a:solidFill>
            <a:srgbClr val="27AE60"/>
          </a:solidFill>
          <a:ln/>
        </p:spPr>
      </p:sp>
      <p:sp>
        <p:nvSpPr>
          <p:cNvPr id="21" name="Shape 19"/>
          <p:cNvSpPr/>
          <p:nvPr/>
        </p:nvSpPr>
        <p:spPr>
          <a:xfrm>
            <a:off x="5486263" y="6748272"/>
            <a:ext cx="304792" cy="109728"/>
          </a:xfrm>
          <a:prstGeom prst="rect">
            <a:avLst/>
          </a:prstGeom>
          <a:solidFill>
            <a:srgbClr val="1F618D"/>
          </a:solidFill>
          <a:ln/>
        </p:spPr>
      </p:sp>
      <p:sp>
        <p:nvSpPr>
          <p:cNvPr id="22" name="Shape 20"/>
          <p:cNvSpPr/>
          <p:nvPr/>
        </p:nvSpPr>
        <p:spPr>
          <a:xfrm>
            <a:off x="5791055" y="6748272"/>
            <a:ext cx="304792" cy="109728"/>
          </a:xfrm>
          <a:prstGeom prst="rect">
            <a:avLst/>
          </a:prstGeom>
          <a:solidFill>
            <a:srgbClr val="8E44AD"/>
          </a:solidFill>
          <a:ln/>
        </p:spPr>
      </p:sp>
      <p:sp>
        <p:nvSpPr>
          <p:cNvPr id="23" name="Shape 21"/>
          <p:cNvSpPr/>
          <p:nvPr/>
        </p:nvSpPr>
        <p:spPr>
          <a:xfrm>
            <a:off x="6095848" y="6748272"/>
            <a:ext cx="304792" cy="109728"/>
          </a:xfrm>
          <a:prstGeom prst="rect">
            <a:avLst/>
          </a:prstGeom>
          <a:solidFill>
            <a:srgbClr val="C0392B"/>
          </a:solidFill>
          <a:ln/>
        </p:spPr>
      </p:sp>
      <p:sp>
        <p:nvSpPr>
          <p:cNvPr id="24" name="Shape 22"/>
          <p:cNvSpPr/>
          <p:nvPr/>
        </p:nvSpPr>
        <p:spPr>
          <a:xfrm>
            <a:off x="6400640" y="6748272"/>
            <a:ext cx="304792" cy="109728"/>
          </a:xfrm>
          <a:prstGeom prst="rect">
            <a:avLst/>
          </a:prstGeom>
          <a:solidFill>
            <a:srgbClr val="E67E22"/>
          </a:solidFill>
          <a:ln/>
        </p:spPr>
      </p:sp>
      <p:sp>
        <p:nvSpPr>
          <p:cNvPr id="25" name="Shape 23"/>
          <p:cNvSpPr/>
          <p:nvPr/>
        </p:nvSpPr>
        <p:spPr>
          <a:xfrm>
            <a:off x="6705432" y="6748272"/>
            <a:ext cx="304792" cy="109728"/>
          </a:xfrm>
          <a:prstGeom prst="rect">
            <a:avLst/>
          </a:prstGeom>
          <a:solidFill>
            <a:srgbClr val="27AE60"/>
          </a:solidFill>
          <a:ln/>
        </p:spPr>
      </p:sp>
      <p:sp>
        <p:nvSpPr>
          <p:cNvPr id="26" name="Shape 24"/>
          <p:cNvSpPr/>
          <p:nvPr/>
        </p:nvSpPr>
        <p:spPr>
          <a:xfrm>
            <a:off x="7010225" y="6748272"/>
            <a:ext cx="304792" cy="109728"/>
          </a:xfrm>
          <a:prstGeom prst="rect">
            <a:avLst/>
          </a:prstGeom>
          <a:solidFill>
            <a:srgbClr val="1F618D"/>
          </a:solidFill>
          <a:ln/>
        </p:spPr>
      </p:sp>
      <p:sp>
        <p:nvSpPr>
          <p:cNvPr id="27" name="Shape 25"/>
          <p:cNvSpPr/>
          <p:nvPr/>
        </p:nvSpPr>
        <p:spPr>
          <a:xfrm>
            <a:off x="7315017" y="6748272"/>
            <a:ext cx="304792" cy="109728"/>
          </a:xfrm>
          <a:prstGeom prst="rect">
            <a:avLst/>
          </a:prstGeom>
          <a:solidFill>
            <a:srgbClr val="8E44AD"/>
          </a:solidFill>
          <a:ln/>
        </p:spPr>
      </p:sp>
      <p:sp>
        <p:nvSpPr>
          <p:cNvPr id="28" name="Shape 26"/>
          <p:cNvSpPr/>
          <p:nvPr/>
        </p:nvSpPr>
        <p:spPr>
          <a:xfrm>
            <a:off x="7619809" y="6748272"/>
            <a:ext cx="304792" cy="109728"/>
          </a:xfrm>
          <a:prstGeom prst="rect">
            <a:avLst/>
          </a:prstGeom>
          <a:solidFill>
            <a:srgbClr val="C0392B"/>
          </a:solidFill>
          <a:ln/>
        </p:spPr>
      </p:sp>
      <p:sp>
        <p:nvSpPr>
          <p:cNvPr id="29" name="Shape 27"/>
          <p:cNvSpPr/>
          <p:nvPr/>
        </p:nvSpPr>
        <p:spPr>
          <a:xfrm>
            <a:off x="7924602" y="6748272"/>
            <a:ext cx="304792" cy="109728"/>
          </a:xfrm>
          <a:prstGeom prst="rect">
            <a:avLst/>
          </a:prstGeom>
          <a:solidFill>
            <a:srgbClr val="E67E22"/>
          </a:solidFill>
          <a:ln/>
        </p:spPr>
      </p:sp>
      <p:sp>
        <p:nvSpPr>
          <p:cNvPr id="30" name="Shape 28"/>
          <p:cNvSpPr/>
          <p:nvPr/>
        </p:nvSpPr>
        <p:spPr>
          <a:xfrm>
            <a:off x="8229394" y="6748272"/>
            <a:ext cx="304792" cy="109728"/>
          </a:xfrm>
          <a:prstGeom prst="rect">
            <a:avLst/>
          </a:prstGeom>
          <a:solidFill>
            <a:srgbClr val="27AE60"/>
          </a:solidFill>
          <a:ln/>
        </p:spPr>
      </p:sp>
      <p:sp>
        <p:nvSpPr>
          <p:cNvPr id="31" name="Shape 29"/>
          <p:cNvSpPr/>
          <p:nvPr/>
        </p:nvSpPr>
        <p:spPr>
          <a:xfrm>
            <a:off x="8534187" y="6748272"/>
            <a:ext cx="304792" cy="109728"/>
          </a:xfrm>
          <a:prstGeom prst="rect">
            <a:avLst/>
          </a:prstGeom>
          <a:solidFill>
            <a:srgbClr val="1F618D"/>
          </a:solidFill>
          <a:ln/>
        </p:spPr>
      </p:sp>
      <p:sp>
        <p:nvSpPr>
          <p:cNvPr id="32" name="Shape 30"/>
          <p:cNvSpPr/>
          <p:nvPr/>
        </p:nvSpPr>
        <p:spPr>
          <a:xfrm>
            <a:off x="8838979" y="6748272"/>
            <a:ext cx="304792" cy="109728"/>
          </a:xfrm>
          <a:prstGeom prst="rect">
            <a:avLst/>
          </a:prstGeom>
          <a:solidFill>
            <a:srgbClr val="8E44AD"/>
          </a:solidFill>
          <a:ln/>
        </p:spPr>
      </p:sp>
      <p:sp>
        <p:nvSpPr>
          <p:cNvPr id="33" name="Shape 31"/>
          <p:cNvSpPr/>
          <p:nvPr/>
        </p:nvSpPr>
        <p:spPr>
          <a:xfrm>
            <a:off x="9143771" y="6748272"/>
            <a:ext cx="304792" cy="109728"/>
          </a:xfrm>
          <a:prstGeom prst="rect">
            <a:avLst/>
          </a:prstGeom>
          <a:solidFill>
            <a:srgbClr val="C0392B"/>
          </a:solidFill>
          <a:ln/>
        </p:spPr>
      </p:sp>
      <p:sp>
        <p:nvSpPr>
          <p:cNvPr id="34" name="Shape 32"/>
          <p:cNvSpPr/>
          <p:nvPr/>
        </p:nvSpPr>
        <p:spPr>
          <a:xfrm>
            <a:off x="9448564" y="6748272"/>
            <a:ext cx="304792" cy="109728"/>
          </a:xfrm>
          <a:prstGeom prst="rect">
            <a:avLst/>
          </a:prstGeom>
          <a:solidFill>
            <a:srgbClr val="E67E22"/>
          </a:solidFill>
          <a:ln/>
        </p:spPr>
      </p:sp>
      <p:sp>
        <p:nvSpPr>
          <p:cNvPr id="35" name="Shape 33"/>
          <p:cNvSpPr/>
          <p:nvPr/>
        </p:nvSpPr>
        <p:spPr>
          <a:xfrm>
            <a:off x="9753356" y="6748272"/>
            <a:ext cx="304792" cy="109728"/>
          </a:xfrm>
          <a:prstGeom prst="rect">
            <a:avLst/>
          </a:prstGeom>
          <a:solidFill>
            <a:srgbClr val="27AE60"/>
          </a:solidFill>
          <a:ln/>
        </p:spPr>
      </p:sp>
      <p:sp>
        <p:nvSpPr>
          <p:cNvPr id="36" name="Shape 34"/>
          <p:cNvSpPr/>
          <p:nvPr/>
        </p:nvSpPr>
        <p:spPr>
          <a:xfrm>
            <a:off x="10058149" y="6748272"/>
            <a:ext cx="304792" cy="109728"/>
          </a:xfrm>
          <a:prstGeom prst="rect">
            <a:avLst/>
          </a:prstGeom>
          <a:solidFill>
            <a:srgbClr val="1F618D"/>
          </a:solidFill>
          <a:ln/>
        </p:spPr>
      </p:sp>
      <p:sp>
        <p:nvSpPr>
          <p:cNvPr id="37" name="Shape 35"/>
          <p:cNvSpPr/>
          <p:nvPr/>
        </p:nvSpPr>
        <p:spPr>
          <a:xfrm>
            <a:off x="10362941" y="6748272"/>
            <a:ext cx="304792" cy="109728"/>
          </a:xfrm>
          <a:prstGeom prst="rect">
            <a:avLst/>
          </a:prstGeom>
          <a:solidFill>
            <a:srgbClr val="8E44AD"/>
          </a:solidFill>
          <a:ln/>
        </p:spPr>
      </p:sp>
      <p:sp>
        <p:nvSpPr>
          <p:cNvPr id="38" name="Shape 36"/>
          <p:cNvSpPr/>
          <p:nvPr/>
        </p:nvSpPr>
        <p:spPr>
          <a:xfrm>
            <a:off x="10667733" y="6748272"/>
            <a:ext cx="304792" cy="109728"/>
          </a:xfrm>
          <a:prstGeom prst="rect">
            <a:avLst/>
          </a:prstGeom>
          <a:solidFill>
            <a:srgbClr val="C0392B"/>
          </a:solidFill>
          <a:ln/>
        </p:spPr>
      </p:sp>
      <p:sp>
        <p:nvSpPr>
          <p:cNvPr id="39" name="Shape 37"/>
          <p:cNvSpPr/>
          <p:nvPr/>
        </p:nvSpPr>
        <p:spPr>
          <a:xfrm>
            <a:off x="10972526" y="6748272"/>
            <a:ext cx="304792" cy="109728"/>
          </a:xfrm>
          <a:prstGeom prst="rect">
            <a:avLst/>
          </a:prstGeom>
          <a:solidFill>
            <a:srgbClr val="E67E22"/>
          </a:solidFill>
          <a:ln/>
        </p:spPr>
      </p:sp>
      <p:sp>
        <p:nvSpPr>
          <p:cNvPr id="40" name="Shape 38"/>
          <p:cNvSpPr/>
          <p:nvPr/>
        </p:nvSpPr>
        <p:spPr>
          <a:xfrm>
            <a:off x="11277318" y="6748272"/>
            <a:ext cx="304792" cy="109728"/>
          </a:xfrm>
          <a:prstGeom prst="rect">
            <a:avLst/>
          </a:prstGeom>
          <a:solidFill>
            <a:srgbClr val="27AE60"/>
          </a:solidFill>
          <a:ln/>
        </p:spPr>
      </p:sp>
      <p:sp>
        <p:nvSpPr>
          <p:cNvPr id="41" name="Shape 39"/>
          <p:cNvSpPr/>
          <p:nvPr/>
        </p:nvSpPr>
        <p:spPr>
          <a:xfrm>
            <a:off x="11582110" y="6748272"/>
            <a:ext cx="304792" cy="109728"/>
          </a:xfrm>
          <a:prstGeom prst="rect">
            <a:avLst/>
          </a:prstGeom>
          <a:solidFill>
            <a:srgbClr val="1F618D"/>
          </a:solidFill>
          <a:ln/>
        </p:spPr>
      </p:sp>
      <p:sp>
        <p:nvSpPr>
          <p:cNvPr id="42" name="Shape 40"/>
          <p:cNvSpPr/>
          <p:nvPr/>
        </p:nvSpPr>
        <p:spPr>
          <a:xfrm>
            <a:off x="11886903" y="6748272"/>
            <a:ext cx="304792" cy="109728"/>
          </a:xfrm>
          <a:prstGeom prst="rect">
            <a:avLst/>
          </a:prstGeom>
          <a:solidFill>
            <a:srgbClr val="8E44AD"/>
          </a:solidFill>
          <a:ln/>
        </p:spPr>
      </p:sp>
      <p:sp>
        <p:nvSpPr>
          <p:cNvPr id="43" name="Text 41"/>
          <p:cNvSpPr txBox="1"/>
          <p:nvPr/>
        </p:nvSpPr>
        <p:spPr>
          <a:xfrm>
            <a:off x="54864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All India   3–11</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What the Election Commission should do   12–12</a:t>
            </a:r>
            <a:endParaRPr lang="en-US" sz="1700" dirty="0"/>
          </a:p>
        </p:txBody>
      </p:sp>
      <p:sp>
        <p:nvSpPr>
          <p:cNvPr id="44" name="Text 42"/>
          <p:cNvSpPr txBox="1"/>
          <p:nvPr/>
        </p:nvSpPr>
        <p:spPr>
          <a:xfrm>
            <a:off x="621792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Method   13–14</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13.39 crore names left off the draft rolls, 14.1 for every 100 electors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All 31 states and union territories that have published a draft roll; Tripura publishes in December</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2602154" cy="1554480"/>
          </a:xfrm>
          <a:prstGeom prst="roundRect">
            <a:avLst>
              <a:gd name="adj" fmla="val 4706"/>
            </a:avLst>
          </a:prstGeom>
          <a:solidFill>
            <a:srgbClr val="F4F6F7"/>
          </a:solidFill>
          <a:ln/>
        </p:spPr>
      </p:sp>
      <p:sp>
        <p:nvSpPr>
          <p:cNvPr id="48" name="Text 46"/>
          <p:cNvSpPr txBox="1"/>
          <p:nvPr/>
        </p:nvSpPr>
        <p:spPr>
          <a:xfrm>
            <a:off x="731520" y="2029968"/>
            <a:ext cx="2236394" cy="746150"/>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13.39 crore</a:t>
            </a:r>
            <a:endParaRPr lang="en-US" sz="2800" dirty="0"/>
          </a:p>
        </p:txBody>
      </p:sp>
      <p:sp>
        <p:nvSpPr>
          <p:cNvPr id="49" name="Text 47"/>
          <p:cNvSpPr txBox="1"/>
          <p:nvPr/>
        </p:nvSpPr>
        <p:spPr>
          <a:xfrm>
            <a:off x="731520" y="2794406"/>
            <a:ext cx="2236394" cy="58887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names left off the draft rolls</a:t>
            </a:r>
            <a:endParaRPr lang="en-US" sz="1200" dirty="0"/>
          </a:p>
        </p:txBody>
      </p:sp>
      <p:sp>
        <p:nvSpPr>
          <p:cNvPr id="50" name="Shape 48"/>
          <p:cNvSpPr/>
          <p:nvPr/>
        </p:nvSpPr>
        <p:spPr>
          <a:xfrm>
            <a:off x="3379394" y="1920240"/>
            <a:ext cx="2602154" cy="1554480"/>
          </a:xfrm>
          <a:prstGeom prst="roundRect">
            <a:avLst>
              <a:gd name="adj" fmla="val 4706"/>
            </a:avLst>
          </a:prstGeom>
          <a:solidFill>
            <a:srgbClr val="F4F6F7"/>
          </a:solidFill>
          <a:ln/>
        </p:spPr>
      </p:sp>
      <p:sp>
        <p:nvSpPr>
          <p:cNvPr id="51" name="Text 49"/>
          <p:cNvSpPr txBox="1"/>
          <p:nvPr/>
        </p:nvSpPr>
        <p:spPr>
          <a:xfrm>
            <a:off x="3562274" y="2029968"/>
            <a:ext cx="2236394" cy="746150"/>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9.48 crore</a:t>
            </a:r>
            <a:endParaRPr lang="en-US" sz="2800" dirty="0"/>
          </a:p>
        </p:txBody>
      </p:sp>
      <p:sp>
        <p:nvSpPr>
          <p:cNvPr id="52" name="Text 50"/>
          <p:cNvSpPr txBox="1"/>
          <p:nvPr/>
        </p:nvSpPr>
        <p:spPr>
          <a:xfrm>
            <a:off x="3562274" y="2794406"/>
            <a:ext cx="2236394" cy="58887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entered as shifted, absent or other</a:t>
            </a:r>
            <a:endParaRPr lang="en-US" sz="1200" dirty="0"/>
          </a:p>
        </p:txBody>
      </p:sp>
      <p:sp>
        <p:nvSpPr>
          <p:cNvPr id="53" name="Shape 51"/>
          <p:cNvSpPr/>
          <p:nvPr/>
        </p:nvSpPr>
        <p:spPr>
          <a:xfrm>
            <a:off x="6210148" y="1920240"/>
            <a:ext cx="2602154" cy="1554480"/>
          </a:xfrm>
          <a:prstGeom prst="roundRect">
            <a:avLst>
              <a:gd name="adj" fmla="val 4706"/>
            </a:avLst>
          </a:prstGeom>
          <a:solidFill>
            <a:srgbClr val="F4F6F7"/>
          </a:solidFill>
          <a:ln/>
        </p:spPr>
      </p:sp>
      <p:sp>
        <p:nvSpPr>
          <p:cNvPr id="54" name="Text 52"/>
          <p:cNvSpPr txBox="1"/>
          <p:nvPr/>
        </p:nvSpPr>
        <p:spPr>
          <a:xfrm>
            <a:off x="6393028" y="2029968"/>
            <a:ext cx="2236394" cy="746150"/>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2.78 crore</a:t>
            </a:r>
            <a:endParaRPr lang="en-US" sz="2800" dirty="0"/>
          </a:p>
        </p:txBody>
      </p:sp>
      <p:sp>
        <p:nvSpPr>
          <p:cNvPr id="55" name="Text 53"/>
          <p:cNvSpPr txBox="1"/>
          <p:nvPr/>
        </p:nvSpPr>
        <p:spPr>
          <a:xfrm>
            <a:off x="6393028" y="2794406"/>
            <a:ext cx="2236394" cy="58887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entered as dead</a:t>
            </a:r>
            <a:endParaRPr lang="en-US" sz="1200" dirty="0"/>
          </a:p>
        </p:txBody>
      </p:sp>
      <p:sp>
        <p:nvSpPr>
          <p:cNvPr id="56" name="Shape 54"/>
          <p:cNvSpPr/>
          <p:nvPr/>
        </p:nvSpPr>
        <p:spPr>
          <a:xfrm>
            <a:off x="9040901" y="1920240"/>
            <a:ext cx="2602154" cy="1554480"/>
          </a:xfrm>
          <a:prstGeom prst="roundRect">
            <a:avLst>
              <a:gd name="adj" fmla="val 4706"/>
            </a:avLst>
          </a:prstGeom>
          <a:solidFill>
            <a:srgbClr val="F4F6F7"/>
          </a:solidFill>
          <a:ln/>
        </p:spPr>
      </p:sp>
      <p:sp>
        <p:nvSpPr>
          <p:cNvPr id="57" name="Text 55"/>
          <p:cNvSpPr txBox="1"/>
          <p:nvPr/>
        </p:nvSpPr>
        <p:spPr>
          <a:xfrm>
            <a:off x="9223781" y="2029968"/>
            <a:ext cx="2236394" cy="746150"/>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1.01 crore</a:t>
            </a:r>
            <a:endParaRPr lang="en-US" sz="2800" dirty="0"/>
          </a:p>
        </p:txBody>
      </p:sp>
      <p:sp>
        <p:nvSpPr>
          <p:cNvPr id="58" name="Text 56"/>
          <p:cNvSpPr txBox="1"/>
          <p:nvPr/>
        </p:nvSpPr>
        <p:spPr>
          <a:xfrm>
            <a:off x="9223781" y="2794406"/>
            <a:ext cx="2236394" cy="58887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entered as enrolled more than once</a:t>
            </a:r>
            <a:endParaRPr lang="en-US" sz="1200" dirty="0"/>
          </a:p>
        </p:txBody>
      </p:sp>
      <p:sp>
        <p:nvSpPr>
          <p:cNvPr id="59" name="Text 57"/>
          <p:cNvSpPr txBox="1"/>
          <p:nvPr/>
        </p:nvSpPr>
        <p:spPr>
          <a:xfrm>
            <a:off x="548640" y="3840480"/>
            <a:ext cx="11094415" cy="2194560"/>
          </a:xfrm>
          <a:prstGeom prst="rect">
            <a:avLst/>
          </a:prstGeom>
          <a:noFill/>
          <a:ln/>
        </p:spPr>
        <p:txBody>
          <a:bodyPr wrap="square" lIns="0" tIns="0" rIns="0" bIns="0" rtlCol="0" anchor="t">
            <a:normAutofit/>
          </a:bodyPr>
          <a:lstStyle/>
          <a:p>
            <a:pPr indent="0" marL="0">
              <a:spcAft>
                <a:spcPts val="800"/>
              </a:spcAft>
              <a:buNone/>
            </a:pPr>
            <a:r>
              <a:rPr lang="en-US" sz="1700" dirty="0">
                <a:solidFill>
                  <a:srgbClr val="1C2833"/>
                </a:solidFill>
                <a:latin typeface="Calibri" pitchFamily="34" charset="0"/>
                <a:ea typeface="Calibri" pitchFamily="34" charset="-122"/>
                <a:cs typeface="Calibri" pitchFamily="34" charset="-120"/>
              </a:rPr>
              <a:t>A reason is what an officer entered after a visit or its absence, not a finding. Deaths are about one in five of the removals split by reason. The other four in five rest on an entry that the elector was not where the roll placed them, or was on it twice. 12.4 lakh names are in states that have not published a full split.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The share entered as dead fell from 34% in Bihar to 18% in phase 3</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left off the draft rolls in each phase, by reason, in lakh</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Phase 1 (Bihar): 65.6 lakh removed, 8.3 per 100 electors; dead 34.0%, shifted, absent or other 55.3%.</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Phase 2 (12): 657.0 lakh removed, 12.9 per 100 electors; dead 22.3%, shifted, absent or other 71.0%.</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Phase 3 (18): 616.6 lakh removed, 17.0 per 100 electors; dead 18.1%, shifted, absent or other 73.6%.</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Delhi removed 32.8 names per 100 electors, the most of any state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left off the draft roll per 100 electors on the roll before the revision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55448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Lakshadweep removed the fewest, 2.5 per 100.</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Bihar, in red, removed 8.3 per 100 at the draft stage.</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Rates carry the rounding of states that published their rolls in lakh or crore. Chandigarh has no exact roll before the revision.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Among states that removed ten lakh names or more, the shifted, absent or other share ran from 50% to 91%</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Each state's removals split by the reason entered; states that published a split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55448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Lowest: Andhra Pradesh, 49.7%. Highest: Delhi, 91.1%.</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Of these, dead is highest in Odisha (41.7%), enrolled more than once in Andhra Pradesh (16.4%).</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One revision under one set of instructions produced very different mixes of reasons, and the Commission has not explained why.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Every state and union territory, the sixteen largest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left off the draft roll, and the share of those split by reason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704320" cy="914400"/>
        </p:xfrm>
        <a:graphic>
          <a:graphicData uri="http://schemas.openxmlformats.org/drawingml/2006/table">
            <a:tbl>
              <a:tblPr/>
              <a:tblGrid>
                <a:gridCol w="2926080"/>
                <a:gridCol w="731520"/>
                <a:gridCol w="1645920"/>
                <a:gridCol w="1005840"/>
                <a:gridCol w="1005840"/>
                <a:gridCol w="2011680"/>
                <a:gridCol w="1188720"/>
                <a:gridCol w="1188720"/>
              </a:tblGrid>
              <a:tr h="25603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State or UT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Removed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Per 100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Dead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Shifted, absent, other</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Duplicate</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Uttar Pradesh</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2,89,00,000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18.7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16.0%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75.2%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Maharashtra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2,06,88,487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21.1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16.8%</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74.7%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Karnataka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1,07,96,339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15.2%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78.2%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Tamil Nadu</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97,37,831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15.2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27.7%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68.2%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Gujarat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73,73,327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24.5%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70.3%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Telangana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73,39,235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21.7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78.3%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9.1%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Bihar</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65,59,626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34.0%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55.3%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West Bengal</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58,20,899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41.5%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56.1%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Delhi</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47,56,000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32.8</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91.1%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Andhra Pradesh</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44,89,512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33.9%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49.7%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Jharkhand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43,61,987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16.5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18.0%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71.7%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short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Madhya Pradesh</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42,74,160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19.8%</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73.7%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Rajasthan</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41,79,000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70.8%</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Haryana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33,83,302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71.3%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rounded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Chhattisgarh</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27,34,817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12.9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23.5%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Kerala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24,08,503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67.4%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Every state and union territory, the remaining sixteen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Rounded: published in lakh or crore. Short: the reasons leave some names unexplained. No split: none found</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704320" cy="914400"/>
        </p:xfrm>
        <a:graphic>
          <a:graphicData uri="http://schemas.openxmlformats.org/drawingml/2006/table">
            <a:tbl>
              <a:tblPr/>
              <a:tblGrid>
                <a:gridCol w="2926080"/>
                <a:gridCol w="731520"/>
                <a:gridCol w="1645920"/>
                <a:gridCol w="1005840"/>
                <a:gridCol w="1005840"/>
                <a:gridCol w="2011680"/>
                <a:gridCol w="1188720"/>
                <a:gridCol w="1188720"/>
              </a:tblGrid>
              <a:tr h="25603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State or UT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Removed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Per 100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Dead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Shifted, absent, other</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Duplicate</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Punjab</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20,66,635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66.2%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short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Odisha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20,12,557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41.7%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50.4%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short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Uttarakhand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8,26,977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no split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Meghalaya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1,80,402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45.2%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51.1%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Arunachal Pradesh</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1,69,459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19.1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15.1%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82.0%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Manipur</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1,58,677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27.1%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68.2%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Nagaland</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1,57,752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11.6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18.4%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78.5%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Dadra and Nagar Haveli and Daman and Diu</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1,26,894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29.6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no split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Puducherry</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1,03,467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77.9%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Goa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1,00,042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25.6%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72.4%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Chandigarh</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66,145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no split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Andaman and Nicobar Islands</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64,014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20.6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14.4%</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81.1%</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Mizoram</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46,162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no split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Sikkim</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37,737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28.7%</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64.9%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Lakshadweep</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1,429</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17.6%</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33.0%</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Tripura</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00" dirty="0">
                          <a:solidFill>
                            <a:srgbClr val="1C28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00" dirty="0">
                          <a:solidFill>
                            <a:srgbClr val="1C2833"/>
                          </a:solidFill>
                          <a:latin typeface="Calibri" pitchFamily="34" charset="0"/>
                          <a:ea typeface="Calibri" pitchFamily="34" charset="-122"/>
                          <a:cs typeface="Calibri" pitchFamily="34" charset="-120"/>
                        </a:rPr>
                        <a:t>no draft</a:t>
                      </a:r>
                      <a:endParaRPr lang="en-US" sz="11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In 7 of the 10 states with a split by sex, women are a larger share of the removed than of the roll</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Women's share of names removed and of the roll; most phase 3 states published no split by sex</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Largest gap: Bihar, 7.6 points; then Odisha and Uttar Pradesh.</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Delhi runs the other way, by 4.1 points.</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Figures are exact for 6 states; rounded, from an earlier roll or unverified for the rest. Bihar is compared with the 2011 population.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The removal rate goes with in-migration across all states (0.53), but only because of phase 3; in phase 2 it is 0.04</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Rank correlations across states with each state's removals per 100 electors; under 0.2 either way is read as none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2651760"/>
                <a:gridCol w="1005840"/>
                <a:gridCol w="1005840"/>
                <a:gridCol w="1005840"/>
                <a:gridCol w="1554480"/>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Characteristic</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All states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Phase 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Share enrolled twice, larger states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Living here, born elsewhere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0.53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Income per head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Urban share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Muslim share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0.53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SC share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Born here, living elsewhere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Literacy</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Women's literacy</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Sex ratio</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-0.46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ST share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In phase 3 income, urban share, migration and the Muslim share rise together, because the large destination states are revised alongside the North-East. 15 states cannot separate them.</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Muslim share: 0.12 across all states, -0.34 in phase 2. No consistent relationship.</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Border states removed fewer: a median of 8.3 per 100 against 15.2 in the interior.</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A state-level relationship says nothing about who was removed within a state.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ALL INDIA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After the draft, 27.6 lakh more names were removed in 17 states, with no reason given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What the state figures show, and what they cannot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554480"/>
            <a:ext cx="5440680" cy="1920240"/>
          </a:xfrm>
          <a:prstGeom prst="roundRect">
            <a:avLst>
              <a:gd name="adj" fmla="val 4762"/>
            </a:avLst>
          </a:prstGeom>
          <a:solidFill>
            <a:srgbClr val="EAF1F8"/>
          </a:solidFill>
          <a:ln/>
        </p:spPr>
      </p:sp>
      <p:sp>
        <p:nvSpPr>
          <p:cNvPr id="48" name="Text 46"/>
          <p:cNvSpPr txBox="1"/>
          <p:nvPr/>
        </p:nvSpPr>
        <p:spPr>
          <a:xfrm>
            <a:off x="777240" y="1719072"/>
            <a:ext cx="4983480" cy="159105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They show how many names each state left off its draft roll and the reason its officers entered: dead, shifted or absent (with "others" where reported), or enrolled more than once.</a:t>
            </a:r>
            <a:endParaRPr lang="en-US" sz="1500" dirty="0"/>
          </a:p>
        </p:txBody>
      </p:sp>
      <p:sp>
        <p:nvSpPr>
          <p:cNvPr id="49" name="Shape 47"/>
          <p:cNvSpPr/>
          <p:nvPr/>
        </p:nvSpPr>
        <p:spPr>
          <a:xfrm>
            <a:off x="6199632" y="1554480"/>
            <a:ext cx="5440680" cy="1920240"/>
          </a:xfrm>
          <a:prstGeom prst="roundRect">
            <a:avLst>
              <a:gd name="adj" fmla="val 4762"/>
            </a:avLst>
          </a:prstGeom>
          <a:solidFill>
            <a:srgbClr val="EAF1F8"/>
          </a:solidFill>
          <a:ln/>
        </p:spPr>
      </p:sp>
      <p:sp>
        <p:nvSpPr>
          <p:cNvPr id="50" name="Text 48"/>
          <p:cNvSpPr txBox="1"/>
          <p:nvPr/>
        </p:nvSpPr>
        <p:spPr>
          <a:xfrm>
            <a:off x="6428232" y="1719072"/>
            <a:ext cx="4983480" cy="159105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They cannot show whether an entry was right, or break removals down by sex, age or booth. Outside Bihar they are the states' published totals, some rounded, gathered from press notes and reports.</a:t>
            </a:r>
            <a:endParaRPr lang="en-US" sz="1500" dirty="0"/>
          </a:p>
        </p:txBody>
      </p:sp>
      <p:sp>
        <p:nvSpPr>
          <p:cNvPr id="51" name="Text 49"/>
          <p:cNvSpPr txBox="1"/>
          <p:nvPr/>
        </p:nvSpPr>
        <p:spPr>
          <a:xfrm>
            <a:off x="548640" y="3749040"/>
            <a:ext cx="11094415" cy="201168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Removals after the draft, at hearings and on objections, are outside every figure by reason, because no state has said why. Twelve phase 3 final rolls are still to come. The Election Commission has published no state table of its own.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WHAT THE ELECTION COMMISSION SHOULD DO</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Publish its own table, and the lists behind it</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a state-by-state table of its own, with the reason for every removal at the draft and after it, exact rather than rounded.</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deletion lists with the reason against each name for every state, as it did for Bihar.</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basis for entries marked absent and enrolled more than once.</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outcome of every claim and objection, so that restorations can be set against removals.</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Explain why the mix of reasons differs so widely between states under one set of instructions.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Where the figures come from</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SIR 2025-26 · All India · Varna Sri Raman · aggregates only; no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All India: each state's Chief Electoral Officer's figures at the draft roll. Press notes read directly for Lakshadweep, Meghalaya, Arunachal Pradesh, Manipur and Nagaland; the rest as reported in the press, each linked on the method page and in the downloadable table.</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Bihar: counted from the phase 1 deletion lists, with shifted and absent combined to match the other states.</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Reasons grouped into the three every state reported: dead; shifted, absent or other; enrolled more than once.</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state rows add to 13.39 crore, against about 13.3 crore reported nationally on 30 September 2026; the difference is rounding.</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No name, EPIC number or address is published.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548640" y="1280160"/>
            <a:ext cx="11094415" cy="1097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full analysis</a:t>
            </a:r>
            <a:endParaRPr lang="en-US" sz="3400" dirty="0"/>
          </a:p>
        </p:txBody>
      </p:sp>
      <p:sp>
        <p:nvSpPr>
          <p:cNvPr id="3" name="Text 1"/>
          <p:cNvSpPr txBox="1"/>
          <p:nvPr/>
        </p:nvSpPr>
        <p:spPr>
          <a:xfrm>
            <a:off x="548640" y="2743200"/>
            <a:ext cx="11094415" cy="2377440"/>
          </a:xfrm>
          <a:prstGeom prst="rect">
            <a:avLst/>
          </a:prstGeom>
          <a:noFill/>
          <a:ln/>
        </p:spPr>
        <p:txBody>
          <a:bodyPr wrap="square" lIns="0" tIns="0" rIns="0" bIns="0" rtlCol="0" anchor="t"/>
          <a:lstStyle/>
          <a:p>
            <a:pPr indent="0" marL="0">
              <a:spcAft>
                <a:spcPts val="1000"/>
              </a:spcAft>
              <a:buNone/>
            </a:pPr>
            <a:r>
              <a:rPr lang="en-US" sz="1700" dirty="0">
                <a:solidFill>
                  <a:srgbClr val="D6E4F0"/>
                </a:solidFill>
                <a:latin typeface="Calibri" pitchFamily="34" charset="0"/>
                <a:ea typeface="Calibri" pitchFamily="34" charset="-122"/>
                <a:cs typeface="Calibri" pitchFamily="34" charset="-120"/>
              </a:rPr>
              <a:t>The All India table with a source for every row, and the full report, are published online alongside this deck.</a:t>
            </a:r>
            <a:endParaRPr lang="en-US" sz="1700" dirty="0"/>
          </a:p>
          <a:p>
            <a:pPr indent="0" marL="0">
              <a:spcAft>
                <a:spcPts val="1000"/>
              </a:spcAft>
              <a:buNone/>
            </a:pPr>
            <a:r>
              <a:rPr lang="en-US" sz="1700" dirty="0">
                <a:solidFill>
                  <a:srgbClr val="D6E4F0"/>
                </a:solidFill>
                <a:latin typeface="Calibri" pitchFamily="34" charset="0"/>
                <a:ea typeface="Calibri" pitchFamily="34" charset="-122"/>
                <a:cs typeface="Calibri" pitchFamily="34" charset="-120"/>
              </a:rPr>
              <a:t>Varna Sri Raman</a:t>
            </a:r>
            <a:endParaRPr lang="en-US" sz="1700" dirty="0"/>
          </a:p>
        </p:txBody>
      </p:sp>
      <p:sp>
        <p:nvSpPr>
          <p:cNvPr id="4" name="Shape 2"/>
          <p:cNvSpPr/>
          <p:nvPr/>
        </p:nvSpPr>
        <p:spPr>
          <a:xfrm>
            <a:off x="0" y="6748272"/>
            <a:ext cx="304792" cy="109728"/>
          </a:xfrm>
          <a:prstGeom prst="rect">
            <a:avLst/>
          </a:prstGeom>
          <a:solidFill>
            <a:srgbClr val="C0392B"/>
          </a:solidFill>
          <a:ln/>
        </p:spPr>
      </p:sp>
      <p:sp>
        <p:nvSpPr>
          <p:cNvPr id="5" name="Shape 3"/>
          <p:cNvSpPr/>
          <p:nvPr/>
        </p:nvSpPr>
        <p:spPr>
          <a:xfrm>
            <a:off x="304792" y="6748272"/>
            <a:ext cx="304792" cy="109728"/>
          </a:xfrm>
          <a:prstGeom prst="rect">
            <a:avLst/>
          </a:prstGeom>
          <a:solidFill>
            <a:srgbClr val="E67E22"/>
          </a:solidFill>
          <a:ln/>
        </p:spPr>
      </p:sp>
      <p:sp>
        <p:nvSpPr>
          <p:cNvPr id="6" name="Shape 4"/>
          <p:cNvSpPr/>
          <p:nvPr/>
        </p:nvSpPr>
        <p:spPr>
          <a:xfrm>
            <a:off x="609585" y="6748272"/>
            <a:ext cx="304792" cy="109728"/>
          </a:xfrm>
          <a:prstGeom prst="rect">
            <a:avLst/>
          </a:prstGeom>
          <a:solidFill>
            <a:srgbClr val="27AE60"/>
          </a:solidFill>
          <a:ln/>
        </p:spPr>
      </p:sp>
      <p:sp>
        <p:nvSpPr>
          <p:cNvPr id="7" name="Shape 5"/>
          <p:cNvSpPr/>
          <p:nvPr/>
        </p:nvSpPr>
        <p:spPr>
          <a:xfrm>
            <a:off x="914377" y="6748272"/>
            <a:ext cx="304792" cy="109728"/>
          </a:xfrm>
          <a:prstGeom prst="rect">
            <a:avLst/>
          </a:prstGeom>
          <a:solidFill>
            <a:srgbClr val="1F618D"/>
          </a:solidFill>
          <a:ln/>
        </p:spPr>
      </p:sp>
      <p:sp>
        <p:nvSpPr>
          <p:cNvPr id="8" name="Shape 6"/>
          <p:cNvSpPr/>
          <p:nvPr/>
        </p:nvSpPr>
        <p:spPr>
          <a:xfrm>
            <a:off x="1219170" y="6748272"/>
            <a:ext cx="304792" cy="109728"/>
          </a:xfrm>
          <a:prstGeom prst="rect">
            <a:avLst/>
          </a:prstGeom>
          <a:solidFill>
            <a:srgbClr val="8E44AD"/>
          </a:solidFill>
          <a:ln/>
        </p:spPr>
      </p:sp>
      <p:sp>
        <p:nvSpPr>
          <p:cNvPr id="9" name="Shape 7"/>
          <p:cNvSpPr/>
          <p:nvPr/>
        </p:nvSpPr>
        <p:spPr>
          <a:xfrm>
            <a:off x="1523962" y="6748272"/>
            <a:ext cx="304792" cy="109728"/>
          </a:xfrm>
          <a:prstGeom prst="rect">
            <a:avLst/>
          </a:prstGeom>
          <a:solidFill>
            <a:srgbClr val="C0392B"/>
          </a:solidFill>
          <a:ln/>
        </p:spPr>
      </p:sp>
      <p:sp>
        <p:nvSpPr>
          <p:cNvPr id="10" name="Shape 8"/>
          <p:cNvSpPr/>
          <p:nvPr/>
        </p:nvSpPr>
        <p:spPr>
          <a:xfrm>
            <a:off x="1828754" y="6748272"/>
            <a:ext cx="304792" cy="109728"/>
          </a:xfrm>
          <a:prstGeom prst="rect">
            <a:avLst/>
          </a:prstGeom>
          <a:solidFill>
            <a:srgbClr val="E67E22"/>
          </a:solidFill>
          <a:ln/>
        </p:spPr>
      </p:sp>
      <p:sp>
        <p:nvSpPr>
          <p:cNvPr id="11" name="Shape 9"/>
          <p:cNvSpPr/>
          <p:nvPr/>
        </p:nvSpPr>
        <p:spPr>
          <a:xfrm>
            <a:off x="2133547" y="6748272"/>
            <a:ext cx="304792" cy="109728"/>
          </a:xfrm>
          <a:prstGeom prst="rect">
            <a:avLst/>
          </a:prstGeom>
          <a:solidFill>
            <a:srgbClr val="27AE60"/>
          </a:solidFill>
          <a:ln/>
        </p:spPr>
      </p:sp>
      <p:sp>
        <p:nvSpPr>
          <p:cNvPr id="12" name="Shape 10"/>
          <p:cNvSpPr/>
          <p:nvPr/>
        </p:nvSpPr>
        <p:spPr>
          <a:xfrm>
            <a:off x="2438339" y="6748272"/>
            <a:ext cx="304792" cy="109728"/>
          </a:xfrm>
          <a:prstGeom prst="rect">
            <a:avLst/>
          </a:prstGeom>
          <a:solidFill>
            <a:srgbClr val="1F618D"/>
          </a:solidFill>
          <a:ln/>
        </p:spPr>
      </p:sp>
      <p:sp>
        <p:nvSpPr>
          <p:cNvPr id="13" name="Shape 11"/>
          <p:cNvSpPr/>
          <p:nvPr/>
        </p:nvSpPr>
        <p:spPr>
          <a:xfrm>
            <a:off x="2743131" y="6748272"/>
            <a:ext cx="304792" cy="109728"/>
          </a:xfrm>
          <a:prstGeom prst="rect">
            <a:avLst/>
          </a:prstGeom>
          <a:solidFill>
            <a:srgbClr val="8E44AD"/>
          </a:solidFill>
          <a:ln/>
        </p:spPr>
      </p:sp>
      <p:sp>
        <p:nvSpPr>
          <p:cNvPr id="14" name="Shape 12"/>
          <p:cNvSpPr/>
          <p:nvPr/>
        </p:nvSpPr>
        <p:spPr>
          <a:xfrm>
            <a:off x="3047924" y="6748272"/>
            <a:ext cx="304792" cy="109728"/>
          </a:xfrm>
          <a:prstGeom prst="rect">
            <a:avLst/>
          </a:prstGeom>
          <a:solidFill>
            <a:srgbClr val="C0392B"/>
          </a:solidFill>
          <a:ln/>
        </p:spPr>
      </p:sp>
      <p:sp>
        <p:nvSpPr>
          <p:cNvPr id="15" name="Shape 13"/>
          <p:cNvSpPr/>
          <p:nvPr/>
        </p:nvSpPr>
        <p:spPr>
          <a:xfrm>
            <a:off x="3352716" y="6748272"/>
            <a:ext cx="304792" cy="109728"/>
          </a:xfrm>
          <a:prstGeom prst="rect">
            <a:avLst/>
          </a:prstGeom>
          <a:solidFill>
            <a:srgbClr val="E67E22"/>
          </a:solidFill>
          <a:ln/>
        </p:spPr>
      </p:sp>
      <p:sp>
        <p:nvSpPr>
          <p:cNvPr id="16" name="Shape 14"/>
          <p:cNvSpPr/>
          <p:nvPr/>
        </p:nvSpPr>
        <p:spPr>
          <a:xfrm>
            <a:off x="3657509" y="6748272"/>
            <a:ext cx="304792" cy="109728"/>
          </a:xfrm>
          <a:prstGeom prst="rect">
            <a:avLst/>
          </a:prstGeom>
          <a:solidFill>
            <a:srgbClr val="27AE60"/>
          </a:solidFill>
          <a:ln/>
        </p:spPr>
      </p:sp>
      <p:sp>
        <p:nvSpPr>
          <p:cNvPr id="17" name="Shape 15"/>
          <p:cNvSpPr/>
          <p:nvPr/>
        </p:nvSpPr>
        <p:spPr>
          <a:xfrm>
            <a:off x="3962301" y="6748272"/>
            <a:ext cx="304792" cy="109728"/>
          </a:xfrm>
          <a:prstGeom prst="rect">
            <a:avLst/>
          </a:prstGeom>
          <a:solidFill>
            <a:srgbClr val="1F618D"/>
          </a:solidFill>
          <a:ln/>
        </p:spPr>
      </p:sp>
      <p:sp>
        <p:nvSpPr>
          <p:cNvPr id="18" name="Shape 16"/>
          <p:cNvSpPr/>
          <p:nvPr/>
        </p:nvSpPr>
        <p:spPr>
          <a:xfrm>
            <a:off x="4267093" y="6748272"/>
            <a:ext cx="304792" cy="109728"/>
          </a:xfrm>
          <a:prstGeom prst="rect">
            <a:avLst/>
          </a:prstGeom>
          <a:solidFill>
            <a:srgbClr val="8E44AD"/>
          </a:solidFill>
          <a:ln/>
        </p:spPr>
      </p:sp>
      <p:sp>
        <p:nvSpPr>
          <p:cNvPr id="19" name="Shape 17"/>
          <p:cNvSpPr/>
          <p:nvPr/>
        </p:nvSpPr>
        <p:spPr>
          <a:xfrm>
            <a:off x="4571886" y="6748272"/>
            <a:ext cx="304792" cy="109728"/>
          </a:xfrm>
          <a:prstGeom prst="rect">
            <a:avLst/>
          </a:prstGeom>
          <a:solidFill>
            <a:srgbClr val="C0392B"/>
          </a:solidFill>
          <a:ln/>
        </p:spPr>
      </p:sp>
      <p:sp>
        <p:nvSpPr>
          <p:cNvPr id="20" name="Shape 18"/>
          <p:cNvSpPr/>
          <p:nvPr/>
        </p:nvSpPr>
        <p:spPr>
          <a:xfrm>
            <a:off x="4876678" y="6748272"/>
            <a:ext cx="304792" cy="109728"/>
          </a:xfrm>
          <a:prstGeom prst="rect">
            <a:avLst/>
          </a:prstGeom>
          <a:solidFill>
            <a:srgbClr val="E67E22"/>
          </a:solidFill>
          <a:ln/>
        </p:spPr>
      </p:sp>
      <p:sp>
        <p:nvSpPr>
          <p:cNvPr id="21" name="Shape 19"/>
          <p:cNvSpPr/>
          <p:nvPr/>
        </p:nvSpPr>
        <p:spPr>
          <a:xfrm>
            <a:off x="5181470" y="6748272"/>
            <a:ext cx="304792" cy="109728"/>
          </a:xfrm>
          <a:prstGeom prst="rect">
            <a:avLst/>
          </a:prstGeom>
          <a:solidFill>
            <a:srgbClr val="27AE60"/>
          </a:solidFill>
          <a:ln/>
        </p:spPr>
      </p:sp>
      <p:sp>
        <p:nvSpPr>
          <p:cNvPr id="22" name="Shape 20"/>
          <p:cNvSpPr/>
          <p:nvPr/>
        </p:nvSpPr>
        <p:spPr>
          <a:xfrm>
            <a:off x="5486263" y="6748272"/>
            <a:ext cx="304792" cy="109728"/>
          </a:xfrm>
          <a:prstGeom prst="rect">
            <a:avLst/>
          </a:prstGeom>
          <a:solidFill>
            <a:srgbClr val="1F618D"/>
          </a:solidFill>
          <a:ln/>
        </p:spPr>
      </p:sp>
      <p:sp>
        <p:nvSpPr>
          <p:cNvPr id="23" name="Shape 21"/>
          <p:cNvSpPr/>
          <p:nvPr/>
        </p:nvSpPr>
        <p:spPr>
          <a:xfrm>
            <a:off x="5791055" y="6748272"/>
            <a:ext cx="304792" cy="109728"/>
          </a:xfrm>
          <a:prstGeom prst="rect">
            <a:avLst/>
          </a:prstGeom>
          <a:solidFill>
            <a:srgbClr val="8E44AD"/>
          </a:solidFill>
          <a:ln/>
        </p:spPr>
      </p:sp>
      <p:sp>
        <p:nvSpPr>
          <p:cNvPr id="24" name="Shape 22"/>
          <p:cNvSpPr/>
          <p:nvPr/>
        </p:nvSpPr>
        <p:spPr>
          <a:xfrm>
            <a:off x="6095848" y="6748272"/>
            <a:ext cx="304792" cy="109728"/>
          </a:xfrm>
          <a:prstGeom prst="rect">
            <a:avLst/>
          </a:prstGeom>
          <a:solidFill>
            <a:srgbClr val="C0392B"/>
          </a:solidFill>
          <a:ln/>
        </p:spPr>
      </p:sp>
      <p:sp>
        <p:nvSpPr>
          <p:cNvPr id="25" name="Shape 23"/>
          <p:cNvSpPr/>
          <p:nvPr/>
        </p:nvSpPr>
        <p:spPr>
          <a:xfrm>
            <a:off x="6400640" y="6748272"/>
            <a:ext cx="304792" cy="109728"/>
          </a:xfrm>
          <a:prstGeom prst="rect">
            <a:avLst/>
          </a:prstGeom>
          <a:solidFill>
            <a:srgbClr val="E67E22"/>
          </a:solidFill>
          <a:ln/>
        </p:spPr>
      </p:sp>
      <p:sp>
        <p:nvSpPr>
          <p:cNvPr id="26" name="Shape 24"/>
          <p:cNvSpPr/>
          <p:nvPr/>
        </p:nvSpPr>
        <p:spPr>
          <a:xfrm>
            <a:off x="6705432" y="6748272"/>
            <a:ext cx="304792" cy="109728"/>
          </a:xfrm>
          <a:prstGeom prst="rect">
            <a:avLst/>
          </a:prstGeom>
          <a:solidFill>
            <a:srgbClr val="27AE60"/>
          </a:solidFill>
          <a:ln/>
        </p:spPr>
      </p:sp>
      <p:sp>
        <p:nvSpPr>
          <p:cNvPr id="27" name="Shape 25"/>
          <p:cNvSpPr/>
          <p:nvPr/>
        </p:nvSpPr>
        <p:spPr>
          <a:xfrm>
            <a:off x="7010225" y="6748272"/>
            <a:ext cx="304792" cy="109728"/>
          </a:xfrm>
          <a:prstGeom prst="rect">
            <a:avLst/>
          </a:prstGeom>
          <a:solidFill>
            <a:srgbClr val="1F618D"/>
          </a:solidFill>
          <a:ln/>
        </p:spPr>
      </p:sp>
      <p:sp>
        <p:nvSpPr>
          <p:cNvPr id="28" name="Shape 26"/>
          <p:cNvSpPr/>
          <p:nvPr/>
        </p:nvSpPr>
        <p:spPr>
          <a:xfrm>
            <a:off x="7315017" y="6748272"/>
            <a:ext cx="304792" cy="109728"/>
          </a:xfrm>
          <a:prstGeom prst="rect">
            <a:avLst/>
          </a:prstGeom>
          <a:solidFill>
            <a:srgbClr val="8E44AD"/>
          </a:solidFill>
          <a:ln/>
        </p:spPr>
      </p:sp>
      <p:sp>
        <p:nvSpPr>
          <p:cNvPr id="29" name="Shape 27"/>
          <p:cNvSpPr/>
          <p:nvPr/>
        </p:nvSpPr>
        <p:spPr>
          <a:xfrm>
            <a:off x="7619809" y="6748272"/>
            <a:ext cx="304792" cy="109728"/>
          </a:xfrm>
          <a:prstGeom prst="rect">
            <a:avLst/>
          </a:prstGeom>
          <a:solidFill>
            <a:srgbClr val="C0392B"/>
          </a:solidFill>
          <a:ln/>
        </p:spPr>
      </p:sp>
      <p:sp>
        <p:nvSpPr>
          <p:cNvPr id="30" name="Shape 28"/>
          <p:cNvSpPr/>
          <p:nvPr/>
        </p:nvSpPr>
        <p:spPr>
          <a:xfrm>
            <a:off x="7924602" y="6748272"/>
            <a:ext cx="304792" cy="109728"/>
          </a:xfrm>
          <a:prstGeom prst="rect">
            <a:avLst/>
          </a:prstGeom>
          <a:solidFill>
            <a:srgbClr val="E67E22"/>
          </a:solidFill>
          <a:ln/>
        </p:spPr>
      </p:sp>
      <p:sp>
        <p:nvSpPr>
          <p:cNvPr id="31" name="Shape 29"/>
          <p:cNvSpPr/>
          <p:nvPr/>
        </p:nvSpPr>
        <p:spPr>
          <a:xfrm>
            <a:off x="8229394" y="6748272"/>
            <a:ext cx="304792" cy="109728"/>
          </a:xfrm>
          <a:prstGeom prst="rect">
            <a:avLst/>
          </a:prstGeom>
          <a:solidFill>
            <a:srgbClr val="27AE60"/>
          </a:solidFill>
          <a:ln/>
        </p:spPr>
      </p:sp>
      <p:sp>
        <p:nvSpPr>
          <p:cNvPr id="32" name="Shape 30"/>
          <p:cNvSpPr/>
          <p:nvPr/>
        </p:nvSpPr>
        <p:spPr>
          <a:xfrm>
            <a:off x="8534187" y="6748272"/>
            <a:ext cx="304792" cy="109728"/>
          </a:xfrm>
          <a:prstGeom prst="rect">
            <a:avLst/>
          </a:prstGeom>
          <a:solidFill>
            <a:srgbClr val="1F618D"/>
          </a:solidFill>
          <a:ln/>
        </p:spPr>
      </p:sp>
      <p:sp>
        <p:nvSpPr>
          <p:cNvPr id="33" name="Shape 31"/>
          <p:cNvSpPr/>
          <p:nvPr/>
        </p:nvSpPr>
        <p:spPr>
          <a:xfrm>
            <a:off x="8838979" y="6748272"/>
            <a:ext cx="304792" cy="109728"/>
          </a:xfrm>
          <a:prstGeom prst="rect">
            <a:avLst/>
          </a:prstGeom>
          <a:solidFill>
            <a:srgbClr val="8E44AD"/>
          </a:solidFill>
          <a:ln/>
        </p:spPr>
      </p:sp>
      <p:sp>
        <p:nvSpPr>
          <p:cNvPr id="34" name="Shape 32"/>
          <p:cNvSpPr/>
          <p:nvPr/>
        </p:nvSpPr>
        <p:spPr>
          <a:xfrm>
            <a:off x="9143771" y="6748272"/>
            <a:ext cx="304792" cy="109728"/>
          </a:xfrm>
          <a:prstGeom prst="rect">
            <a:avLst/>
          </a:prstGeom>
          <a:solidFill>
            <a:srgbClr val="C0392B"/>
          </a:solidFill>
          <a:ln/>
        </p:spPr>
      </p:sp>
      <p:sp>
        <p:nvSpPr>
          <p:cNvPr id="35" name="Shape 33"/>
          <p:cNvSpPr/>
          <p:nvPr/>
        </p:nvSpPr>
        <p:spPr>
          <a:xfrm>
            <a:off x="9448564" y="6748272"/>
            <a:ext cx="304792" cy="109728"/>
          </a:xfrm>
          <a:prstGeom prst="rect">
            <a:avLst/>
          </a:prstGeom>
          <a:solidFill>
            <a:srgbClr val="E67E22"/>
          </a:solidFill>
          <a:ln/>
        </p:spPr>
      </p:sp>
      <p:sp>
        <p:nvSpPr>
          <p:cNvPr id="36" name="Shape 34"/>
          <p:cNvSpPr/>
          <p:nvPr/>
        </p:nvSpPr>
        <p:spPr>
          <a:xfrm>
            <a:off x="9753356" y="6748272"/>
            <a:ext cx="304792" cy="109728"/>
          </a:xfrm>
          <a:prstGeom prst="rect">
            <a:avLst/>
          </a:prstGeom>
          <a:solidFill>
            <a:srgbClr val="27AE60"/>
          </a:solidFill>
          <a:ln/>
        </p:spPr>
      </p:sp>
      <p:sp>
        <p:nvSpPr>
          <p:cNvPr id="37" name="Shape 35"/>
          <p:cNvSpPr/>
          <p:nvPr/>
        </p:nvSpPr>
        <p:spPr>
          <a:xfrm>
            <a:off x="10058149" y="6748272"/>
            <a:ext cx="304792" cy="109728"/>
          </a:xfrm>
          <a:prstGeom prst="rect">
            <a:avLst/>
          </a:prstGeom>
          <a:solidFill>
            <a:srgbClr val="1F618D"/>
          </a:solidFill>
          <a:ln/>
        </p:spPr>
      </p:sp>
      <p:sp>
        <p:nvSpPr>
          <p:cNvPr id="38" name="Shape 36"/>
          <p:cNvSpPr/>
          <p:nvPr/>
        </p:nvSpPr>
        <p:spPr>
          <a:xfrm>
            <a:off x="10362941" y="6748272"/>
            <a:ext cx="304792" cy="109728"/>
          </a:xfrm>
          <a:prstGeom prst="rect">
            <a:avLst/>
          </a:prstGeom>
          <a:solidFill>
            <a:srgbClr val="8E44AD"/>
          </a:solidFill>
          <a:ln/>
        </p:spPr>
      </p:sp>
      <p:sp>
        <p:nvSpPr>
          <p:cNvPr id="39" name="Shape 37"/>
          <p:cNvSpPr/>
          <p:nvPr/>
        </p:nvSpPr>
        <p:spPr>
          <a:xfrm>
            <a:off x="10667733" y="6748272"/>
            <a:ext cx="304792" cy="109728"/>
          </a:xfrm>
          <a:prstGeom prst="rect">
            <a:avLst/>
          </a:prstGeom>
          <a:solidFill>
            <a:srgbClr val="C0392B"/>
          </a:solidFill>
          <a:ln/>
        </p:spPr>
      </p:sp>
      <p:sp>
        <p:nvSpPr>
          <p:cNvPr id="40" name="Shape 38"/>
          <p:cNvSpPr/>
          <p:nvPr/>
        </p:nvSpPr>
        <p:spPr>
          <a:xfrm>
            <a:off x="10972526" y="6748272"/>
            <a:ext cx="304792" cy="109728"/>
          </a:xfrm>
          <a:prstGeom prst="rect">
            <a:avLst/>
          </a:prstGeom>
          <a:solidFill>
            <a:srgbClr val="E67E22"/>
          </a:solidFill>
          <a:ln/>
        </p:spPr>
      </p:sp>
      <p:sp>
        <p:nvSpPr>
          <p:cNvPr id="41" name="Shape 39"/>
          <p:cNvSpPr/>
          <p:nvPr/>
        </p:nvSpPr>
        <p:spPr>
          <a:xfrm>
            <a:off x="11277318" y="6748272"/>
            <a:ext cx="304792" cy="109728"/>
          </a:xfrm>
          <a:prstGeom prst="rect">
            <a:avLst/>
          </a:prstGeom>
          <a:solidFill>
            <a:srgbClr val="27AE60"/>
          </a:solidFill>
          <a:ln/>
        </p:spPr>
      </p:sp>
      <p:sp>
        <p:nvSpPr>
          <p:cNvPr id="42" name="Shape 40"/>
          <p:cNvSpPr/>
          <p:nvPr/>
        </p:nvSpPr>
        <p:spPr>
          <a:xfrm>
            <a:off x="11582110" y="6748272"/>
            <a:ext cx="304792" cy="109728"/>
          </a:xfrm>
          <a:prstGeom prst="rect">
            <a:avLst/>
          </a:prstGeom>
          <a:solidFill>
            <a:srgbClr val="1F618D"/>
          </a:solidFill>
          <a:ln/>
        </p:spPr>
      </p:sp>
      <p:sp>
        <p:nvSpPr>
          <p:cNvPr id="43" name="Shape 41"/>
          <p:cNvSpPr/>
          <p:nvPr/>
        </p:nvSpPr>
        <p:spPr>
          <a:xfrm>
            <a:off x="11886903" y="6748272"/>
            <a:ext cx="304792" cy="109728"/>
          </a:xfrm>
          <a:prstGeom prst="rect">
            <a:avLst/>
          </a:prstGeom>
          <a:solidFill>
            <a:srgbClr val="8E44A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SIR 2025-26: All India</dc:title>
  <dc:subject>PptxGenJS Presentation</dc:subject>
  <dc:creator>Varna Sri Raman</dc:creator>
  <cp:lastModifiedBy>Varna Sri Raman</cp:lastModifiedBy>
  <cp:revision>1</cp:revision>
  <dcterms:created xsi:type="dcterms:W3CDTF">2026-09-30T10:13:23Z</dcterms:created>
  <dcterms:modified xsi:type="dcterms:W3CDTF">2026-09-30T10:13:23Z</dcterms:modified>
</cp:coreProperties>
</file>