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Gujarat</c:v>
                  </c:pt>
                  <c:pt idx="12">
                    <c:v>Madhya Pradesh</c:v>
                  </c:pt>
                  <c:pt idx="13">
                    <c:v>Jharkhand</c:v>
                  </c:pt>
                  <c:pt idx="14">
                    <c:v>Bihar</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100.7</c:v>
                </c:pt>
                <c:pt idx="5">
                  <c:v>100.4</c:v>
                </c:pt>
                <c:pt idx="6">
                  <c:v>99.7</c:v>
                </c:pt>
                <c:pt idx="7">
                  <c:v>99.5</c:v>
                </c:pt>
                <c:pt idx="8">
                  <c:v>98.9</c:v>
                </c:pt>
                <c:pt idx="9">
                  <c:v>96.5</c:v>
                </c:pt>
                <c:pt idx="10">
                  <c:v>95.5</c:v>
                </c:pt>
                <c:pt idx="11">
                  <c:v>95.4</c:v>
                </c:pt>
                <c:pt idx="12">
                  <c:v>95.4</c:v>
                </c:pt>
                <c:pt idx="13">
                  <c:v>95.2</c:v>
                </c:pt>
                <c:pt idx="14">
                  <c:v>95</c:v>
                </c:pt>
                <c:pt idx="15">
                  <c:v>91.6</c:v>
                </c:pt>
                <c:pt idx="16">
                  <c:v>90.2</c:v>
                </c:pt>
                <c:pt idx="17">
                  <c:v>88.9</c:v>
                </c:pt>
                <c:pt idx="18">
                  <c:v>85.6</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Gujarat</c:v>
                  </c:pt>
                  <c:pt idx="12">
                    <c:v>Madhya Pradesh</c:v>
                  </c:pt>
                  <c:pt idx="13">
                    <c:v>Jharkhand</c:v>
                  </c:pt>
                  <c:pt idx="14">
                    <c:v>Bihar</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89.9</c:v>
                </c:pt>
                <c:pt idx="5">
                  <c:v>91.7</c:v>
                </c:pt>
                <c:pt idx="6">
                  <c:v>78.6</c:v>
                </c:pt>
                <c:pt idx="7">
                  <c:v>91.9</c:v>
                </c:pt>
                <c:pt idx="8">
                  <c:v>86.1</c:v>
                </c:pt>
                <c:pt idx="9">
                  <c:v>89.2</c:v>
                </c:pt>
                <c:pt idx="10">
                  <c:v>77.7</c:v>
                </c:pt>
                <c:pt idx="11">
                  <c:v>81.6</c:v>
                </c:pt>
                <c:pt idx="12">
                  <c:v>88.3</c:v>
                </c:pt>
                <c:pt idx="13">
                  <c:v>79.5</c:v>
                </c:pt>
                <c:pt idx="14">
                  <c:v>87.1</c:v>
                </c:pt>
                <c:pt idx="15">
                  <c:v>76.6</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111.2</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453.7</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50.4</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0.1</c:v>
                </c:pt>
                <c:pt idx="2">
                  <c:v>1.4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cat>
            <c:multiLvlStrRef>
              <c:f>Sheet1!$A$2:$A$32</c:f>
              <c:multiLvlStrCache>
                <c:ptCount val="31"/>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Chandigarh</c:v>
                  </c:pt>
                  <c:pt idx="18">
                    <c:v>Chhattisgarh</c:v>
                  </c:pt>
                  <c:pt idx="19">
                    <c:v>Gujarat</c:v>
                  </c:pt>
                  <c:pt idx="20">
                    <c:v>Tamil Nadu</c:v>
                  </c:pt>
                  <c:pt idx="21">
                    <c:v>Haryana</c:v>
                  </c:pt>
                  <c:pt idx="22">
                    <c:v>Jharkhand</c:v>
                  </c:pt>
                  <c:pt idx="23">
                    <c:v>Uttar Pradesh</c:v>
                  </c:pt>
                  <c:pt idx="24">
                    <c:v>Arunachal Pradesh</c:v>
                  </c:pt>
                  <c:pt idx="25">
                    <c:v>Karnataka</c:v>
                  </c:pt>
                  <c:pt idx="26">
                    <c:v>Andaman and Nicobar Islands</c:v>
                  </c:pt>
                  <c:pt idx="27">
                    <c:v>Maharashtra</c:v>
                  </c:pt>
                  <c:pt idx="28">
                    <c:v>Telangana</c:v>
                  </c:pt>
                  <c:pt idx="29">
                    <c:v>Dadra and Nagar Haveli and Daman and Diu</c:v>
                  </c:pt>
                  <c:pt idx="30">
                    <c:v>Delhi</c:v>
                  </c:pt>
                </c:lvl>
              </c:multiLvlStrCache>
            </c:multiLvlStrRef>
          </c:cat>
          <c:val>
            <c:numRef>
              <c:f>Sheet1!$B$2:$B$32</c:f>
              <c:numCache>
                <c:formatCode>General</c:formatCode>
                <c:ptCount val="31"/>
                <c:pt idx="0">
                  <c:v>2.4718</c:v>
                </c:pt>
                <c:pt idx="1">
                  <c:v>5.2752</c:v>
                </c:pt>
                <c:pt idx="2">
                  <c:v>6.0257</c:v>
                </c:pt>
                <c:pt idx="3">
                  <c:v>7.4455</c:v>
                </c:pt>
                <c:pt idx="4">
                  <c:v>7.581</c:v>
                </c:pt>
                <c:pt idx="5">
                  <c:v>7.5954</c:v>
                </c:pt>
                <c:pt idx="6">
                  <c:v>7.6568</c:v>
                </c:pt>
                <c:pt idx="7">
                  <c:v>7.6778</c:v>
                </c:pt>
                <c:pt idx="8">
                  <c:v>8.009</c:v>
                </c:pt>
                <c:pt idx="9">
                  <c:v>8.3138</c:v>
                </c:pt>
                <c:pt idx="10">
                  <c:v>8.4421</c:v>
                </c:pt>
                <c:pt idx="11">
                  <c:v>8.6479</c:v>
                </c:pt>
                <c:pt idx="12">
                  <c:v>9.6297</c:v>
                </c:pt>
                <c:pt idx="13">
                  <c:v>10.1282</c:v>
                </c:pt>
                <c:pt idx="14">
                  <c:v>10.3882</c:v>
                </c:pt>
                <c:pt idx="15">
                  <c:v>10.7849</c:v>
                </c:pt>
                <c:pt idx="16">
                  <c:v>11.6233</c:v>
                </c:pt>
                <c:pt idx="17">
                  <c:v>12.8082</c:v>
                </c:pt>
                <c:pt idx="18">
                  <c:v>12.8814</c:v>
                </c:pt>
                <c:pt idx="19">
                  <c:v>14.502</c:v>
                </c:pt>
                <c:pt idx="20">
                  <c:v>15.1882</c:v>
                </c:pt>
                <c:pt idx="21">
                  <c:v>16.3855</c:v>
                </c:pt>
                <c:pt idx="22">
                  <c:v>16.4832</c:v>
                </c:pt>
                <c:pt idx="23">
                  <c:v>18.6972</c:v>
                </c:pt>
                <c:pt idx="24">
                  <c:v>19.0939</c:v>
                </c:pt>
                <c:pt idx="25">
                  <c:v>19.4766</c:v>
                </c:pt>
                <c:pt idx="26">
                  <c:v>20.6228</c:v>
                </c:pt>
                <c:pt idx="27">
                  <c:v>21.1422</c:v>
                </c:pt>
                <c:pt idx="28">
                  <c:v>21.6967</c:v>
                </c:pt>
                <c:pt idx="29">
                  <c:v>29.6456</c:v>
                </c:pt>
                <c:pt idx="30">
                  <c:v>32.7817</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Sheet1!$B$2:$B$31</c:f>
              <c:numCache>
                <c:formatCode>General</c:formatCode>
                <c:ptCount val="30"/>
                <c:pt idx="0">
                  <c:v>49.3352</c:v>
                </c:pt>
                <c:pt idx="1">
                  <c:v>46.13</c:v>
                </c:pt>
                <c:pt idx="2">
                  <c:v>33.9051</c:v>
                </c:pt>
                <c:pt idx="3">
                  <c:v>41.3675</c:v>
                </c:pt>
                <c:pt idx="4">
                  <c:v>45.1713</c:v>
                </c:pt>
                <c:pt idx="5">
                  <c:v>34.0353</c:v>
                </c:pt>
                <c:pt idx="6">
                  <c:v>41.5203</c:v>
                </c:pt>
                <c:pt idx="7">
                  <c:v>28.7172</c:v>
                </c:pt>
                <c:pt idx="8">
                  <c:v>28.0201</c:v>
                </c:pt>
                <c:pt idx="9">
                  <c:v>26.9828</c:v>
                </c:pt>
                <c:pt idx="10">
                  <c:v>27.6722</c:v>
                </c:pt>
                <c:pt idx="11">
                  <c:v>27.0991</c:v>
                </c:pt>
                <c:pt idx="12">
                  <c:v>23.4836</c:v>
                </c:pt>
                <c:pt idx="13">
                  <c:v>24.511</c:v>
                </c:pt>
                <c:pt idx="14">
                  <c:v>20.938</c:v>
                </c:pt>
                <c:pt idx="15">
                  <c:v>22.6382</c:v>
                </c:pt>
                <c:pt idx="16">
                  <c:v>17.5127</c:v>
                </c:pt>
                <c:pt idx="17">
                  <c:v>25.5633</c:v>
                </c:pt>
                <c:pt idx="18">
                  <c:v>19.7978</c:v>
                </c:pt>
                <c:pt idx="19">
                  <c:v>16.8172</c:v>
                </c:pt>
                <c:pt idx="20">
                  <c:v>16.0137</c:v>
                </c:pt>
                <c:pt idx="21">
                  <c:v>15.0153</c:v>
                </c:pt>
                <c:pt idx="22">
                  <c:v>20.1011</c:v>
                </c:pt>
                <c:pt idx="23">
                  <c:v>15.1891</c:v>
                </c:pt>
                <c:pt idx="24">
                  <c:v>12.5657</c:v>
                </c:pt>
                <c:pt idx="25">
                  <c:v>18.3478</c:v>
                </c:pt>
                <c:pt idx="26">
                  <c:v>14.3578</c:v>
                </c:pt>
                <c:pt idx="27">
                  <c:v>15.091</c:v>
                </c:pt>
                <c:pt idx="28">
                  <c:v>5.3443</c:v>
                </c:pt>
                <c:pt idx="29">
                  <c:v>5.9371</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Sheet1!$C$2:$C$31</c:f>
              <c:numCache>
                <c:formatCode>General</c:formatCode>
                <c:ptCount val="30"/>
                <c:pt idx="0">
                  <c:v>17.6347</c:v>
                </c:pt>
                <c:pt idx="1">
                  <c:v>49.0003</c:v>
                </c:pt>
                <c:pt idx="2">
                  <c:v>49.677</c:v>
                </c:pt>
                <c:pt idx="3">
                  <c:v>50.776</c:v>
                </c:pt>
                <c:pt idx="4">
                  <c:v>51.1142</c:v>
                </c:pt>
                <c:pt idx="5">
                  <c:v>55.2773</c:v>
                </c:pt>
                <c:pt idx="6">
                  <c:v>56.1033</c:v>
                </c:pt>
                <c:pt idx="7">
                  <c:v>64.9336</c:v>
                </c:pt>
                <c:pt idx="8">
                  <c:v>66.1696</c:v>
                </c:pt>
                <c:pt idx="9">
                  <c:v>67.3693</c:v>
                </c:pt>
                <c:pt idx="10">
                  <c:v>68.2378</c:v>
                </c:pt>
                <c:pt idx="11">
                  <c:v>68.2411</c:v>
                </c:pt>
                <c:pt idx="12">
                  <c:v>69.9696</c:v>
                </c:pt>
                <c:pt idx="13">
                  <c:v>70.3153</c:v>
                </c:pt>
                <c:pt idx="14">
                  <c:v>70.8303</c:v>
                </c:pt>
                <c:pt idx="15">
                  <c:v>71.3074</c:v>
                </c:pt>
                <c:pt idx="16">
                  <c:v>72.4323</c:v>
                </c:pt>
                <c:pt idx="17">
                  <c:v>72.4406</c:v>
                </c:pt>
                <c:pt idx="18">
                  <c:v>73.7223</c:v>
                </c:pt>
                <c:pt idx="19">
                  <c:v>74.6654</c:v>
                </c:pt>
                <c:pt idx="20">
                  <c:v>75.1646</c:v>
                </c:pt>
                <c:pt idx="21">
                  <c:v>77.5535</c:v>
                </c:pt>
                <c:pt idx="22">
                  <c:v>77.9427</c:v>
                </c:pt>
                <c:pt idx="23">
                  <c:v>78.2358</c:v>
                </c:pt>
                <c:pt idx="24">
                  <c:v>78.3025</c:v>
                </c:pt>
                <c:pt idx="25">
                  <c:v>78.4453</c:v>
                </c:pt>
                <c:pt idx="26">
                  <c:v>81.0854</c:v>
                </c:pt>
                <c:pt idx="27">
                  <c:v>81.9897</c:v>
                </c:pt>
                <c:pt idx="28">
                  <c:v>90.74</c:v>
                </c:pt>
                <c:pt idx="29">
                  <c:v>91.0874</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Sheet1!$D$2:$D$31</c:f>
              <c:numCache>
                <c:formatCode>General</c:formatCode>
                <c:ptCount val="30"/>
                <c:pt idx="0">
                  <c:v>33.0301</c:v>
                </c:pt>
                <c:pt idx="1">
                  <c:v>4.8697</c:v>
                </c:pt>
                <c:pt idx="2">
                  <c:v>16.4179</c:v>
                </c:pt>
                <c:pt idx="3">
                  <c:v>7.8566</c:v>
                </c:pt>
                <c:pt idx="4">
                  <c:v>3.7145</c:v>
                </c:pt>
                <c:pt idx="5">
                  <c:v>10.6875</c:v>
                </c:pt>
                <c:pt idx="6">
                  <c:v>2.3764</c:v>
                </c:pt>
                <c:pt idx="7">
                  <c:v>6.3492</c:v>
                </c:pt>
                <c:pt idx="8">
                  <c:v>5.8104</c:v>
                </c:pt>
                <c:pt idx="9">
                  <c:v>5.6478</c:v>
                </c:pt>
                <c:pt idx="10">
                  <c:v>4.09</c:v>
                </c:pt>
                <c:pt idx="11">
                  <c:v>4.6598</c:v>
                </c:pt>
                <c:pt idx="12">
                  <c:v>6.5468</c:v>
                </c:pt>
                <c:pt idx="13">
                  <c:v>5.1736</c:v>
                </c:pt>
                <c:pt idx="14">
                  <c:v>8.2316</c:v>
                </c:pt>
                <c:pt idx="15">
                  <c:v>6.0544</c:v>
                </c:pt>
                <c:pt idx="16">
                  <c:v>10.055</c:v>
                </c:pt>
                <c:pt idx="17">
                  <c:v>1.9962</c:v>
                </c:pt>
                <c:pt idx="18">
                  <c:v>6.4799</c:v>
                </c:pt>
                <c:pt idx="19">
                  <c:v>8.5173</c:v>
                </c:pt>
                <c:pt idx="20">
                  <c:v>8.8218</c:v>
                </c:pt>
                <c:pt idx="21">
                  <c:v>7.4312</c:v>
                </c:pt>
                <c:pt idx="22">
                  <c:v>1.9562</c:v>
                </c:pt>
                <c:pt idx="23">
                  <c:v>6.5751</c:v>
                </c:pt>
                <c:pt idx="24">
                  <c:v>9.1318</c:v>
                </c:pt>
                <c:pt idx="25">
                  <c:v>3.2069</c:v>
                </c:pt>
                <c:pt idx="26">
                  <c:v>4.5568</c:v>
                </c:pt>
                <c:pt idx="27">
                  <c:v>2.9193</c:v>
                </c:pt>
                <c:pt idx="28">
                  <c:v>3.9156</c:v>
                </c:pt>
                <c:pt idx="29">
                  <c:v>2.9755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Sheet1!$A$2:$A$12</c:f>
              <c:multiLvlStrCache>
                <c:ptCount val="11"/>
                <c:lvl>
                  <c:pt idx="0">
                    <c:v>Delhi</c:v>
                  </c:pt>
                  <c:pt idx="1">
                    <c:v>Chandigarh</c:v>
                  </c:pt>
                  <c:pt idx="2">
                    <c:v>Karnataka</c:v>
                  </c:pt>
                  <c:pt idx="3">
                    <c:v>Tamil Nadu</c:v>
                  </c:pt>
                  <c:pt idx="4">
                    <c:v>Gujarat</c:v>
                  </c:pt>
                  <c:pt idx="5">
                    <c:v>Kerala</c:v>
                  </c:pt>
                  <c:pt idx="6">
                    <c:v>West Bengal</c:v>
                  </c:pt>
                  <c:pt idx="7">
                    <c:v>Madhya Pradesh</c:v>
                  </c:pt>
                  <c:pt idx="8">
                    <c:v>Uttar Pradesh</c:v>
                  </c:pt>
                  <c:pt idx="9">
                    <c:v>Odisha</c:v>
                  </c:pt>
                  <c:pt idx="10">
                    <c:v>Bihar</c:v>
                  </c:pt>
                </c:lvl>
              </c:multiLvlStrCache>
            </c:multiLvlStrRef>
          </c:cat>
          <c:val>
            <c:numRef>
              <c:f>Sheet1!$B$2:$B$12</c:f>
              <c:numCache>
                <c:formatCode>General</c:formatCode>
                <c:ptCount val="11"/>
                <c:pt idx="0">
                  <c:v>46.85</c:v>
                </c:pt>
                <c:pt idx="1">
                  <c:v>48.93</c:v>
                </c:pt>
                <c:pt idx="2">
                  <c:v>50.22</c:v>
                </c:pt>
                <c:pt idx="3">
                  <c:v>51.02</c:v>
                </c:pt>
                <c:pt idx="4">
                  <c:v>48.82</c:v>
                </c:pt>
                <c:pt idx="5">
                  <c:v>51.67</c:v>
                </c:pt>
                <c:pt idx="6">
                  <c:v>49.23</c:v>
                </c:pt>
                <c:pt idx="7">
                  <c:v>48.8</c:v>
                </c:pt>
                <c:pt idx="8">
                  <c:v>46.76</c:v>
                </c:pt>
                <c:pt idx="9">
                  <c:v>49.44</c:v>
                </c:pt>
                <c:pt idx="10">
                  <c:v>47.8582</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Sheet1!$A$2:$A$12</c:f>
              <c:multiLvlStrCache>
                <c:ptCount val="11"/>
                <c:lvl>
                  <c:pt idx="0">
                    <c:v>Delhi</c:v>
                  </c:pt>
                  <c:pt idx="1">
                    <c:v>Chandigarh</c:v>
                  </c:pt>
                  <c:pt idx="2">
                    <c:v>Karnataka</c:v>
                  </c:pt>
                  <c:pt idx="3">
                    <c:v>Tamil Nadu</c:v>
                  </c:pt>
                  <c:pt idx="4">
                    <c:v>Gujarat</c:v>
                  </c:pt>
                  <c:pt idx="5">
                    <c:v>Kerala</c:v>
                  </c:pt>
                  <c:pt idx="6">
                    <c:v>West Bengal</c:v>
                  </c:pt>
                  <c:pt idx="7">
                    <c:v>Madhya Pradesh</c:v>
                  </c:pt>
                  <c:pt idx="8">
                    <c:v>Uttar Pradesh</c:v>
                  </c:pt>
                  <c:pt idx="9">
                    <c:v>Odisha</c:v>
                  </c:pt>
                  <c:pt idx="10">
                    <c:v>Bihar</c:v>
                  </c:pt>
                </c:lvl>
              </c:multiLvlStrCache>
            </c:multiLvlStrRef>
          </c:cat>
          <c:val>
            <c:numRef>
              <c:f>Sheet1!$C$2:$C$12</c:f>
              <c:numCache>
                <c:formatCode>General</c:formatCode>
                <c:ptCount val="11"/>
                <c:pt idx="0">
                  <c:v>42.77</c:v>
                </c:pt>
                <c:pt idx="1">
                  <c:v>48.34</c:v>
                </c:pt>
                <c:pt idx="2">
                  <c:v>49.69</c:v>
                </c:pt>
                <c:pt idx="3">
                  <c:v>51.34</c:v>
                </c:pt>
                <c:pt idx="4">
                  <c:v>51.42</c:v>
                </c:pt>
                <c:pt idx="5">
                  <c:v>55.32</c:v>
                </c:pt>
                <c:pt idx="6">
                  <c:v>53.53</c:v>
                </c:pt>
                <c:pt idx="7">
                  <c:v>55.32</c:v>
                </c:pt>
                <c:pt idx="8">
                  <c:v>53.63</c:v>
                </c:pt>
                <c:pt idx="9">
                  <c:v>56.96</c:v>
                </c:pt>
                <c:pt idx="10">
                  <c:v>55.4924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Sheet1!$A$2:$A$22</c:f>
              <c:multiLvlStrCache>
                <c:ptCount val="21"/>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Chandigarh</c:v>
                  </c:pt>
                  <c:pt idx="10">
                    <c:v>Goa</c:v>
                  </c:pt>
                  <c:pt idx="11">
                    <c:v>Uttarakhand</c:v>
                  </c:pt>
                  <c:pt idx="12">
                    <c:v>Puducherry</c:v>
                  </c:pt>
                  <c:pt idx="13">
                    <c:v>Manipur</c:v>
                  </c:pt>
                  <c:pt idx="14">
                    <c:v>Bihar</c:v>
                  </c:pt>
                  <c:pt idx="15">
                    <c:v>Madhya Pradesh</c:v>
                  </c:pt>
                  <c:pt idx="16">
                    <c:v>Rajasthan</c:v>
                  </c:pt>
                  <c:pt idx="17">
                    <c:v>Odisha</c:v>
                  </c:pt>
                  <c:pt idx="18">
                    <c:v>Mizoram</c:v>
                  </c:pt>
                  <c:pt idx="19">
                    <c:v>Kerala</c:v>
                  </c:pt>
                  <c:pt idx="20">
                    <c:v>Lakshadweep</c:v>
                  </c:pt>
                </c:lvl>
              </c:multiLvlStrCache>
            </c:multiLvlStrRef>
          </c:cat>
          <c:val>
            <c:numRef>
              <c:f>Sheet1!$B$2:$B$22</c:f>
              <c:numCache>
                <c:formatCode>General</c:formatCode>
                <c:ptCount val="21"/>
                <c:pt idx="0">
                  <c:v>29.6456</c:v>
                </c:pt>
                <c:pt idx="1">
                  <c:v>19.0939</c:v>
                </c:pt>
                <c:pt idx="2">
                  <c:v>20.6228</c:v>
                </c:pt>
                <c:pt idx="3">
                  <c:v>7.5954</c:v>
                </c:pt>
                <c:pt idx="4">
                  <c:v>14.502</c:v>
                </c:pt>
                <c:pt idx="5">
                  <c:v>18.6972</c:v>
                </c:pt>
                <c:pt idx="6">
                  <c:v>12.8814</c:v>
                </c:pt>
                <c:pt idx="7">
                  <c:v>15.1882</c:v>
                </c:pt>
                <c:pt idx="8">
                  <c:v>8.009</c:v>
                </c:pt>
                <c:pt idx="9">
                  <c:v>12.8082</c:v>
                </c:pt>
                <c:pt idx="10">
                  <c:v>8.4421</c:v>
                </c:pt>
                <c:pt idx="11">
                  <c:v>10.3882</c:v>
                </c:pt>
                <c:pt idx="12">
                  <c:v>10.1282</c:v>
                </c:pt>
                <c:pt idx="13">
                  <c:v>7.581</c:v>
                </c:pt>
                <c:pt idx="14">
                  <c:v>8.3138</c:v>
                </c:pt>
                <c:pt idx="15">
                  <c:v>7.4455</c:v>
                </c:pt>
                <c:pt idx="16">
                  <c:v>7.6568</c:v>
                </c:pt>
                <c:pt idx="17">
                  <c:v>6.0257</c:v>
                </c:pt>
                <c:pt idx="18">
                  <c:v>5.2752</c:v>
                </c:pt>
                <c:pt idx="19">
                  <c:v>8.6479</c:v>
                </c:pt>
                <c:pt idx="20">
                  <c:v>2.4718</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Sheet1!$A$2:$A$22</c:f>
              <c:multiLvlStrCache>
                <c:ptCount val="21"/>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Chandigarh</c:v>
                  </c:pt>
                  <c:pt idx="10">
                    <c:v>Goa</c:v>
                  </c:pt>
                  <c:pt idx="11">
                    <c:v>Uttarakhand</c:v>
                  </c:pt>
                  <c:pt idx="12">
                    <c:v>Puducherry</c:v>
                  </c:pt>
                  <c:pt idx="13">
                    <c:v>Manipur</c:v>
                  </c:pt>
                  <c:pt idx="14">
                    <c:v>Bihar</c:v>
                  </c:pt>
                  <c:pt idx="15">
                    <c:v>Madhya Pradesh</c:v>
                  </c:pt>
                  <c:pt idx="16">
                    <c:v>Rajasthan</c:v>
                  </c:pt>
                  <c:pt idx="17">
                    <c:v>Odisha</c:v>
                  </c:pt>
                  <c:pt idx="18">
                    <c:v>Mizoram</c:v>
                  </c:pt>
                  <c:pt idx="19">
                    <c:v>Kerala</c:v>
                  </c:pt>
                  <c:pt idx="20">
                    <c:v>Lakshadweep</c:v>
                  </c:pt>
                </c:lvl>
              </c:multiLvlStrCache>
            </c:multiLvlStrRef>
          </c:cat>
          <c:val>
            <c:numRef>
              <c:f>Sheet1!$C$2:$C$22</c:f>
              <c:numCache>
                <c:formatCode>General</c:formatCode>
                <c:ptCount val="21"/>
                <c:pt idx="0">
                  <c:v>30.886</c:v>
                </c:pt>
                <c:pt idx="1">
                  <c:v>21.575</c:v>
                </c:pt>
                <c:pt idx="2">
                  <c:v>16.8696</c:v>
                </c:pt>
                <c:pt idx="3">
                  <c:v>15.8994</c:v>
                </c:pt>
                <c:pt idx="4">
                  <c:v>13.3994</c:v>
                </c:pt>
                <c:pt idx="5">
                  <c:v>13.2392</c:v>
                </c:pt>
                <c:pt idx="6">
                  <c:v>11.7745</c:v>
                </c:pt>
                <c:pt idx="7">
                  <c:v>11.5531</c:v>
                </c:pt>
                <c:pt idx="8">
                  <c:v>11.1569</c:v>
                </c:pt>
                <c:pt idx="9">
                  <c:v>10.886</c:v>
                </c:pt>
                <c:pt idx="10">
                  <c:v>10.7565</c:v>
                </c:pt>
                <c:pt idx="11">
                  <c:v>10.0721</c:v>
                </c:pt>
                <c:pt idx="12">
                  <c:v>7.5733</c:v>
                </c:pt>
                <c:pt idx="13">
                  <c:v>6.3283</c:v>
                </c:pt>
                <c:pt idx="14">
                  <c:v>6.0495</c:v>
                </c:pt>
                <c:pt idx="15">
                  <c:v>5.9664</c:v>
                </c:pt>
                <c:pt idx="16">
                  <c:v>5.7382</c:v>
                </c:pt>
                <c:pt idx="17">
                  <c:v>5.29</c:v>
                </c:pt>
                <c:pt idx="18">
                  <c:v>4.4795</c:v>
                </c:pt>
                <c:pt idx="19">
                  <c:v>3.2215</c:v>
                </c:pt>
                <c:pt idx="20">
                  <c:v>0.3563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Seats where the count is larger than the margin</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95A5A6"/>
              </a:solidFill>
              <a:effectLst/>
            </c:spPr>
          </c:dPt>
          <c:dPt>
            <c:idx val="3"/>
            <c:invertIfNegative val="0"/>
            <c:bubble3D val="0"/>
            <c:spPr>
              <a:solidFill>
                <a:srgbClr val="95A5A6"/>
              </a:solidFill>
              <a:effectLst/>
            </c:spPr>
          </c:dPt>
          <c:cat>
            <c:multiLvlStrRef>
              <c:f>Sheet1!$A$2:$A$5</c:f>
              <c:multiLvlStrCache>
                <c:ptCount val="4"/>
                <c:lvl>
                  <c:pt idx="0">
                    <c:v>Bihar</c:v>
                  </c:pt>
                  <c:pt idx="1">
                    <c:v>Tamil Nadu</c:v>
                  </c:pt>
                  <c:pt idx="2">
                    <c:v>West Bengal (roll fall)</c:v>
                  </c:pt>
                  <c:pt idx="3">
                    <c:v>Kerala (roll fall)</c:v>
                  </c:pt>
                </c:lvl>
              </c:multiLvlStrCache>
            </c:multiLvlStrRef>
          </c:cat>
          <c:val>
            <c:numRef>
              <c:f>Sheet1!$B$2:$B$5</c:f>
              <c:numCache>
                <c:formatCode>General</c:formatCode>
                <c:ptCount val="4"/>
                <c:pt idx="0">
                  <c:v>71.6</c:v>
                </c:pt>
                <c:pt idx="1">
                  <c:v>90.2</c:v>
                </c:pt>
                <c:pt idx="2">
                  <c:v>47.3</c:v>
                </c:pt>
                <c:pt idx="3">
                  <c:v>27.1</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Electors on the roll</c:v>
                </c:pt>
              </c:strCache>
            </c:strRef>
          </c:tx>
          <c:spPr>
            <a:solidFill>
              <a:srgbClr val="1F4E79"/>
            </a:solidFill>
            <a:ln w="25400" cap="flat">
              <a:solidFill>
                <a:srgbClr val="1F4E7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F4E79"/>
              </a:solidFill>
              <a:ln w="9525" cap="flat">
                <a:solidFill>
                  <a:srgbClr val="1F4E7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Sheet1!$B$2:$B$12</c:f>
              <c:numCache>
                <c:formatCode>General</c:formatCode>
                <c:ptCount val="11"/>
                <c:pt idx="0">
                  <c:v>40.04</c:v>
                </c:pt>
                <c:pt idx="1">
                  <c:v>49.89</c:v>
                </c:pt>
                <c:pt idx="2">
                  <c:v>51.15</c:v>
                </c:pt>
                <c:pt idx="3">
                  <c:v>59.26</c:v>
                </c:pt>
                <c:pt idx="4">
                  <c:v>60.59</c:v>
                </c:pt>
                <c:pt idx="5">
                  <c:v>61.95</c:v>
                </c:pt>
                <c:pt idx="6">
                  <c:v>67.15</c:v>
                </c:pt>
                <c:pt idx="7">
                  <c:v>71.7</c:v>
                </c:pt>
                <c:pt idx="8">
                  <c:v>83.41</c:v>
                </c:pt>
                <c:pt idx="9">
                  <c:v>91.2</c:v>
                </c:pt>
                <c:pt idx="10">
                  <c:v>97.98</c:v>
                </c:pt>
              </c:numCache>
            </c:numRef>
          </c:val>
          <c:smooth val="0"/>
        </c:ser>
        <c:ser>
          <c:idx val="1"/>
          <c:order val="1"/>
          <c:tx>
            <c:strRef>
              <c:f>Sheet1!$C$1</c:f>
              <c:strCache>
                <c:ptCount val="1"/>
                <c:pt idx="0">
                  <c:v>Population of voting age</c:v>
                </c:pt>
              </c:strCache>
            </c:strRef>
          </c:tx>
          <c:spPr>
            <a:solidFill>
              <a:srgbClr val="17A589"/>
            </a:solidFill>
            <a:ln w="25400" cap="flat">
              <a:solidFill>
                <a:srgbClr val="17A58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7A589"/>
              </a:solidFill>
              <a:ln w="9525" cap="flat">
                <a:solidFill>
                  <a:srgbClr val="17A58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Sheet1!$C$2:$C$12</c:f>
              <c:numCache>
                <c:formatCode>General</c:formatCode>
                <c:ptCount val="11"/>
                <c:pt idx="0">
                  <c:v>36.58</c:v>
                </c:pt>
                <c:pt idx="1">
                  <c:v>46.54</c:v>
                </c:pt>
                <c:pt idx="2">
                  <c:v>48.98</c:v>
                </c:pt>
                <c:pt idx="3">
                  <c:v>55.57</c:v>
                </c:pt>
                <c:pt idx="4">
                  <c:v>58.44</c:v>
                </c:pt>
                <c:pt idx="5">
                  <c:v>59.94</c:v>
                </c:pt>
                <c:pt idx="6">
                  <c:v>67.87</c:v>
                </c:pt>
                <c:pt idx="7">
                  <c:v>76.18</c:v>
                </c:pt>
                <c:pt idx="8">
                  <c:v>84.93</c:v>
                </c:pt>
                <c:pt idx="9">
                  <c:v>93.73</c:v>
                </c:pt>
                <c:pt idx="10">
                  <c:v>101.77</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and the final roll the one published after claims and objections are decided. Per 100 electors is the number removed for every 100 people on the roll before the revision. 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Meghalaya, Nagaland. Removals after the draft carry no reason in any state except Bihar. Rank correlation between the removal rate at the draft and the share made up: -0.15,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kinds of count are never added together. Assembly margins come from each state's election pages on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margins are the winner's votes less the runner-up candidate's, from the ECI results and statistical report 34, through a published compilation, checked against the published margin in every seat. NOTA is never a runner-up. Surat was unopposed.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Electors from the ECI Atlas 2024, Graph 6.1 (the Atlas misprints 1991-92). Population from the UN World Population Prospects 2024, 21 and over in 1984-85 and 18 and over from 1989.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of the 35 entries are Supreme Court orders or its judgment. The site also lists 36 press reports of problems, each attributed and kept apart because no document confirms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20.9%</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Against the margins   16–18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it was run   19</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21–22</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removed 14.1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took off 13.39 crore names in 31 states, 14.1 of every 100 electors, and the draft rolls now hold 84.4% of adults. States whose rolls were most over-full did not cut more.</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removed with a reason given, only 20.9% were entered as dead. The rest were marked as moved, absent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applied in every state. Delhi removed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removed. In 8 of the 11 states that report by sex, women are a bigger share of the names removed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21 states with a final roll, the rolls grew back by at most 14.1% of what was cut,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They cannot show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is reported to publish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9.57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2.80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1.5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2878B3"/>
          </a:solidFill>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12.8</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7.4</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8.6</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fewest were in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and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in the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0.05).</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that receive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removed 65.6 lakh,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removed 656.8 lakh,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removed 616.7 lakh, 17.0 per 100 electors. Dead 18.1%, shifted, absent or other 73.7%.</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for the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West Bengal (41.5%),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2,88,74,067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47,56,722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41,84,891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33,84,568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8 of the 11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largest gap is in Bihar, 7.6 points, followed by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7 states and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(0.51),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16 to 18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-0.26) and sex ratio (-0.36, -0.46).</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0.09 across all states, -0.27 in phase 2, 0.46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14.0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14.1% of the names left off the drafts in 21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1.07 crore larger than the drafts, against 7.57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for adjudication. As reported, 32.7 lakh were later found eligible and 27.2 lakh not. Leaving those out, the rise is 22.0%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21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Bihar and Tamil Nadu, more names were removed than the winning margin in 385 of 477 assembly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Assembly seats where the count is larger than the winning margin, %. West Bengal and Kerala count the fall in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174 of 243 and Tamil Nadu 211 of 234, on the names removed.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West Bengal 139 of 294 and Kerala 38 of 140, on the fall in the roll, which also takes in ordinary deaths and moves.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Larger than the margin means the removals were enough to decide a seat. In Bihar, the one state whose lists show who was removed, 4 to 6 seats change hands on the estimates, in both directions, and the NDA keeps 200 to 204 of 243.</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the 2024 Lok Sabha seats of the four states, the count was larger than the margin in 85 of 141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seat's count added up from its assembly segments and set against its 2024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4206240"/>
                <a:gridCol w="1097280"/>
                <a:gridCol w="16459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Comparison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Seats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Count larger than the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Bihar and Tamil Nadu, names removed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West Bengal and Kerala, fall in the roll</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Every state, removals spread evenly (an assumption)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373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revision came after the 2024 election, so this measures how large the removals are against the votes that decide a seat. It does not say what happened in 2024.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state has published removals by Lok Sabha seat. The even spread is tested where seats can be counted: Bihar 32 against 32, Tamil Nadu 27 against 19. It can run high.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2024, 115 of 542 contested seats were won by fewer than 50,000 votes.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13.39 crore left off are 92 in every 100 of what the whole roll gained from 2014 to 2024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in every Lok Sabha election, and the population of voting age, in crore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roll grew from 40.04 crore in 1984-85 to 97.98 crore in 2024.</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To 1999 it held more names than people of voting age. If the estimate is right, it carried the names of people who had died or moved.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Since then it has held fewer, 96 for every 100 in 2024. The population counts people who are not citizens.</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revision covered 31 states and the Lok Sabha figure is all India, so the two counts are not strictly alike.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HOW IT WAS RUN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rules changed 35 times while the revision was under way, and dates moved 29 times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made it harder to stay on the roll, each point resting on an order or a judgment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43434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fresh form from every elector. Only electors whose enumeration forms came back were put on the draft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Parents' documents, by year of birth. In Bihar the younger the elector, the more documents were needed.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Aadhaar only on the Court's order. Aadhaar was not on the first list of eleven documents.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declaration changed twice. Form 6, the application to be added to the roll, carried a new declaration from June 2025, a different one from October 2025, and a shorter list of documents from May 2026.</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Dates moved after they were set. All 12 Phase II states and union territories had their dates moved by a week, and 7 were moved again.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Anyone could object to anyone. Form 7 is the form for objecting to a name on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Notices for logical discrepancies. People flagged for logical discrepancies, where something in their link to the old roll did not match, were called to hearings.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Sixty lakh held back in West Bengal. West Bengal's final roll left out 60,06,675 names marked under adjudication.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Names added after the draft. All 18 states that published both counts added fewer names after the draft, new electors included, than they removed at it, and 3 added fewer than 10 for every 100 removed..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Uttar Pradesh, Tamil Nadu, West Bengal, Rajasthan, Lakshadweep, Maharashtra, Karnataka, Delhi, Andhra Pradesh, Uttarakhand, Meghalaya, Arunachal Pradesh, Manipur, Nagaland, Mizoram and Sikkim,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PinPoint Ventures</dc:creator>
  <cp:lastModifiedBy>PinPoint Ventures</cp:lastModifiedBy>
  <cp:revision>1</cp:revision>
  <dcterms:created xsi:type="dcterms:W3CDTF">2026-10-10T13:42:11Z</dcterms:created>
  <dcterms:modified xsi:type="dcterms:W3CDTF">2026-10-10T13:42:11Z</dcterms:modified>
</cp:coreProperties>
</file>