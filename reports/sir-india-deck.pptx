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Madhya Pradesh</c:v>
                  </c:pt>
                  <c:pt idx="12">
                    <c:v>Gujarat</c:v>
                  </c:pt>
                  <c:pt idx="13">
                    <c:v>Bihar</c:v>
                  </c:pt>
                  <c:pt idx="14">
                    <c:v>Jharkhand</c:v>
                  </c:pt>
                  <c:pt idx="15">
                    <c:v>Haryana</c:v>
                  </c:pt>
                  <c:pt idx="16">
                    <c:v>Uttarakhand</c:v>
                  </c:pt>
                  <c:pt idx="17">
                    <c:v>Punjab</c:v>
                  </c:pt>
                  <c:pt idx="18">
                    <c:v>Delhi</c:v>
                  </c:pt>
                </c:lvl>
              </c:multiLvlStrCache>
            </c:multiLvlStrRef>
          </c:cat>
          <c:val>
            <c:numRef>
              <c:f>Sheet1!$B$2:$B$20</c:f>
              <c:numCache>
                <c:formatCode>General</c:formatCode>
                <c:ptCount val="19"/>
                <c:pt idx="0">
                  <c:v>115.2</c:v>
                </c:pt>
                <c:pt idx="1">
                  <c:v>106.8</c:v>
                </c:pt>
                <c:pt idx="2">
                  <c:v>106.5</c:v>
                </c:pt>
                <c:pt idx="3">
                  <c:v>101.7</c:v>
                </c:pt>
                <c:pt idx="4">
                  <c:v>100.6</c:v>
                </c:pt>
                <c:pt idx="5">
                  <c:v>100.4</c:v>
                </c:pt>
                <c:pt idx="6">
                  <c:v>99.7</c:v>
                </c:pt>
                <c:pt idx="7">
                  <c:v>99.5</c:v>
                </c:pt>
                <c:pt idx="8">
                  <c:v>98.9</c:v>
                </c:pt>
                <c:pt idx="9">
                  <c:v>96.5</c:v>
                </c:pt>
                <c:pt idx="10">
                  <c:v>95.5</c:v>
                </c:pt>
                <c:pt idx="11">
                  <c:v>95.4</c:v>
                </c:pt>
                <c:pt idx="12">
                  <c:v>95.3</c:v>
                </c:pt>
                <c:pt idx="13">
                  <c:v>95</c:v>
                </c:pt>
                <c:pt idx="14">
                  <c:v>95</c:v>
                </c:pt>
                <c:pt idx="15">
                  <c:v>91.3</c:v>
                </c:pt>
                <c:pt idx="16">
                  <c:v>90.2</c:v>
                </c:pt>
                <c:pt idx="17">
                  <c:v>88.9</c:v>
                </c:pt>
                <c:pt idx="18">
                  <c:v>85.5</c:v>
                </c:pt>
              </c:numCache>
            </c:numRef>
          </c:val>
        </c:ser>
        <c:ser>
          <c:idx val="1"/>
          <c:order val="1"/>
          <c:tx>
            <c:strRef>
              <c:f>Sheet1!$C$1</c:f>
              <c:strCache>
                <c:ptCount val="1"/>
                <c:pt idx="0">
                  <c:v>Draft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Madhya Pradesh</c:v>
                  </c:pt>
                  <c:pt idx="12">
                    <c:v>Gujarat</c:v>
                  </c:pt>
                  <c:pt idx="13">
                    <c:v>Bihar</c:v>
                  </c:pt>
                  <c:pt idx="14">
                    <c:v>Jharkhand</c:v>
                  </c:pt>
                  <c:pt idx="15">
                    <c:v>Haryana</c:v>
                  </c:pt>
                  <c:pt idx="16">
                    <c:v>Uttarakhand</c:v>
                  </c:pt>
                  <c:pt idx="17">
                    <c:v>Punjab</c:v>
                  </c:pt>
                  <c:pt idx="18">
                    <c:v>Delhi</c:v>
                  </c:pt>
                </c:lvl>
              </c:multiLvlStrCache>
            </c:multiLvlStrRef>
          </c:cat>
          <c:val>
            <c:numRef>
              <c:f>Sheet1!$C$2:$C$20</c:f>
              <c:numCache>
                <c:formatCode>General</c:formatCode>
                <c:ptCount val="19"/>
                <c:pt idx="0">
                  <c:v>90.2</c:v>
                </c:pt>
                <c:pt idx="1">
                  <c:v>86</c:v>
                </c:pt>
                <c:pt idx="2">
                  <c:v>90.3</c:v>
                </c:pt>
                <c:pt idx="3">
                  <c:v>95.6</c:v>
                </c:pt>
                <c:pt idx="4">
                  <c:v>89.8</c:v>
                </c:pt>
                <c:pt idx="5">
                  <c:v>91.7</c:v>
                </c:pt>
                <c:pt idx="6">
                  <c:v>78.6</c:v>
                </c:pt>
                <c:pt idx="7">
                  <c:v>91.9</c:v>
                </c:pt>
                <c:pt idx="8">
                  <c:v>86.1</c:v>
                </c:pt>
                <c:pt idx="9">
                  <c:v>89.2</c:v>
                </c:pt>
                <c:pt idx="10">
                  <c:v>77.6</c:v>
                </c:pt>
                <c:pt idx="11">
                  <c:v>88.3</c:v>
                </c:pt>
                <c:pt idx="12">
                  <c:v>81.5</c:v>
                </c:pt>
                <c:pt idx="13">
                  <c:v>87.1</c:v>
                </c:pt>
                <c:pt idx="14">
                  <c:v>79.3</c:v>
                </c:pt>
                <c:pt idx="15">
                  <c:v>76.3</c:v>
                </c:pt>
                <c:pt idx="16">
                  <c:v>80.9</c:v>
                </c:pt>
                <c:pt idx="17">
                  <c:v>80.3</c:v>
                </c:pt>
                <c:pt idx="18">
                  <c:v>57.5</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000000"/>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20"/>
          <c:min val="5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Sheet1!$B$2:$B$4</c:f>
              <c:numCache>
                <c:formatCode>General</c:formatCode>
                <c:ptCount val="3"/>
                <c:pt idx="0">
                  <c:v>22.3</c:v>
                </c:pt>
                <c:pt idx="1">
                  <c:v>146.1</c:v>
                </c:pt>
                <c:pt idx="2">
                  <c:v>109.7</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Sheet1!$C$2:$C$4</c:f>
              <c:numCache>
                <c:formatCode>General</c:formatCode>
                <c:ptCount val="3"/>
                <c:pt idx="0">
                  <c:v>36.3</c:v>
                </c:pt>
                <c:pt idx="1">
                  <c:v>466.5</c:v>
                </c:pt>
                <c:pt idx="2">
                  <c:v>445.2</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Sheet1!$D$2:$D$4</c:f>
              <c:numCache>
                <c:formatCode>General</c:formatCode>
                <c:ptCount val="3"/>
                <c:pt idx="0">
                  <c:v>7</c:v>
                </c:pt>
                <c:pt idx="1">
                  <c:v>44.1</c:v>
                </c:pt>
                <c:pt idx="2">
                  <c:v>49.7</c:v>
                </c:pt>
              </c:numCache>
            </c:numRef>
          </c:val>
        </c:ser>
        <c:ser>
          <c:idx val="3"/>
          <c:order val="3"/>
          <c:tx>
            <c:strRef>
              <c:f>Sheet1!$E$1</c:f>
              <c:strCache>
                <c:ptCount val="1"/>
                <c:pt idx="0">
                  <c:v>Not split</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Sheet1!$E$2:$E$4</c:f>
              <c:numCache>
                <c:formatCode>General</c:formatCode>
                <c:ptCount val="3"/>
                <c:pt idx="0">
                  <c:v>0</c:v>
                </c:pt>
                <c:pt idx="1">
                  <c:v>0.3</c:v>
                </c:pt>
                <c:pt idx="2">
                  <c:v>12.1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F618D"/>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C0392B"/>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cat>
            <c:multiLvlStrRef>
              <c:f>Sheet1!$A$2:$A$31</c:f>
              <c:multiLvlStrCache>
                <c:ptCount val="30"/>
                <c:lvl>
                  <c:pt idx="0">
                    <c:v>Lakshadweep</c:v>
                  </c:pt>
                  <c:pt idx="1">
                    <c:v>Mizoram</c:v>
                  </c:pt>
                  <c:pt idx="2">
                    <c:v>Odisha</c:v>
                  </c:pt>
                  <c:pt idx="3">
                    <c:v>Madhya Pradesh</c:v>
                  </c:pt>
                  <c:pt idx="4">
                    <c:v>Manipur</c:v>
                  </c:pt>
                  <c:pt idx="5">
                    <c:v>West Bengal</c:v>
                  </c:pt>
                  <c:pt idx="6">
                    <c:v>Rajasthan</c:v>
                  </c:pt>
                  <c:pt idx="7">
                    <c:v>Meghalaya</c:v>
                  </c:pt>
                  <c:pt idx="8">
                    <c:v>Sikkim</c:v>
                  </c:pt>
                  <c:pt idx="9">
                    <c:v>Bihar</c:v>
                  </c:pt>
                  <c:pt idx="10">
                    <c:v>Goa</c:v>
                  </c:pt>
                  <c:pt idx="11">
                    <c:v>Kerala</c:v>
                  </c:pt>
                  <c:pt idx="12">
                    <c:v>Punjab</c:v>
                  </c:pt>
                  <c:pt idx="13">
                    <c:v>Puducherry</c:v>
                  </c:pt>
                  <c:pt idx="14">
                    <c:v>Uttarakhand</c:v>
                  </c:pt>
                  <c:pt idx="15">
                    <c:v>Andhra Pradesh</c:v>
                  </c:pt>
                  <c:pt idx="16">
                    <c:v>Nagaland</c:v>
                  </c:pt>
                  <c:pt idx="17">
                    <c:v>Chhattisgarh</c:v>
                  </c:pt>
                  <c:pt idx="18">
                    <c:v>Gujarat</c:v>
                  </c:pt>
                  <c:pt idx="19">
                    <c:v>Tamil Nadu</c:v>
                  </c:pt>
                  <c:pt idx="20">
                    <c:v>Haryana</c:v>
                  </c:pt>
                  <c:pt idx="21">
                    <c:v>Jharkhand</c:v>
                  </c:pt>
                  <c:pt idx="22">
                    <c:v>Uttar Pradesh</c:v>
                  </c:pt>
                  <c:pt idx="23">
                    <c:v>Arunachal Pradesh</c:v>
                  </c:pt>
                  <c:pt idx="24">
                    <c:v>Karnataka</c:v>
                  </c:pt>
                  <c:pt idx="25">
                    <c:v>Andaman and Nicobar Islands</c:v>
                  </c:pt>
                  <c:pt idx="26">
                    <c:v>Maharashtra</c:v>
                  </c:pt>
                  <c:pt idx="27">
                    <c:v>Telangana</c:v>
                  </c:pt>
                  <c:pt idx="28">
                    <c:v>Dadra and Nagar Haveli and Daman and Diu</c:v>
                  </c:pt>
                  <c:pt idx="29">
                    <c:v>Delhi</c:v>
                  </c:pt>
                </c:lvl>
              </c:multiLvlStrCache>
            </c:multiLvlStrRef>
          </c:cat>
          <c:val>
            <c:numRef>
              <c:f>Sheet1!$B$2:$B$31</c:f>
              <c:numCache>
                <c:formatCode>General</c:formatCode>
                <c:ptCount val="30"/>
                <c:pt idx="0">
                  <c:v>2.47</c:v>
                </c:pt>
                <c:pt idx="1">
                  <c:v>5.28</c:v>
                </c:pt>
                <c:pt idx="2">
                  <c:v>6.03</c:v>
                </c:pt>
                <c:pt idx="3">
                  <c:v>7.45</c:v>
                </c:pt>
                <c:pt idx="4">
                  <c:v>7.58</c:v>
                </c:pt>
                <c:pt idx="5">
                  <c:v>7.6</c:v>
                </c:pt>
                <c:pt idx="6">
                  <c:v>7.65</c:v>
                </c:pt>
                <c:pt idx="7">
                  <c:v>7.68</c:v>
                </c:pt>
                <c:pt idx="8">
                  <c:v>8.01</c:v>
                </c:pt>
                <c:pt idx="9">
                  <c:v>8.31</c:v>
                </c:pt>
                <c:pt idx="10">
                  <c:v>8.44</c:v>
                </c:pt>
                <c:pt idx="11">
                  <c:v>8.65</c:v>
                </c:pt>
                <c:pt idx="12">
                  <c:v>9.63</c:v>
                </c:pt>
                <c:pt idx="13">
                  <c:v>10.13</c:v>
                </c:pt>
                <c:pt idx="14">
                  <c:v>10.39</c:v>
                </c:pt>
                <c:pt idx="15">
                  <c:v>10.79</c:v>
                </c:pt>
                <c:pt idx="16">
                  <c:v>11.62</c:v>
                </c:pt>
                <c:pt idx="17">
                  <c:v>12.88</c:v>
                </c:pt>
                <c:pt idx="18">
                  <c:v>14.51</c:v>
                </c:pt>
                <c:pt idx="19">
                  <c:v>15.19</c:v>
                </c:pt>
                <c:pt idx="20">
                  <c:v>16.42</c:v>
                </c:pt>
                <c:pt idx="21">
                  <c:v>16.52</c:v>
                </c:pt>
                <c:pt idx="22">
                  <c:v>18.72</c:v>
                </c:pt>
                <c:pt idx="23">
                  <c:v>19.09</c:v>
                </c:pt>
                <c:pt idx="24">
                  <c:v>19.48</c:v>
                </c:pt>
                <c:pt idx="25">
                  <c:v>20.62</c:v>
                </c:pt>
                <c:pt idx="26">
                  <c:v>21.15</c:v>
                </c:pt>
                <c:pt idx="27">
                  <c:v>21.71</c:v>
                </c:pt>
                <c:pt idx="28">
                  <c:v>29.65</c:v>
                </c:pt>
                <c:pt idx="29">
                  <c:v>32.8</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Sheet1!$B$2:$B$28</c:f>
              <c:numCache>
                <c:formatCode>General</c:formatCode>
                <c:ptCount val="27"/>
                <c:pt idx="0">
                  <c:v>49.34</c:v>
                </c:pt>
                <c:pt idx="1">
                  <c:v>33.91</c:v>
                </c:pt>
                <c:pt idx="2">
                  <c:v>41.67</c:v>
                </c:pt>
                <c:pt idx="3">
                  <c:v>45.17</c:v>
                </c:pt>
                <c:pt idx="4">
                  <c:v>34.04</c:v>
                </c:pt>
                <c:pt idx="5">
                  <c:v>41.52</c:v>
                </c:pt>
                <c:pt idx="6">
                  <c:v>28.72</c:v>
                </c:pt>
                <c:pt idx="7">
                  <c:v>28.02</c:v>
                </c:pt>
                <c:pt idx="8">
                  <c:v>26.98</c:v>
                </c:pt>
                <c:pt idx="9">
                  <c:v>27.67</c:v>
                </c:pt>
                <c:pt idx="10">
                  <c:v>27.1</c:v>
                </c:pt>
                <c:pt idx="11">
                  <c:v>23.48</c:v>
                </c:pt>
                <c:pt idx="12">
                  <c:v>24.51</c:v>
                </c:pt>
                <c:pt idx="13">
                  <c:v>20.94</c:v>
                </c:pt>
                <c:pt idx="14">
                  <c:v>22.64</c:v>
                </c:pt>
                <c:pt idx="15">
                  <c:v>17.98</c:v>
                </c:pt>
                <c:pt idx="16">
                  <c:v>25.56</c:v>
                </c:pt>
                <c:pt idx="17">
                  <c:v>19.79</c:v>
                </c:pt>
                <c:pt idx="18">
                  <c:v>16.82</c:v>
                </c:pt>
                <c:pt idx="19">
                  <c:v>16.01</c:v>
                </c:pt>
                <c:pt idx="20">
                  <c:v>20.1</c:v>
                </c:pt>
                <c:pt idx="21">
                  <c:v>15.19</c:v>
                </c:pt>
                <c:pt idx="22">
                  <c:v>12.57</c:v>
                </c:pt>
                <c:pt idx="23">
                  <c:v>18.35</c:v>
                </c:pt>
                <c:pt idx="24">
                  <c:v>14.36</c:v>
                </c:pt>
                <c:pt idx="25">
                  <c:v>15.09</c:v>
                </c:pt>
                <c:pt idx="26">
                  <c:v>5.93</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Sheet1!$C$2:$C$28</c:f>
              <c:numCache>
                <c:formatCode>General</c:formatCode>
                <c:ptCount val="27"/>
                <c:pt idx="0">
                  <c:v>17.63</c:v>
                </c:pt>
                <c:pt idx="1">
                  <c:v>49.68</c:v>
                </c:pt>
                <c:pt idx="2">
                  <c:v>50.42</c:v>
                </c:pt>
                <c:pt idx="3">
                  <c:v>51.11</c:v>
                </c:pt>
                <c:pt idx="4">
                  <c:v>55.28</c:v>
                </c:pt>
                <c:pt idx="5">
                  <c:v>56.11</c:v>
                </c:pt>
                <c:pt idx="6">
                  <c:v>64.93</c:v>
                </c:pt>
                <c:pt idx="7">
                  <c:v>66.17</c:v>
                </c:pt>
                <c:pt idx="8">
                  <c:v>67.37</c:v>
                </c:pt>
                <c:pt idx="9">
                  <c:v>68.24</c:v>
                </c:pt>
                <c:pt idx="10">
                  <c:v>68.24</c:v>
                </c:pt>
                <c:pt idx="11">
                  <c:v>69.97</c:v>
                </c:pt>
                <c:pt idx="12">
                  <c:v>70.32</c:v>
                </c:pt>
                <c:pt idx="13">
                  <c:v>70.83</c:v>
                </c:pt>
                <c:pt idx="14">
                  <c:v>71.33</c:v>
                </c:pt>
                <c:pt idx="15">
                  <c:v>71.69</c:v>
                </c:pt>
                <c:pt idx="16">
                  <c:v>72.44</c:v>
                </c:pt>
                <c:pt idx="17">
                  <c:v>73.72</c:v>
                </c:pt>
                <c:pt idx="18">
                  <c:v>74.67</c:v>
                </c:pt>
                <c:pt idx="19">
                  <c:v>75.16</c:v>
                </c:pt>
                <c:pt idx="20">
                  <c:v>77.94</c:v>
                </c:pt>
                <c:pt idx="21">
                  <c:v>78.24</c:v>
                </c:pt>
                <c:pt idx="22">
                  <c:v>78.3</c:v>
                </c:pt>
                <c:pt idx="23">
                  <c:v>78.45</c:v>
                </c:pt>
                <c:pt idx="24">
                  <c:v>81.09</c:v>
                </c:pt>
                <c:pt idx="25">
                  <c:v>81.99</c:v>
                </c:pt>
                <c:pt idx="26">
                  <c:v>91.1</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Sheet1!$D$2:$D$28</c:f>
              <c:numCache>
                <c:formatCode>General</c:formatCode>
                <c:ptCount val="27"/>
                <c:pt idx="0">
                  <c:v>33.03</c:v>
                </c:pt>
                <c:pt idx="1">
                  <c:v>16.42</c:v>
                </c:pt>
                <c:pt idx="2">
                  <c:v>7.91</c:v>
                </c:pt>
                <c:pt idx="3">
                  <c:v>3.71</c:v>
                </c:pt>
                <c:pt idx="4">
                  <c:v>10.69</c:v>
                </c:pt>
                <c:pt idx="5">
                  <c:v>2.37</c:v>
                </c:pt>
                <c:pt idx="6">
                  <c:v>6.35</c:v>
                </c:pt>
                <c:pt idx="7">
                  <c:v>5.81</c:v>
                </c:pt>
                <c:pt idx="8">
                  <c:v>5.65</c:v>
                </c:pt>
                <c:pt idx="9">
                  <c:v>4.09</c:v>
                </c:pt>
                <c:pt idx="10">
                  <c:v>4.66</c:v>
                </c:pt>
                <c:pt idx="11">
                  <c:v>6.55</c:v>
                </c:pt>
                <c:pt idx="12">
                  <c:v>5.17</c:v>
                </c:pt>
                <c:pt idx="13">
                  <c:v>8.23</c:v>
                </c:pt>
                <c:pt idx="14">
                  <c:v>6.03</c:v>
                </c:pt>
                <c:pt idx="15">
                  <c:v>10.32</c:v>
                </c:pt>
                <c:pt idx="16">
                  <c:v>2</c:v>
                </c:pt>
                <c:pt idx="17">
                  <c:v>6.48</c:v>
                </c:pt>
                <c:pt idx="18">
                  <c:v>8.52</c:v>
                </c:pt>
                <c:pt idx="19">
                  <c:v>8.82</c:v>
                </c:pt>
                <c:pt idx="20">
                  <c:v>1.96</c:v>
                </c:pt>
                <c:pt idx="21">
                  <c:v>6.58</c:v>
                </c:pt>
                <c:pt idx="22">
                  <c:v>9.13</c:v>
                </c:pt>
                <c:pt idx="23">
                  <c:v>3.21</c:v>
                </c:pt>
                <c:pt idx="24">
                  <c:v>4.56</c:v>
                </c:pt>
                <c:pt idx="25">
                  <c:v>2.92</c:v>
                </c:pt>
                <c:pt idx="26">
                  <c:v>2.97</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Sheet1!$B$2:$B$11</c:f>
              <c:numCache>
                <c:formatCode>General</c:formatCode>
                <c:ptCount val="10"/>
                <c:pt idx="0">
                  <c:v>46.85</c:v>
                </c:pt>
                <c:pt idx="1">
                  <c:v>50.22</c:v>
                </c:pt>
                <c:pt idx="2">
                  <c:v>51.02</c:v>
                </c:pt>
                <c:pt idx="3">
                  <c:v>48.82</c:v>
                </c:pt>
                <c:pt idx="4">
                  <c:v>51.67</c:v>
                </c:pt>
                <c:pt idx="5">
                  <c:v>49.24</c:v>
                </c:pt>
                <c:pt idx="6">
                  <c:v>48.59</c:v>
                </c:pt>
                <c:pt idx="7">
                  <c:v>46.76</c:v>
                </c:pt>
                <c:pt idx="8">
                  <c:v>49.44</c:v>
                </c:pt>
                <c:pt idx="9">
                  <c:v>47.86</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Sheet1!$C$2:$C$11</c:f>
              <c:numCache>
                <c:formatCode>General</c:formatCode>
                <c:ptCount val="10"/>
                <c:pt idx="0">
                  <c:v>42.77</c:v>
                </c:pt>
                <c:pt idx="1">
                  <c:v>49.69</c:v>
                </c:pt>
                <c:pt idx="2">
                  <c:v>51.34</c:v>
                </c:pt>
                <c:pt idx="3">
                  <c:v>51.42</c:v>
                </c:pt>
                <c:pt idx="4">
                  <c:v>55.32</c:v>
                </c:pt>
                <c:pt idx="5">
                  <c:v>53.61</c:v>
                </c:pt>
                <c:pt idx="6">
                  <c:v>55.33</c:v>
                </c:pt>
                <c:pt idx="7">
                  <c:v>53.63</c:v>
                </c:pt>
                <c:pt idx="8">
                  <c:v>56.96</c:v>
                </c:pt>
                <c:pt idx="9">
                  <c:v>55.49</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0"/>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Removed at the draft</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Goa</c:v>
                  </c:pt>
                  <c:pt idx="10">
                    <c:v>Puducherry</c:v>
                  </c:pt>
                  <c:pt idx="11">
                    <c:v>Manipur</c:v>
                  </c:pt>
                  <c:pt idx="12">
                    <c:v>Bihar</c:v>
                  </c:pt>
                  <c:pt idx="13">
                    <c:v>Madhya Pradesh</c:v>
                  </c:pt>
                  <c:pt idx="14">
                    <c:v>Rajasthan</c:v>
                  </c:pt>
                  <c:pt idx="15">
                    <c:v>Odisha</c:v>
                  </c:pt>
                  <c:pt idx="16">
                    <c:v>Mizoram</c:v>
                  </c:pt>
                  <c:pt idx="17">
                    <c:v>Kerala</c:v>
                  </c:pt>
                  <c:pt idx="18">
                    <c:v>Lakshadweep</c:v>
                  </c:pt>
                </c:lvl>
              </c:multiLvlStrCache>
            </c:multiLvlStrRef>
          </c:cat>
          <c:val>
            <c:numRef>
              <c:f>Sheet1!$B$2:$B$20</c:f>
              <c:numCache>
                <c:formatCode>General</c:formatCode>
                <c:ptCount val="19"/>
                <c:pt idx="0">
                  <c:v>29.65</c:v>
                </c:pt>
                <c:pt idx="1">
                  <c:v>19.09</c:v>
                </c:pt>
                <c:pt idx="2">
                  <c:v>20.62</c:v>
                </c:pt>
                <c:pt idx="3">
                  <c:v>7.6</c:v>
                </c:pt>
                <c:pt idx="4">
                  <c:v>14.51</c:v>
                </c:pt>
                <c:pt idx="5">
                  <c:v>18.72</c:v>
                </c:pt>
                <c:pt idx="6">
                  <c:v>12.88</c:v>
                </c:pt>
                <c:pt idx="7">
                  <c:v>15.19</c:v>
                </c:pt>
                <c:pt idx="8">
                  <c:v>8.01</c:v>
                </c:pt>
                <c:pt idx="9">
                  <c:v>8.44</c:v>
                </c:pt>
                <c:pt idx="10">
                  <c:v>10.13</c:v>
                </c:pt>
                <c:pt idx="11">
                  <c:v>7.58</c:v>
                </c:pt>
                <c:pt idx="12">
                  <c:v>8.31</c:v>
                </c:pt>
                <c:pt idx="13">
                  <c:v>7.45</c:v>
                </c:pt>
                <c:pt idx="14">
                  <c:v>7.65</c:v>
                </c:pt>
                <c:pt idx="15">
                  <c:v>6.03</c:v>
                </c:pt>
                <c:pt idx="16">
                  <c:v>5.28</c:v>
                </c:pt>
                <c:pt idx="17">
                  <c:v>8.65</c:v>
                </c:pt>
                <c:pt idx="18">
                  <c:v>2.47</c:v>
                </c:pt>
              </c:numCache>
            </c:numRef>
          </c:val>
        </c:ser>
        <c:ser>
          <c:idx val="1"/>
          <c:order val="1"/>
          <c:tx>
            <c:strRef>
              <c:f>Sheet1!$C$1</c:f>
              <c:strCache>
                <c:ptCount val="1"/>
                <c:pt idx="0">
                  <c:v>Net fall at the final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Goa</c:v>
                  </c:pt>
                  <c:pt idx="10">
                    <c:v>Puducherry</c:v>
                  </c:pt>
                  <c:pt idx="11">
                    <c:v>Manipur</c:v>
                  </c:pt>
                  <c:pt idx="12">
                    <c:v>Bihar</c:v>
                  </c:pt>
                  <c:pt idx="13">
                    <c:v>Madhya Pradesh</c:v>
                  </c:pt>
                  <c:pt idx="14">
                    <c:v>Rajasthan</c:v>
                  </c:pt>
                  <c:pt idx="15">
                    <c:v>Odisha</c:v>
                  </c:pt>
                  <c:pt idx="16">
                    <c:v>Mizoram</c:v>
                  </c:pt>
                  <c:pt idx="17">
                    <c:v>Kerala</c:v>
                  </c:pt>
                  <c:pt idx="18">
                    <c:v>Lakshadweep</c:v>
                  </c:pt>
                </c:lvl>
              </c:multiLvlStrCache>
            </c:multiLvlStrRef>
          </c:cat>
          <c:val>
            <c:numRef>
              <c:f>Sheet1!$C$2:$C$20</c:f>
              <c:numCache>
                <c:formatCode>General</c:formatCode>
                <c:ptCount val="19"/>
                <c:pt idx="0">
                  <c:v>30.89</c:v>
                </c:pt>
                <c:pt idx="1">
                  <c:v>21.57</c:v>
                </c:pt>
                <c:pt idx="2">
                  <c:v>16.87</c:v>
                </c:pt>
                <c:pt idx="3">
                  <c:v>15.9</c:v>
                </c:pt>
                <c:pt idx="4">
                  <c:v>13.41</c:v>
                </c:pt>
                <c:pt idx="5">
                  <c:v>13.26</c:v>
                </c:pt>
                <c:pt idx="6">
                  <c:v>11.77</c:v>
                </c:pt>
                <c:pt idx="7">
                  <c:v>11.55</c:v>
                </c:pt>
                <c:pt idx="8">
                  <c:v>11.16</c:v>
                </c:pt>
                <c:pt idx="9">
                  <c:v>10.76</c:v>
                </c:pt>
                <c:pt idx="10">
                  <c:v>7.57</c:v>
                </c:pt>
                <c:pt idx="11">
                  <c:v>6.33</c:v>
                </c:pt>
                <c:pt idx="12">
                  <c:v>6.05</c:v>
                </c:pt>
                <c:pt idx="13">
                  <c:v>5.97</c:v>
                </c:pt>
                <c:pt idx="14">
                  <c:v>5.73</c:v>
                </c:pt>
                <c:pt idx="15">
                  <c:v>5.29</c:v>
                </c:pt>
                <c:pt idx="16">
                  <c:v>4.48</c:v>
                </c:pt>
                <c:pt idx="17">
                  <c:v>3.22</c:v>
                </c:pt>
                <c:pt idx="18">
                  <c:v>0.36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Outside Bihar the figures are the Chief Electoral Officers' own, from their press notes or as reported in the press; Bihar is counted from the deletion lists. Shares are of the removals each state split by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to publish a final roll: Maharashtra, Karnataka, Telangana, Delhi, Andhra Pradesh, Jharkhand, Haryana, Punjab, Uttarakhand, Meghalaya, Nagaland. Removals after the draft carry no reason in any state except Bihar. Rank correlation between the removal rate at the draft and the share made up: -0.12, no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INDIA 2025-26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13.39 crore names were left off the draft rolls, and four in five were not entered as dead</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reason recorded for every removal, state by state: women among the removed, and what goes with the removal rate</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13.39 crore</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left off the draft rolls in 31 states and union territories</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71.4%</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shifted, absent or other</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21.0%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dead</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enrolled more than once</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All India   3–14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15–15</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16–17</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13.39 crore names left off the draft rolls, 14.1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All 31 states and union territories that have published a draft roll; Tripura publishes in December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554480"/>
          </a:xfrm>
          <a:prstGeom prst="roundRect">
            <a:avLst>
              <a:gd name="adj" fmla="val 4706"/>
            </a:avLst>
          </a:prstGeom>
          <a:solidFill>
            <a:srgbClr val="F4F6F7"/>
          </a:solidFill>
          <a:ln/>
        </p:spPr>
      </p:sp>
      <p:sp>
        <p:nvSpPr>
          <p:cNvPr id="48" name="Text 46"/>
          <p:cNvSpPr txBox="1"/>
          <p:nvPr/>
        </p:nvSpPr>
        <p:spPr>
          <a:xfrm>
            <a:off x="731520"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13.39 crore</a:t>
            </a:r>
            <a:endParaRPr lang="en-US" sz="2800" dirty="0"/>
          </a:p>
        </p:txBody>
      </p:sp>
      <p:sp>
        <p:nvSpPr>
          <p:cNvPr id="49" name="Text 47"/>
          <p:cNvSpPr txBox="1"/>
          <p:nvPr/>
        </p:nvSpPr>
        <p:spPr>
          <a:xfrm>
            <a:off x="731520"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the draft rolls</a:t>
            </a:r>
            <a:endParaRPr lang="en-US" sz="1200" dirty="0"/>
          </a:p>
        </p:txBody>
      </p:sp>
      <p:sp>
        <p:nvSpPr>
          <p:cNvPr id="50" name="Shape 48"/>
          <p:cNvSpPr/>
          <p:nvPr/>
        </p:nvSpPr>
        <p:spPr>
          <a:xfrm>
            <a:off x="3379394" y="1920240"/>
            <a:ext cx="2602154" cy="1554480"/>
          </a:xfrm>
          <a:prstGeom prst="roundRect">
            <a:avLst>
              <a:gd name="adj" fmla="val 4706"/>
            </a:avLst>
          </a:prstGeom>
          <a:solidFill>
            <a:srgbClr val="F4F6F7"/>
          </a:solidFill>
          <a:ln/>
        </p:spPr>
      </p:sp>
      <p:sp>
        <p:nvSpPr>
          <p:cNvPr id="51" name="Text 49"/>
          <p:cNvSpPr txBox="1"/>
          <p:nvPr/>
        </p:nvSpPr>
        <p:spPr>
          <a:xfrm>
            <a:off x="3562274"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9.48 crore</a:t>
            </a:r>
            <a:endParaRPr lang="en-US" sz="2800" dirty="0"/>
          </a:p>
        </p:txBody>
      </p:sp>
      <p:sp>
        <p:nvSpPr>
          <p:cNvPr id="52" name="Text 50"/>
          <p:cNvSpPr txBox="1"/>
          <p:nvPr/>
        </p:nvSpPr>
        <p:spPr>
          <a:xfrm>
            <a:off x="3562274"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absent or other</a:t>
            </a:r>
            <a:endParaRPr lang="en-US" sz="1200" dirty="0"/>
          </a:p>
        </p:txBody>
      </p:sp>
      <p:sp>
        <p:nvSpPr>
          <p:cNvPr id="53" name="Shape 51"/>
          <p:cNvSpPr/>
          <p:nvPr/>
        </p:nvSpPr>
        <p:spPr>
          <a:xfrm>
            <a:off x="6210148" y="1920240"/>
            <a:ext cx="2602154" cy="1554480"/>
          </a:xfrm>
          <a:prstGeom prst="roundRect">
            <a:avLst>
              <a:gd name="adj" fmla="val 4706"/>
            </a:avLst>
          </a:prstGeom>
          <a:solidFill>
            <a:srgbClr val="F4F6F7"/>
          </a:solidFill>
          <a:ln/>
        </p:spPr>
      </p:sp>
      <p:sp>
        <p:nvSpPr>
          <p:cNvPr id="54" name="Text 52"/>
          <p:cNvSpPr txBox="1"/>
          <p:nvPr/>
        </p:nvSpPr>
        <p:spPr>
          <a:xfrm>
            <a:off x="6393028"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2.78 crore</a:t>
            </a:r>
            <a:endParaRPr lang="en-US" sz="2800" dirty="0"/>
          </a:p>
        </p:txBody>
      </p:sp>
      <p:sp>
        <p:nvSpPr>
          <p:cNvPr id="55" name="Text 53"/>
          <p:cNvSpPr txBox="1"/>
          <p:nvPr/>
        </p:nvSpPr>
        <p:spPr>
          <a:xfrm>
            <a:off x="6393028"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a:t>
            </a:r>
            <a:endParaRPr lang="en-US" sz="1200" dirty="0"/>
          </a:p>
        </p:txBody>
      </p:sp>
      <p:sp>
        <p:nvSpPr>
          <p:cNvPr id="56" name="Shape 54"/>
          <p:cNvSpPr/>
          <p:nvPr/>
        </p:nvSpPr>
        <p:spPr>
          <a:xfrm>
            <a:off x="9040901" y="1920240"/>
            <a:ext cx="2602154" cy="1554480"/>
          </a:xfrm>
          <a:prstGeom prst="roundRect">
            <a:avLst>
              <a:gd name="adj" fmla="val 4706"/>
            </a:avLst>
          </a:prstGeom>
          <a:solidFill>
            <a:srgbClr val="F4F6F7"/>
          </a:solidFill>
          <a:ln/>
        </p:spPr>
      </p:sp>
      <p:sp>
        <p:nvSpPr>
          <p:cNvPr id="57" name="Text 55"/>
          <p:cNvSpPr txBox="1"/>
          <p:nvPr/>
        </p:nvSpPr>
        <p:spPr>
          <a:xfrm>
            <a:off x="9223781"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1.01 crore</a:t>
            </a:r>
            <a:endParaRPr lang="en-US" sz="2800" dirty="0"/>
          </a:p>
        </p:txBody>
      </p:sp>
      <p:sp>
        <p:nvSpPr>
          <p:cNvPr id="58" name="Text 56"/>
          <p:cNvSpPr txBox="1"/>
          <p:nvPr/>
        </p:nvSpPr>
        <p:spPr>
          <a:xfrm>
            <a:off x="9223781"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enrolled more than once</a:t>
            </a:r>
            <a:endParaRPr lang="en-US" sz="1200" dirty="0"/>
          </a:p>
        </p:txBody>
      </p:sp>
      <p:sp>
        <p:nvSpPr>
          <p:cNvPr id="59" name="Text 57"/>
          <p:cNvSpPr txBox="1"/>
          <p:nvPr/>
        </p:nvSpPr>
        <p:spPr>
          <a:xfrm>
            <a:off x="548640" y="3840480"/>
            <a:ext cx="11094415" cy="2194560"/>
          </a:xfrm>
          <a:prstGeom prst="rect">
            <a:avLst/>
          </a:prstGeom>
          <a:noFill/>
          <a:ln/>
        </p:spPr>
        <p:txBody>
          <a:bodyPr wrap="square" lIns="0" tIns="0" rIns="0" bIns="0" rtlCol="0" anchor="t">
            <a:normAutofit/>
          </a:bodyPr>
          <a:lstStyle/>
          <a:p>
            <a:pPr indent="0" marL="0">
              <a:spcAft>
                <a:spcPts val="800"/>
              </a:spcAft>
              <a:buNone/>
            </a:pPr>
            <a:r>
              <a:rPr lang="en-US" sz="1700" dirty="0">
                <a:solidFill>
                  <a:srgbClr val="1C2833"/>
                </a:solidFill>
                <a:latin typeface="Calibri" pitchFamily="34" charset="0"/>
                <a:ea typeface="Calibri" pitchFamily="34" charset="-122"/>
                <a:cs typeface="Calibri" pitchFamily="34" charset="-120"/>
              </a:rPr>
              <a:t>A reason is what an officer entered after a visit or its absence, not a finding. Deaths are about one in five of the removals split by reason. The other four in five rest on an entry that the elector was not where the roll placed them, or was on it twice. 12.4 lakh names are in states that have not published a full split.</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Dadra and Nagar Haveli and Daman and Diu, Telangana and Maharashtra removed the most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per 100 electors; one tile per state or union territory, placed roughly where it lies, with no boundaries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1865376" y="1600200"/>
            <a:ext cx="512064" cy="512064"/>
          </a:xfrm>
          <a:prstGeom prst="roundRect">
            <a:avLst>
              <a:gd name="adj" fmla="val 8929"/>
            </a:avLst>
          </a:prstGeom>
          <a:solidFill>
            <a:srgbClr val="F2F3F4"/>
          </a:solidFill>
          <a:ln w="9525">
            <a:solidFill>
              <a:srgbClr val="95A5A6"/>
            </a:solidFill>
            <a:prstDash val="dash"/>
          </a:ln>
        </p:spPr>
      </p:sp>
      <p:sp>
        <p:nvSpPr>
          <p:cNvPr id="48" name="Text 46"/>
          <p:cNvSpPr txBox="1"/>
          <p:nvPr/>
        </p:nvSpPr>
        <p:spPr>
          <a:xfrm>
            <a:off x="1865376"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JK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49" name="Shape 47"/>
          <p:cNvSpPr/>
          <p:nvPr/>
        </p:nvSpPr>
        <p:spPr>
          <a:xfrm>
            <a:off x="2432304" y="1600200"/>
            <a:ext cx="512064" cy="512064"/>
          </a:xfrm>
          <a:prstGeom prst="roundRect">
            <a:avLst>
              <a:gd name="adj" fmla="val 8929"/>
            </a:avLst>
          </a:prstGeom>
          <a:solidFill>
            <a:srgbClr val="F2F3F4"/>
          </a:solidFill>
          <a:ln w="9525">
            <a:solidFill>
              <a:srgbClr val="95A5A6"/>
            </a:solidFill>
            <a:prstDash val="dash"/>
          </a:ln>
        </p:spPr>
      </p:sp>
      <p:sp>
        <p:nvSpPr>
          <p:cNvPr id="50" name="Text 48"/>
          <p:cNvSpPr txBox="1"/>
          <p:nvPr/>
        </p:nvSpPr>
        <p:spPr>
          <a:xfrm>
            <a:off x="2432304"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1" name="Shape 49"/>
          <p:cNvSpPr/>
          <p:nvPr/>
        </p:nvSpPr>
        <p:spPr>
          <a:xfrm>
            <a:off x="1298448" y="2167128"/>
            <a:ext cx="512064" cy="512064"/>
          </a:xfrm>
          <a:prstGeom prst="roundRect">
            <a:avLst>
              <a:gd name="adj" fmla="val 8929"/>
            </a:avLst>
          </a:prstGeom>
          <a:solidFill>
            <a:srgbClr val="F2F3F4"/>
          </a:solidFill>
          <a:ln w="9525">
            <a:solidFill>
              <a:srgbClr val="95A5A6"/>
            </a:solidFill>
            <a:prstDash val="dash"/>
          </a:ln>
        </p:spPr>
      </p:sp>
      <p:sp>
        <p:nvSpPr>
          <p:cNvPr id="52" name="Text 50"/>
          <p:cNvSpPr txBox="1"/>
          <p:nvPr/>
        </p:nvSpPr>
        <p:spPr>
          <a:xfrm>
            <a:off x="1298448"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CH</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3" name="Shape 51"/>
          <p:cNvSpPr/>
          <p:nvPr/>
        </p:nvSpPr>
        <p:spPr>
          <a:xfrm>
            <a:off x="1865376" y="2167128"/>
            <a:ext cx="512064" cy="512064"/>
          </a:xfrm>
          <a:prstGeom prst="roundRect">
            <a:avLst>
              <a:gd name="adj" fmla="val 8929"/>
            </a:avLst>
          </a:prstGeom>
          <a:solidFill>
            <a:srgbClr val="9ECAE1"/>
          </a:solidFill>
          <a:ln/>
        </p:spPr>
      </p:sp>
      <p:sp>
        <p:nvSpPr>
          <p:cNvPr id="54" name="Text 52"/>
          <p:cNvSpPr txBox="1"/>
          <p:nvPr/>
        </p:nvSpPr>
        <p:spPr>
          <a:xfrm>
            <a:off x="1865376"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9.6</a:t>
            </a:r>
            <a:endParaRPr lang="en-US" sz="1000" dirty="0"/>
          </a:p>
        </p:txBody>
      </p:sp>
      <p:sp>
        <p:nvSpPr>
          <p:cNvPr id="55" name="Shape 53"/>
          <p:cNvSpPr/>
          <p:nvPr/>
        </p:nvSpPr>
        <p:spPr>
          <a:xfrm>
            <a:off x="2432304" y="2167128"/>
            <a:ext cx="512064" cy="512064"/>
          </a:xfrm>
          <a:prstGeom prst="roundRect">
            <a:avLst>
              <a:gd name="adj" fmla="val 8929"/>
            </a:avLst>
          </a:prstGeom>
          <a:solidFill>
            <a:srgbClr val="F2F3F4"/>
          </a:solidFill>
          <a:ln w="9525">
            <a:solidFill>
              <a:srgbClr val="95A5A6"/>
            </a:solidFill>
            <a:prstDash val="dash"/>
          </a:ln>
        </p:spPr>
      </p:sp>
      <p:sp>
        <p:nvSpPr>
          <p:cNvPr id="56" name="Text 54"/>
          <p:cNvSpPr txBox="1"/>
          <p:nvPr/>
        </p:nvSpPr>
        <p:spPr>
          <a:xfrm>
            <a:off x="2432304"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HP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7" name="Shape 55"/>
          <p:cNvSpPr/>
          <p:nvPr/>
        </p:nvSpPr>
        <p:spPr>
          <a:xfrm>
            <a:off x="4700016" y="2167128"/>
            <a:ext cx="512064" cy="512064"/>
          </a:xfrm>
          <a:prstGeom prst="roundRect">
            <a:avLst>
              <a:gd name="adj" fmla="val 8929"/>
            </a:avLst>
          </a:prstGeom>
          <a:solidFill>
            <a:srgbClr val="1C5F96"/>
          </a:solidFill>
          <a:ln/>
        </p:spPr>
      </p:sp>
      <p:sp>
        <p:nvSpPr>
          <p:cNvPr id="58" name="Text 56"/>
          <p:cNvSpPr txBox="1"/>
          <p:nvPr/>
        </p:nvSpPr>
        <p:spPr>
          <a:xfrm>
            <a:off x="4700016" y="216712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19.1</a:t>
            </a:r>
            <a:endParaRPr lang="en-US" sz="1000" dirty="0"/>
          </a:p>
        </p:txBody>
      </p:sp>
      <p:sp>
        <p:nvSpPr>
          <p:cNvPr id="59" name="Shape 57"/>
          <p:cNvSpPr/>
          <p:nvPr/>
        </p:nvSpPr>
        <p:spPr>
          <a:xfrm>
            <a:off x="1298448" y="2734056"/>
            <a:ext cx="512064" cy="512064"/>
          </a:xfrm>
          <a:prstGeom prst="roundRect">
            <a:avLst>
              <a:gd name="adj" fmla="val 8929"/>
            </a:avLst>
          </a:prstGeom>
          <a:solidFill>
            <a:srgbClr val="DEEBF7"/>
          </a:solidFill>
          <a:ln/>
        </p:spPr>
      </p:sp>
      <p:sp>
        <p:nvSpPr>
          <p:cNvPr id="60" name="Text 58"/>
          <p:cNvSpPr txBox="1"/>
          <p:nvPr/>
        </p:nvSpPr>
        <p:spPr>
          <a:xfrm>
            <a:off x="129844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RJ</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61" name="Shape 59"/>
          <p:cNvSpPr/>
          <p:nvPr/>
        </p:nvSpPr>
        <p:spPr>
          <a:xfrm>
            <a:off x="1865376" y="2734056"/>
            <a:ext cx="512064" cy="512064"/>
          </a:xfrm>
          <a:prstGeom prst="roundRect">
            <a:avLst>
              <a:gd name="adj" fmla="val 8929"/>
            </a:avLst>
          </a:prstGeom>
          <a:solidFill>
            <a:srgbClr val="1C5F96"/>
          </a:solidFill>
          <a:ln/>
        </p:spPr>
      </p:sp>
      <p:sp>
        <p:nvSpPr>
          <p:cNvPr id="62" name="Text 60"/>
          <p:cNvSpPr txBox="1"/>
          <p:nvPr/>
        </p:nvSpPr>
        <p:spPr>
          <a:xfrm>
            <a:off x="1865376"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16.4</a:t>
            </a:r>
            <a:endParaRPr lang="en-US" sz="1000" dirty="0"/>
          </a:p>
        </p:txBody>
      </p:sp>
      <p:sp>
        <p:nvSpPr>
          <p:cNvPr id="63" name="Shape 61"/>
          <p:cNvSpPr/>
          <p:nvPr/>
        </p:nvSpPr>
        <p:spPr>
          <a:xfrm>
            <a:off x="2432304" y="2734056"/>
            <a:ext cx="512064" cy="512064"/>
          </a:xfrm>
          <a:prstGeom prst="roundRect">
            <a:avLst>
              <a:gd name="adj" fmla="val 8929"/>
            </a:avLst>
          </a:prstGeom>
          <a:solidFill>
            <a:srgbClr val="08306B"/>
          </a:solidFill>
          <a:ln/>
        </p:spPr>
      </p:sp>
      <p:sp>
        <p:nvSpPr>
          <p:cNvPr id="64" name="Text 62"/>
          <p:cNvSpPr txBox="1"/>
          <p:nvPr/>
        </p:nvSpPr>
        <p:spPr>
          <a:xfrm>
            <a:off x="2432304"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DL</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32.8</a:t>
            </a:r>
            <a:endParaRPr lang="en-US" sz="1000" dirty="0"/>
          </a:p>
        </p:txBody>
      </p:sp>
      <p:sp>
        <p:nvSpPr>
          <p:cNvPr id="65" name="Shape 63"/>
          <p:cNvSpPr/>
          <p:nvPr/>
        </p:nvSpPr>
        <p:spPr>
          <a:xfrm>
            <a:off x="2999232" y="2734056"/>
            <a:ext cx="512064" cy="512064"/>
          </a:xfrm>
          <a:prstGeom prst="roundRect">
            <a:avLst>
              <a:gd name="adj" fmla="val 8929"/>
            </a:avLst>
          </a:prstGeom>
          <a:solidFill>
            <a:srgbClr val="9ECAE1"/>
          </a:solidFill>
          <a:ln/>
        </p:spPr>
      </p:sp>
      <p:sp>
        <p:nvSpPr>
          <p:cNvPr id="66" name="Text 64"/>
          <p:cNvSpPr txBox="1"/>
          <p:nvPr/>
        </p:nvSpPr>
        <p:spPr>
          <a:xfrm>
            <a:off x="2999232"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UK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10.4</a:t>
            </a:r>
            <a:endParaRPr lang="en-US" sz="1000" dirty="0"/>
          </a:p>
        </p:txBody>
      </p:sp>
      <p:sp>
        <p:nvSpPr>
          <p:cNvPr id="67" name="Shape 65"/>
          <p:cNvSpPr/>
          <p:nvPr/>
        </p:nvSpPr>
        <p:spPr>
          <a:xfrm>
            <a:off x="3566160" y="2734056"/>
            <a:ext cx="512064" cy="512064"/>
          </a:xfrm>
          <a:prstGeom prst="roundRect">
            <a:avLst>
              <a:gd name="adj" fmla="val 8929"/>
            </a:avLst>
          </a:prstGeom>
          <a:solidFill>
            <a:srgbClr val="9ECAE1"/>
          </a:solidFill>
          <a:ln/>
        </p:spPr>
      </p:sp>
      <p:sp>
        <p:nvSpPr>
          <p:cNvPr id="68" name="Text 66"/>
          <p:cNvSpPr txBox="1"/>
          <p:nvPr/>
        </p:nvSpPr>
        <p:spPr>
          <a:xfrm>
            <a:off x="3566160"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SK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8.0</a:t>
            </a:r>
            <a:endParaRPr lang="en-US" sz="1000" dirty="0"/>
          </a:p>
        </p:txBody>
      </p:sp>
      <p:sp>
        <p:nvSpPr>
          <p:cNvPr id="69" name="Shape 67"/>
          <p:cNvSpPr/>
          <p:nvPr/>
        </p:nvSpPr>
        <p:spPr>
          <a:xfrm>
            <a:off x="4133088" y="2734056"/>
            <a:ext cx="512064" cy="512064"/>
          </a:xfrm>
          <a:prstGeom prst="roundRect">
            <a:avLst>
              <a:gd name="adj" fmla="val 8929"/>
            </a:avLst>
          </a:prstGeom>
          <a:solidFill>
            <a:srgbClr val="F2F3F4"/>
          </a:solidFill>
          <a:ln w="9525">
            <a:solidFill>
              <a:srgbClr val="95A5A6"/>
            </a:solidFill>
            <a:prstDash val="dash"/>
          </a:ln>
        </p:spPr>
      </p:sp>
      <p:sp>
        <p:nvSpPr>
          <p:cNvPr id="70" name="Text 68"/>
          <p:cNvSpPr txBox="1"/>
          <p:nvPr/>
        </p:nvSpPr>
        <p:spPr>
          <a:xfrm>
            <a:off x="413308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AS</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71" name="Shape 69"/>
          <p:cNvSpPr/>
          <p:nvPr/>
        </p:nvSpPr>
        <p:spPr>
          <a:xfrm>
            <a:off x="4700016" y="2734056"/>
            <a:ext cx="512064" cy="512064"/>
          </a:xfrm>
          <a:prstGeom prst="roundRect">
            <a:avLst>
              <a:gd name="adj" fmla="val 8929"/>
            </a:avLst>
          </a:prstGeom>
          <a:solidFill>
            <a:srgbClr val="9ECAE1"/>
          </a:solidFill>
          <a:ln/>
        </p:spPr>
      </p:sp>
      <p:sp>
        <p:nvSpPr>
          <p:cNvPr id="72" name="Text 70"/>
          <p:cNvSpPr txBox="1"/>
          <p:nvPr/>
        </p:nvSpPr>
        <p:spPr>
          <a:xfrm>
            <a:off x="4700016"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NL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11.6</a:t>
            </a:r>
            <a:endParaRPr lang="en-US" sz="1000" dirty="0"/>
          </a:p>
        </p:txBody>
      </p:sp>
      <p:sp>
        <p:nvSpPr>
          <p:cNvPr id="73" name="Shape 71"/>
          <p:cNvSpPr/>
          <p:nvPr/>
        </p:nvSpPr>
        <p:spPr>
          <a:xfrm>
            <a:off x="1298448" y="3300984"/>
            <a:ext cx="512064" cy="512064"/>
          </a:xfrm>
          <a:prstGeom prst="roundRect">
            <a:avLst>
              <a:gd name="adj" fmla="val 8929"/>
            </a:avLst>
          </a:prstGeom>
          <a:solidFill>
            <a:srgbClr val="2878B3"/>
          </a:solidFill>
          <a:ln/>
        </p:spPr>
      </p:sp>
      <p:sp>
        <p:nvSpPr>
          <p:cNvPr id="74" name="Text 72"/>
          <p:cNvSpPr txBox="1"/>
          <p:nvPr/>
        </p:nvSpPr>
        <p:spPr>
          <a:xfrm>
            <a:off x="1298448"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GJ</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14.5</a:t>
            </a:r>
            <a:endParaRPr lang="en-US" sz="1000" dirty="0"/>
          </a:p>
        </p:txBody>
      </p:sp>
      <p:sp>
        <p:nvSpPr>
          <p:cNvPr id="75" name="Shape 73"/>
          <p:cNvSpPr/>
          <p:nvPr/>
        </p:nvSpPr>
        <p:spPr>
          <a:xfrm>
            <a:off x="1865376" y="3300984"/>
            <a:ext cx="512064" cy="512064"/>
          </a:xfrm>
          <a:prstGeom prst="roundRect">
            <a:avLst>
              <a:gd name="adj" fmla="val 8929"/>
            </a:avLst>
          </a:prstGeom>
          <a:solidFill>
            <a:srgbClr val="DEEBF7"/>
          </a:solidFill>
          <a:ln/>
        </p:spPr>
      </p:sp>
      <p:sp>
        <p:nvSpPr>
          <p:cNvPr id="76" name="Text 74"/>
          <p:cNvSpPr txBox="1"/>
          <p:nvPr/>
        </p:nvSpPr>
        <p:spPr>
          <a:xfrm>
            <a:off x="186537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7.5</a:t>
            </a:r>
            <a:endParaRPr lang="en-US" sz="1000" dirty="0"/>
          </a:p>
        </p:txBody>
      </p:sp>
      <p:sp>
        <p:nvSpPr>
          <p:cNvPr id="77" name="Shape 75"/>
          <p:cNvSpPr/>
          <p:nvPr/>
        </p:nvSpPr>
        <p:spPr>
          <a:xfrm>
            <a:off x="2432304" y="3300984"/>
            <a:ext cx="512064" cy="512064"/>
          </a:xfrm>
          <a:prstGeom prst="roundRect">
            <a:avLst>
              <a:gd name="adj" fmla="val 8929"/>
            </a:avLst>
          </a:prstGeom>
          <a:solidFill>
            <a:srgbClr val="1C5F96"/>
          </a:solidFill>
          <a:ln/>
        </p:spPr>
      </p:sp>
      <p:sp>
        <p:nvSpPr>
          <p:cNvPr id="78" name="Text 76"/>
          <p:cNvSpPr txBox="1"/>
          <p:nvPr/>
        </p:nvSpPr>
        <p:spPr>
          <a:xfrm>
            <a:off x="2432304"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UP</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18.7</a:t>
            </a:r>
            <a:endParaRPr lang="en-US" sz="1000" dirty="0"/>
          </a:p>
        </p:txBody>
      </p:sp>
      <p:sp>
        <p:nvSpPr>
          <p:cNvPr id="79" name="Shape 77"/>
          <p:cNvSpPr/>
          <p:nvPr/>
        </p:nvSpPr>
        <p:spPr>
          <a:xfrm>
            <a:off x="2999232" y="3300984"/>
            <a:ext cx="512064" cy="512064"/>
          </a:xfrm>
          <a:prstGeom prst="roundRect">
            <a:avLst>
              <a:gd name="adj" fmla="val 8929"/>
            </a:avLst>
          </a:prstGeom>
          <a:solidFill>
            <a:srgbClr val="9ECAE1"/>
          </a:solidFill>
          <a:ln/>
        </p:spPr>
      </p:sp>
      <p:sp>
        <p:nvSpPr>
          <p:cNvPr id="80" name="Text 78"/>
          <p:cNvSpPr txBox="1"/>
          <p:nvPr/>
        </p:nvSpPr>
        <p:spPr>
          <a:xfrm>
            <a:off x="2999232"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BR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8.3</a:t>
            </a:r>
            <a:endParaRPr lang="en-US" sz="1000" dirty="0"/>
          </a:p>
        </p:txBody>
      </p:sp>
      <p:sp>
        <p:nvSpPr>
          <p:cNvPr id="81" name="Shape 79"/>
          <p:cNvSpPr/>
          <p:nvPr/>
        </p:nvSpPr>
        <p:spPr>
          <a:xfrm>
            <a:off x="3566160" y="3300984"/>
            <a:ext cx="512064" cy="512064"/>
          </a:xfrm>
          <a:prstGeom prst="roundRect">
            <a:avLst>
              <a:gd name="adj" fmla="val 8929"/>
            </a:avLst>
          </a:prstGeom>
          <a:solidFill>
            <a:srgbClr val="DEEBF7"/>
          </a:solidFill>
          <a:ln/>
        </p:spPr>
      </p:sp>
      <p:sp>
        <p:nvSpPr>
          <p:cNvPr id="82" name="Text 80"/>
          <p:cNvSpPr txBox="1"/>
          <p:nvPr/>
        </p:nvSpPr>
        <p:spPr>
          <a:xfrm>
            <a:off x="3566160"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WB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3" name="Shape 81"/>
          <p:cNvSpPr/>
          <p:nvPr/>
        </p:nvSpPr>
        <p:spPr>
          <a:xfrm>
            <a:off x="4133088" y="3300984"/>
            <a:ext cx="512064" cy="512064"/>
          </a:xfrm>
          <a:prstGeom prst="roundRect">
            <a:avLst>
              <a:gd name="adj" fmla="val 8929"/>
            </a:avLst>
          </a:prstGeom>
          <a:solidFill>
            <a:srgbClr val="DEEBF7"/>
          </a:solidFill>
          <a:ln/>
        </p:spPr>
      </p:sp>
      <p:sp>
        <p:nvSpPr>
          <p:cNvPr id="84" name="Text 82"/>
          <p:cNvSpPr txBox="1"/>
          <p:nvPr/>
        </p:nvSpPr>
        <p:spPr>
          <a:xfrm>
            <a:off x="4133088"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85" name="Shape 83"/>
          <p:cNvSpPr/>
          <p:nvPr/>
        </p:nvSpPr>
        <p:spPr>
          <a:xfrm>
            <a:off x="4700016" y="3300984"/>
            <a:ext cx="512064" cy="512064"/>
          </a:xfrm>
          <a:prstGeom prst="roundRect">
            <a:avLst>
              <a:gd name="adj" fmla="val 8929"/>
            </a:avLst>
          </a:prstGeom>
          <a:solidFill>
            <a:srgbClr val="DEEBF7"/>
          </a:solidFill>
          <a:ln/>
        </p:spPr>
      </p:sp>
      <p:sp>
        <p:nvSpPr>
          <p:cNvPr id="86" name="Text 84"/>
          <p:cNvSpPr txBox="1"/>
          <p:nvPr/>
        </p:nvSpPr>
        <p:spPr>
          <a:xfrm>
            <a:off x="470001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MN</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7" name="Shape 85"/>
          <p:cNvSpPr/>
          <p:nvPr/>
        </p:nvSpPr>
        <p:spPr>
          <a:xfrm>
            <a:off x="731520" y="3867912"/>
            <a:ext cx="512064" cy="512064"/>
          </a:xfrm>
          <a:prstGeom prst="roundRect">
            <a:avLst>
              <a:gd name="adj" fmla="val 8929"/>
            </a:avLst>
          </a:prstGeom>
          <a:solidFill>
            <a:srgbClr val="08306B"/>
          </a:solidFill>
          <a:ln/>
        </p:spPr>
      </p:sp>
      <p:sp>
        <p:nvSpPr>
          <p:cNvPr id="88" name="Text 86"/>
          <p:cNvSpPr txBox="1"/>
          <p:nvPr/>
        </p:nvSpPr>
        <p:spPr>
          <a:xfrm>
            <a:off x="731520"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DD</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29.6</a:t>
            </a:r>
            <a:endParaRPr lang="en-US" sz="1000" dirty="0"/>
          </a:p>
        </p:txBody>
      </p:sp>
      <p:sp>
        <p:nvSpPr>
          <p:cNvPr id="89" name="Shape 87"/>
          <p:cNvSpPr/>
          <p:nvPr/>
        </p:nvSpPr>
        <p:spPr>
          <a:xfrm>
            <a:off x="1298448" y="3867912"/>
            <a:ext cx="512064" cy="512064"/>
          </a:xfrm>
          <a:prstGeom prst="roundRect">
            <a:avLst>
              <a:gd name="adj" fmla="val 8929"/>
            </a:avLst>
          </a:prstGeom>
          <a:solidFill>
            <a:srgbClr val="08306B"/>
          </a:solidFill>
          <a:ln/>
        </p:spPr>
      </p:sp>
      <p:sp>
        <p:nvSpPr>
          <p:cNvPr id="90" name="Text 88"/>
          <p:cNvSpPr txBox="1"/>
          <p:nvPr/>
        </p:nvSpPr>
        <p:spPr>
          <a:xfrm>
            <a:off x="1298448"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21.1</a:t>
            </a:r>
            <a:endParaRPr lang="en-US" sz="1000" dirty="0"/>
          </a:p>
        </p:txBody>
      </p:sp>
      <p:sp>
        <p:nvSpPr>
          <p:cNvPr id="91" name="Shape 89"/>
          <p:cNvSpPr/>
          <p:nvPr/>
        </p:nvSpPr>
        <p:spPr>
          <a:xfrm>
            <a:off x="1865376" y="3867912"/>
            <a:ext cx="512064" cy="512064"/>
          </a:xfrm>
          <a:prstGeom prst="roundRect">
            <a:avLst>
              <a:gd name="adj" fmla="val 8929"/>
            </a:avLst>
          </a:prstGeom>
          <a:solidFill>
            <a:srgbClr val="2878B3"/>
          </a:solidFill>
          <a:ln/>
        </p:spPr>
      </p:sp>
      <p:sp>
        <p:nvSpPr>
          <p:cNvPr id="92" name="Text 90"/>
          <p:cNvSpPr txBox="1"/>
          <p:nvPr/>
        </p:nvSpPr>
        <p:spPr>
          <a:xfrm>
            <a:off x="1865376"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12.9</a:t>
            </a:r>
            <a:endParaRPr lang="en-US" sz="1000" dirty="0"/>
          </a:p>
        </p:txBody>
      </p:sp>
      <p:sp>
        <p:nvSpPr>
          <p:cNvPr id="93" name="Shape 91"/>
          <p:cNvSpPr/>
          <p:nvPr/>
        </p:nvSpPr>
        <p:spPr>
          <a:xfrm>
            <a:off x="2432304" y="3867912"/>
            <a:ext cx="512064" cy="512064"/>
          </a:xfrm>
          <a:prstGeom prst="roundRect">
            <a:avLst>
              <a:gd name="adj" fmla="val 8929"/>
            </a:avLst>
          </a:prstGeom>
          <a:solidFill>
            <a:srgbClr val="1C5F96"/>
          </a:solidFill>
          <a:ln/>
        </p:spPr>
      </p:sp>
      <p:sp>
        <p:nvSpPr>
          <p:cNvPr id="94" name="Text 92"/>
          <p:cNvSpPr txBox="1"/>
          <p:nvPr/>
        </p:nvSpPr>
        <p:spPr>
          <a:xfrm>
            <a:off x="2432304"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JH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16.5</a:t>
            </a:r>
            <a:endParaRPr lang="en-US" sz="1000" dirty="0"/>
          </a:p>
        </p:txBody>
      </p:sp>
      <p:sp>
        <p:nvSpPr>
          <p:cNvPr id="95" name="Shape 93"/>
          <p:cNvSpPr/>
          <p:nvPr/>
        </p:nvSpPr>
        <p:spPr>
          <a:xfrm>
            <a:off x="2999232" y="3867912"/>
            <a:ext cx="512064" cy="512064"/>
          </a:xfrm>
          <a:prstGeom prst="roundRect">
            <a:avLst>
              <a:gd name="adj" fmla="val 8929"/>
            </a:avLst>
          </a:prstGeom>
          <a:solidFill>
            <a:srgbClr val="DEEBF7"/>
          </a:solidFill>
          <a:ln/>
        </p:spPr>
      </p:sp>
      <p:sp>
        <p:nvSpPr>
          <p:cNvPr id="96" name="Text 94"/>
          <p:cNvSpPr txBox="1"/>
          <p:nvPr/>
        </p:nvSpPr>
        <p:spPr>
          <a:xfrm>
            <a:off x="2999232"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OD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6.0</a:t>
            </a:r>
            <a:endParaRPr lang="en-US" sz="1000" dirty="0"/>
          </a:p>
        </p:txBody>
      </p:sp>
      <p:sp>
        <p:nvSpPr>
          <p:cNvPr id="97" name="Shape 95"/>
          <p:cNvSpPr/>
          <p:nvPr/>
        </p:nvSpPr>
        <p:spPr>
          <a:xfrm>
            <a:off x="4133088" y="3867912"/>
            <a:ext cx="512064" cy="512064"/>
          </a:xfrm>
          <a:prstGeom prst="roundRect">
            <a:avLst>
              <a:gd name="adj" fmla="val 8929"/>
            </a:avLst>
          </a:prstGeom>
          <a:solidFill>
            <a:srgbClr val="F2F3F4"/>
          </a:solidFill>
          <a:ln w="9525">
            <a:solidFill>
              <a:srgbClr val="95A5A6"/>
            </a:solidFill>
            <a:prstDash val="dash"/>
          </a:ln>
        </p:spPr>
      </p:sp>
      <p:sp>
        <p:nvSpPr>
          <p:cNvPr id="98" name="Text 96"/>
          <p:cNvSpPr txBox="1"/>
          <p:nvPr/>
        </p:nvSpPr>
        <p:spPr>
          <a:xfrm>
            <a:off x="4133088"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TR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99" name="Shape 97"/>
          <p:cNvSpPr/>
          <p:nvPr/>
        </p:nvSpPr>
        <p:spPr>
          <a:xfrm>
            <a:off x="4700016" y="3867912"/>
            <a:ext cx="512064" cy="512064"/>
          </a:xfrm>
          <a:prstGeom prst="roundRect">
            <a:avLst>
              <a:gd name="adj" fmla="val 8929"/>
            </a:avLst>
          </a:prstGeom>
          <a:solidFill>
            <a:srgbClr val="DEEBF7"/>
          </a:solidFill>
          <a:ln/>
        </p:spPr>
      </p:sp>
      <p:sp>
        <p:nvSpPr>
          <p:cNvPr id="100" name="Text 98"/>
          <p:cNvSpPr txBox="1"/>
          <p:nvPr/>
        </p:nvSpPr>
        <p:spPr>
          <a:xfrm>
            <a:off x="4700016"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MZ</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5.3</a:t>
            </a:r>
            <a:endParaRPr lang="en-US" sz="1000" dirty="0"/>
          </a:p>
        </p:txBody>
      </p:sp>
      <p:sp>
        <p:nvSpPr>
          <p:cNvPr id="101" name="Shape 99"/>
          <p:cNvSpPr/>
          <p:nvPr/>
        </p:nvSpPr>
        <p:spPr>
          <a:xfrm>
            <a:off x="1298448" y="4434840"/>
            <a:ext cx="512064" cy="512064"/>
          </a:xfrm>
          <a:prstGeom prst="roundRect">
            <a:avLst>
              <a:gd name="adj" fmla="val 8929"/>
            </a:avLst>
          </a:prstGeom>
          <a:solidFill>
            <a:srgbClr val="9ECAE1"/>
          </a:solidFill>
          <a:ln/>
        </p:spPr>
      </p:sp>
      <p:sp>
        <p:nvSpPr>
          <p:cNvPr id="102" name="Text 100"/>
          <p:cNvSpPr txBox="1"/>
          <p:nvPr/>
        </p:nvSpPr>
        <p:spPr>
          <a:xfrm>
            <a:off x="1298448"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GA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8.4</a:t>
            </a:r>
            <a:endParaRPr lang="en-US" sz="1000" dirty="0"/>
          </a:p>
        </p:txBody>
      </p:sp>
      <p:sp>
        <p:nvSpPr>
          <p:cNvPr id="103" name="Shape 101"/>
          <p:cNvSpPr/>
          <p:nvPr/>
        </p:nvSpPr>
        <p:spPr>
          <a:xfrm>
            <a:off x="1865376" y="4434840"/>
            <a:ext cx="512064" cy="512064"/>
          </a:xfrm>
          <a:prstGeom prst="roundRect">
            <a:avLst>
              <a:gd name="adj" fmla="val 8929"/>
            </a:avLst>
          </a:prstGeom>
          <a:solidFill>
            <a:srgbClr val="08306B"/>
          </a:solidFill>
          <a:ln/>
        </p:spPr>
      </p:sp>
      <p:sp>
        <p:nvSpPr>
          <p:cNvPr id="104" name="Text 102"/>
          <p:cNvSpPr txBox="1"/>
          <p:nvPr/>
        </p:nvSpPr>
        <p:spPr>
          <a:xfrm>
            <a:off x="1865376" y="4434840"/>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21.7</a:t>
            </a:r>
            <a:endParaRPr lang="en-US" sz="1000" dirty="0"/>
          </a:p>
        </p:txBody>
      </p:sp>
      <p:sp>
        <p:nvSpPr>
          <p:cNvPr id="105" name="Shape 103"/>
          <p:cNvSpPr/>
          <p:nvPr/>
        </p:nvSpPr>
        <p:spPr>
          <a:xfrm>
            <a:off x="2432304" y="4434840"/>
            <a:ext cx="512064" cy="512064"/>
          </a:xfrm>
          <a:prstGeom prst="roundRect">
            <a:avLst>
              <a:gd name="adj" fmla="val 8929"/>
            </a:avLst>
          </a:prstGeom>
          <a:solidFill>
            <a:srgbClr val="9ECAE1"/>
          </a:solidFill>
          <a:ln/>
        </p:spPr>
      </p:sp>
      <p:sp>
        <p:nvSpPr>
          <p:cNvPr id="106" name="Text 104"/>
          <p:cNvSpPr txBox="1"/>
          <p:nvPr/>
        </p:nvSpPr>
        <p:spPr>
          <a:xfrm>
            <a:off x="2432304"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10.8</a:t>
            </a:r>
            <a:endParaRPr lang="en-US" sz="1000" dirty="0"/>
          </a:p>
        </p:txBody>
      </p:sp>
      <p:sp>
        <p:nvSpPr>
          <p:cNvPr id="107" name="Shape 105"/>
          <p:cNvSpPr/>
          <p:nvPr/>
        </p:nvSpPr>
        <p:spPr>
          <a:xfrm>
            <a:off x="731520" y="5001768"/>
            <a:ext cx="512064" cy="512064"/>
          </a:xfrm>
          <a:prstGeom prst="roundRect">
            <a:avLst>
              <a:gd name="adj" fmla="val 8929"/>
            </a:avLst>
          </a:prstGeom>
          <a:solidFill>
            <a:srgbClr val="DEEBF7"/>
          </a:solidFill>
          <a:ln/>
        </p:spPr>
      </p:sp>
      <p:sp>
        <p:nvSpPr>
          <p:cNvPr id="108" name="Text 106"/>
          <p:cNvSpPr txBox="1"/>
          <p:nvPr/>
        </p:nvSpPr>
        <p:spPr>
          <a:xfrm>
            <a:off x="731520"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2.5</a:t>
            </a:r>
            <a:endParaRPr lang="en-US" sz="1000" dirty="0"/>
          </a:p>
        </p:txBody>
      </p:sp>
      <p:sp>
        <p:nvSpPr>
          <p:cNvPr id="109" name="Shape 107"/>
          <p:cNvSpPr/>
          <p:nvPr/>
        </p:nvSpPr>
        <p:spPr>
          <a:xfrm>
            <a:off x="1298448" y="5001768"/>
            <a:ext cx="512064" cy="512064"/>
          </a:xfrm>
          <a:prstGeom prst="roundRect">
            <a:avLst>
              <a:gd name="adj" fmla="val 8929"/>
            </a:avLst>
          </a:prstGeom>
          <a:solidFill>
            <a:srgbClr val="1C5F96"/>
          </a:solidFill>
          <a:ln/>
        </p:spPr>
      </p:sp>
      <p:sp>
        <p:nvSpPr>
          <p:cNvPr id="110" name="Text 108"/>
          <p:cNvSpPr txBox="1"/>
          <p:nvPr/>
        </p:nvSpPr>
        <p:spPr>
          <a:xfrm>
            <a:off x="1298448"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KA</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19.5</a:t>
            </a:r>
            <a:endParaRPr lang="en-US" sz="1000" dirty="0"/>
          </a:p>
        </p:txBody>
      </p:sp>
      <p:sp>
        <p:nvSpPr>
          <p:cNvPr id="111" name="Shape 109"/>
          <p:cNvSpPr/>
          <p:nvPr/>
        </p:nvSpPr>
        <p:spPr>
          <a:xfrm>
            <a:off x="1865376" y="5001768"/>
            <a:ext cx="512064" cy="512064"/>
          </a:xfrm>
          <a:prstGeom prst="roundRect">
            <a:avLst>
              <a:gd name="adj" fmla="val 8929"/>
            </a:avLst>
          </a:prstGeom>
          <a:solidFill>
            <a:srgbClr val="2878B3"/>
          </a:solidFill>
          <a:ln/>
        </p:spPr>
      </p:sp>
      <p:sp>
        <p:nvSpPr>
          <p:cNvPr id="112" name="Text 110"/>
          <p:cNvSpPr txBox="1"/>
          <p:nvPr/>
        </p:nvSpPr>
        <p:spPr>
          <a:xfrm>
            <a:off x="1865376"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15.2</a:t>
            </a:r>
            <a:endParaRPr lang="en-US" sz="1000" dirty="0"/>
          </a:p>
        </p:txBody>
      </p:sp>
      <p:sp>
        <p:nvSpPr>
          <p:cNvPr id="113" name="Shape 111"/>
          <p:cNvSpPr/>
          <p:nvPr/>
        </p:nvSpPr>
        <p:spPr>
          <a:xfrm>
            <a:off x="2432304" y="5001768"/>
            <a:ext cx="512064" cy="512064"/>
          </a:xfrm>
          <a:prstGeom prst="roundRect">
            <a:avLst>
              <a:gd name="adj" fmla="val 8929"/>
            </a:avLst>
          </a:prstGeom>
          <a:solidFill>
            <a:srgbClr val="9ECAE1"/>
          </a:solidFill>
          <a:ln/>
        </p:spPr>
      </p:sp>
      <p:sp>
        <p:nvSpPr>
          <p:cNvPr id="114" name="Text 112"/>
          <p:cNvSpPr txBox="1"/>
          <p:nvPr/>
        </p:nvSpPr>
        <p:spPr>
          <a:xfrm>
            <a:off x="2432304"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PY</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10.1</a:t>
            </a:r>
            <a:endParaRPr lang="en-US" sz="1000" dirty="0"/>
          </a:p>
        </p:txBody>
      </p:sp>
      <p:sp>
        <p:nvSpPr>
          <p:cNvPr id="115" name="Shape 113"/>
          <p:cNvSpPr/>
          <p:nvPr/>
        </p:nvSpPr>
        <p:spPr>
          <a:xfrm>
            <a:off x="1298448" y="5568696"/>
            <a:ext cx="512064" cy="512064"/>
          </a:xfrm>
          <a:prstGeom prst="roundRect">
            <a:avLst>
              <a:gd name="adj" fmla="val 8929"/>
            </a:avLst>
          </a:prstGeom>
          <a:solidFill>
            <a:srgbClr val="9ECAE1"/>
          </a:solidFill>
          <a:ln/>
        </p:spPr>
      </p:sp>
      <p:sp>
        <p:nvSpPr>
          <p:cNvPr id="116" name="Text 114"/>
          <p:cNvSpPr txBox="1"/>
          <p:nvPr/>
        </p:nvSpPr>
        <p:spPr>
          <a:xfrm>
            <a:off x="1298448" y="556869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KL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8.7</a:t>
            </a:r>
            <a:endParaRPr lang="en-US" sz="1000" dirty="0"/>
          </a:p>
        </p:txBody>
      </p:sp>
      <p:sp>
        <p:nvSpPr>
          <p:cNvPr id="117" name="Shape 115"/>
          <p:cNvSpPr/>
          <p:nvPr/>
        </p:nvSpPr>
        <p:spPr>
          <a:xfrm>
            <a:off x="2999232" y="5568696"/>
            <a:ext cx="512064" cy="512064"/>
          </a:xfrm>
          <a:prstGeom prst="roundRect">
            <a:avLst>
              <a:gd name="adj" fmla="val 8929"/>
            </a:avLst>
          </a:prstGeom>
          <a:solidFill>
            <a:srgbClr val="08306B"/>
          </a:solidFill>
          <a:ln/>
        </p:spPr>
      </p:sp>
      <p:sp>
        <p:nvSpPr>
          <p:cNvPr id="118" name="Text 116"/>
          <p:cNvSpPr txBox="1"/>
          <p:nvPr/>
        </p:nvSpPr>
        <p:spPr>
          <a:xfrm>
            <a:off x="2999232" y="556869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20.6</a:t>
            </a:r>
            <a:endParaRPr lang="en-US" sz="1000" dirty="0"/>
          </a:p>
        </p:txBody>
      </p:sp>
      <p:sp>
        <p:nvSpPr>
          <p:cNvPr id="119" name="Shape 117"/>
          <p:cNvSpPr/>
          <p:nvPr/>
        </p:nvSpPr>
        <p:spPr>
          <a:xfrm>
            <a:off x="6400800" y="3931920"/>
            <a:ext cx="237744" cy="237744"/>
          </a:xfrm>
          <a:prstGeom prst="rect">
            <a:avLst/>
          </a:prstGeom>
          <a:solidFill>
            <a:srgbClr val="DEEBF7"/>
          </a:solidFill>
          <a:ln/>
        </p:spPr>
      </p:sp>
      <p:sp>
        <p:nvSpPr>
          <p:cNvPr id="120" name="Text 118"/>
          <p:cNvSpPr txBox="1"/>
          <p:nvPr/>
        </p:nvSpPr>
        <p:spPr>
          <a:xfrm>
            <a:off x="6720840" y="390448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under 8</a:t>
            </a:r>
            <a:endParaRPr lang="en-US" sz="1100" dirty="0"/>
          </a:p>
        </p:txBody>
      </p:sp>
      <p:sp>
        <p:nvSpPr>
          <p:cNvPr id="121" name="Shape 119"/>
          <p:cNvSpPr/>
          <p:nvPr/>
        </p:nvSpPr>
        <p:spPr>
          <a:xfrm>
            <a:off x="6400800" y="4261104"/>
            <a:ext cx="237744" cy="237744"/>
          </a:xfrm>
          <a:prstGeom prst="rect">
            <a:avLst/>
          </a:prstGeom>
          <a:solidFill>
            <a:srgbClr val="9ECAE1"/>
          </a:solidFill>
          <a:ln/>
        </p:spPr>
      </p:sp>
      <p:sp>
        <p:nvSpPr>
          <p:cNvPr id="122" name="Text 120"/>
          <p:cNvSpPr txBox="1"/>
          <p:nvPr/>
        </p:nvSpPr>
        <p:spPr>
          <a:xfrm>
            <a:off x="6720840" y="4233672"/>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8 to 12</a:t>
            </a:r>
            <a:endParaRPr lang="en-US" sz="1100" dirty="0"/>
          </a:p>
        </p:txBody>
      </p:sp>
      <p:sp>
        <p:nvSpPr>
          <p:cNvPr id="123" name="Shape 121"/>
          <p:cNvSpPr/>
          <p:nvPr/>
        </p:nvSpPr>
        <p:spPr>
          <a:xfrm>
            <a:off x="6400800" y="4590288"/>
            <a:ext cx="237744" cy="237744"/>
          </a:xfrm>
          <a:prstGeom prst="rect">
            <a:avLst/>
          </a:prstGeom>
          <a:solidFill>
            <a:srgbClr val="2878B3"/>
          </a:solidFill>
          <a:ln/>
        </p:spPr>
      </p:sp>
      <p:sp>
        <p:nvSpPr>
          <p:cNvPr id="124" name="Text 122"/>
          <p:cNvSpPr txBox="1"/>
          <p:nvPr/>
        </p:nvSpPr>
        <p:spPr>
          <a:xfrm>
            <a:off x="6720840" y="4562856"/>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12 to 16</a:t>
            </a:r>
            <a:endParaRPr lang="en-US" sz="1100" dirty="0"/>
          </a:p>
        </p:txBody>
      </p:sp>
      <p:sp>
        <p:nvSpPr>
          <p:cNvPr id="125" name="Shape 123"/>
          <p:cNvSpPr/>
          <p:nvPr/>
        </p:nvSpPr>
        <p:spPr>
          <a:xfrm>
            <a:off x="6400800" y="4919472"/>
            <a:ext cx="237744" cy="237744"/>
          </a:xfrm>
          <a:prstGeom prst="rect">
            <a:avLst/>
          </a:prstGeom>
          <a:solidFill>
            <a:srgbClr val="1C5F96"/>
          </a:solidFill>
          <a:ln/>
        </p:spPr>
      </p:sp>
      <p:sp>
        <p:nvSpPr>
          <p:cNvPr id="126" name="Text 124"/>
          <p:cNvSpPr txBox="1"/>
          <p:nvPr/>
        </p:nvSpPr>
        <p:spPr>
          <a:xfrm>
            <a:off x="6720840" y="4892040"/>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16 to 20</a:t>
            </a:r>
            <a:endParaRPr lang="en-US" sz="1100" dirty="0"/>
          </a:p>
        </p:txBody>
      </p:sp>
      <p:sp>
        <p:nvSpPr>
          <p:cNvPr id="127" name="Shape 125"/>
          <p:cNvSpPr/>
          <p:nvPr/>
        </p:nvSpPr>
        <p:spPr>
          <a:xfrm>
            <a:off x="6400800" y="5248656"/>
            <a:ext cx="237744" cy="237744"/>
          </a:xfrm>
          <a:prstGeom prst="rect">
            <a:avLst/>
          </a:prstGeom>
          <a:solidFill>
            <a:srgbClr val="08306B"/>
          </a:solidFill>
          <a:ln/>
        </p:spPr>
      </p:sp>
      <p:sp>
        <p:nvSpPr>
          <p:cNvPr id="128" name="Text 126"/>
          <p:cNvSpPr txBox="1"/>
          <p:nvPr/>
        </p:nvSpPr>
        <p:spPr>
          <a:xfrm>
            <a:off x="6720840" y="5221224"/>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20 or more</a:t>
            </a:r>
            <a:endParaRPr lang="en-US" sz="1100" dirty="0"/>
          </a:p>
        </p:txBody>
      </p:sp>
      <p:sp>
        <p:nvSpPr>
          <p:cNvPr id="129" name="Shape 127"/>
          <p:cNvSpPr/>
          <p:nvPr/>
        </p:nvSpPr>
        <p:spPr>
          <a:xfrm>
            <a:off x="6400800" y="5577840"/>
            <a:ext cx="237744" cy="237744"/>
          </a:xfrm>
          <a:prstGeom prst="rect">
            <a:avLst/>
          </a:prstGeom>
          <a:solidFill>
            <a:srgbClr val="F2F3F4"/>
          </a:solidFill>
          <a:ln w="9525">
            <a:solidFill>
              <a:srgbClr val="95A5A6"/>
            </a:solidFill>
            <a:prstDash val="dash"/>
          </a:ln>
        </p:spPr>
      </p:sp>
      <p:sp>
        <p:nvSpPr>
          <p:cNvPr id="130" name="Text 128"/>
          <p:cNvSpPr txBox="1"/>
          <p:nvPr/>
        </p:nvSpPr>
        <p:spPr>
          <a:xfrm>
            <a:off x="6720840" y="555040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no rate</a:t>
            </a:r>
            <a:endParaRPr lang="en-US" sz="1100" dirty="0"/>
          </a:p>
        </p:txBody>
      </p:sp>
      <p:sp>
        <p:nvSpPr>
          <p:cNvPr id="131" name="Text 129"/>
          <p:cNvSpPr txBox="1"/>
          <p:nvPr/>
        </p:nvSpPr>
        <p:spPr>
          <a:xfrm>
            <a:off x="8412480" y="1920240"/>
            <a:ext cx="3230575" cy="20116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Delhi 32.8, Dadra and Nagar Haveli and Daman and Diu 29.6, Telangana 21.7.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Fewest: Lakshadweep 2.5.</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Grey: not in the revision, no draft yet (Tripura), or no exact roll before it (Chandigarh).</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projected adults before the revision; the draft rolls hold 84.4%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Roll before the revision and draft roll as a share of the projected population aged 18 and over, 1 March 2026; 19 states with projections by age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Only 6 states had a roll larger than their adult population: Telangana, Karnataka, Tamil Nadu, Odisha, Andhra Pradesh and Kerala.</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How far a roll exceeded its adults has no relationship with how many names were removed (rank correlation 0.03).</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Projections count residents; states receiving migrants count adults who may be registered at home, which lowers their ratio.</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share entered as dead fell from 34% in Bihar to 18% in phase 3</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rolls in each phase, by reason,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1 (Bihar): 65.6 lakh removed, 8.3 per 100 electors; dead 34.0%, shifted, absent or other 55.3%.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2 (12): 657.0 lakh removed, 12.9 per 100 electors; dead 22.3%, shifted, absent or other 71.0%.</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3 (18): 616.6 lakh removed, 17.0 per 100 electors; dead 18.1%, shifted, absent or other 73.6%.</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removed 32.8 names per 100 electors, the most of any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Lakshadweep removed the fewest, 2.5 per 100.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in red, removed 8.3 per 100 at the draft stage.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Rates carry the rounding of states that published their rolls in lakh or crore. Chandigarh has no exact roll before the revision.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Among states that removed ten lakh names or more, the shifted, absent or other share ran from 50% to 91%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state's removals split by the reason entered; states that published a split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Lowest: Andhra Pradesh, 49.7%. Highest: Delhi, 91.1%.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Of these, dead is highest in Odisha (41.7%), enrolled more than once in Andhra Pradesh (16.4%).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One revision under one set of instructions produced very different mixes of reasons, and the Commission has not explained why.</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sixteen largest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and the share of those split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2,89,00,000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Maharashtra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2,06,88,487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Karnataka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1,07,96,339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Tamil Nadu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97,37,831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Gujarat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73,73,327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Telangana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73,39,235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Bihar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65,59,626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34.0%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West Bengal</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58,20,899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Delhi</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47,56,000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Andhra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44,89,512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Jharkhand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43,61,987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Madhya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42,74,160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Rajasthan</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41,79,000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Haryana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33,83,302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Chhattisgarh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27,34,817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Kerala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24,08,503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remaining sixteen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Rounded: published in lakh or crore. Short: the reasons leave some names unexplained. No split: none found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Punjab</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20,66,635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Odisha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20,12,557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Uttarakhand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8,26,977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Meghalaya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1,80,402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Arunachal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1,69,459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Manipur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1,58,677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Nagaland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1,57,752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Dadra and Nagar Haveli and Daman and Diu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1,26,894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Puducherry</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1,03,467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Goa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1,00,042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Chandigarh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Andaman and Nicobar Islands</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64,014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Mizoram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46,162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Sikkim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Lakshadweep</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Tripura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draft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7 of the 10 states with a split by sex, women are a larger share of the removed than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names removed and of the roll; most phase 3 states published no split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Largest gap: Bihar, 7.6 points; then Odisha and Uttar Pradesh.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Delhi runs the other way, by 4.1 points.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Figures are exact for 6 states; rounded, from an earlier roll or unverified for the rest. Bihar is compared with the 2011 population.</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removal rate goes with in-migration across all states (0.53), but only because of phase 3; in phase 2 it is 0.04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correlations across states with each state's removals per 100 electors; under 0.2 either way is read as none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223760" cy="914400"/>
        </p:xfrm>
        <a:graphic>
          <a:graphicData uri="http://schemas.openxmlformats.org/drawingml/2006/table">
            <a:tbl>
              <a:tblPr/>
              <a:tblGrid>
                <a:gridCol w="2651760"/>
                <a:gridCol w="1005840"/>
                <a:gridCol w="1005840"/>
                <a:gridCol w="1005840"/>
                <a:gridCol w="155448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Characteristic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All states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Phase 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Phase 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Share enrolled twice, larger states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Living here, born elsewhere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Income per head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Urban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-0.58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Muslim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SC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Born here, living elsewhere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Literacy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Women's literacy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Sex ratio</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ST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In phase 3 income, urban share, migration and the Muslim share rise together, because the large destination states are revised alongside the North-East. 15 states cannot separate them.</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 share: 0.12 across all states, -0.34 in phase 2. No consistent relationship.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Border states removed fewer: a median of 8.3 per 100 against 15.2 in the interior.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 state-level relationship says nothing about who was removed within a state.</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final rolls made up 14.2% of the names left off the drafts in 20 states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at the draft, and the fall that remains at the final roll, per 100 electors on the roll before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rolls came out 1.06 crore larger than the drafts, against 7.49 crore left off them.</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West Bengal kept 60.1 lakh names off its final roll while they are decided; without them the rise is 22.2% of the fall.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 is smaller than the draft in 5 states. The fall is 10.2 per 100 electors at the final roll, from 11.9 at the draft.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rise counts new electors as well as names put back, so it is the most that can have been put back.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What the state figures show, and what they cannot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limits of totals published state by state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554480"/>
            <a:ext cx="5440680" cy="1920240"/>
          </a:xfrm>
          <a:prstGeom prst="roundRect">
            <a:avLst>
              <a:gd name="adj" fmla="val 4762"/>
            </a:avLst>
          </a:prstGeom>
          <a:solidFill>
            <a:srgbClr val="EAF1F8"/>
          </a:solidFill>
          <a:ln/>
        </p:spPr>
      </p:sp>
      <p:sp>
        <p:nvSpPr>
          <p:cNvPr id="48" name="Text 46"/>
          <p:cNvSpPr txBox="1"/>
          <p:nvPr/>
        </p:nvSpPr>
        <p:spPr>
          <a:xfrm>
            <a:off x="777240"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show how many names each state left off its draft roll and the reason its officers entered: dead, shifted or absent (with "others" where reported), or enrolled more than once, and for 20 states the final roll.</a:t>
            </a:r>
            <a:endParaRPr lang="en-US" sz="1500" dirty="0"/>
          </a:p>
        </p:txBody>
      </p:sp>
      <p:sp>
        <p:nvSpPr>
          <p:cNvPr id="49" name="Shape 47"/>
          <p:cNvSpPr/>
          <p:nvPr/>
        </p:nvSpPr>
        <p:spPr>
          <a:xfrm>
            <a:off x="6199632" y="1554480"/>
            <a:ext cx="5440680" cy="1920240"/>
          </a:xfrm>
          <a:prstGeom prst="roundRect">
            <a:avLst>
              <a:gd name="adj" fmla="val 4762"/>
            </a:avLst>
          </a:prstGeom>
          <a:solidFill>
            <a:srgbClr val="EAF1F8"/>
          </a:solidFill>
          <a:ln/>
        </p:spPr>
      </p:sp>
      <p:sp>
        <p:nvSpPr>
          <p:cNvPr id="50" name="Text 48"/>
          <p:cNvSpPr txBox="1"/>
          <p:nvPr/>
        </p:nvSpPr>
        <p:spPr>
          <a:xfrm>
            <a:off x="6428232"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cannot show whether an entry was right, or break removals down by sex, age or booth. Outside Bihar they are the states' published totals, some rounded, gathered from press notes and reports.</a:t>
            </a:r>
            <a:endParaRPr lang="en-US" sz="1500" dirty="0"/>
          </a:p>
        </p:txBody>
      </p:sp>
      <p:sp>
        <p:nvSpPr>
          <p:cNvPr id="51" name="Text 49"/>
          <p:cNvSpPr txBox="1"/>
          <p:nvPr/>
        </p:nvSpPr>
        <p:spPr>
          <a:xfrm>
            <a:off x="548640" y="374904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Removals after the draft, at hearings and on objections, carry no reason outside Bihar, and no state has said how many of those added at the final roll had been removed at the draft. The Election Commission has published no state table of its own.</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its own table, and the lists behind it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a state-by-state table of its own, with the reason for every removal at the draft and after it, exact rather than rounded.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deletion lists with the reason against each name for every state, as it did for Bihar.</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entries marked absent and enrolled more than once.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every claim and objection, and say how many of those added at the final roll had been removed at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the mix of reasons differs so widely between states under one set of instructions.</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All India: each state's Chief Electoral Officer's figures at the draft roll. Press notes read directly for Lakshadweep, Meghalaya, Arunachal Pradesh, Manipur and Nagaland; the rest as reported in the press, each linked on the method page and in the downloadable table.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Bihar: counted from the phase 1 deletion lists, with shifted and absent combined to match the other states.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Reasons grouped into the three every state reported: dead; shifted, absent or other; enrolled more than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 rows add to 13.39 crore, against about 13.3 crore reported nationally on 30 September 2026; the difference is rounding.</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No name, EPIC number or address is published.</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All India table with a source for every row,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SIR 2025-26: All India</dc:title>
  <dc:subject>PptxGenJS Presentation</dc:subject>
  <dc:creator>Varna Sri Raman</dc:creator>
  <cp:lastModifiedBy>Varna Sri Raman</cp:lastModifiedBy>
  <cp:revision>1</cp:revision>
  <dcterms:created xsi:type="dcterms:W3CDTF">2026-09-30T11:20:46Z</dcterms:created>
  <dcterms:modified xsi:type="dcterms:W3CDTF">2026-09-30T11:20:46Z</dcterms:modified>
</cp:coreProperties>
</file>