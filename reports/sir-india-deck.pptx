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85.6</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77.7</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0.1</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7.66</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c:v>
                </c:pt>
                <c:pt idx="23">
                  <c:v>19.09</c:v>
                </c:pt>
                <c:pt idx="24">
                  <c:v>19.48</c:v>
                </c:pt>
                <c:pt idx="25">
                  <c:v>20.62</c:v>
                </c:pt>
                <c:pt idx="26">
                  <c:v>21.15</c:v>
                </c:pt>
                <c:pt idx="27">
                  <c:v>21.71</c:v>
                </c:pt>
                <c:pt idx="28">
                  <c:v>29.65</c:v>
                </c:pt>
                <c:pt idx="29">
                  <c:v>32.78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5.94</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91.09</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2.38</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2.98</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49.23</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53.53</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Uttarakhand</c:v>
                  </c:pt>
                  <c:pt idx="11">
                    <c:v>Puducherry</c:v>
                  </c:pt>
                  <c:pt idx="12">
                    <c:v>Manipur</c:v>
                  </c:pt>
                  <c:pt idx="13">
                    <c:v>Bihar</c:v>
                  </c:pt>
                  <c:pt idx="14">
                    <c:v>Madhya Pradesh</c:v>
                  </c:pt>
                  <c:pt idx="15">
                    <c:v>Rajasthan</c:v>
                  </c:pt>
                  <c:pt idx="16">
                    <c:v>Odisha</c:v>
                  </c:pt>
                  <c:pt idx="17">
                    <c:v>Mizoram</c:v>
                  </c:pt>
                  <c:pt idx="18">
                    <c:v>Kerala</c:v>
                  </c:pt>
                  <c:pt idx="19">
                    <c:v>Lakshadweep</c:v>
                  </c:pt>
                </c:lvl>
              </c:multiLvlStrCache>
            </c:multiLvlStrRef>
          </c:cat>
          <c:val>
            <c:numRef>
              <c:f>Sheet1!$B$2:$B$21</c:f>
              <c:numCache>
                <c:formatCode>General</c:formatCode>
                <c:ptCount val="20"/>
                <c:pt idx="0">
                  <c:v>29.65</c:v>
                </c:pt>
                <c:pt idx="1">
                  <c:v>19.09</c:v>
                </c:pt>
                <c:pt idx="2">
                  <c:v>20.62</c:v>
                </c:pt>
                <c:pt idx="3">
                  <c:v>7.6</c:v>
                </c:pt>
                <c:pt idx="4">
                  <c:v>14.51</c:v>
                </c:pt>
                <c:pt idx="5">
                  <c:v>18.7</c:v>
                </c:pt>
                <c:pt idx="6">
                  <c:v>12.88</c:v>
                </c:pt>
                <c:pt idx="7">
                  <c:v>15.19</c:v>
                </c:pt>
                <c:pt idx="8">
                  <c:v>8.01</c:v>
                </c:pt>
                <c:pt idx="9">
                  <c:v>8.44</c:v>
                </c:pt>
                <c:pt idx="10">
                  <c:v>10.39</c:v>
                </c:pt>
                <c:pt idx="11">
                  <c:v>10.13</c:v>
                </c:pt>
                <c:pt idx="12">
                  <c:v>7.58</c:v>
                </c:pt>
                <c:pt idx="13">
                  <c:v>8.31</c:v>
                </c:pt>
                <c:pt idx="14">
                  <c:v>7.45</c:v>
                </c:pt>
                <c:pt idx="15">
                  <c:v>7.66</c:v>
                </c:pt>
                <c:pt idx="16">
                  <c:v>6.03</c:v>
                </c:pt>
                <c:pt idx="17">
                  <c:v>5.28</c:v>
                </c:pt>
                <c:pt idx="18">
                  <c:v>8.65</c:v>
                </c:pt>
                <c:pt idx="19">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Uttarakhand</c:v>
                  </c:pt>
                  <c:pt idx="11">
                    <c:v>Puducherry</c:v>
                  </c:pt>
                  <c:pt idx="12">
                    <c:v>Manipur</c:v>
                  </c:pt>
                  <c:pt idx="13">
                    <c:v>Bihar</c:v>
                  </c:pt>
                  <c:pt idx="14">
                    <c:v>Madhya Pradesh</c:v>
                  </c:pt>
                  <c:pt idx="15">
                    <c:v>Rajasthan</c:v>
                  </c:pt>
                  <c:pt idx="16">
                    <c:v>Odisha</c:v>
                  </c:pt>
                  <c:pt idx="17">
                    <c:v>Mizoram</c:v>
                  </c:pt>
                  <c:pt idx="18">
                    <c:v>Kerala</c:v>
                  </c:pt>
                  <c:pt idx="19">
                    <c:v>Lakshadweep</c:v>
                  </c:pt>
                </c:lvl>
              </c:multiLvlStrCache>
            </c:multiLvlStrRef>
          </c:cat>
          <c:val>
            <c:numRef>
              <c:f>Sheet1!$C$2:$C$21</c:f>
              <c:numCache>
                <c:formatCode>General</c:formatCode>
                <c:ptCount val="20"/>
                <c:pt idx="0">
                  <c:v>30.89</c:v>
                </c:pt>
                <c:pt idx="1">
                  <c:v>21.57</c:v>
                </c:pt>
                <c:pt idx="2">
                  <c:v>16.87</c:v>
                </c:pt>
                <c:pt idx="3">
                  <c:v>15.9</c:v>
                </c:pt>
                <c:pt idx="4">
                  <c:v>13.41</c:v>
                </c:pt>
                <c:pt idx="5">
                  <c:v>13.24</c:v>
                </c:pt>
                <c:pt idx="6">
                  <c:v>11.77</c:v>
                </c:pt>
                <c:pt idx="7">
                  <c:v>11.55</c:v>
                </c:pt>
                <c:pt idx="8">
                  <c:v>11.16</c:v>
                </c:pt>
                <c:pt idx="9">
                  <c:v>10.76</c:v>
                </c:pt>
                <c:pt idx="10">
                  <c:v>10.07</c:v>
                </c:pt>
                <c:pt idx="11">
                  <c:v>7.57</c:v>
                </c:pt>
                <c:pt idx="12">
                  <c:v>6.33</c:v>
                </c:pt>
                <c:pt idx="13">
                  <c:v>6.05</c:v>
                </c:pt>
                <c:pt idx="14">
                  <c:v>5.97</c:v>
                </c:pt>
                <c:pt idx="15">
                  <c:v>5.74</c:v>
                </c:pt>
                <c:pt idx="16">
                  <c:v>5.29</c:v>
                </c:pt>
                <c:pt idx="17">
                  <c:v>4.48</c:v>
                </c:pt>
                <c:pt idx="18">
                  <c:v>3.22</c:v>
                </c:pt>
                <c:pt idx="19">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Seats where the count is larger than the margin</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95A5A6"/>
              </a:solidFill>
              <a:effectLst/>
            </c:spPr>
          </c:dPt>
          <c:dPt>
            <c:idx val="3"/>
            <c:invertIfNegative val="0"/>
            <c:bubble3D val="0"/>
            <c:spPr>
              <a:solidFill>
                <a:srgbClr val="95A5A6"/>
              </a:solidFill>
              <a:effectLst/>
            </c:spPr>
          </c:dPt>
          <c:cat>
            <c:multiLvlStrRef>
              <c:f>Sheet1!$A$2:$A$5</c:f>
              <c:multiLvlStrCache>
                <c:ptCount val="4"/>
                <c:lvl>
                  <c:pt idx="0">
                    <c:v>Bihar</c:v>
                  </c:pt>
                  <c:pt idx="1">
                    <c:v>Tamil Nadu</c:v>
                  </c:pt>
                  <c:pt idx="2">
                    <c:v>West Bengal (roll fall)</c:v>
                  </c:pt>
                  <c:pt idx="3">
                    <c:v>Kerala (roll fall)</c:v>
                  </c:pt>
                </c:lvl>
              </c:multiLvlStrCache>
            </c:multiLvlStrRef>
          </c:cat>
          <c:val>
            <c:numRef>
              <c:f>Sheet1!$B$2:$B$5</c:f>
              <c:numCache>
                <c:formatCode>General</c:formatCode>
                <c:ptCount val="4"/>
                <c:pt idx="0">
                  <c:v>71.6</c:v>
                </c:pt>
                <c:pt idx="1">
                  <c:v>90.2</c:v>
                </c:pt>
                <c:pt idx="2">
                  <c:v>47.3</c:v>
                </c:pt>
                <c:pt idx="3">
                  <c:v>27.1</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Electors on the roll</c:v>
                </c:pt>
              </c:strCache>
            </c:strRef>
          </c:tx>
          <c:spPr>
            <a:solidFill>
              <a:srgbClr val="1F4E79"/>
            </a:solidFill>
            <a:ln w="25400" cap="flat">
              <a:solidFill>
                <a:srgbClr val="1F4E7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F4E79"/>
              </a:solidFill>
              <a:ln w="9525" cap="flat">
                <a:solidFill>
                  <a:srgbClr val="1F4E7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Sheet1!$B$2:$B$12</c:f>
              <c:numCache>
                <c:formatCode>General</c:formatCode>
                <c:ptCount val="11"/>
                <c:pt idx="0">
                  <c:v>40.04</c:v>
                </c:pt>
                <c:pt idx="1">
                  <c:v>49.89</c:v>
                </c:pt>
                <c:pt idx="2">
                  <c:v>51.15</c:v>
                </c:pt>
                <c:pt idx="3">
                  <c:v>59.26</c:v>
                </c:pt>
                <c:pt idx="4">
                  <c:v>60.59</c:v>
                </c:pt>
                <c:pt idx="5">
                  <c:v>61.95</c:v>
                </c:pt>
                <c:pt idx="6">
                  <c:v>67.15</c:v>
                </c:pt>
                <c:pt idx="7">
                  <c:v>71.7</c:v>
                </c:pt>
                <c:pt idx="8">
                  <c:v>83.41</c:v>
                </c:pt>
                <c:pt idx="9">
                  <c:v>91.2</c:v>
                </c:pt>
                <c:pt idx="10">
                  <c:v>97.98</c:v>
                </c:pt>
              </c:numCache>
            </c:numRef>
          </c:val>
          <c:smooth val="0"/>
        </c:ser>
        <c:ser>
          <c:idx val="1"/>
          <c:order val="1"/>
          <c:tx>
            <c:strRef>
              <c:f>Sheet1!$C$1</c:f>
              <c:strCache>
                <c:ptCount val="1"/>
                <c:pt idx="0">
                  <c:v>Population of voting age</c:v>
                </c:pt>
              </c:strCache>
            </c:strRef>
          </c:tx>
          <c:spPr>
            <a:solidFill>
              <a:srgbClr val="17A589"/>
            </a:solidFill>
            <a:ln w="25400" cap="flat">
              <a:solidFill>
                <a:srgbClr val="17A58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7A589"/>
              </a:solidFill>
              <a:ln w="9525" cap="flat">
                <a:solidFill>
                  <a:srgbClr val="17A58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Sheet1!$C$2:$C$12</c:f>
              <c:numCache>
                <c:formatCode>General</c:formatCode>
                <c:ptCount val="11"/>
                <c:pt idx="0">
                  <c:v>36.58</c:v>
                </c:pt>
                <c:pt idx="1">
                  <c:v>46.54</c:v>
                </c:pt>
                <c:pt idx="2">
                  <c:v>48.98</c:v>
                </c:pt>
                <c:pt idx="3">
                  <c:v>55.57</c:v>
                </c:pt>
                <c:pt idx="4">
                  <c:v>58.44</c:v>
                </c:pt>
                <c:pt idx="5">
                  <c:v>59.94</c:v>
                </c:pt>
                <c:pt idx="6">
                  <c:v>67.87</c:v>
                </c:pt>
                <c:pt idx="7">
                  <c:v>76.18</c:v>
                </c:pt>
                <c:pt idx="8">
                  <c:v>84.93</c:v>
                </c:pt>
                <c:pt idx="9">
                  <c:v>93.73</c:v>
                </c:pt>
                <c:pt idx="10">
                  <c:v>101.77</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and the final roll the one published after claims and objections are decided. Per 100 electors is the number removed for every 100 people on the roll before the revision. 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Meghalaya, Nagaland. Removals after the draft carry no reason in any state except Bihar. Rank correlation between the removal rate at the draft and the share made up: -0.14,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count are never added together. Assembly margins come from each state's election pages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margins are the winner's votes less the runner-up candidate's, from the ECI results and statistical report 34, through a published compilation, checked against the published margin in every seat. NOTA is never a runner-up. Surat was unopposed.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Electors from the ECI Atlas 2024, Graph 6.1 (the Atlas misprints 1991-92). Population from the UN World Population Prospects 2024, 21 and over in 1984-85 and 18 and over from 1989.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of the 33 entries are Supreme Court orders or its judgment. The site also lists 33 press reports of problems, each attributed and kept apart because no document confirms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Against the margins   16–18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it was run   19</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21–22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21.0% were entered as dead. The rest were marked as moved, absent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10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21 states with a final roll, the rolls grew back by at most 14.1%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They cannot show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12.1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fewest were in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and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in the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that receive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removed 65.6 lakh,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removed 656.8 lakh,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removed 616.6 lakh, 17.0 per 100 electors. Dead 18.1%, shifted, absent or other 73.6%.</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for the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2,88,74,067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47,56,722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largest gap is in Bihar, 7.6 points, followed by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and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(0.53),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15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-0.28) and sex ratio (-0.36, -0.47).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0.08 across all states, -0.27 in phase 2, 0.45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14.1% of the names left off the drafts in 21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1.07 crore larger than the drafts, against 7.57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22.0%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21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and Tamil Nadu, more names were removed than the winning margin in 385 of 477 assembly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Assembly seats where the count is larger than the winning margin, %. West Bengal and Kerala count the fall in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174 of 243 and Tamil Nadu 211 of 234, on the names removed.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West Bengal 139 of 294 and Kerala 38 of 140, on the fall in the roll, which also takes in ordinary deaths and moves.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Larger than the margin means the removals were enough to decide a seat. In Bihar, the one state whose lists show who was removed, 4 to 6 seats change hands on the estimates, in both directions, and the NDA keeps 200 to 204 of 243.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the 2024 Lok Sabha seats of the four states, the count was larger than the margin in 85 of 141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seat's count added up from its assembly segments and set against its 2024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4206240"/>
                <a:gridCol w="1097280"/>
                <a:gridCol w="16459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Count larger than the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Bihar and Tamil Nadu, names removed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West Bengal and Kerala, fall in the roll</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Every state, removals spread evenly (an assumption)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373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revision came after the 2024 election, so this measures how large the removals are against the votes that decide a seat. It does not say what happened in 2024.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state has published removals by Lok Sabha seat. The even spread is tested where seats can be counted: Bihar 32 against 32, Tamil Nadu 27 against 19. It can run high.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2024, 115 of 542 contested seats were won by fewer than 50,000 votes.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13.39 crore left off are 92 in every 100 of what the whole roll gained from 2014 to 2024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in every Lok Sabha election, and the population of voting age, in crore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roll grew from 40.04 crore in 1984-85 to 97.98 crore in 2024.</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To 1999 it held more names than people of voting age. If the estimate is right, it carried the names of people who had died or moved.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Since then it has held fewer, 96 for every 100 in 2024. The population counts people who are not citizens.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revision covered 31 states and the Lok Sabha figure is all India, so the two counts are not strictly alike.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HOW IT WAS RUN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rules changed 33 times while the revision was under way, and dates moved 27 times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made it harder to stay on the roll, each point resting on an order or a judgment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4343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fresh form from every elector. Only electors whose enumeration forms came back were put on the draft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Parents' documents, by year of birth. In Bihar the younger the elector, the more documents were needed.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Aadhaar only on the Court's order. Aadhaar was not on the first list of eleven documents.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declaration changed twice. Form 6, the application to be added to the roll, carried a new declaration from June 2025, a different one from October 2025, and a shorter list of documents from May 2026.</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Dates moved after they were set. All twelve Phase II states and union territories had their dates moved by a week, and seven were moved again.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Anyone could object to anyone. Form 7 is the form for objecting to a name on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Notices for logical discrepancies. People flagged for logical discrepancies, where something in their link to the old roll did not match, were called to hearings.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Sixty lakh held back in West Bengal. West Bengal's final roll left out 60,06,675 names marked under adjudication.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Few came back after the draft. In the states that published both counts, the names added after the draft, new electors included, fell well short of the names removed at it.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Uttar Pradesh, Tamil Nadu, West Bengal, Rajasthan, Lakshadweep, Karnataka, Uttarakhand,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PinPoint Ventures</dc:creator>
  <cp:lastModifiedBy>PinPoint Ventures</cp:lastModifiedBy>
  <cp:revision>1</cp:revision>
  <dcterms:created xsi:type="dcterms:W3CDTF">2026-10-05T14:12:10Z</dcterms:created>
  <dcterms:modified xsi:type="dcterms:W3CDTF">2026-10-05T14:12:10Z</dcterms:modified>
</cp:coreProperties>
</file>