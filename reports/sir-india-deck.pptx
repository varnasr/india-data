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Sheet1!$B$2:$B$20</c:f>
              <c:numCache>
                <c:formatCode>General</c:formatCode>
                <c:ptCount val="19"/>
                <c:pt idx="0">
                  <c:v>115.2</c:v>
                </c:pt>
                <c:pt idx="1">
                  <c:v>106.8</c:v>
                </c:pt>
                <c:pt idx="2">
                  <c:v>106.5</c:v>
                </c:pt>
                <c:pt idx="3">
                  <c:v>101.7</c:v>
                </c:pt>
                <c:pt idx="4">
                  <c:v>100.6</c:v>
                </c:pt>
                <c:pt idx="5">
                  <c:v>100.4</c:v>
                </c:pt>
                <c:pt idx="6">
                  <c:v>99.7</c:v>
                </c:pt>
                <c:pt idx="7">
                  <c:v>99.5</c:v>
                </c:pt>
                <c:pt idx="8">
                  <c:v>98.9</c:v>
                </c:pt>
                <c:pt idx="9">
                  <c:v>96.5</c:v>
                </c:pt>
                <c:pt idx="10">
                  <c:v>95.5</c:v>
                </c:pt>
                <c:pt idx="11">
                  <c:v>95.4</c:v>
                </c:pt>
                <c:pt idx="12">
                  <c:v>95.3</c:v>
                </c:pt>
                <c:pt idx="13">
                  <c:v>95</c:v>
                </c:pt>
                <c:pt idx="14">
                  <c:v>95</c:v>
                </c:pt>
                <c:pt idx="15">
                  <c:v>91.3</c:v>
                </c:pt>
                <c:pt idx="16">
                  <c:v>90.2</c:v>
                </c:pt>
                <c:pt idx="17">
                  <c:v>88.9</c:v>
                </c:pt>
                <c:pt idx="18">
                  <c:v>85.5</c:v>
                </c:pt>
              </c:numCache>
            </c:numRef>
          </c:val>
        </c:ser>
        <c:ser>
          <c:idx val="1"/>
          <c:order val="1"/>
          <c:tx>
            <c:strRef>
              <c:f>Sheet1!$C$1</c:f>
              <c:strCache>
                <c:ptCount val="1"/>
                <c:pt idx="0">
                  <c:v>Draft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Sheet1!$C$2:$C$20</c:f>
              <c:numCache>
                <c:formatCode>General</c:formatCode>
                <c:ptCount val="19"/>
                <c:pt idx="0">
                  <c:v>90.2</c:v>
                </c:pt>
                <c:pt idx="1">
                  <c:v>86</c:v>
                </c:pt>
                <c:pt idx="2">
                  <c:v>90.3</c:v>
                </c:pt>
                <c:pt idx="3">
                  <c:v>95.6</c:v>
                </c:pt>
                <c:pt idx="4">
                  <c:v>89.8</c:v>
                </c:pt>
                <c:pt idx="5">
                  <c:v>91.7</c:v>
                </c:pt>
                <c:pt idx="6">
                  <c:v>78.6</c:v>
                </c:pt>
                <c:pt idx="7">
                  <c:v>91.9</c:v>
                </c:pt>
                <c:pt idx="8">
                  <c:v>86.1</c:v>
                </c:pt>
                <c:pt idx="9">
                  <c:v>89.2</c:v>
                </c:pt>
                <c:pt idx="10">
                  <c:v>77.6</c:v>
                </c:pt>
                <c:pt idx="11">
                  <c:v>88.3</c:v>
                </c:pt>
                <c:pt idx="12">
                  <c:v>81.5</c:v>
                </c:pt>
                <c:pt idx="13">
                  <c:v>87.1</c:v>
                </c:pt>
                <c:pt idx="14">
                  <c:v>79.3</c:v>
                </c:pt>
                <c:pt idx="15">
                  <c:v>76.3</c:v>
                </c:pt>
                <c:pt idx="16">
                  <c:v>80.9</c:v>
                </c:pt>
                <c:pt idx="17">
                  <c:v>80.3</c:v>
                </c:pt>
                <c:pt idx="18">
                  <c:v>57.5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000000"/>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20"/>
          <c:min val="5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109.7</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445.2</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49.7</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0.3</c:v>
                </c:pt>
                <c:pt idx="2">
                  <c:v>12.1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cat>
            <c:multiLvlStrRef>
              <c:f>Sheet1!$A$2:$A$31</c:f>
              <c:multiLvlStrCache>
                <c:ptCount val="30"/>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Chhattisgarh</c:v>
                  </c:pt>
                  <c:pt idx="18">
                    <c:v>Gujarat</c:v>
                  </c:pt>
                  <c:pt idx="19">
                    <c:v>Tamil Nadu</c:v>
                  </c:pt>
                  <c:pt idx="20">
                    <c:v>Haryana</c:v>
                  </c:pt>
                  <c:pt idx="21">
                    <c:v>Jharkhand</c:v>
                  </c:pt>
                  <c:pt idx="22">
                    <c:v>Uttar Pradesh</c:v>
                  </c:pt>
                  <c:pt idx="23">
                    <c:v>Arunachal Pradesh</c:v>
                  </c:pt>
                  <c:pt idx="24">
                    <c:v>Karnataka</c:v>
                  </c:pt>
                  <c:pt idx="25">
                    <c:v>Andaman and Nicobar Islands</c:v>
                  </c:pt>
                  <c:pt idx="26">
                    <c:v>Maharashtra</c:v>
                  </c:pt>
                  <c:pt idx="27">
                    <c:v>Telangana</c:v>
                  </c:pt>
                  <c:pt idx="28">
                    <c:v>Dadra and Nagar Haveli and Daman and Diu</c:v>
                  </c:pt>
                  <c:pt idx="29">
                    <c:v>Delhi</c:v>
                  </c:pt>
                </c:lvl>
              </c:multiLvlStrCache>
            </c:multiLvlStrRef>
          </c:cat>
          <c:val>
            <c:numRef>
              <c:f>Sheet1!$B$2:$B$31</c:f>
              <c:numCache>
                <c:formatCode>General</c:formatCode>
                <c:ptCount val="30"/>
                <c:pt idx="0">
                  <c:v>2.47</c:v>
                </c:pt>
                <c:pt idx="1">
                  <c:v>5.28</c:v>
                </c:pt>
                <c:pt idx="2">
                  <c:v>6.03</c:v>
                </c:pt>
                <c:pt idx="3">
                  <c:v>7.45</c:v>
                </c:pt>
                <c:pt idx="4">
                  <c:v>7.58</c:v>
                </c:pt>
                <c:pt idx="5">
                  <c:v>7.6</c:v>
                </c:pt>
                <c:pt idx="6">
                  <c:v>7.65</c:v>
                </c:pt>
                <c:pt idx="7">
                  <c:v>7.68</c:v>
                </c:pt>
                <c:pt idx="8">
                  <c:v>8.01</c:v>
                </c:pt>
                <c:pt idx="9">
                  <c:v>8.31</c:v>
                </c:pt>
                <c:pt idx="10">
                  <c:v>8.44</c:v>
                </c:pt>
                <c:pt idx="11">
                  <c:v>8.65</c:v>
                </c:pt>
                <c:pt idx="12">
                  <c:v>9.63</c:v>
                </c:pt>
                <c:pt idx="13">
                  <c:v>10.13</c:v>
                </c:pt>
                <c:pt idx="14">
                  <c:v>10.39</c:v>
                </c:pt>
                <c:pt idx="15">
                  <c:v>10.79</c:v>
                </c:pt>
                <c:pt idx="16">
                  <c:v>11.62</c:v>
                </c:pt>
                <c:pt idx="17">
                  <c:v>12.88</c:v>
                </c:pt>
                <c:pt idx="18">
                  <c:v>14.51</c:v>
                </c:pt>
                <c:pt idx="19">
                  <c:v>15.19</c:v>
                </c:pt>
                <c:pt idx="20">
                  <c:v>16.42</c:v>
                </c:pt>
                <c:pt idx="21">
                  <c:v>16.52</c:v>
                </c:pt>
                <c:pt idx="22">
                  <c:v>18.72</c:v>
                </c:pt>
                <c:pt idx="23">
                  <c:v>19.09</c:v>
                </c:pt>
                <c:pt idx="24">
                  <c:v>19.48</c:v>
                </c:pt>
                <c:pt idx="25">
                  <c:v>20.62</c:v>
                </c:pt>
                <c:pt idx="26">
                  <c:v>21.15</c:v>
                </c:pt>
                <c:pt idx="27">
                  <c:v>21.71</c:v>
                </c:pt>
                <c:pt idx="28">
                  <c:v>29.65</c:v>
                </c:pt>
                <c:pt idx="29">
                  <c:v>32.8</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Sheet1!$B$2:$B$28</c:f>
              <c:numCache>
                <c:formatCode>General</c:formatCode>
                <c:ptCount val="27"/>
                <c:pt idx="0">
                  <c:v>49.34</c:v>
                </c:pt>
                <c:pt idx="1">
                  <c:v>33.91</c:v>
                </c:pt>
                <c:pt idx="2">
                  <c:v>41.67</c:v>
                </c:pt>
                <c:pt idx="3">
                  <c:v>45.17</c:v>
                </c:pt>
                <c:pt idx="4">
                  <c:v>34.04</c:v>
                </c:pt>
                <c:pt idx="5">
                  <c:v>41.52</c:v>
                </c:pt>
                <c:pt idx="6">
                  <c:v>28.72</c:v>
                </c:pt>
                <c:pt idx="7">
                  <c:v>28.02</c:v>
                </c:pt>
                <c:pt idx="8">
                  <c:v>26.98</c:v>
                </c:pt>
                <c:pt idx="9">
                  <c:v>27.67</c:v>
                </c:pt>
                <c:pt idx="10">
                  <c:v>27.1</c:v>
                </c:pt>
                <c:pt idx="11">
                  <c:v>23.48</c:v>
                </c:pt>
                <c:pt idx="12">
                  <c:v>24.51</c:v>
                </c:pt>
                <c:pt idx="13">
                  <c:v>20.94</c:v>
                </c:pt>
                <c:pt idx="14">
                  <c:v>22.64</c:v>
                </c:pt>
                <c:pt idx="15">
                  <c:v>17.98</c:v>
                </c:pt>
                <c:pt idx="16">
                  <c:v>25.56</c:v>
                </c:pt>
                <c:pt idx="17">
                  <c:v>19.79</c:v>
                </c:pt>
                <c:pt idx="18">
                  <c:v>16.82</c:v>
                </c:pt>
                <c:pt idx="19">
                  <c:v>16.01</c:v>
                </c:pt>
                <c:pt idx="20">
                  <c:v>20.1</c:v>
                </c:pt>
                <c:pt idx="21">
                  <c:v>15.19</c:v>
                </c:pt>
                <c:pt idx="22">
                  <c:v>12.57</c:v>
                </c:pt>
                <c:pt idx="23">
                  <c:v>18.35</c:v>
                </c:pt>
                <c:pt idx="24">
                  <c:v>14.36</c:v>
                </c:pt>
                <c:pt idx="25">
                  <c:v>15.09</c:v>
                </c:pt>
                <c:pt idx="26">
                  <c:v>5.93</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Sheet1!$C$2:$C$28</c:f>
              <c:numCache>
                <c:formatCode>General</c:formatCode>
                <c:ptCount val="27"/>
                <c:pt idx="0">
                  <c:v>17.63</c:v>
                </c:pt>
                <c:pt idx="1">
                  <c:v>49.68</c:v>
                </c:pt>
                <c:pt idx="2">
                  <c:v>50.42</c:v>
                </c:pt>
                <c:pt idx="3">
                  <c:v>51.11</c:v>
                </c:pt>
                <c:pt idx="4">
                  <c:v>55.28</c:v>
                </c:pt>
                <c:pt idx="5">
                  <c:v>56.11</c:v>
                </c:pt>
                <c:pt idx="6">
                  <c:v>64.93</c:v>
                </c:pt>
                <c:pt idx="7">
                  <c:v>66.17</c:v>
                </c:pt>
                <c:pt idx="8">
                  <c:v>67.37</c:v>
                </c:pt>
                <c:pt idx="9">
                  <c:v>68.24</c:v>
                </c:pt>
                <c:pt idx="10">
                  <c:v>68.24</c:v>
                </c:pt>
                <c:pt idx="11">
                  <c:v>69.97</c:v>
                </c:pt>
                <c:pt idx="12">
                  <c:v>70.32</c:v>
                </c:pt>
                <c:pt idx="13">
                  <c:v>70.83</c:v>
                </c:pt>
                <c:pt idx="14">
                  <c:v>71.33</c:v>
                </c:pt>
                <c:pt idx="15">
                  <c:v>71.69</c:v>
                </c:pt>
                <c:pt idx="16">
                  <c:v>72.44</c:v>
                </c:pt>
                <c:pt idx="17">
                  <c:v>73.72</c:v>
                </c:pt>
                <c:pt idx="18">
                  <c:v>74.67</c:v>
                </c:pt>
                <c:pt idx="19">
                  <c:v>75.16</c:v>
                </c:pt>
                <c:pt idx="20">
                  <c:v>77.94</c:v>
                </c:pt>
                <c:pt idx="21">
                  <c:v>78.24</c:v>
                </c:pt>
                <c:pt idx="22">
                  <c:v>78.3</c:v>
                </c:pt>
                <c:pt idx="23">
                  <c:v>78.45</c:v>
                </c:pt>
                <c:pt idx="24">
                  <c:v>81.09</c:v>
                </c:pt>
                <c:pt idx="25">
                  <c:v>81.99</c:v>
                </c:pt>
                <c:pt idx="26">
                  <c:v>91.1</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Sheet1!$D$2:$D$28</c:f>
              <c:numCache>
                <c:formatCode>General</c:formatCode>
                <c:ptCount val="27"/>
                <c:pt idx="0">
                  <c:v>33.03</c:v>
                </c:pt>
                <c:pt idx="1">
                  <c:v>16.42</c:v>
                </c:pt>
                <c:pt idx="2">
                  <c:v>7.91</c:v>
                </c:pt>
                <c:pt idx="3">
                  <c:v>3.71</c:v>
                </c:pt>
                <c:pt idx="4">
                  <c:v>10.69</c:v>
                </c:pt>
                <c:pt idx="5">
                  <c:v>2.37</c:v>
                </c:pt>
                <c:pt idx="6">
                  <c:v>6.35</c:v>
                </c:pt>
                <c:pt idx="7">
                  <c:v>5.81</c:v>
                </c:pt>
                <c:pt idx="8">
                  <c:v>5.65</c:v>
                </c:pt>
                <c:pt idx="9">
                  <c:v>4.09</c:v>
                </c:pt>
                <c:pt idx="10">
                  <c:v>4.66</c:v>
                </c:pt>
                <c:pt idx="11">
                  <c:v>6.55</c:v>
                </c:pt>
                <c:pt idx="12">
                  <c:v>5.17</c:v>
                </c:pt>
                <c:pt idx="13">
                  <c:v>8.23</c:v>
                </c:pt>
                <c:pt idx="14">
                  <c:v>6.03</c:v>
                </c:pt>
                <c:pt idx="15">
                  <c:v>10.32</c:v>
                </c:pt>
                <c:pt idx="16">
                  <c:v>2</c:v>
                </c:pt>
                <c:pt idx="17">
                  <c:v>6.48</c:v>
                </c:pt>
                <c:pt idx="18">
                  <c:v>8.52</c:v>
                </c:pt>
                <c:pt idx="19">
                  <c:v>8.82</c:v>
                </c:pt>
                <c:pt idx="20">
                  <c:v>1.96</c:v>
                </c:pt>
                <c:pt idx="21">
                  <c:v>6.58</c:v>
                </c:pt>
                <c:pt idx="22">
                  <c:v>9.13</c:v>
                </c:pt>
                <c:pt idx="23">
                  <c:v>3.21</c:v>
                </c:pt>
                <c:pt idx="24">
                  <c:v>4.56</c:v>
                </c:pt>
                <c:pt idx="25">
                  <c:v>2.92</c:v>
                </c:pt>
                <c:pt idx="26">
                  <c:v>2.97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Sheet1!$B$2:$B$11</c:f>
              <c:numCache>
                <c:formatCode>General</c:formatCode>
                <c:ptCount val="10"/>
                <c:pt idx="0">
                  <c:v>46.85</c:v>
                </c:pt>
                <c:pt idx="1">
                  <c:v>50.22</c:v>
                </c:pt>
                <c:pt idx="2">
                  <c:v>51.02</c:v>
                </c:pt>
                <c:pt idx="3">
                  <c:v>48.82</c:v>
                </c:pt>
                <c:pt idx="4">
                  <c:v>51.67</c:v>
                </c:pt>
                <c:pt idx="5">
                  <c:v>49.24</c:v>
                </c:pt>
                <c:pt idx="6">
                  <c:v>48.59</c:v>
                </c:pt>
                <c:pt idx="7">
                  <c:v>46.76</c:v>
                </c:pt>
                <c:pt idx="8">
                  <c:v>49.44</c:v>
                </c:pt>
                <c:pt idx="9">
                  <c:v>47.86</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Sheet1!$C$2:$C$11</c:f>
              <c:numCache>
                <c:formatCode>General</c:formatCode>
                <c:ptCount val="10"/>
                <c:pt idx="0">
                  <c:v>42.77</c:v>
                </c:pt>
                <c:pt idx="1">
                  <c:v>49.69</c:v>
                </c:pt>
                <c:pt idx="2">
                  <c:v>51.34</c:v>
                </c:pt>
                <c:pt idx="3">
                  <c:v>51.42</c:v>
                </c:pt>
                <c:pt idx="4">
                  <c:v>55.32</c:v>
                </c:pt>
                <c:pt idx="5">
                  <c:v>53.61</c:v>
                </c:pt>
                <c:pt idx="6">
                  <c:v>55.33</c:v>
                </c:pt>
                <c:pt idx="7">
                  <c:v>53.63</c:v>
                </c:pt>
                <c:pt idx="8">
                  <c:v>56.96</c:v>
                </c:pt>
                <c:pt idx="9">
                  <c:v>55.49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the deletion lists. Shares are of the removals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removal, state by state: women among the removed, and what goes with the removal rate</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71.4%</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14–14</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15–16</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publishes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9.48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2.78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entered after a visit or its absence, not a finding. Deaths are about one in five of the removals split by reason. The other four in five rest on an entry that the elector was not where the roll placed them, or was on it twice. 12.4 lakh names are in states that have not published a full split.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Dadra and Nagar Haveli and Daman and Diu, Telangana and Maharashtra removed the most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one tile per state or union territory, placed roughly where it lies, with no boundaries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1865376" y="1600200"/>
            <a:ext cx="512064" cy="512064"/>
          </a:xfrm>
          <a:prstGeom prst="roundRect">
            <a:avLst>
              <a:gd name="adj" fmla="val 8929"/>
            </a:avLst>
          </a:prstGeom>
          <a:solidFill>
            <a:srgbClr val="F2F3F4"/>
          </a:solidFill>
          <a:ln w="9525">
            <a:solidFill>
              <a:srgbClr val="95A5A6"/>
            </a:solidFill>
            <a:prstDash val="dash"/>
          </a:ln>
        </p:spPr>
      </p:sp>
      <p:sp>
        <p:nvSpPr>
          <p:cNvPr id="48" name="Text 46"/>
          <p:cNvSpPr txBox="1"/>
          <p:nvPr/>
        </p:nvSpPr>
        <p:spPr>
          <a:xfrm>
            <a:off x="1865376"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JK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2432304" y="1600200"/>
            <a:ext cx="512064" cy="512064"/>
          </a:xfrm>
          <a:prstGeom prst="roundRect">
            <a:avLst>
              <a:gd name="adj" fmla="val 8929"/>
            </a:avLst>
          </a:prstGeom>
          <a:solidFill>
            <a:srgbClr val="F2F3F4"/>
          </a:solidFill>
          <a:ln w="9525">
            <a:solidFill>
              <a:srgbClr val="95A5A6"/>
            </a:solidFill>
            <a:prstDash val="dash"/>
          </a:ln>
        </p:spPr>
      </p:sp>
      <p:sp>
        <p:nvSpPr>
          <p:cNvPr id="50" name="Text 48"/>
          <p:cNvSpPr txBox="1"/>
          <p:nvPr/>
        </p:nvSpPr>
        <p:spPr>
          <a:xfrm>
            <a:off x="2432304"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1" name="Shape 49"/>
          <p:cNvSpPr/>
          <p:nvPr/>
        </p:nvSpPr>
        <p:spPr>
          <a:xfrm>
            <a:off x="1298448" y="2167128"/>
            <a:ext cx="512064" cy="512064"/>
          </a:xfrm>
          <a:prstGeom prst="roundRect">
            <a:avLst>
              <a:gd name="adj" fmla="val 8929"/>
            </a:avLst>
          </a:prstGeom>
          <a:solidFill>
            <a:srgbClr val="F2F3F4"/>
          </a:solidFill>
          <a:ln w="9525">
            <a:solidFill>
              <a:srgbClr val="95A5A6"/>
            </a:solidFill>
            <a:prstDash val="dash"/>
          </a:ln>
        </p:spPr>
      </p:sp>
      <p:sp>
        <p:nvSpPr>
          <p:cNvPr id="52" name="Text 50"/>
          <p:cNvSpPr txBox="1"/>
          <p:nvPr/>
        </p:nvSpPr>
        <p:spPr>
          <a:xfrm>
            <a:off x="1298448"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CH</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3" name="Shape 51"/>
          <p:cNvSpPr/>
          <p:nvPr/>
        </p:nvSpPr>
        <p:spPr>
          <a:xfrm>
            <a:off x="1865376" y="2167128"/>
            <a:ext cx="512064" cy="512064"/>
          </a:xfrm>
          <a:prstGeom prst="roundRect">
            <a:avLst>
              <a:gd name="adj" fmla="val 8929"/>
            </a:avLst>
          </a:prstGeom>
          <a:solidFill>
            <a:srgbClr val="9ECAE1"/>
          </a:solidFill>
          <a:ln/>
        </p:spPr>
      </p:sp>
      <p:sp>
        <p:nvSpPr>
          <p:cNvPr id="54" name="Text 52"/>
          <p:cNvSpPr txBox="1"/>
          <p:nvPr/>
        </p:nvSpPr>
        <p:spPr>
          <a:xfrm>
            <a:off x="1865376"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9.6</a:t>
            </a:r>
            <a:endParaRPr lang="en-US" sz="1000" dirty="0"/>
          </a:p>
        </p:txBody>
      </p:sp>
      <p:sp>
        <p:nvSpPr>
          <p:cNvPr id="55" name="Shape 53"/>
          <p:cNvSpPr/>
          <p:nvPr/>
        </p:nvSpPr>
        <p:spPr>
          <a:xfrm>
            <a:off x="2432304" y="2167128"/>
            <a:ext cx="512064" cy="512064"/>
          </a:xfrm>
          <a:prstGeom prst="roundRect">
            <a:avLst>
              <a:gd name="adj" fmla="val 8929"/>
            </a:avLst>
          </a:prstGeom>
          <a:solidFill>
            <a:srgbClr val="F2F3F4"/>
          </a:solidFill>
          <a:ln w="9525">
            <a:solidFill>
              <a:srgbClr val="95A5A6"/>
            </a:solidFill>
            <a:prstDash val="dash"/>
          </a:ln>
        </p:spPr>
      </p:sp>
      <p:sp>
        <p:nvSpPr>
          <p:cNvPr id="56" name="Text 54"/>
          <p:cNvSpPr txBox="1"/>
          <p:nvPr/>
        </p:nvSpPr>
        <p:spPr>
          <a:xfrm>
            <a:off x="2432304"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HP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7" name="Shape 55"/>
          <p:cNvSpPr/>
          <p:nvPr/>
        </p:nvSpPr>
        <p:spPr>
          <a:xfrm>
            <a:off x="4700016" y="2167128"/>
            <a:ext cx="512064" cy="512064"/>
          </a:xfrm>
          <a:prstGeom prst="roundRect">
            <a:avLst>
              <a:gd name="adj" fmla="val 8929"/>
            </a:avLst>
          </a:prstGeom>
          <a:solidFill>
            <a:srgbClr val="1C5F96"/>
          </a:solidFill>
          <a:ln/>
        </p:spPr>
      </p:sp>
      <p:sp>
        <p:nvSpPr>
          <p:cNvPr id="58" name="Text 56"/>
          <p:cNvSpPr txBox="1"/>
          <p:nvPr/>
        </p:nvSpPr>
        <p:spPr>
          <a:xfrm>
            <a:off x="4700016"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19.1</a:t>
            </a:r>
            <a:endParaRPr lang="en-US" sz="1000" dirty="0"/>
          </a:p>
        </p:txBody>
      </p:sp>
      <p:sp>
        <p:nvSpPr>
          <p:cNvPr id="59" name="Shape 57"/>
          <p:cNvSpPr/>
          <p:nvPr/>
        </p:nvSpPr>
        <p:spPr>
          <a:xfrm>
            <a:off x="1298448" y="2734056"/>
            <a:ext cx="512064" cy="512064"/>
          </a:xfrm>
          <a:prstGeom prst="roundRect">
            <a:avLst>
              <a:gd name="adj" fmla="val 8929"/>
            </a:avLst>
          </a:prstGeom>
          <a:solidFill>
            <a:srgbClr val="DEEBF7"/>
          </a:solidFill>
          <a:ln/>
        </p:spPr>
      </p:sp>
      <p:sp>
        <p:nvSpPr>
          <p:cNvPr id="60" name="Text 58"/>
          <p:cNvSpPr txBox="1"/>
          <p:nvPr/>
        </p:nvSpPr>
        <p:spPr>
          <a:xfrm>
            <a:off x="129844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RJ</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61" name="Shape 59"/>
          <p:cNvSpPr/>
          <p:nvPr/>
        </p:nvSpPr>
        <p:spPr>
          <a:xfrm>
            <a:off x="1865376" y="2734056"/>
            <a:ext cx="512064" cy="512064"/>
          </a:xfrm>
          <a:prstGeom prst="roundRect">
            <a:avLst>
              <a:gd name="adj" fmla="val 8929"/>
            </a:avLst>
          </a:prstGeom>
          <a:solidFill>
            <a:srgbClr val="1C5F96"/>
          </a:solidFill>
          <a:ln/>
        </p:spPr>
      </p:sp>
      <p:sp>
        <p:nvSpPr>
          <p:cNvPr id="62" name="Text 60"/>
          <p:cNvSpPr txBox="1"/>
          <p:nvPr/>
        </p:nvSpPr>
        <p:spPr>
          <a:xfrm>
            <a:off x="1865376"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16.4</a:t>
            </a:r>
            <a:endParaRPr lang="en-US" sz="1000" dirty="0"/>
          </a:p>
        </p:txBody>
      </p:sp>
      <p:sp>
        <p:nvSpPr>
          <p:cNvPr id="63" name="Shape 61"/>
          <p:cNvSpPr/>
          <p:nvPr/>
        </p:nvSpPr>
        <p:spPr>
          <a:xfrm>
            <a:off x="2432304" y="2734056"/>
            <a:ext cx="512064" cy="512064"/>
          </a:xfrm>
          <a:prstGeom prst="roundRect">
            <a:avLst>
              <a:gd name="adj" fmla="val 8929"/>
            </a:avLst>
          </a:prstGeom>
          <a:solidFill>
            <a:srgbClr val="08306B"/>
          </a:solidFill>
          <a:ln/>
        </p:spPr>
      </p:sp>
      <p:sp>
        <p:nvSpPr>
          <p:cNvPr id="64" name="Text 62"/>
          <p:cNvSpPr txBox="1"/>
          <p:nvPr/>
        </p:nvSpPr>
        <p:spPr>
          <a:xfrm>
            <a:off x="2432304"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DL</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32.8</a:t>
            </a:r>
            <a:endParaRPr lang="en-US" sz="1000" dirty="0"/>
          </a:p>
        </p:txBody>
      </p:sp>
      <p:sp>
        <p:nvSpPr>
          <p:cNvPr id="65" name="Shape 63"/>
          <p:cNvSpPr/>
          <p:nvPr/>
        </p:nvSpPr>
        <p:spPr>
          <a:xfrm>
            <a:off x="2999232" y="2734056"/>
            <a:ext cx="512064" cy="512064"/>
          </a:xfrm>
          <a:prstGeom prst="roundRect">
            <a:avLst>
              <a:gd name="adj" fmla="val 8929"/>
            </a:avLst>
          </a:prstGeom>
          <a:solidFill>
            <a:srgbClr val="9ECAE1"/>
          </a:solidFill>
          <a:ln/>
        </p:spPr>
      </p:sp>
      <p:sp>
        <p:nvSpPr>
          <p:cNvPr id="66" name="Text 64"/>
          <p:cNvSpPr txBox="1"/>
          <p:nvPr/>
        </p:nvSpPr>
        <p:spPr>
          <a:xfrm>
            <a:off x="2999232"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UK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10.4</a:t>
            </a:r>
            <a:endParaRPr lang="en-US" sz="1000" dirty="0"/>
          </a:p>
        </p:txBody>
      </p:sp>
      <p:sp>
        <p:nvSpPr>
          <p:cNvPr id="67" name="Shape 65"/>
          <p:cNvSpPr/>
          <p:nvPr/>
        </p:nvSpPr>
        <p:spPr>
          <a:xfrm>
            <a:off x="3566160" y="2734056"/>
            <a:ext cx="512064" cy="512064"/>
          </a:xfrm>
          <a:prstGeom prst="roundRect">
            <a:avLst>
              <a:gd name="adj" fmla="val 8929"/>
            </a:avLst>
          </a:prstGeom>
          <a:solidFill>
            <a:srgbClr val="9ECAE1"/>
          </a:solidFill>
          <a:ln/>
        </p:spPr>
      </p:sp>
      <p:sp>
        <p:nvSpPr>
          <p:cNvPr id="68" name="Text 66"/>
          <p:cNvSpPr txBox="1"/>
          <p:nvPr/>
        </p:nvSpPr>
        <p:spPr>
          <a:xfrm>
            <a:off x="3566160"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SK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8.0</a:t>
            </a:r>
            <a:endParaRPr lang="en-US" sz="1000" dirty="0"/>
          </a:p>
        </p:txBody>
      </p:sp>
      <p:sp>
        <p:nvSpPr>
          <p:cNvPr id="69" name="Shape 67"/>
          <p:cNvSpPr/>
          <p:nvPr/>
        </p:nvSpPr>
        <p:spPr>
          <a:xfrm>
            <a:off x="4133088" y="2734056"/>
            <a:ext cx="512064" cy="512064"/>
          </a:xfrm>
          <a:prstGeom prst="roundRect">
            <a:avLst>
              <a:gd name="adj" fmla="val 8929"/>
            </a:avLst>
          </a:prstGeom>
          <a:solidFill>
            <a:srgbClr val="F2F3F4"/>
          </a:solidFill>
          <a:ln w="9525">
            <a:solidFill>
              <a:srgbClr val="95A5A6"/>
            </a:solidFill>
            <a:prstDash val="dash"/>
          </a:ln>
        </p:spPr>
      </p:sp>
      <p:sp>
        <p:nvSpPr>
          <p:cNvPr id="70" name="Text 68"/>
          <p:cNvSpPr txBox="1"/>
          <p:nvPr/>
        </p:nvSpPr>
        <p:spPr>
          <a:xfrm>
            <a:off x="413308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AS</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71" name="Shape 69"/>
          <p:cNvSpPr/>
          <p:nvPr/>
        </p:nvSpPr>
        <p:spPr>
          <a:xfrm>
            <a:off x="4700016" y="2734056"/>
            <a:ext cx="512064" cy="512064"/>
          </a:xfrm>
          <a:prstGeom prst="roundRect">
            <a:avLst>
              <a:gd name="adj" fmla="val 8929"/>
            </a:avLst>
          </a:prstGeom>
          <a:solidFill>
            <a:srgbClr val="9ECAE1"/>
          </a:solidFill>
          <a:ln/>
        </p:spPr>
      </p:sp>
      <p:sp>
        <p:nvSpPr>
          <p:cNvPr id="72" name="Text 70"/>
          <p:cNvSpPr txBox="1"/>
          <p:nvPr/>
        </p:nvSpPr>
        <p:spPr>
          <a:xfrm>
            <a:off x="4700016"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NL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11.6</a:t>
            </a:r>
            <a:endParaRPr lang="en-US" sz="1000" dirty="0"/>
          </a:p>
        </p:txBody>
      </p:sp>
      <p:sp>
        <p:nvSpPr>
          <p:cNvPr id="73" name="Shape 71"/>
          <p:cNvSpPr/>
          <p:nvPr/>
        </p:nvSpPr>
        <p:spPr>
          <a:xfrm>
            <a:off x="1298448" y="3300984"/>
            <a:ext cx="512064" cy="512064"/>
          </a:xfrm>
          <a:prstGeom prst="roundRect">
            <a:avLst>
              <a:gd name="adj" fmla="val 8929"/>
            </a:avLst>
          </a:prstGeom>
          <a:solidFill>
            <a:srgbClr val="2878B3"/>
          </a:solidFill>
          <a:ln/>
        </p:spPr>
      </p:sp>
      <p:sp>
        <p:nvSpPr>
          <p:cNvPr id="74" name="Text 72"/>
          <p:cNvSpPr txBox="1"/>
          <p:nvPr/>
        </p:nvSpPr>
        <p:spPr>
          <a:xfrm>
            <a:off x="1298448"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GJ</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14.5</a:t>
            </a:r>
            <a:endParaRPr lang="en-US" sz="1000" dirty="0"/>
          </a:p>
        </p:txBody>
      </p:sp>
      <p:sp>
        <p:nvSpPr>
          <p:cNvPr id="75" name="Shape 73"/>
          <p:cNvSpPr/>
          <p:nvPr/>
        </p:nvSpPr>
        <p:spPr>
          <a:xfrm>
            <a:off x="1865376" y="3300984"/>
            <a:ext cx="512064" cy="512064"/>
          </a:xfrm>
          <a:prstGeom prst="roundRect">
            <a:avLst>
              <a:gd name="adj" fmla="val 8929"/>
            </a:avLst>
          </a:prstGeom>
          <a:solidFill>
            <a:srgbClr val="DEEBF7"/>
          </a:solidFill>
          <a:ln/>
        </p:spPr>
      </p:sp>
      <p:sp>
        <p:nvSpPr>
          <p:cNvPr id="76" name="Text 74"/>
          <p:cNvSpPr txBox="1"/>
          <p:nvPr/>
        </p:nvSpPr>
        <p:spPr>
          <a:xfrm>
            <a:off x="186537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7.5</a:t>
            </a:r>
            <a:endParaRPr lang="en-US" sz="1000" dirty="0"/>
          </a:p>
        </p:txBody>
      </p:sp>
      <p:sp>
        <p:nvSpPr>
          <p:cNvPr id="77" name="Shape 75"/>
          <p:cNvSpPr/>
          <p:nvPr/>
        </p:nvSpPr>
        <p:spPr>
          <a:xfrm>
            <a:off x="2432304" y="3300984"/>
            <a:ext cx="512064" cy="512064"/>
          </a:xfrm>
          <a:prstGeom prst="roundRect">
            <a:avLst>
              <a:gd name="adj" fmla="val 8929"/>
            </a:avLst>
          </a:prstGeom>
          <a:solidFill>
            <a:srgbClr val="1C5F96"/>
          </a:solidFill>
          <a:ln/>
        </p:spPr>
      </p:sp>
      <p:sp>
        <p:nvSpPr>
          <p:cNvPr id="78" name="Text 76"/>
          <p:cNvSpPr txBox="1"/>
          <p:nvPr/>
        </p:nvSpPr>
        <p:spPr>
          <a:xfrm>
            <a:off x="2432304"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UP</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18.7</a:t>
            </a:r>
            <a:endParaRPr lang="en-US" sz="1000" dirty="0"/>
          </a:p>
        </p:txBody>
      </p:sp>
      <p:sp>
        <p:nvSpPr>
          <p:cNvPr id="79" name="Shape 77"/>
          <p:cNvSpPr/>
          <p:nvPr/>
        </p:nvSpPr>
        <p:spPr>
          <a:xfrm>
            <a:off x="2999232" y="3300984"/>
            <a:ext cx="512064" cy="512064"/>
          </a:xfrm>
          <a:prstGeom prst="roundRect">
            <a:avLst>
              <a:gd name="adj" fmla="val 8929"/>
            </a:avLst>
          </a:prstGeom>
          <a:solidFill>
            <a:srgbClr val="9ECAE1"/>
          </a:solidFill>
          <a:ln/>
        </p:spPr>
      </p:sp>
      <p:sp>
        <p:nvSpPr>
          <p:cNvPr id="80" name="Text 78"/>
          <p:cNvSpPr txBox="1"/>
          <p:nvPr/>
        </p:nvSpPr>
        <p:spPr>
          <a:xfrm>
            <a:off x="2999232"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BR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8.3</a:t>
            </a:r>
            <a:endParaRPr lang="en-US" sz="1000" dirty="0"/>
          </a:p>
        </p:txBody>
      </p:sp>
      <p:sp>
        <p:nvSpPr>
          <p:cNvPr id="81" name="Shape 79"/>
          <p:cNvSpPr/>
          <p:nvPr/>
        </p:nvSpPr>
        <p:spPr>
          <a:xfrm>
            <a:off x="3566160" y="3300984"/>
            <a:ext cx="512064" cy="512064"/>
          </a:xfrm>
          <a:prstGeom prst="roundRect">
            <a:avLst>
              <a:gd name="adj" fmla="val 8929"/>
            </a:avLst>
          </a:prstGeom>
          <a:solidFill>
            <a:srgbClr val="DEEBF7"/>
          </a:solidFill>
          <a:ln/>
        </p:spPr>
      </p:sp>
      <p:sp>
        <p:nvSpPr>
          <p:cNvPr id="82" name="Text 80"/>
          <p:cNvSpPr txBox="1"/>
          <p:nvPr/>
        </p:nvSpPr>
        <p:spPr>
          <a:xfrm>
            <a:off x="3566160"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WB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3" name="Shape 81"/>
          <p:cNvSpPr/>
          <p:nvPr/>
        </p:nvSpPr>
        <p:spPr>
          <a:xfrm>
            <a:off x="4133088" y="3300984"/>
            <a:ext cx="512064" cy="512064"/>
          </a:xfrm>
          <a:prstGeom prst="roundRect">
            <a:avLst>
              <a:gd name="adj" fmla="val 8929"/>
            </a:avLst>
          </a:prstGeom>
          <a:solidFill>
            <a:srgbClr val="DEEBF7"/>
          </a:solidFill>
          <a:ln/>
        </p:spPr>
      </p:sp>
      <p:sp>
        <p:nvSpPr>
          <p:cNvPr id="84" name="Text 82"/>
          <p:cNvSpPr txBox="1"/>
          <p:nvPr/>
        </p:nvSpPr>
        <p:spPr>
          <a:xfrm>
            <a:off x="4133088"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85" name="Shape 83"/>
          <p:cNvSpPr/>
          <p:nvPr/>
        </p:nvSpPr>
        <p:spPr>
          <a:xfrm>
            <a:off x="4700016" y="3300984"/>
            <a:ext cx="512064" cy="512064"/>
          </a:xfrm>
          <a:prstGeom prst="roundRect">
            <a:avLst>
              <a:gd name="adj" fmla="val 8929"/>
            </a:avLst>
          </a:prstGeom>
          <a:solidFill>
            <a:srgbClr val="DEEBF7"/>
          </a:solidFill>
          <a:ln/>
        </p:spPr>
      </p:sp>
      <p:sp>
        <p:nvSpPr>
          <p:cNvPr id="86" name="Text 84"/>
          <p:cNvSpPr txBox="1"/>
          <p:nvPr/>
        </p:nvSpPr>
        <p:spPr>
          <a:xfrm>
            <a:off x="470001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MN</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7" name="Shape 85"/>
          <p:cNvSpPr/>
          <p:nvPr/>
        </p:nvSpPr>
        <p:spPr>
          <a:xfrm>
            <a:off x="731520" y="3867912"/>
            <a:ext cx="512064" cy="512064"/>
          </a:xfrm>
          <a:prstGeom prst="roundRect">
            <a:avLst>
              <a:gd name="adj" fmla="val 8929"/>
            </a:avLst>
          </a:prstGeom>
          <a:solidFill>
            <a:srgbClr val="08306B"/>
          </a:solidFill>
          <a:ln/>
        </p:spPr>
      </p:sp>
      <p:sp>
        <p:nvSpPr>
          <p:cNvPr id="88" name="Text 86"/>
          <p:cNvSpPr txBox="1"/>
          <p:nvPr/>
        </p:nvSpPr>
        <p:spPr>
          <a:xfrm>
            <a:off x="731520"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DD</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29.6</a:t>
            </a:r>
            <a:endParaRPr lang="en-US" sz="1000" dirty="0"/>
          </a:p>
        </p:txBody>
      </p:sp>
      <p:sp>
        <p:nvSpPr>
          <p:cNvPr id="89" name="Shape 87"/>
          <p:cNvSpPr/>
          <p:nvPr/>
        </p:nvSpPr>
        <p:spPr>
          <a:xfrm>
            <a:off x="1298448" y="3867912"/>
            <a:ext cx="512064" cy="512064"/>
          </a:xfrm>
          <a:prstGeom prst="roundRect">
            <a:avLst>
              <a:gd name="adj" fmla="val 8929"/>
            </a:avLst>
          </a:prstGeom>
          <a:solidFill>
            <a:srgbClr val="08306B"/>
          </a:solidFill>
          <a:ln/>
        </p:spPr>
      </p:sp>
      <p:sp>
        <p:nvSpPr>
          <p:cNvPr id="90" name="Text 88"/>
          <p:cNvSpPr txBox="1"/>
          <p:nvPr/>
        </p:nvSpPr>
        <p:spPr>
          <a:xfrm>
            <a:off x="1298448"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21.1</a:t>
            </a:r>
            <a:endParaRPr lang="en-US" sz="1000" dirty="0"/>
          </a:p>
        </p:txBody>
      </p:sp>
      <p:sp>
        <p:nvSpPr>
          <p:cNvPr id="91" name="Shape 89"/>
          <p:cNvSpPr/>
          <p:nvPr/>
        </p:nvSpPr>
        <p:spPr>
          <a:xfrm>
            <a:off x="1865376" y="3867912"/>
            <a:ext cx="512064" cy="512064"/>
          </a:xfrm>
          <a:prstGeom prst="roundRect">
            <a:avLst>
              <a:gd name="adj" fmla="val 8929"/>
            </a:avLst>
          </a:prstGeom>
          <a:solidFill>
            <a:srgbClr val="2878B3"/>
          </a:solidFill>
          <a:ln/>
        </p:spPr>
      </p:sp>
      <p:sp>
        <p:nvSpPr>
          <p:cNvPr id="92" name="Text 90"/>
          <p:cNvSpPr txBox="1"/>
          <p:nvPr/>
        </p:nvSpPr>
        <p:spPr>
          <a:xfrm>
            <a:off x="1865376"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12.9</a:t>
            </a:r>
            <a:endParaRPr lang="en-US" sz="1000" dirty="0"/>
          </a:p>
        </p:txBody>
      </p:sp>
      <p:sp>
        <p:nvSpPr>
          <p:cNvPr id="93" name="Shape 91"/>
          <p:cNvSpPr/>
          <p:nvPr/>
        </p:nvSpPr>
        <p:spPr>
          <a:xfrm>
            <a:off x="2432304" y="3867912"/>
            <a:ext cx="512064" cy="512064"/>
          </a:xfrm>
          <a:prstGeom prst="roundRect">
            <a:avLst>
              <a:gd name="adj" fmla="val 8929"/>
            </a:avLst>
          </a:prstGeom>
          <a:solidFill>
            <a:srgbClr val="1C5F96"/>
          </a:solidFill>
          <a:ln/>
        </p:spPr>
      </p:sp>
      <p:sp>
        <p:nvSpPr>
          <p:cNvPr id="94" name="Text 92"/>
          <p:cNvSpPr txBox="1"/>
          <p:nvPr/>
        </p:nvSpPr>
        <p:spPr>
          <a:xfrm>
            <a:off x="2432304"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16.5</a:t>
            </a:r>
            <a:endParaRPr lang="en-US" sz="1000" dirty="0"/>
          </a:p>
        </p:txBody>
      </p:sp>
      <p:sp>
        <p:nvSpPr>
          <p:cNvPr id="95" name="Shape 93"/>
          <p:cNvSpPr/>
          <p:nvPr/>
        </p:nvSpPr>
        <p:spPr>
          <a:xfrm>
            <a:off x="2999232" y="3867912"/>
            <a:ext cx="512064" cy="512064"/>
          </a:xfrm>
          <a:prstGeom prst="roundRect">
            <a:avLst>
              <a:gd name="adj" fmla="val 8929"/>
            </a:avLst>
          </a:prstGeom>
          <a:solidFill>
            <a:srgbClr val="DEEBF7"/>
          </a:solidFill>
          <a:ln/>
        </p:spPr>
      </p:sp>
      <p:sp>
        <p:nvSpPr>
          <p:cNvPr id="96" name="Text 94"/>
          <p:cNvSpPr txBox="1"/>
          <p:nvPr/>
        </p:nvSpPr>
        <p:spPr>
          <a:xfrm>
            <a:off x="2999232"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OD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6.0</a:t>
            </a:r>
            <a:endParaRPr lang="en-US" sz="1000" dirty="0"/>
          </a:p>
        </p:txBody>
      </p:sp>
      <p:sp>
        <p:nvSpPr>
          <p:cNvPr id="97" name="Shape 95"/>
          <p:cNvSpPr/>
          <p:nvPr/>
        </p:nvSpPr>
        <p:spPr>
          <a:xfrm>
            <a:off x="4133088" y="3867912"/>
            <a:ext cx="512064" cy="512064"/>
          </a:xfrm>
          <a:prstGeom prst="roundRect">
            <a:avLst>
              <a:gd name="adj" fmla="val 8929"/>
            </a:avLst>
          </a:prstGeom>
          <a:solidFill>
            <a:srgbClr val="F2F3F4"/>
          </a:solidFill>
          <a:ln w="9525">
            <a:solidFill>
              <a:srgbClr val="95A5A6"/>
            </a:solidFill>
            <a:prstDash val="dash"/>
          </a:ln>
        </p:spPr>
      </p:sp>
      <p:sp>
        <p:nvSpPr>
          <p:cNvPr id="98" name="Text 96"/>
          <p:cNvSpPr txBox="1"/>
          <p:nvPr/>
        </p:nvSpPr>
        <p:spPr>
          <a:xfrm>
            <a:off x="4133088"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TR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99" name="Shape 97"/>
          <p:cNvSpPr/>
          <p:nvPr/>
        </p:nvSpPr>
        <p:spPr>
          <a:xfrm>
            <a:off x="4700016" y="3867912"/>
            <a:ext cx="512064" cy="512064"/>
          </a:xfrm>
          <a:prstGeom prst="roundRect">
            <a:avLst>
              <a:gd name="adj" fmla="val 8929"/>
            </a:avLst>
          </a:prstGeom>
          <a:solidFill>
            <a:srgbClr val="DEEBF7"/>
          </a:solidFill>
          <a:ln/>
        </p:spPr>
      </p:sp>
      <p:sp>
        <p:nvSpPr>
          <p:cNvPr id="100" name="Text 98"/>
          <p:cNvSpPr txBox="1"/>
          <p:nvPr/>
        </p:nvSpPr>
        <p:spPr>
          <a:xfrm>
            <a:off x="4700016"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MZ</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5.3</a:t>
            </a:r>
            <a:endParaRPr lang="en-US" sz="1000" dirty="0"/>
          </a:p>
        </p:txBody>
      </p:sp>
      <p:sp>
        <p:nvSpPr>
          <p:cNvPr id="101" name="Shape 99"/>
          <p:cNvSpPr/>
          <p:nvPr/>
        </p:nvSpPr>
        <p:spPr>
          <a:xfrm>
            <a:off x="1298448" y="4434840"/>
            <a:ext cx="512064" cy="512064"/>
          </a:xfrm>
          <a:prstGeom prst="roundRect">
            <a:avLst>
              <a:gd name="adj" fmla="val 8929"/>
            </a:avLst>
          </a:prstGeom>
          <a:solidFill>
            <a:srgbClr val="9ECAE1"/>
          </a:solidFill>
          <a:ln/>
        </p:spPr>
      </p:sp>
      <p:sp>
        <p:nvSpPr>
          <p:cNvPr id="102" name="Text 100"/>
          <p:cNvSpPr txBox="1"/>
          <p:nvPr/>
        </p:nvSpPr>
        <p:spPr>
          <a:xfrm>
            <a:off x="1298448"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GA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8.4</a:t>
            </a:r>
            <a:endParaRPr lang="en-US" sz="1000" dirty="0"/>
          </a:p>
        </p:txBody>
      </p:sp>
      <p:sp>
        <p:nvSpPr>
          <p:cNvPr id="103" name="Shape 101"/>
          <p:cNvSpPr/>
          <p:nvPr/>
        </p:nvSpPr>
        <p:spPr>
          <a:xfrm>
            <a:off x="1865376" y="4434840"/>
            <a:ext cx="512064" cy="512064"/>
          </a:xfrm>
          <a:prstGeom prst="roundRect">
            <a:avLst>
              <a:gd name="adj" fmla="val 8929"/>
            </a:avLst>
          </a:prstGeom>
          <a:solidFill>
            <a:srgbClr val="08306B"/>
          </a:solidFill>
          <a:ln/>
        </p:spPr>
      </p:sp>
      <p:sp>
        <p:nvSpPr>
          <p:cNvPr id="104" name="Text 102"/>
          <p:cNvSpPr txBox="1"/>
          <p:nvPr/>
        </p:nvSpPr>
        <p:spPr>
          <a:xfrm>
            <a:off x="1865376" y="4434840"/>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21.7</a:t>
            </a:r>
            <a:endParaRPr lang="en-US" sz="1000" dirty="0"/>
          </a:p>
        </p:txBody>
      </p:sp>
      <p:sp>
        <p:nvSpPr>
          <p:cNvPr id="105" name="Shape 103"/>
          <p:cNvSpPr/>
          <p:nvPr/>
        </p:nvSpPr>
        <p:spPr>
          <a:xfrm>
            <a:off x="2432304" y="4434840"/>
            <a:ext cx="512064" cy="512064"/>
          </a:xfrm>
          <a:prstGeom prst="roundRect">
            <a:avLst>
              <a:gd name="adj" fmla="val 8929"/>
            </a:avLst>
          </a:prstGeom>
          <a:solidFill>
            <a:srgbClr val="9ECAE1"/>
          </a:solidFill>
          <a:ln/>
        </p:spPr>
      </p:sp>
      <p:sp>
        <p:nvSpPr>
          <p:cNvPr id="106" name="Text 104"/>
          <p:cNvSpPr txBox="1"/>
          <p:nvPr/>
        </p:nvSpPr>
        <p:spPr>
          <a:xfrm>
            <a:off x="2432304"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10.8</a:t>
            </a:r>
            <a:endParaRPr lang="en-US" sz="1000" dirty="0"/>
          </a:p>
        </p:txBody>
      </p:sp>
      <p:sp>
        <p:nvSpPr>
          <p:cNvPr id="107" name="Shape 105"/>
          <p:cNvSpPr/>
          <p:nvPr/>
        </p:nvSpPr>
        <p:spPr>
          <a:xfrm>
            <a:off x="731520" y="5001768"/>
            <a:ext cx="512064" cy="512064"/>
          </a:xfrm>
          <a:prstGeom prst="roundRect">
            <a:avLst>
              <a:gd name="adj" fmla="val 8929"/>
            </a:avLst>
          </a:prstGeom>
          <a:solidFill>
            <a:srgbClr val="DEEBF7"/>
          </a:solidFill>
          <a:ln/>
        </p:spPr>
      </p:sp>
      <p:sp>
        <p:nvSpPr>
          <p:cNvPr id="108" name="Text 106"/>
          <p:cNvSpPr txBox="1"/>
          <p:nvPr/>
        </p:nvSpPr>
        <p:spPr>
          <a:xfrm>
            <a:off x="731520"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2.5</a:t>
            </a:r>
            <a:endParaRPr lang="en-US" sz="1000" dirty="0"/>
          </a:p>
        </p:txBody>
      </p:sp>
      <p:sp>
        <p:nvSpPr>
          <p:cNvPr id="109" name="Shape 107"/>
          <p:cNvSpPr/>
          <p:nvPr/>
        </p:nvSpPr>
        <p:spPr>
          <a:xfrm>
            <a:off x="1298448" y="5001768"/>
            <a:ext cx="512064" cy="512064"/>
          </a:xfrm>
          <a:prstGeom prst="roundRect">
            <a:avLst>
              <a:gd name="adj" fmla="val 8929"/>
            </a:avLst>
          </a:prstGeom>
          <a:solidFill>
            <a:srgbClr val="1C5F96"/>
          </a:solidFill>
          <a:ln/>
        </p:spPr>
      </p:sp>
      <p:sp>
        <p:nvSpPr>
          <p:cNvPr id="110" name="Text 108"/>
          <p:cNvSpPr txBox="1"/>
          <p:nvPr/>
        </p:nvSpPr>
        <p:spPr>
          <a:xfrm>
            <a:off x="1298448"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KA</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19.5</a:t>
            </a:r>
            <a:endParaRPr lang="en-US" sz="1000" dirty="0"/>
          </a:p>
        </p:txBody>
      </p:sp>
      <p:sp>
        <p:nvSpPr>
          <p:cNvPr id="111" name="Shape 109"/>
          <p:cNvSpPr/>
          <p:nvPr/>
        </p:nvSpPr>
        <p:spPr>
          <a:xfrm>
            <a:off x="1865376" y="5001768"/>
            <a:ext cx="512064" cy="512064"/>
          </a:xfrm>
          <a:prstGeom prst="roundRect">
            <a:avLst>
              <a:gd name="adj" fmla="val 8929"/>
            </a:avLst>
          </a:prstGeom>
          <a:solidFill>
            <a:srgbClr val="2878B3"/>
          </a:solidFill>
          <a:ln/>
        </p:spPr>
      </p:sp>
      <p:sp>
        <p:nvSpPr>
          <p:cNvPr id="112" name="Text 110"/>
          <p:cNvSpPr txBox="1"/>
          <p:nvPr/>
        </p:nvSpPr>
        <p:spPr>
          <a:xfrm>
            <a:off x="1865376"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15.2</a:t>
            </a:r>
            <a:endParaRPr lang="en-US" sz="1000" dirty="0"/>
          </a:p>
        </p:txBody>
      </p:sp>
      <p:sp>
        <p:nvSpPr>
          <p:cNvPr id="113" name="Shape 111"/>
          <p:cNvSpPr/>
          <p:nvPr/>
        </p:nvSpPr>
        <p:spPr>
          <a:xfrm>
            <a:off x="2432304" y="5001768"/>
            <a:ext cx="512064" cy="512064"/>
          </a:xfrm>
          <a:prstGeom prst="roundRect">
            <a:avLst>
              <a:gd name="adj" fmla="val 8929"/>
            </a:avLst>
          </a:prstGeom>
          <a:solidFill>
            <a:srgbClr val="9ECAE1"/>
          </a:solidFill>
          <a:ln/>
        </p:spPr>
      </p:sp>
      <p:sp>
        <p:nvSpPr>
          <p:cNvPr id="114" name="Text 112"/>
          <p:cNvSpPr txBox="1"/>
          <p:nvPr/>
        </p:nvSpPr>
        <p:spPr>
          <a:xfrm>
            <a:off x="2432304"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PY</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10.1</a:t>
            </a:r>
            <a:endParaRPr lang="en-US" sz="1000" dirty="0"/>
          </a:p>
        </p:txBody>
      </p:sp>
      <p:sp>
        <p:nvSpPr>
          <p:cNvPr id="115" name="Shape 113"/>
          <p:cNvSpPr/>
          <p:nvPr/>
        </p:nvSpPr>
        <p:spPr>
          <a:xfrm>
            <a:off x="1298448" y="5568696"/>
            <a:ext cx="512064" cy="512064"/>
          </a:xfrm>
          <a:prstGeom prst="roundRect">
            <a:avLst>
              <a:gd name="adj" fmla="val 8929"/>
            </a:avLst>
          </a:prstGeom>
          <a:solidFill>
            <a:srgbClr val="9ECAE1"/>
          </a:solidFill>
          <a:ln/>
        </p:spPr>
      </p:sp>
      <p:sp>
        <p:nvSpPr>
          <p:cNvPr id="116" name="Text 114"/>
          <p:cNvSpPr txBox="1"/>
          <p:nvPr/>
        </p:nvSpPr>
        <p:spPr>
          <a:xfrm>
            <a:off x="1298448" y="556869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KL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8.7</a:t>
            </a:r>
            <a:endParaRPr lang="en-US" sz="1000" dirty="0"/>
          </a:p>
        </p:txBody>
      </p:sp>
      <p:sp>
        <p:nvSpPr>
          <p:cNvPr id="117" name="Shape 115"/>
          <p:cNvSpPr/>
          <p:nvPr/>
        </p:nvSpPr>
        <p:spPr>
          <a:xfrm>
            <a:off x="2999232" y="5568696"/>
            <a:ext cx="512064" cy="512064"/>
          </a:xfrm>
          <a:prstGeom prst="roundRect">
            <a:avLst>
              <a:gd name="adj" fmla="val 8929"/>
            </a:avLst>
          </a:prstGeom>
          <a:solidFill>
            <a:srgbClr val="08306B"/>
          </a:solidFill>
          <a:ln/>
        </p:spPr>
      </p:sp>
      <p:sp>
        <p:nvSpPr>
          <p:cNvPr id="118" name="Text 116"/>
          <p:cNvSpPr txBox="1"/>
          <p:nvPr/>
        </p:nvSpPr>
        <p:spPr>
          <a:xfrm>
            <a:off x="2999232" y="556869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20.6</a:t>
            </a:r>
            <a:endParaRPr lang="en-US" sz="1000" dirty="0"/>
          </a:p>
        </p:txBody>
      </p:sp>
      <p:sp>
        <p:nvSpPr>
          <p:cNvPr id="119" name="Shape 117"/>
          <p:cNvSpPr/>
          <p:nvPr/>
        </p:nvSpPr>
        <p:spPr>
          <a:xfrm>
            <a:off x="6400800" y="3931920"/>
            <a:ext cx="237744" cy="237744"/>
          </a:xfrm>
          <a:prstGeom prst="rect">
            <a:avLst/>
          </a:prstGeom>
          <a:solidFill>
            <a:srgbClr val="DEEBF7"/>
          </a:solidFill>
          <a:ln/>
        </p:spPr>
      </p:sp>
      <p:sp>
        <p:nvSpPr>
          <p:cNvPr id="120" name="Text 118"/>
          <p:cNvSpPr txBox="1"/>
          <p:nvPr/>
        </p:nvSpPr>
        <p:spPr>
          <a:xfrm>
            <a:off x="6720840" y="390448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under 8</a:t>
            </a:r>
            <a:endParaRPr lang="en-US" sz="1100" dirty="0"/>
          </a:p>
        </p:txBody>
      </p:sp>
      <p:sp>
        <p:nvSpPr>
          <p:cNvPr id="121" name="Shape 119"/>
          <p:cNvSpPr/>
          <p:nvPr/>
        </p:nvSpPr>
        <p:spPr>
          <a:xfrm>
            <a:off x="6400800" y="4261104"/>
            <a:ext cx="237744" cy="237744"/>
          </a:xfrm>
          <a:prstGeom prst="rect">
            <a:avLst/>
          </a:prstGeom>
          <a:solidFill>
            <a:srgbClr val="9ECAE1"/>
          </a:solidFill>
          <a:ln/>
        </p:spPr>
      </p:sp>
      <p:sp>
        <p:nvSpPr>
          <p:cNvPr id="122" name="Text 120"/>
          <p:cNvSpPr txBox="1"/>
          <p:nvPr/>
        </p:nvSpPr>
        <p:spPr>
          <a:xfrm>
            <a:off x="6720840" y="4233672"/>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8 to 12</a:t>
            </a:r>
            <a:endParaRPr lang="en-US" sz="1100" dirty="0"/>
          </a:p>
        </p:txBody>
      </p:sp>
      <p:sp>
        <p:nvSpPr>
          <p:cNvPr id="123" name="Shape 121"/>
          <p:cNvSpPr/>
          <p:nvPr/>
        </p:nvSpPr>
        <p:spPr>
          <a:xfrm>
            <a:off x="6400800" y="4590288"/>
            <a:ext cx="237744" cy="237744"/>
          </a:xfrm>
          <a:prstGeom prst="rect">
            <a:avLst/>
          </a:prstGeom>
          <a:solidFill>
            <a:srgbClr val="2878B3"/>
          </a:solidFill>
          <a:ln/>
        </p:spPr>
      </p:sp>
      <p:sp>
        <p:nvSpPr>
          <p:cNvPr id="124" name="Text 122"/>
          <p:cNvSpPr txBox="1"/>
          <p:nvPr/>
        </p:nvSpPr>
        <p:spPr>
          <a:xfrm>
            <a:off x="6720840" y="4562856"/>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12 to 16</a:t>
            </a:r>
            <a:endParaRPr lang="en-US" sz="1100" dirty="0"/>
          </a:p>
        </p:txBody>
      </p:sp>
      <p:sp>
        <p:nvSpPr>
          <p:cNvPr id="125" name="Shape 123"/>
          <p:cNvSpPr/>
          <p:nvPr/>
        </p:nvSpPr>
        <p:spPr>
          <a:xfrm>
            <a:off x="6400800" y="4919472"/>
            <a:ext cx="237744" cy="237744"/>
          </a:xfrm>
          <a:prstGeom prst="rect">
            <a:avLst/>
          </a:prstGeom>
          <a:solidFill>
            <a:srgbClr val="1C5F96"/>
          </a:solidFill>
          <a:ln/>
        </p:spPr>
      </p:sp>
      <p:sp>
        <p:nvSpPr>
          <p:cNvPr id="126" name="Text 124"/>
          <p:cNvSpPr txBox="1"/>
          <p:nvPr/>
        </p:nvSpPr>
        <p:spPr>
          <a:xfrm>
            <a:off x="6720840" y="4892040"/>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16 to 20</a:t>
            </a:r>
            <a:endParaRPr lang="en-US" sz="1100" dirty="0"/>
          </a:p>
        </p:txBody>
      </p:sp>
      <p:sp>
        <p:nvSpPr>
          <p:cNvPr id="127" name="Shape 125"/>
          <p:cNvSpPr/>
          <p:nvPr/>
        </p:nvSpPr>
        <p:spPr>
          <a:xfrm>
            <a:off x="6400800" y="5248656"/>
            <a:ext cx="237744" cy="237744"/>
          </a:xfrm>
          <a:prstGeom prst="rect">
            <a:avLst/>
          </a:prstGeom>
          <a:solidFill>
            <a:srgbClr val="08306B"/>
          </a:solidFill>
          <a:ln/>
        </p:spPr>
      </p:sp>
      <p:sp>
        <p:nvSpPr>
          <p:cNvPr id="128" name="Text 126"/>
          <p:cNvSpPr txBox="1"/>
          <p:nvPr/>
        </p:nvSpPr>
        <p:spPr>
          <a:xfrm>
            <a:off x="6720840" y="5221224"/>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20 or more</a:t>
            </a:r>
            <a:endParaRPr lang="en-US" sz="1100" dirty="0"/>
          </a:p>
        </p:txBody>
      </p:sp>
      <p:sp>
        <p:nvSpPr>
          <p:cNvPr id="129" name="Shape 127"/>
          <p:cNvSpPr/>
          <p:nvPr/>
        </p:nvSpPr>
        <p:spPr>
          <a:xfrm>
            <a:off x="6400800" y="5577840"/>
            <a:ext cx="237744" cy="237744"/>
          </a:xfrm>
          <a:prstGeom prst="rect">
            <a:avLst/>
          </a:prstGeom>
          <a:solidFill>
            <a:srgbClr val="F2F3F4"/>
          </a:solidFill>
          <a:ln w="9525">
            <a:solidFill>
              <a:srgbClr val="95A5A6"/>
            </a:solidFill>
            <a:prstDash val="dash"/>
          </a:ln>
        </p:spPr>
      </p:sp>
      <p:sp>
        <p:nvSpPr>
          <p:cNvPr id="130" name="Text 128"/>
          <p:cNvSpPr txBox="1"/>
          <p:nvPr/>
        </p:nvSpPr>
        <p:spPr>
          <a:xfrm>
            <a:off x="6720840" y="555040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no rate</a:t>
            </a:r>
            <a:endParaRPr lang="en-US" sz="1100" dirty="0"/>
          </a:p>
        </p:txBody>
      </p:sp>
      <p:sp>
        <p:nvSpPr>
          <p:cNvPr id="131" name="Text 129"/>
          <p:cNvSpPr txBox="1"/>
          <p:nvPr/>
        </p:nvSpPr>
        <p:spPr>
          <a:xfrm>
            <a:off x="8412480" y="1920240"/>
            <a:ext cx="3230575"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Delhi 32.8, Dadra and Nagar Haveli and Daman and Diu 29.6, Telangana 21.7.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Fewest: Lakshadweep 2.5.</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Grey: not in the revision, no draft yet (Tripura), or no exact roll before it (Chandigarh).</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projected adults before the revision; the draft rolls hold 84.4%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Roll before the revision and draft roll as a share of the projected population aged 18 and over, 1 March 2026; 19 states with projections by age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Only 6 states had a roll larger than their adult population: Telangana, Karnataka, Tamil Nadu, Odisha, Andhra Pradesh and Kerala.</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How far a roll exceeded its adults has no relationship with how many names were removed (rank correlation 0.03).</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Projections count residents; states receiving migrants count adults who may be registered at home, which lowers their ratio.</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65.6 lakh removed,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657.0 lakh removed,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616.6 lakh removed, 17.0 per 100 electors; dead 18.1%, shifted, absent or other 73.6%.</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removed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removed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removed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removed ten lakh names or more,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removals split by the reason entered;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Odisha (41.7%),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2,89,00,000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41,79,000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33,83,302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published in lakh or crore. Short: the reasons leave some names unexplained. No split: none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7 of the 10 states with a split by sex, women are a larger share of the removed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removed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Largest gap: Bihar, 7.6 points; then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6 states; rounded, from an earlier roll or unverified for the rest. Bihar is compared with the 2011 population.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removal rate goes with in-migration across all states (0.53), but only because of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removals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Characteristic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All states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Phase 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Phase 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Share enrolled twice, larger states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Living here, born elsewhere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Income per head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Urban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-0.58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Muslim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SC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Born here, living elsewhere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Literacy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Women's literacy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Sex ratio</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ST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urban share, migration and the Muslim share rise together, because the large destination states are revised alongside the North-East. 15 states cannot separate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0.12 across all states, -0.34 in phase 2.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removed fewer: a median of 8.3 per 100 against 15.2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removed within a state.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After the draft, 27.6 lakh more names were removed in 17 states, with no reason given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the state figures show, and what they cannot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entered: dead, shifted or absent (with "others" where reported), or enrolled more than once.</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removals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Removals after the draft, at hearings and on objections, are outside every figure by reason, because no state has said why. Twelve phase 3 final rolls are still to come. The Election Commission has published no state table of its own.</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removal at the draft and after it, exact rather than rounded.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deletion lists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so that restorations can be set against removals.</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All India: each state's Chief Electoral Officer's figures at the draft roll. Press notes read directly for Lakshadweep, Meghalaya, Arunachal Pradesh, Manipur and Nagaland; the rest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counted from the phase 1 deletion lists,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grouped into the three every state reported: dead; shifted, absent or other;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No name, EPIC number or address is published.</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Varna Sri Raman</dc:creator>
  <cp:lastModifiedBy>Varna Sri Raman</cp:lastModifiedBy>
  <cp:revision>1</cp:revision>
  <dcterms:created xsi:type="dcterms:W3CDTF">2026-09-30T10:54:38Z</dcterms:created>
  <dcterms:modified xsi:type="dcterms:W3CDTF">2026-09-30T10:54:38Z</dcterms:modified>
</cp:coreProperties>
</file>