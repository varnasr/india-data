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Gujarat</c:v>
                  </c:pt>
                  <c:pt idx="12">
                    <c:v>Madhya Pradesh</c:v>
                  </c:pt>
                  <c:pt idx="13">
                    <c:v>Jharkhand</c:v>
                  </c:pt>
                  <c:pt idx="14">
                    <c:v>Bihar</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100.7</c:v>
                </c:pt>
                <c:pt idx="5">
                  <c:v>100.4</c:v>
                </c:pt>
                <c:pt idx="6">
                  <c:v>99.7</c:v>
                </c:pt>
                <c:pt idx="7">
                  <c:v>99.5</c:v>
                </c:pt>
                <c:pt idx="8">
                  <c:v>98.9</c:v>
                </c:pt>
                <c:pt idx="9">
                  <c:v>96.5</c:v>
                </c:pt>
                <c:pt idx="10">
                  <c:v>95.5</c:v>
                </c:pt>
                <c:pt idx="11">
                  <c:v>95.4</c:v>
                </c:pt>
                <c:pt idx="12">
                  <c:v>95.4</c:v>
                </c:pt>
                <c:pt idx="13">
                  <c:v>95.2</c:v>
                </c:pt>
                <c:pt idx="14">
                  <c:v>95</c:v>
                </c:pt>
                <c:pt idx="15">
                  <c:v>91.6</c:v>
                </c:pt>
                <c:pt idx="16">
                  <c:v>90.2</c:v>
                </c:pt>
                <c:pt idx="17">
                  <c:v>88.9</c:v>
                </c:pt>
                <c:pt idx="18">
                  <c:v>85.6</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Gujarat</c:v>
                  </c:pt>
                  <c:pt idx="12">
                    <c:v>Madhya Pradesh</c:v>
                  </c:pt>
                  <c:pt idx="13">
                    <c:v>Jharkhand</c:v>
                  </c:pt>
                  <c:pt idx="14">
                    <c:v>Bihar</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89.9</c:v>
                </c:pt>
                <c:pt idx="5">
                  <c:v>91.7</c:v>
                </c:pt>
                <c:pt idx="6">
                  <c:v>78.6</c:v>
                </c:pt>
                <c:pt idx="7">
                  <c:v>91.9</c:v>
                </c:pt>
                <c:pt idx="8">
                  <c:v>86.1</c:v>
                </c:pt>
                <c:pt idx="9">
                  <c:v>89.2</c:v>
                </c:pt>
                <c:pt idx="10">
                  <c:v>77.7</c:v>
                </c:pt>
                <c:pt idx="11">
                  <c:v>81.6</c:v>
                </c:pt>
                <c:pt idx="12">
                  <c:v>88.3</c:v>
                </c:pt>
                <c:pt idx="13">
                  <c:v>79.5</c:v>
                </c:pt>
                <c:pt idx="14">
                  <c:v>87.1</c:v>
                </c:pt>
                <c:pt idx="15">
                  <c:v>76.6</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111.2</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453.7</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50.4</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0.1</c:v>
                </c:pt>
                <c:pt idx="2">
                  <c:v>1.3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cat>
            <c:multiLvlStrRef>
              <c:f>Sheet1!$A$2:$A$32</c:f>
              <c:multiLvlStrCache>
                <c:ptCount val="31"/>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Chandigarh</c:v>
                  </c:pt>
                  <c:pt idx="18">
                    <c:v>Chhattisgarh</c:v>
                  </c:pt>
                  <c:pt idx="19">
                    <c:v>Gujarat</c:v>
                  </c:pt>
                  <c:pt idx="20">
                    <c:v>Tamil Nadu</c:v>
                  </c:pt>
                  <c:pt idx="21">
                    <c:v>Haryana</c:v>
                  </c:pt>
                  <c:pt idx="22">
                    <c:v>Jharkhand</c:v>
                  </c:pt>
                  <c:pt idx="23">
                    <c:v>Uttar Pradesh</c:v>
                  </c:pt>
                  <c:pt idx="24">
                    <c:v>Arunachal Pradesh</c:v>
                  </c:pt>
                  <c:pt idx="25">
                    <c:v>Karnataka</c:v>
                  </c:pt>
                  <c:pt idx="26">
                    <c:v>Andaman and Nicobar Islands</c:v>
                  </c:pt>
                  <c:pt idx="27">
                    <c:v>Maharashtra</c:v>
                  </c:pt>
                  <c:pt idx="28">
                    <c:v>Telangana</c:v>
                  </c:pt>
                  <c:pt idx="29">
                    <c:v>Dadra and Nagar Haveli and Daman and Diu</c:v>
                  </c:pt>
                  <c:pt idx="30">
                    <c:v>Delhi</c:v>
                  </c:pt>
                </c:lvl>
              </c:multiLvlStrCache>
            </c:multiLvlStrRef>
          </c:cat>
          <c:val>
            <c:numRef>
              <c:f>Sheet1!$B$2:$B$32</c:f>
              <c:numCache>
                <c:formatCode>General</c:formatCode>
                <c:ptCount val="31"/>
                <c:pt idx="0">
                  <c:v>2.47</c:v>
                </c:pt>
                <c:pt idx="1">
                  <c:v>5.28</c:v>
                </c:pt>
                <c:pt idx="2">
                  <c:v>6.03</c:v>
                </c:pt>
                <c:pt idx="3">
                  <c:v>7.45</c:v>
                </c:pt>
                <c:pt idx="4">
                  <c:v>7.58</c:v>
                </c:pt>
                <c:pt idx="5">
                  <c:v>7.6</c:v>
                </c:pt>
                <c:pt idx="6">
                  <c:v>7.66</c:v>
                </c:pt>
                <c:pt idx="7">
                  <c:v>7.68</c:v>
                </c:pt>
                <c:pt idx="8">
                  <c:v>8.01</c:v>
                </c:pt>
                <c:pt idx="9">
                  <c:v>8.31</c:v>
                </c:pt>
                <c:pt idx="10">
                  <c:v>8.44</c:v>
                </c:pt>
                <c:pt idx="11">
                  <c:v>8.65</c:v>
                </c:pt>
                <c:pt idx="12">
                  <c:v>9.63</c:v>
                </c:pt>
                <c:pt idx="13">
                  <c:v>10.13</c:v>
                </c:pt>
                <c:pt idx="14">
                  <c:v>10.39</c:v>
                </c:pt>
                <c:pt idx="15">
                  <c:v>10.78</c:v>
                </c:pt>
                <c:pt idx="16">
                  <c:v>11.62</c:v>
                </c:pt>
                <c:pt idx="17">
                  <c:v>12.81</c:v>
                </c:pt>
                <c:pt idx="18">
                  <c:v>12.88</c:v>
                </c:pt>
                <c:pt idx="19">
                  <c:v>14.5</c:v>
                </c:pt>
                <c:pt idx="20">
                  <c:v>15.19</c:v>
                </c:pt>
                <c:pt idx="21">
                  <c:v>16.39</c:v>
                </c:pt>
                <c:pt idx="22">
                  <c:v>16.48</c:v>
                </c:pt>
                <c:pt idx="23">
                  <c:v>18.7</c:v>
                </c:pt>
                <c:pt idx="24">
                  <c:v>19.09</c:v>
                </c:pt>
                <c:pt idx="25">
                  <c:v>19.48</c:v>
                </c:pt>
                <c:pt idx="26">
                  <c:v>20.62</c:v>
                </c:pt>
                <c:pt idx="27">
                  <c:v>21.14</c:v>
                </c:pt>
                <c:pt idx="28">
                  <c:v>21.71</c:v>
                </c:pt>
                <c:pt idx="29">
                  <c:v>29.65</c:v>
                </c:pt>
                <c:pt idx="30">
                  <c:v>32.78</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Sheet1!$B$2:$B$31</c:f>
              <c:numCache>
                <c:formatCode>General</c:formatCode>
                <c:ptCount val="30"/>
                <c:pt idx="0">
                  <c:v>49.34</c:v>
                </c:pt>
                <c:pt idx="1">
                  <c:v>46.13</c:v>
                </c:pt>
                <c:pt idx="2">
                  <c:v>33.91</c:v>
                </c:pt>
                <c:pt idx="3">
                  <c:v>41.37</c:v>
                </c:pt>
                <c:pt idx="4">
                  <c:v>45.17</c:v>
                </c:pt>
                <c:pt idx="5">
                  <c:v>34.04</c:v>
                </c:pt>
                <c:pt idx="6">
                  <c:v>41.52</c:v>
                </c:pt>
                <c:pt idx="7">
                  <c:v>28.72</c:v>
                </c:pt>
                <c:pt idx="8">
                  <c:v>28.02</c:v>
                </c:pt>
                <c:pt idx="9">
                  <c:v>26.98</c:v>
                </c:pt>
                <c:pt idx="10">
                  <c:v>27.67</c:v>
                </c:pt>
                <c:pt idx="11">
                  <c:v>27.1</c:v>
                </c:pt>
                <c:pt idx="12">
                  <c:v>23.48</c:v>
                </c:pt>
                <c:pt idx="13">
                  <c:v>24.51</c:v>
                </c:pt>
                <c:pt idx="14">
                  <c:v>20.94</c:v>
                </c:pt>
                <c:pt idx="15">
                  <c:v>22.64</c:v>
                </c:pt>
                <c:pt idx="16">
                  <c:v>17.51</c:v>
                </c:pt>
                <c:pt idx="17">
                  <c:v>25.56</c:v>
                </c:pt>
                <c:pt idx="18">
                  <c:v>19.8</c:v>
                </c:pt>
                <c:pt idx="19">
                  <c:v>16.82</c:v>
                </c:pt>
                <c:pt idx="20">
                  <c:v>16.01</c:v>
                </c:pt>
                <c:pt idx="21">
                  <c:v>15.02</c:v>
                </c:pt>
                <c:pt idx="22">
                  <c:v>20.1</c:v>
                </c:pt>
                <c:pt idx="23">
                  <c:v>15.19</c:v>
                </c:pt>
                <c:pt idx="24">
                  <c:v>12.57</c:v>
                </c:pt>
                <c:pt idx="25">
                  <c:v>18.35</c:v>
                </c:pt>
                <c:pt idx="26">
                  <c:v>14.36</c:v>
                </c:pt>
                <c:pt idx="27">
                  <c:v>15.09</c:v>
                </c:pt>
                <c:pt idx="28">
                  <c:v>5.34</c:v>
                </c:pt>
                <c:pt idx="29">
                  <c:v>5.94</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Sheet1!$C$2:$C$31</c:f>
              <c:numCache>
                <c:formatCode>General</c:formatCode>
                <c:ptCount val="30"/>
                <c:pt idx="0">
                  <c:v>17.63</c:v>
                </c:pt>
                <c:pt idx="1">
                  <c:v>49</c:v>
                </c:pt>
                <c:pt idx="2">
                  <c:v>49.68</c:v>
                </c:pt>
                <c:pt idx="3">
                  <c:v>50.78</c:v>
                </c:pt>
                <c:pt idx="4">
                  <c:v>51.11</c:v>
                </c:pt>
                <c:pt idx="5">
                  <c:v>55.28</c:v>
                </c:pt>
                <c:pt idx="6">
                  <c:v>56.1</c:v>
                </c:pt>
                <c:pt idx="7">
                  <c:v>64.93</c:v>
                </c:pt>
                <c:pt idx="8">
                  <c:v>66.17</c:v>
                </c:pt>
                <c:pt idx="9">
                  <c:v>67.37</c:v>
                </c:pt>
                <c:pt idx="10">
                  <c:v>68.24</c:v>
                </c:pt>
                <c:pt idx="11">
                  <c:v>68.24</c:v>
                </c:pt>
                <c:pt idx="12">
                  <c:v>69.97</c:v>
                </c:pt>
                <c:pt idx="13">
                  <c:v>70.32</c:v>
                </c:pt>
                <c:pt idx="14">
                  <c:v>70.83</c:v>
                </c:pt>
                <c:pt idx="15">
                  <c:v>71.31</c:v>
                </c:pt>
                <c:pt idx="16">
                  <c:v>72.43</c:v>
                </c:pt>
                <c:pt idx="17">
                  <c:v>72.44</c:v>
                </c:pt>
                <c:pt idx="18">
                  <c:v>73.72</c:v>
                </c:pt>
                <c:pt idx="19">
                  <c:v>74.67</c:v>
                </c:pt>
                <c:pt idx="20">
                  <c:v>75.16</c:v>
                </c:pt>
                <c:pt idx="21">
                  <c:v>77.55</c:v>
                </c:pt>
                <c:pt idx="22">
                  <c:v>77.94</c:v>
                </c:pt>
                <c:pt idx="23">
                  <c:v>78.24</c:v>
                </c:pt>
                <c:pt idx="24">
                  <c:v>78.3</c:v>
                </c:pt>
                <c:pt idx="25">
                  <c:v>78.45</c:v>
                </c:pt>
                <c:pt idx="26">
                  <c:v>81.09</c:v>
                </c:pt>
                <c:pt idx="27">
                  <c:v>81.99</c:v>
                </c:pt>
                <c:pt idx="28">
                  <c:v>90.74</c:v>
                </c:pt>
                <c:pt idx="29">
                  <c:v>91.09</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Sheet1!$D$2:$D$31</c:f>
              <c:numCache>
                <c:formatCode>General</c:formatCode>
                <c:ptCount val="30"/>
                <c:pt idx="0">
                  <c:v>33.03</c:v>
                </c:pt>
                <c:pt idx="1">
                  <c:v>4.87</c:v>
                </c:pt>
                <c:pt idx="2">
                  <c:v>16.42</c:v>
                </c:pt>
                <c:pt idx="3">
                  <c:v>7.86</c:v>
                </c:pt>
                <c:pt idx="4">
                  <c:v>3.71</c:v>
                </c:pt>
                <c:pt idx="5">
                  <c:v>10.69</c:v>
                </c:pt>
                <c:pt idx="6">
                  <c:v>2.38</c:v>
                </c:pt>
                <c:pt idx="7">
                  <c:v>6.35</c:v>
                </c:pt>
                <c:pt idx="8">
                  <c:v>5.81</c:v>
                </c:pt>
                <c:pt idx="9">
                  <c:v>5.65</c:v>
                </c:pt>
                <c:pt idx="10">
                  <c:v>4.09</c:v>
                </c:pt>
                <c:pt idx="11">
                  <c:v>4.66</c:v>
                </c:pt>
                <c:pt idx="12">
                  <c:v>6.55</c:v>
                </c:pt>
                <c:pt idx="13">
                  <c:v>5.17</c:v>
                </c:pt>
                <c:pt idx="14">
                  <c:v>8.23</c:v>
                </c:pt>
                <c:pt idx="15">
                  <c:v>6.05</c:v>
                </c:pt>
                <c:pt idx="16">
                  <c:v>10.05</c:v>
                </c:pt>
                <c:pt idx="17">
                  <c:v>2</c:v>
                </c:pt>
                <c:pt idx="18">
                  <c:v>6.48</c:v>
                </c:pt>
                <c:pt idx="19">
                  <c:v>8.52</c:v>
                </c:pt>
                <c:pt idx="20">
                  <c:v>8.82</c:v>
                </c:pt>
                <c:pt idx="21">
                  <c:v>7.43</c:v>
                </c:pt>
                <c:pt idx="22">
                  <c:v>1.96</c:v>
                </c:pt>
                <c:pt idx="23">
                  <c:v>6.58</c:v>
                </c:pt>
                <c:pt idx="24">
                  <c:v>9.13</c:v>
                </c:pt>
                <c:pt idx="25">
                  <c:v>3.21</c:v>
                </c:pt>
                <c:pt idx="26">
                  <c:v>4.56</c:v>
                </c:pt>
                <c:pt idx="27">
                  <c:v>2.92</c:v>
                </c:pt>
                <c:pt idx="28">
                  <c:v>3.92</c:v>
                </c:pt>
                <c:pt idx="29">
                  <c:v>2.98</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Sheet1!$A$2:$A$12</c:f>
              <c:multiLvlStrCache>
                <c:ptCount val="11"/>
                <c:lvl>
                  <c:pt idx="0">
                    <c:v>Delhi</c:v>
                  </c:pt>
                  <c:pt idx="1">
                    <c:v>Chandigarh</c:v>
                  </c:pt>
                  <c:pt idx="2">
                    <c:v>Karnataka</c:v>
                  </c:pt>
                  <c:pt idx="3">
                    <c:v>Tamil Nadu</c:v>
                  </c:pt>
                  <c:pt idx="4">
                    <c:v>Gujarat</c:v>
                  </c:pt>
                  <c:pt idx="5">
                    <c:v>Kerala</c:v>
                  </c:pt>
                  <c:pt idx="6">
                    <c:v>West Bengal</c:v>
                  </c:pt>
                  <c:pt idx="7">
                    <c:v>Madhya Pradesh</c:v>
                  </c:pt>
                  <c:pt idx="8">
                    <c:v>Uttar Pradesh</c:v>
                  </c:pt>
                  <c:pt idx="9">
                    <c:v>Odisha</c:v>
                  </c:pt>
                  <c:pt idx="10">
                    <c:v>Bihar</c:v>
                  </c:pt>
                </c:lvl>
              </c:multiLvlStrCache>
            </c:multiLvlStrRef>
          </c:cat>
          <c:val>
            <c:numRef>
              <c:f>Sheet1!$B$2:$B$12</c:f>
              <c:numCache>
                <c:formatCode>General</c:formatCode>
                <c:ptCount val="11"/>
                <c:pt idx="0">
                  <c:v>46.85</c:v>
                </c:pt>
                <c:pt idx="1">
                  <c:v>48.93</c:v>
                </c:pt>
                <c:pt idx="2">
                  <c:v>50.22</c:v>
                </c:pt>
                <c:pt idx="3">
                  <c:v>51.02</c:v>
                </c:pt>
                <c:pt idx="4">
                  <c:v>48.82</c:v>
                </c:pt>
                <c:pt idx="5">
                  <c:v>51.67</c:v>
                </c:pt>
                <c:pt idx="6">
                  <c:v>49.23</c:v>
                </c:pt>
                <c:pt idx="7">
                  <c:v>48.8</c:v>
                </c:pt>
                <c:pt idx="8">
                  <c:v>46.76</c:v>
                </c:pt>
                <c:pt idx="9">
                  <c:v>49.44</c:v>
                </c:pt>
                <c:pt idx="10">
                  <c:v>47.86</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Sheet1!$A$2:$A$12</c:f>
              <c:multiLvlStrCache>
                <c:ptCount val="11"/>
                <c:lvl>
                  <c:pt idx="0">
                    <c:v>Delhi</c:v>
                  </c:pt>
                  <c:pt idx="1">
                    <c:v>Chandigarh</c:v>
                  </c:pt>
                  <c:pt idx="2">
                    <c:v>Karnataka</c:v>
                  </c:pt>
                  <c:pt idx="3">
                    <c:v>Tamil Nadu</c:v>
                  </c:pt>
                  <c:pt idx="4">
                    <c:v>Gujarat</c:v>
                  </c:pt>
                  <c:pt idx="5">
                    <c:v>Kerala</c:v>
                  </c:pt>
                  <c:pt idx="6">
                    <c:v>West Bengal</c:v>
                  </c:pt>
                  <c:pt idx="7">
                    <c:v>Madhya Pradesh</c:v>
                  </c:pt>
                  <c:pt idx="8">
                    <c:v>Uttar Pradesh</c:v>
                  </c:pt>
                  <c:pt idx="9">
                    <c:v>Odisha</c:v>
                  </c:pt>
                  <c:pt idx="10">
                    <c:v>Bihar</c:v>
                  </c:pt>
                </c:lvl>
              </c:multiLvlStrCache>
            </c:multiLvlStrRef>
          </c:cat>
          <c:val>
            <c:numRef>
              <c:f>Sheet1!$C$2:$C$12</c:f>
              <c:numCache>
                <c:formatCode>General</c:formatCode>
                <c:ptCount val="11"/>
                <c:pt idx="0">
                  <c:v>42.77</c:v>
                </c:pt>
                <c:pt idx="1">
                  <c:v>48.34</c:v>
                </c:pt>
                <c:pt idx="2">
                  <c:v>49.69</c:v>
                </c:pt>
                <c:pt idx="3">
                  <c:v>51.34</c:v>
                </c:pt>
                <c:pt idx="4">
                  <c:v>51.42</c:v>
                </c:pt>
                <c:pt idx="5">
                  <c:v>55.32</c:v>
                </c:pt>
                <c:pt idx="6">
                  <c:v>53.53</c:v>
                </c:pt>
                <c:pt idx="7">
                  <c:v>55.32</c:v>
                </c:pt>
                <c:pt idx="8">
                  <c:v>53.63</c:v>
                </c:pt>
                <c:pt idx="9">
                  <c:v>56.96</c:v>
                </c:pt>
                <c:pt idx="10">
                  <c:v>55.49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Removed at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Sheet1!$A$2:$A$22</c:f>
              <c:multiLvlStrCache>
                <c:ptCount val="21"/>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Chandigarh</c:v>
                  </c:pt>
                  <c:pt idx="10">
                    <c:v>Goa</c:v>
                  </c:pt>
                  <c:pt idx="11">
                    <c:v>Uttarakhand</c:v>
                  </c:pt>
                  <c:pt idx="12">
                    <c:v>Puducherry</c:v>
                  </c:pt>
                  <c:pt idx="13">
                    <c:v>Manipur</c:v>
                  </c:pt>
                  <c:pt idx="14">
                    <c:v>Bihar</c:v>
                  </c:pt>
                  <c:pt idx="15">
                    <c:v>Madhya Pradesh</c:v>
                  </c:pt>
                  <c:pt idx="16">
                    <c:v>Rajasthan</c:v>
                  </c:pt>
                  <c:pt idx="17">
                    <c:v>Odisha</c:v>
                  </c:pt>
                  <c:pt idx="18">
                    <c:v>Mizoram</c:v>
                  </c:pt>
                  <c:pt idx="19">
                    <c:v>Kerala</c:v>
                  </c:pt>
                  <c:pt idx="20">
                    <c:v>Lakshadweep</c:v>
                  </c:pt>
                </c:lvl>
              </c:multiLvlStrCache>
            </c:multiLvlStrRef>
          </c:cat>
          <c:val>
            <c:numRef>
              <c:f>Sheet1!$B$2:$B$22</c:f>
              <c:numCache>
                <c:formatCode>General</c:formatCode>
                <c:ptCount val="21"/>
                <c:pt idx="0">
                  <c:v>29.65</c:v>
                </c:pt>
                <c:pt idx="1">
                  <c:v>19.09</c:v>
                </c:pt>
                <c:pt idx="2">
                  <c:v>20.62</c:v>
                </c:pt>
                <c:pt idx="3">
                  <c:v>7.6</c:v>
                </c:pt>
                <c:pt idx="4">
                  <c:v>14.5</c:v>
                </c:pt>
                <c:pt idx="5">
                  <c:v>18.7</c:v>
                </c:pt>
                <c:pt idx="6">
                  <c:v>12.88</c:v>
                </c:pt>
                <c:pt idx="7">
                  <c:v>15.19</c:v>
                </c:pt>
                <c:pt idx="8">
                  <c:v>8.01</c:v>
                </c:pt>
                <c:pt idx="9">
                  <c:v>12.81</c:v>
                </c:pt>
                <c:pt idx="10">
                  <c:v>8.44</c:v>
                </c:pt>
                <c:pt idx="11">
                  <c:v>10.39</c:v>
                </c:pt>
                <c:pt idx="12">
                  <c:v>10.13</c:v>
                </c:pt>
                <c:pt idx="13">
                  <c:v>7.58</c:v>
                </c:pt>
                <c:pt idx="14">
                  <c:v>8.31</c:v>
                </c:pt>
                <c:pt idx="15">
                  <c:v>7.45</c:v>
                </c:pt>
                <c:pt idx="16">
                  <c:v>7.66</c:v>
                </c:pt>
                <c:pt idx="17">
                  <c:v>6.03</c:v>
                </c:pt>
                <c:pt idx="18">
                  <c:v>5.28</c:v>
                </c:pt>
                <c:pt idx="19">
                  <c:v>8.65</c:v>
                </c:pt>
                <c:pt idx="20">
                  <c:v>2.47</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Sheet1!$A$2:$A$22</c:f>
              <c:multiLvlStrCache>
                <c:ptCount val="21"/>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Chandigarh</c:v>
                  </c:pt>
                  <c:pt idx="10">
                    <c:v>Goa</c:v>
                  </c:pt>
                  <c:pt idx="11">
                    <c:v>Uttarakhand</c:v>
                  </c:pt>
                  <c:pt idx="12">
                    <c:v>Puducherry</c:v>
                  </c:pt>
                  <c:pt idx="13">
                    <c:v>Manipur</c:v>
                  </c:pt>
                  <c:pt idx="14">
                    <c:v>Bihar</c:v>
                  </c:pt>
                  <c:pt idx="15">
                    <c:v>Madhya Pradesh</c:v>
                  </c:pt>
                  <c:pt idx="16">
                    <c:v>Rajasthan</c:v>
                  </c:pt>
                  <c:pt idx="17">
                    <c:v>Odisha</c:v>
                  </c:pt>
                  <c:pt idx="18">
                    <c:v>Mizoram</c:v>
                  </c:pt>
                  <c:pt idx="19">
                    <c:v>Kerala</c:v>
                  </c:pt>
                  <c:pt idx="20">
                    <c:v>Lakshadweep</c:v>
                  </c:pt>
                </c:lvl>
              </c:multiLvlStrCache>
            </c:multiLvlStrRef>
          </c:cat>
          <c:val>
            <c:numRef>
              <c:f>Sheet1!$C$2:$C$22</c:f>
              <c:numCache>
                <c:formatCode>General</c:formatCode>
                <c:ptCount val="21"/>
                <c:pt idx="0">
                  <c:v>30.89</c:v>
                </c:pt>
                <c:pt idx="1">
                  <c:v>21.57</c:v>
                </c:pt>
                <c:pt idx="2">
                  <c:v>16.87</c:v>
                </c:pt>
                <c:pt idx="3">
                  <c:v>15.9</c:v>
                </c:pt>
                <c:pt idx="4">
                  <c:v>13.4</c:v>
                </c:pt>
                <c:pt idx="5">
                  <c:v>13.24</c:v>
                </c:pt>
                <c:pt idx="6">
                  <c:v>11.77</c:v>
                </c:pt>
                <c:pt idx="7">
                  <c:v>11.55</c:v>
                </c:pt>
                <c:pt idx="8">
                  <c:v>11.16</c:v>
                </c:pt>
                <c:pt idx="9">
                  <c:v>10.89</c:v>
                </c:pt>
                <c:pt idx="10">
                  <c:v>10.76</c:v>
                </c:pt>
                <c:pt idx="11">
                  <c:v>10.07</c:v>
                </c:pt>
                <c:pt idx="12">
                  <c:v>7.57</c:v>
                </c:pt>
                <c:pt idx="13">
                  <c:v>6.33</c:v>
                </c:pt>
                <c:pt idx="14">
                  <c:v>6.05</c:v>
                </c:pt>
                <c:pt idx="15">
                  <c:v>5.97</c:v>
                </c:pt>
                <c:pt idx="16">
                  <c:v>5.74</c:v>
                </c:pt>
                <c:pt idx="17">
                  <c:v>5.29</c:v>
                </c:pt>
                <c:pt idx="18">
                  <c:v>4.48</c:v>
                </c:pt>
                <c:pt idx="19">
                  <c:v>3.22</c:v>
                </c:pt>
                <c:pt idx="20">
                  <c:v>0.36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Seats where the count is larger than the margin</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95A5A6"/>
              </a:solidFill>
              <a:effectLst/>
            </c:spPr>
          </c:dPt>
          <c:dPt>
            <c:idx val="3"/>
            <c:invertIfNegative val="0"/>
            <c:bubble3D val="0"/>
            <c:spPr>
              <a:solidFill>
                <a:srgbClr val="95A5A6"/>
              </a:solidFill>
              <a:effectLst/>
            </c:spPr>
          </c:dPt>
          <c:cat>
            <c:multiLvlStrRef>
              <c:f>Sheet1!$A$2:$A$5</c:f>
              <c:multiLvlStrCache>
                <c:ptCount val="4"/>
                <c:lvl>
                  <c:pt idx="0">
                    <c:v>Bihar</c:v>
                  </c:pt>
                  <c:pt idx="1">
                    <c:v>Tamil Nadu</c:v>
                  </c:pt>
                  <c:pt idx="2">
                    <c:v>West Bengal (roll fall)</c:v>
                  </c:pt>
                  <c:pt idx="3">
                    <c:v>Kerala (roll fall)</c:v>
                  </c:pt>
                </c:lvl>
              </c:multiLvlStrCache>
            </c:multiLvlStrRef>
          </c:cat>
          <c:val>
            <c:numRef>
              <c:f>Sheet1!$B$2:$B$5</c:f>
              <c:numCache>
                <c:formatCode>General</c:formatCode>
                <c:ptCount val="4"/>
                <c:pt idx="0">
                  <c:v>71.6</c:v>
                </c:pt>
                <c:pt idx="1">
                  <c:v>90.2</c:v>
                </c:pt>
                <c:pt idx="2">
                  <c:v>47.3</c:v>
                </c:pt>
                <c:pt idx="3">
                  <c:v>27.1</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Electors on the roll</c:v>
                </c:pt>
              </c:strCache>
            </c:strRef>
          </c:tx>
          <c:spPr>
            <a:solidFill>
              <a:srgbClr val="1F4E79"/>
            </a:solidFill>
            <a:ln w="25400" cap="flat">
              <a:solidFill>
                <a:srgbClr val="1F4E7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F4E79"/>
              </a:solidFill>
              <a:ln w="9525" cap="flat">
                <a:solidFill>
                  <a:srgbClr val="1F4E7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Sheet1!$B$2:$B$12</c:f>
              <c:numCache>
                <c:formatCode>General</c:formatCode>
                <c:ptCount val="11"/>
                <c:pt idx="0">
                  <c:v>40.04</c:v>
                </c:pt>
                <c:pt idx="1">
                  <c:v>49.89</c:v>
                </c:pt>
                <c:pt idx="2">
                  <c:v>51.15</c:v>
                </c:pt>
                <c:pt idx="3">
                  <c:v>59.26</c:v>
                </c:pt>
                <c:pt idx="4">
                  <c:v>60.59</c:v>
                </c:pt>
                <c:pt idx="5">
                  <c:v>61.95</c:v>
                </c:pt>
                <c:pt idx="6">
                  <c:v>67.15</c:v>
                </c:pt>
                <c:pt idx="7">
                  <c:v>71.7</c:v>
                </c:pt>
                <c:pt idx="8">
                  <c:v>83.41</c:v>
                </c:pt>
                <c:pt idx="9">
                  <c:v>91.2</c:v>
                </c:pt>
                <c:pt idx="10">
                  <c:v>97.98</c:v>
                </c:pt>
              </c:numCache>
            </c:numRef>
          </c:val>
          <c:smooth val="0"/>
        </c:ser>
        <c:ser>
          <c:idx val="1"/>
          <c:order val="1"/>
          <c:tx>
            <c:strRef>
              <c:f>Sheet1!$C$1</c:f>
              <c:strCache>
                <c:ptCount val="1"/>
                <c:pt idx="0">
                  <c:v>Population of voting age</c:v>
                </c:pt>
              </c:strCache>
            </c:strRef>
          </c:tx>
          <c:spPr>
            <a:solidFill>
              <a:srgbClr val="17A589"/>
            </a:solidFill>
            <a:ln w="25400" cap="flat">
              <a:solidFill>
                <a:srgbClr val="17A58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7A589"/>
              </a:solidFill>
              <a:ln w="9525" cap="flat">
                <a:solidFill>
                  <a:srgbClr val="17A58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Sheet1!$C$2:$C$12</c:f>
              <c:numCache>
                <c:formatCode>General</c:formatCode>
                <c:ptCount val="11"/>
                <c:pt idx="0">
                  <c:v>36.58</c:v>
                </c:pt>
                <c:pt idx="1">
                  <c:v>46.54</c:v>
                </c:pt>
                <c:pt idx="2">
                  <c:v>48.98</c:v>
                </c:pt>
                <c:pt idx="3">
                  <c:v>55.57</c:v>
                </c:pt>
                <c:pt idx="4">
                  <c:v>58.44</c:v>
                </c:pt>
                <c:pt idx="5">
                  <c:v>59.94</c:v>
                </c:pt>
                <c:pt idx="6">
                  <c:v>67.87</c:v>
                </c:pt>
                <c:pt idx="7">
                  <c:v>76.18</c:v>
                </c:pt>
                <c:pt idx="8">
                  <c:v>84.93</c:v>
                </c:pt>
                <c:pt idx="9">
                  <c:v>93.73</c:v>
                </c:pt>
                <c:pt idx="10">
                  <c:v>101.77</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is the roll published after the house-to-house check, and the final roll the one published after claims and objections are decided. Per 100 electors is the number removed for every 100 people on the roll before the revision. Point 1 covers the 19 states with projections by age, from the Technical Group on Population Projections. Point 6 is an upper bound on names put back, because the rise from draft to final includes new electors.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Punjab, Meghalaya, Nagaland. Removals after the draft carry no reason in any state except Bihar. Rank correlation between the removal rate at the draft and the share made up: -0.15,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kinds of count are never added together. Assembly margins come from each state's election pages on the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margins are the winner's votes less the runner-up candidate's, from the ECI results and statistical report 34, through a published compilation, checked against the published margin in every seat. NOTA is never a runner-up. Surat was unopposed.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Electors from the ECI Atlas 2024, Graph 6.1 (the Atlas misprints 1991-92). Population from the UN World Population Prospects 2024, 21 and over in 1984-85 and 18 and over from 1989.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of the 34 entries are Supreme Court orders or its judgment. The site also lists 35 press reports of problems, each attributed and kept apart because no document confirms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20.9%</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Against the margins   16–18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it was run   19</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21–22</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adults before the revision, and it removed 14.1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in short, each computed from the state figures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920240"/>
            <a:ext cx="11094415" cy="3703320"/>
          </a:xfrm>
          <a:prstGeom prst="rect">
            <a:avLst/>
          </a:prstGeom>
          <a:noFill/>
          <a:ln/>
        </p:spPr>
        <p:txBody>
          <a:bodyPr wrap="square" lIns="0" tIns="0" rIns="0" bIns="0" rtlCol="0" anchor="t">
            <a:normAutofit/>
          </a:bodyPr>
          <a:lstStyle/>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Before the revision, the rolls already held 98.3% of adults in the 19 states with population projections. Only 6 of those states had more names on the roll than adults.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revision still took off 13.39 crore names in 31 states, 14.1 of every 100 electors, and the draft rolls now hold 84.4% of adults. States whose rolls were most over-full did not cut more.</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removed with a reason given, only 20.9% were entered as dead. The rest were marked as moved, absent or on the roll twice, and nobody has checked those entries.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same rules applied in every state. Delhi removed 32.8 of every 100 electors and Lakshadweep 2.5. Among big states, the share marked moved or not found runs from 49.7% in Andhra Pradesh to 91.1% in Delhi.</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more likely to be removed. In 7 of the 11 states that report by sex, women are a bigger share of the names removed than of the roll.</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Little has come back. In the 21 states with a final roll, the rolls grew back by at most 14.1% of what was cut, and that rise includes new voters.</a:t>
            </a:r>
            <a:endParaRPr lang="en-US" sz="1500" dirty="0"/>
          </a:p>
        </p:txBody>
      </p:sp>
      <p:sp>
        <p:nvSpPr>
          <p:cNvPr id="48" name="Text 46"/>
          <p:cNvSpPr txBox="1"/>
          <p:nvPr/>
        </p:nvSpPr>
        <p:spPr>
          <a:xfrm>
            <a:off x="548640" y="5715000"/>
            <a:ext cx="11094415" cy="54864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1C2833"/>
                </a:solidFill>
                <a:latin typeface="Calibri" pitchFamily="34" charset="0"/>
                <a:ea typeface="Calibri" pitchFamily="34" charset="-122"/>
                <a:cs typeface="Calibri" pitchFamily="34" charset="-120"/>
              </a:rPr>
              <a:t>Two limits. The adult figures count people where they live, so states that draw migrants look short of electors registered at home. The figures show what happened. They cannot show why.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publishes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9.57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2.80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wrote down, and nobody has checked it. About one in five of the removals split by reason was a death. The other four in five rest on an officer writing down that the elector was not where the roll said, or was on it twice. 1.4 lakh names are in states that have not published a full split.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with one tile per state or union territory placed roughly where it lies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2878B3"/>
          </a:solidFill>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12.8</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7.5</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8.7</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fewest were in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tiles are states not in the revision, with no draft yet (Tripura), or with no exact roll from before it (Chandigarh).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and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in the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0.05).</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that receive migrants count adults who may be registered at home, which lowers their ratio.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removed 65.6 lakh,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removed 656.8 lakh,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removed 616.7 lakh, 17.0 per 100 electors. Dead 18.1%, shifted, absent or other 73.7%.</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for the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West Bengal (41.5%),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2,88,74,067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47,56,722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41,84,891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33,84,568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means published in lakh or crore, Short that the reasons leave some names unexplained, and No split that none was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7 of the 11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largest gap is in Bihar, 7.6 points, followed by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7 states and rounded, from an earlier roll or unverified for the rest. Bihar is compared with its roll before the revision.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most with living here, born elsewhere (0.51), and that comes from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Characteristic</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All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Share enrolled twice, larger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Living here, born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Income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SC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share</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Muslim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Rural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Born here, living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Women's 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ST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Sex ratio</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migration and the Muslim share rise together, because the big states that draw migrants were revised with the North-East. 16 states cannot tell them apart.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same way in both phases: st share of households (-0.45, -0.26) and sex ratio (-0.36, -0.46).</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of households: 0.09 across all states, -0.27 in phase 2, 0.46 in phase 3.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typically 8.3 per 100 against 14.0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14.1% of the names left off the drafts in 21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1.07 crore larger than the drafts, against 7.57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while their cases are decided. Leaving those out, the rise is 22.0%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10.2 per 100 electors at the final roll, from 11.9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wrote down, which was dead, shifted or absent (with "others" where reported), or enrolled more than once. For 21 states they also show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carry no reason outside Bihar, and no state has said how many of those added at the final roll had been removed at the draft. The Election Commission has published no state table of its own.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Bihar and Tamil Nadu, more names were removed than the winning margin in 385 of 477 assembly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Assembly seats where the count is larger than the winning margin, %. West Bengal and Kerala count the fall in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174 of 243 and Tamil Nadu 211 of 234, on the names removed.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West Bengal 139 of 294 and Kerala 38 of 140, on the fall in the roll, which also takes in ordinary deaths and moves.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Larger than the margin means the removals were enough to decide a seat. In Bihar, the one state whose lists show who was removed, 4 to 6 seats change hands on the estimates, in both directions, and the NDA keeps 200 to 204 of 243.</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the 2024 Lok Sabha seats of the four states, the count was larger than the margin in 85 of 141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seat's count added up from its assembly segments and set against its 2024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4206240"/>
                <a:gridCol w="1097280"/>
                <a:gridCol w="164592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Comparison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Seats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Count larger than the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Bihar and Tamil Nadu, names removed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West Bengal and Kerala, fall in the roll</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Every state, removals spread evenly (an assumption)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373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revision came after the 2024 election, so this measures how large the removals are against the votes that decide a seat. It does not say what happened in 2024.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state has published removals by Lok Sabha seat. The even spread is tested where seats can be counted: Bihar 32 against 32, Tamil Nadu 27 against 19. It can run high.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2024, 115 of 542 contested seats were won by fewer than 50,000 votes.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13.39 crore left off are 92 in every 100 of what the whole roll gained from 2014 to 2024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in every Lok Sabha election, and the population of voting age, in crore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roll grew from 40.04 crore in 1984-85 to 97.98 crore in 2024.</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To 1999 it held more names than people of voting age. If the estimate is right, it carried the names of people who had died or moved.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Since then it has held fewer, 96 for every 100 in 2024. The population counts people who are not citizens.</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revision covered 31 states and the Lok Sabha figure is all India, so the two counts are not strictly alike.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HOW IT WAS RUN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rules changed 34 times while the revision was under way, and dates moved 29 times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made it harder to stay on the roll, each point resting on an order or a judgment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434340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fresh form from every elector. Only electors whose enumeration forms came back were put on the draft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Parents' documents, by year of birth. In Bihar the younger the elector, the more documents were needed.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Aadhaar only on the Court's order. Aadhaar was not on the first list of eleven documents.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declaration changed twice. Form 6, the application to be added to the roll, carried a new declaration from June 2025, a different one from October 2025, and a shorter list of documents from May 2026.</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Dates moved after they were set. All twelve Phase II states and union territories had their dates moved by a week, and seven were moved again.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Anyone could object to anyone. Form 7 is the form for objecting to a name on the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Notices for logical discrepancies. People flagged for logical discrepancies, where something in their link to the old roll did not match, were called to hearings.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Sixty lakh held back in West Bengal. West Bengal's final roll left out 60,06,675 names marked under adjudication.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Few came back after the draft. In the states that published both counts, the names added after the draft, new electors included, fell well short of the names removed at it.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removed at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All India figures are each state's Chief Electoral Officer's figures at the draft roll. Press notes were read directly for Uttar Pradesh, Tamil Nadu, West Bengal, Rajasthan, Lakshadweep, Karnataka, Andhra Pradesh, Uttarakhand, Meghalaya, Arunachal Pradesh, Manipur, Nagaland, Mizoram and Sikkim, and the rest are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is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are grouped into the three every state reported, namely dead, shifted, absent or other, and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PinPoint Ventures</dc:creator>
  <cp:lastModifiedBy>PinPoint Ventures</cp:lastModifiedBy>
  <cp:revision>1</cp:revision>
  <dcterms:created xsi:type="dcterms:W3CDTF">2026-10-09T04:26:09Z</dcterms:created>
  <dcterms:modified xsi:type="dcterms:W3CDTF">2026-10-09T04:26:09Z</dcterms:modified>
</cp:coreProperties>
</file>