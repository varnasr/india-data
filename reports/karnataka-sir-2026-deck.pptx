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6.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7.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 100</c:v>
                </c:pt>
              </c:strCache>
            </c:strRef>
          </c:tx>
          <c:spPr>
            <a:solidFill>
              <a:srgbClr val="C0392B"/>
            </a:solidFill>
            <a:effectLst/>
          </c:spPr>
          <c:invertIfNegative val="0"/>
          <c:dLbls>
            <c:numFmt formatCode="0.0" sourceLinked="0"/>
            <c:txPr>
              <a:bodyPr/>
              <a:lstStyle/>
              <a:p>
                <a:pPr>
                  <a:defRPr b="0" i="0" strike="noStrike" sz="7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C0392B"/>
              </a:solidFill>
              <a:effectLst/>
            </c:spPr>
          </c:dPt>
          <c:dPt>
            <c:idx val="2"/>
            <c:invertIfNegative val="0"/>
            <c:bubble3D val="0"/>
            <c:spPr>
              <a:solidFill>
                <a:srgbClr val="C0392B"/>
              </a:solidFill>
              <a:effectLst/>
            </c:spPr>
          </c:dPt>
          <c:dPt>
            <c:idx val="3"/>
            <c:invertIfNegative val="0"/>
            <c:bubble3D val="0"/>
            <c:spPr>
              <a:solidFill>
                <a:srgbClr val="C0392B"/>
              </a:solidFill>
              <a:effectLst/>
            </c:spPr>
          </c:dPt>
          <c:dPt>
            <c:idx val="4"/>
            <c:invertIfNegative val="0"/>
            <c:bubble3D val="0"/>
            <c:spPr>
              <a:solidFill>
                <a:srgbClr val="1F618D"/>
              </a:solidFill>
              <a:effectLst/>
            </c:spPr>
          </c:dPt>
          <c:dPt>
            <c:idx val="5"/>
            <c:invertIfNegative val="0"/>
            <c:bubble3D val="0"/>
            <c:spPr>
              <a:solidFill>
                <a:srgbClr val="1F618D"/>
              </a:solidFill>
              <a:effectLst/>
            </c:spPr>
          </c:dPt>
          <c:dPt>
            <c:idx val="6"/>
            <c:invertIfNegative val="0"/>
            <c:bubble3D val="0"/>
            <c:spPr>
              <a:solidFill>
                <a:srgbClr val="1F618D"/>
              </a:solidFill>
              <a:effectLst/>
            </c:spPr>
          </c:dPt>
          <c:dPt>
            <c:idx val="7"/>
            <c:invertIfNegative val="0"/>
            <c:bubble3D val="0"/>
            <c:spPr>
              <a:solidFill>
                <a:srgbClr val="1F618D"/>
              </a:solidFill>
              <a:effectLst/>
            </c:spPr>
          </c:dPt>
          <c:dPt>
            <c:idx val="8"/>
            <c:invertIfNegative val="0"/>
            <c:bubble3D val="0"/>
            <c:spPr>
              <a:solidFill>
                <a:srgbClr val="1F618D"/>
              </a:solidFill>
              <a:effectLst/>
            </c:spPr>
          </c:dPt>
          <c:dPt>
            <c:idx val="9"/>
            <c:invertIfNegative val="0"/>
            <c:bubble3D val="0"/>
            <c:spPr>
              <a:solidFill>
                <a:srgbClr val="1F618D"/>
              </a:solidFill>
              <a:effectLst/>
            </c:spPr>
          </c:dPt>
          <c:dPt>
            <c:idx val="10"/>
            <c:invertIfNegative val="0"/>
            <c:bubble3D val="0"/>
            <c:spPr>
              <a:solidFill>
                <a:srgbClr val="1F618D"/>
              </a:solidFill>
              <a:effectLst/>
            </c:spPr>
          </c:dPt>
          <c:dPt>
            <c:idx val="11"/>
            <c:invertIfNegative val="0"/>
            <c:bubble3D val="0"/>
            <c:spPr>
              <a:solidFill>
                <a:srgbClr val="1F618D"/>
              </a:solidFill>
              <a:effectLst/>
            </c:spPr>
          </c:dPt>
          <c:dPt>
            <c:idx val="12"/>
            <c:invertIfNegative val="0"/>
            <c:bubble3D val="0"/>
            <c:spPr>
              <a:solidFill>
                <a:srgbClr val="1F618D"/>
              </a:solidFill>
              <a:effectLst/>
            </c:spPr>
          </c:dPt>
          <c:dPt>
            <c:idx val="13"/>
            <c:invertIfNegative val="0"/>
            <c:bubble3D val="0"/>
            <c:spPr>
              <a:solidFill>
                <a:srgbClr val="1F618D"/>
              </a:solidFill>
              <a:effectLst/>
            </c:spPr>
          </c:dPt>
          <c:dPt>
            <c:idx val="14"/>
            <c:invertIfNegative val="0"/>
            <c:bubble3D val="0"/>
            <c:spPr>
              <a:solidFill>
                <a:srgbClr val="1F618D"/>
              </a:solidFill>
              <a:effectLst/>
            </c:spPr>
          </c:dPt>
          <c:dPt>
            <c:idx val="15"/>
            <c:invertIfNegative val="0"/>
            <c:bubble3D val="0"/>
            <c:spPr>
              <a:solidFill>
                <a:srgbClr val="1F618D"/>
              </a:solidFill>
              <a:effectLst/>
            </c:spPr>
          </c:dPt>
          <c:dPt>
            <c:idx val="16"/>
            <c:invertIfNegative val="0"/>
            <c:bubble3D val="0"/>
            <c:spPr>
              <a:solidFill>
                <a:srgbClr val="1F618D"/>
              </a:solidFill>
              <a:effectLst/>
            </c:spPr>
          </c:dPt>
          <c:dPt>
            <c:idx val="17"/>
            <c:invertIfNegative val="0"/>
            <c:bubble3D val="0"/>
            <c:spPr>
              <a:solidFill>
                <a:srgbClr val="1F618D"/>
              </a:solidFill>
              <a:effectLst/>
            </c:spPr>
          </c:dPt>
          <c:dPt>
            <c:idx val="18"/>
            <c:invertIfNegative val="0"/>
            <c:bubble3D val="0"/>
            <c:spPr>
              <a:solidFill>
                <a:srgbClr val="1F618D"/>
              </a:solidFill>
              <a:effectLst/>
            </c:spPr>
          </c:dPt>
          <c:dPt>
            <c:idx val="19"/>
            <c:invertIfNegative val="0"/>
            <c:bubble3D val="0"/>
            <c:spPr>
              <a:solidFill>
                <a:srgbClr val="1F618D"/>
              </a:solidFill>
              <a:effectLst/>
            </c:spPr>
          </c:dPt>
          <c:dPt>
            <c:idx val="20"/>
            <c:invertIfNegative val="0"/>
            <c:bubble3D val="0"/>
            <c:spPr>
              <a:solidFill>
                <a:srgbClr val="1F618D"/>
              </a:solidFill>
              <a:effectLst/>
            </c:spPr>
          </c:dPt>
          <c:dPt>
            <c:idx val="21"/>
            <c:invertIfNegative val="0"/>
            <c:bubble3D val="0"/>
            <c:spPr>
              <a:solidFill>
                <a:srgbClr val="1F618D"/>
              </a:solidFill>
              <a:effectLst/>
            </c:spPr>
          </c:dPt>
          <c:dPt>
            <c:idx val="22"/>
            <c:invertIfNegative val="0"/>
            <c:bubble3D val="0"/>
            <c:spPr>
              <a:solidFill>
                <a:srgbClr val="1F618D"/>
              </a:solidFill>
              <a:effectLst/>
            </c:spPr>
          </c:dPt>
          <c:dPt>
            <c:idx val="23"/>
            <c:invertIfNegative val="0"/>
            <c:bubble3D val="0"/>
            <c:spPr>
              <a:solidFill>
                <a:srgbClr val="1F618D"/>
              </a:solidFill>
              <a:effectLst/>
            </c:spPr>
          </c:dPt>
          <c:dPt>
            <c:idx val="24"/>
            <c:invertIfNegative val="0"/>
            <c:bubble3D val="0"/>
            <c:spPr>
              <a:solidFill>
                <a:srgbClr val="1F618D"/>
              </a:solidFill>
              <a:effectLst/>
            </c:spPr>
          </c:dPt>
          <c:dPt>
            <c:idx val="25"/>
            <c:invertIfNegative val="0"/>
            <c:bubble3D val="0"/>
            <c:spPr>
              <a:solidFill>
                <a:srgbClr val="1F618D"/>
              </a:solidFill>
              <a:effectLst/>
            </c:spPr>
          </c:dPt>
          <c:dPt>
            <c:idx val="26"/>
            <c:invertIfNegative val="0"/>
            <c:bubble3D val="0"/>
            <c:spPr>
              <a:solidFill>
                <a:srgbClr val="1F618D"/>
              </a:solidFill>
              <a:effectLst/>
            </c:spPr>
          </c:dPt>
          <c:dPt>
            <c:idx val="27"/>
            <c:invertIfNegative val="0"/>
            <c:bubble3D val="0"/>
            <c:spPr>
              <a:solidFill>
                <a:srgbClr val="1F618D"/>
              </a:solidFill>
              <a:effectLst/>
            </c:spPr>
          </c:dPt>
          <c:dPt>
            <c:idx val="28"/>
            <c:invertIfNegative val="0"/>
            <c:bubble3D val="0"/>
            <c:spPr>
              <a:solidFill>
                <a:srgbClr val="1F618D"/>
              </a:solidFill>
              <a:effectLst/>
            </c:spPr>
          </c:dPt>
          <c:dPt>
            <c:idx val="29"/>
            <c:invertIfNegative val="0"/>
            <c:bubble3D val="0"/>
            <c:spPr>
              <a:solidFill>
                <a:srgbClr val="1F618D"/>
              </a:solidFill>
              <a:effectLst/>
            </c:spPr>
          </c:dPt>
          <c:dPt>
            <c:idx val="30"/>
            <c:invertIfNegative val="0"/>
            <c:bubble3D val="0"/>
            <c:spPr>
              <a:solidFill>
                <a:srgbClr val="1F618D"/>
              </a:solidFill>
              <a:effectLst/>
            </c:spPr>
          </c:dPt>
          <c:dPt>
            <c:idx val="31"/>
            <c:invertIfNegative val="0"/>
            <c:bubble3D val="0"/>
            <c:spPr>
              <a:solidFill>
                <a:srgbClr val="1F618D"/>
              </a:solidFill>
              <a:effectLst/>
            </c:spPr>
          </c:dPt>
          <c:dPt>
            <c:idx val="32"/>
            <c:invertIfNegative val="0"/>
            <c:bubble3D val="0"/>
            <c:spPr>
              <a:solidFill>
                <a:srgbClr val="1F618D"/>
              </a:solidFill>
              <a:effectLst/>
            </c:spPr>
          </c:dPt>
          <c:dPt>
            <c:idx val="33"/>
            <c:invertIfNegative val="0"/>
            <c:bubble3D val="0"/>
            <c:spPr>
              <a:solidFill>
                <a:srgbClr val="1F618D"/>
              </a:solidFill>
              <a:effectLst/>
            </c:spPr>
          </c:dPt>
          <c:cat>
            <c:multiLvlStrRef>
              <c:f>Sheet1!$A$2:$A$35</c:f>
              <c:multiLvlStrCache>
                <c:ptCount val="34"/>
                <c:lvl>
                  <c:pt idx="0">
                    <c:v>B.B.M.P (South)</c:v>
                  </c:pt>
                  <c:pt idx="1">
                    <c:v>B.B.M.P (Central)</c:v>
                  </c:pt>
                  <c:pt idx="2">
                    <c:v>B.B.M.P (North)</c:v>
                  </c:pt>
                  <c:pt idx="3">
                    <c:v>Bangalore Urban</c:v>
                  </c:pt>
                  <c:pt idx="4">
                    <c:v>Gulbarga</c:v>
                  </c:pt>
                  <c:pt idx="5">
                    <c:v>Mysore</c:v>
                  </c:pt>
                  <c:pt idx="6">
                    <c:v>Raichur</c:v>
                  </c:pt>
                  <c:pt idx="7">
                    <c:v>Bellary</c:v>
                  </c:pt>
                  <c:pt idx="8">
                    <c:v>Yadgir</c:v>
                  </c:pt>
                  <c:pt idx="9">
                    <c:v>Dharwad</c:v>
                  </c:pt>
                  <c:pt idx="10">
                    <c:v>Bidar</c:v>
                  </c:pt>
                  <c:pt idx="11">
                    <c:v>Bijapur</c:v>
                  </c:pt>
                  <c:pt idx="12">
                    <c:v>Bagalkot</c:v>
                  </c:pt>
                  <c:pt idx="13">
                    <c:v>Davangere</c:v>
                  </c:pt>
                  <c:pt idx="14">
                    <c:v>Kodagu</c:v>
                  </c:pt>
                  <c:pt idx="15">
                    <c:v>Gadag</c:v>
                  </c:pt>
                  <c:pt idx="16">
                    <c:v>Kolar</c:v>
                  </c:pt>
                  <c:pt idx="17">
                    <c:v>Vijayanagara</c:v>
                  </c:pt>
                  <c:pt idx="18">
                    <c:v>Bangalore Rural</c:v>
                  </c:pt>
                  <c:pt idx="19">
                    <c:v>Belgaum</c:v>
                  </c:pt>
                  <c:pt idx="20">
                    <c:v>Koppal</c:v>
                  </c:pt>
                  <c:pt idx="21">
                    <c:v>Shimoga</c:v>
                  </c:pt>
                  <c:pt idx="22">
                    <c:v>Ramanagaram</c:v>
                  </c:pt>
                  <c:pt idx="23">
                    <c:v>Chikkaballapur</c:v>
                  </c:pt>
                  <c:pt idx="24">
                    <c:v>Hassan</c:v>
                  </c:pt>
                  <c:pt idx="25">
                    <c:v>Mandya</c:v>
                  </c:pt>
                  <c:pt idx="26">
                    <c:v>Tumkur</c:v>
                  </c:pt>
                  <c:pt idx="27">
                    <c:v>Chikkmagalur</c:v>
                  </c:pt>
                  <c:pt idx="28">
                    <c:v>Chamarajnagar</c:v>
                  </c:pt>
                  <c:pt idx="29">
                    <c:v>Chitradurga</c:v>
                  </c:pt>
                  <c:pt idx="30">
                    <c:v>Dakshina Kannada</c:v>
                  </c:pt>
                  <c:pt idx="31">
                    <c:v>Uttara Kannada</c:v>
                  </c:pt>
                  <c:pt idx="32">
                    <c:v>Haveri</c:v>
                  </c:pt>
                  <c:pt idx="33">
                    <c:v>Udupi</c:v>
                  </c:pt>
                </c:lvl>
              </c:multiLvlStrCache>
            </c:multiLvlStrRef>
          </c:cat>
          <c:val>
            <c:numRef>
              <c:f>Sheet1!$B$2:$B$35</c:f>
              <c:numCache>
                <c:formatCode>General</c:formatCode>
                <c:ptCount val="34"/>
                <c:pt idx="0">
                  <c:v>49.33</c:v>
                </c:pt>
                <c:pt idx="1">
                  <c:v>45.54</c:v>
                </c:pt>
                <c:pt idx="2">
                  <c:v>45.12</c:v>
                </c:pt>
                <c:pt idx="3">
                  <c:v>42.71</c:v>
                </c:pt>
                <c:pt idx="4">
                  <c:v>22.01</c:v>
                </c:pt>
                <c:pt idx="5">
                  <c:v>19.9</c:v>
                </c:pt>
                <c:pt idx="6">
                  <c:v>18.75</c:v>
                </c:pt>
                <c:pt idx="7">
                  <c:v>18.16</c:v>
                </c:pt>
                <c:pt idx="8">
                  <c:v>17.97</c:v>
                </c:pt>
                <c:pt idx="9">
                  <c:v>16.52</c:v>
                </c:pt>
                <c:pt idx="10">
                  <c:v>16.49</c:v>
                </c:pt>
                <c:pt idx="11">
                  <c:v>14.99</c:v>
                </c:pt>
                <c:pt idx="12">
                  <c:v>14.63</c:v>
                </c:pt>
                <c:pt idx="13">
                  <c:v>13.41</c:v>
                </c:pt>
                <c:pt idx="14">
                  <c:v>13.41</c:v>
                </c:pt>
                <c:pt idx="15">
                  <c:v>13.37</c:v>
                </c:pt>
                <c:pt idx="16">
                  <c:v>13.2</c:v>
                </c:pt>
                <c:pt idx="17">
                  <c:v>13</c:v>
                </c:pt>
                <c:pt idx="18">
                  <c:v>12.79</c:v>
                </c:pt>
                <c:pt idx="19">
                  <c:v>12.5</c:v>
                </c:pt>
                <c:pt idx="20">
                  <c:v>12.5</c:v>
                </c:pt>
                <c:pt idx="21">
                  <c:v>12.41</c:v>
                </c:pt>
                <c:pt idx="22">
                  <c:v>11.78</c:v>
                </c:pt>
                <c:pt idx="23">
                  <c:v>11.68</c:v>
                </c:pt>
                <c:pt idx="24">
                  <c:v>10.84</c:v>
                </c:pt>
                <c:pt idx="25">
                  <c:v>10.63</c:v>
                </c:pt>
                <c:pt idx="26">
                  <c:v>10.31</c:v>
                </c:pt>
                <c:pt idx="27">
                  <c:v>10.07</c:v>
                </c:pt>
                <c:pt idx="28">
                  <c:v>10.03</c:v>
                </c:pt>
                <c:pt idx="29">
                  <c:v>9.91</c:v>
                </c:pt>
                <c:pt idx="30">
                  <c:v>8.73</c:v>
                </c:pt>
                <c:pt idx="31">
                  <c:v>8.7</c:v>
                </c:pt>
                <c:pt idx="32">
                  <c:v>8.62</c:v>
                </c:pt>
                <c:pt idx="33">
                  <c:v>5.95</c:v>
                </c:pt>
              </c:numCache>
            </c:numRef>
          </c:val>
        </c:ser>
        <c:dLbls>
          <c:numFmt formatCode="0.0" sourceLinked="0"/>
          <c:txPr>
            <a:bodyPr/>
            <a:lstStyle/>
            <a:p>
              <a:pPr>
                <a:defRPr b="0" i="0" strike="noStrike" sz="7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5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Shifted</c:v>
                </c:pt>
              </c:strCache>
            </c:strRef>
          </c:tx>
          <c:spPr>
            <a:solidFill>
              <a:srgbClr val="1F618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Sheet1!$A$2:$A$13</c:f>
              <c:multiLvlStrCache>
                <c:ptCount val="12"/>
                <c:lvl>
                  <c:pt idx="0">
                    <c:v>B.B.M.P (South)</c:v>
                  </c:pt>
                  <c:pt idx="1">
                    <c:v>B.B.M.P (Central)</c:v>
                  </c:pt>
                  <c:pt idx="2">
                    <c:v>B.B.M.P (North)</c:v>
                  </c:pt>
                  <c:pt idx="3">
                    <c:v>Bangalore Urban</c:v>
                  </c:pt>
                  <c:pt idx="4">
                    <c:v>Gulbarga</c:v>
                  </c:pt>
                  <c:pt idx="5">
                    <c:v>Mysore</c:v>
                  </c:pt>
                  <c:pt idx="6">
                    <c:v>Raichur</c:v>
                  </c:pt>
                  <c:pt idx="7">
                    <c:v>Bellary</c:v>
                  </c:pt>
                  <c:pt idx="8">
                    <c:v>Yadgir</c:v>
                  </c:pt>
                  <c:pt idx="9">
                    <c:v>Dharwad</c:v>
                  </c:pt>
                  <c:pt idx="10">
                    <c:v>Bidar</c:v>
                  </c:pt>
                  <c:pt idx="11">
                    <c:v>Bijapur</c:v>
                  </c:pt>
                </c:lvl>
              </c:multiLvlStrCache>
            </c:multiLvlStrRef>
          </c:cat>
          <c:val>
            <c:numRef>
              <c:f>Sheet1!$B$2:$B$13</c:f>
              <c:numCache>
                <c:formatCode>General</c:formatCode>
                <c:ptCount val="12"/>
                <c:pt idx="0">
                  <c:v>58.6</c:v>
                </c:pt>
                <c:pt idx="1">
                  <c:v>67.33</c:v>
                </c:pt>
                <c:pt idx="2">
                  <c:v>74.74</c:v>
                </c:pt>
                <c:pt idx="3">
                  <c:v>75.02</c:v>
                </c:pt>
                <c:pt idx="4">
                  <c:v>66.6</c:v>
                </c:pt>
                <c:pt idx="5">
                  <c:v>44.35</c:v>
                </c:pt>
                <c:pt idx="6">
                  <c:v>58.48</c:v>
                </c:pt>
                <c:pt idx="7">
                  <c:v>45.75</c:v>
                </c:pt>
                <c:pt idx="8">
                  <c:v>61.79</c:v>
                </c:pt>
                <c:pt idx="9">
                  <c:v>46.75</c:v>
                </c:pt>
                <c:pt idx="10">
                  <c:v>66.92</c:v>
                </c:pt>
                <c:pt idx="11">
                  <c:v>51.21</c:v>
                </c:pt>
              </c:numCache>
            </c:numRef>
          </c:val>
        </c:ser>
        <c:ser>
          <c:idx val="1"/>
          <c:order val="1"/>
          <c:tx>
            <c:strRef>
              <c:f>Sheet1!$C$1</c:f>
              <c:strCache>
                <c:ptCount val="1"/>
                <c:pt idx="0">
                  <c:v>Absent</c:v>
                </c:pt>
              </c:strCache>
            </c:strRef>
          </c:tx>
          <c:spPr>
            <a:solidFill>
              <a:srgbClr val="C0392B"/>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Sheet1!$A$2:$A$13</c:f>
              <c:multiLvlStrCache>
                <c:ptCount val="12"/>
                <c:lvl>
                  <c:pt idx="0">
                    <c:v>B.B.M.P (South)</c:v>
                  </c:pt>
                  <c:pt idx="1">
                    <c:v>B.B.M.P (Central)</c:v>
                  </c:pt>
                  <c:pt idx="2">
                    <c:v>B.B.M.P (North)</c:v>
                  </c:pt>
                  <c:pt idx="3">
                    <c:v>Bangalore Urban</c:v>
                  </c:pt>
                  <c:pt idx="4">
                    <c:v>Gulbarga</c:v>
                  </c:pt>
                  <c:pt idx="5">
                    <c:v>Mysore</c:v>
                  </c:pt>
                  <c:pt idx="6">
                    <c:v>Raichur</c:v>
                  </c:pt>
                  <c:pt idx="7">
                    <c:v>Bellary</c:v>
                  </c:pt>
                  <c:pt idx="8">
                    <c:v>Yadgir</c:v>
                  </c:pt>
                  <c:pt idx="9">
                    <c:v>Dharwad</c:v>
                  </c:pt>
                  <c:pt idx="10">
                    <c:v>Bidar</c:v>
                  </c:pt>
                  <c:pt idx="11">
                    <c:v>Bijapur</c:v>
                  </c:pt>
                </c:lvl>
              </c:multiLvlStrCache>
            </c:multiLvlStrRef>
          </c:cat>
          <c:val>
            <c:numRef>
              <c:f>Sheet1!$C$2:$C$13</c:f>
              <c:numCache>
                <c:formatCode>General</c:formatCode>
                <c:ptCount val="12"/>
                <c:pt idx="0">
                  <c:v>25.19</c:v>
                </c:pt>
                <c:pt idx="1">
                  <c:v>17.01</c:v>
                </c:pt>
                <c:pt idx="2">
                  <c:v>10.11</c:v>
                </c:pt>
                <c:pt idx="3">
                  <c:v>12.1</c:v>
                </c:pt>
                <c:pt idx="4">
                  <c:v>9.09</c:v>
                </c:pt>
                <c:pt idx="5">
                  <c:v>24.1</c:v>
                </c:pt>
                <c:pt idx="6">
                  <c:v>9.56</c:v>
                </c:pt>
                <c:pt idx="7">
                  <c:v>22.26</c:v>
                </c:pt>
                <c:pt idx="8">
                  <c:v>9.15</c:v>
                </c:pt>
                <c:pt idx="9">
                  <c:v>23.16</c:v>
                </c:pt>
                <c:pt idx="10">
                  <c:v>8.68</c:v>
                </c:pt>
                <c:pt idx="11">
                  <c:v>19.89</c:v>
                </c:pt>
              </c:numCache>
            </c:numRef>
          </c:val>
        </c:ser>
        <c:ser>
          <c:idx val="2"/>
          <c:order val="2"/>
          <c:tx>
            <c:strRef>
              <c:f>Sheet1!$D$1</c:f>
              <c:strCache>
                <c:ptCount val="1"/>
                <c:pt idx="0">
                  <c:v>Dead</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Sheet1!$A$2:$A$13</c:f>
              <c:multiLvlStrCache>
                <c:ptCount val="12"/>
                <c:lvl>
                  <c:pt idx="0">
                    <c:v>B.B.M.P (South)</c:v>
                  </c:pt>
                  <c:pt idx="1">
                    <c:v>B.B.M.P (Central)</c:v>
                  </c:pt>
                  <c:pt idx="2">
                    <c:v>B.B.M.P (North)</c:v>
                  </c:pt>
                  <c:pt idx="3">
                    <c:v>Bangalore Urban</c:v>
                  </c:pt>
                  <c:pt idx="4">
                    <c:v>Gulbarga</c:v>
                  </c:pt>
                  <c:pt idx="5">
                    <c:v>Mysore</c:v>
                  </c:pt>
                  <c:pt idx="6">
                    <c:v>Raichur</c:v>
                  </c:pt>
                  <c:pt idx="7">
                    <c:v>Bellary</c:v>
                  </c:pt>
                  <c:pt idx="8">
                    <c:v>Yadgir</c:v>
                  </c:pt>
                  <c:pt idx="9">
                    <c:v>Dharwad</c:v>
                  </c:pt>
                  <c:pt idx="10">
                    <c:v>Bidar</c:v>
                  </c:pt>
                  <c:pt idx="11">
                    <c:v>Bijapur</c:v>
                  </c:pt>
                </c:lvl>
              </c:multiLvlStrCache>
            </c:multiLvlStrRef>
          </c:cat>
          <c:val>
            <c:numRef>
              <c:f>Sheet1!$D$2:$D$13</c:f>
              <c:numCache>
                <c:formatCode>General</c:formatCode>
                <c:ptCount val="12"/>
                <c:pt idx="0">
                  <c:v>6.56</c:v>
                </c:pt>
                <c:pt idx="1">
                  <c:v>7.5</c:v>
                </c:pt>
                <c:pt idx="2">
                  <c:v>7.67</c:v>
                </c:pt>
                <c:pt idx="3">
                  <c:v>6.08</c:v>
                </c:pt>
                <c:pt idx="4">
                  <c:v>13.74</c:v>
                </c:pt>
                <c:pt idx="5">
                  <c:v>20.49</c:v>
                </c:pt>
                <c:pt idx="6">
                  <c:v>19.1</c:v>
                </c:pt>
                <c:pt idx="7">
                  <c:v>18.44</c:v>
                </c:pt>
                <c:pt idx="8">
                  <c:v>15.34</c:v>
                </c:pt>
                <c:pt idx="9">
                  <c:v>19.7</c:v>
                </c:pt>
                <c:pt idx="10">
                  <c:v>13.26</c:v>
                </c:pt>
                <c:pt idx="11">
                  <c:v>18.43</c:v>
                </c:pt>
              </c:numCache>
            </c:numRef>
          </c:val>
        </c:ser>
        <c:ser>
          <c:idx val="3"/>
          <c:order val="3"/>
          <c:tx>
            <c:strRef>
              <c:f>Sheet1!$E$1</c:f>
              <c:strCache>
                <c:ptCount val="1"/>
                <c:pt idx="0">
                  <c:v>Already enrolled</c:v>
                </c:pt>
              </c:strCache>
            </c:strRef>
          </c:tx>
          <c:spPr>
            <a:solidFill>
              <a:srgbClr val="D4AC0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Sheet1!$A$2:$A$13</c:f>
              <c:multiLvlStrCache>
                <c:ptCount val="12"/>
                <c:lvl>
                  <c:pt idx="0">
                    <c:v>B.B.M.P (South)</c:v>
                  </c:pt>
                  <c:pt idx="1">
                    <c:v>B.B.M.P (Central)</c:v>
                  </c:pt>
                  <c:pt idx="2">
                    <c:v>B.B.M.P (North)</c:v>
                  </c:pt>
                  <c:pt idx="3">
                    <c:v>Bangalore Urban</c:v>
                  </c:pt>
                  <c:pt idx="4">
                    <c:v>Gulbarga</c:v>
                  </c:pt>
                  <c:pt idx="5">
                    <c:v>Mysore</c:v>
                  </c:pt>
                  <c:pt idx="6">
                    <c:v>Raichur</c:v>
                  </c:pt>
                  <c:pt idx="7">
                    <c:v>Bellary</c:v>
                  </c:pt>
                  <c:pt idx="8">
                    <c:v>Yadgir</c:v>
                  </c:pt>
                  <c:pt idx="9">
                    <c:v>Dharwad</c:v>
                  </c:pt>
                  <c:pt idx="10">
                    <c:v>Bidar</c:v>
                  </c:pt>
                  <c:pt idx="11">
                    <c:v>Bijapur</c:v>
                  </c:pt>
                </c:lvl>
              </c:multiLvlStrCache>
            </c:multiLvlStrRef>
          </c:cat>
          <c:val>
            <c:numRef>
              <c:f>Sheet1!$E$2:$E$13</c:f>
              <c:numCache>
                <c:formatCode>General</c:formatCode>
                <c:ptCount val="12"/>
                <c:pt idx="0">
                  <c:v>1.03</c:v>
                </c:pt>
                <c:pt idx="1">
                  <c:v>1.17</c:v>
                </c:pt>
                <c:pt idx="2">
                  <c:v>1.5</c:v>
                </c:pt>
                <c:pt idx="3">
                  <c:v>1.56</c:v>
                </c:pt>
                <c:pt idx="4">
                  <c:v>6.4</c:v>
                </c:pt>
                <c:pt idx="5">
                  <c:v>7.88</c:v>
                </c:pt>
                <c:pt idx="6">
                  <c:v>12.75</c:v>
                </c:pt>
                <c:pt idx="7">
                  <c:v>9.62</c:v>
                </c:pt>
                <c:pt idx="8">
                  <c:v>11.89</c:v>
                </c:pt>
                <c:pt idx="9">
                  <c:v>10.14</c:v>
                </c:pt>
                <c:pt idx="10">
                  <c:v>7.1</c:v>
                </c:pt>
                <c:pt idx="11">
                  <c:v>10.3</c:v>
                </c:pt>
              </c:numCache>
            </c:numRef>
          </c:val>
        </c:ser>
        <c:ser>
          <c:idx val="4"/>
          <c:order val="4"/>
          <c:tx>
            <c:strRef>
              <c:f>Sheet1!$F$1</c:f>
              <c:strCache>
                <c:ptCount val="1"/>
                <c:pt idx="0">
                  <c:v>Other</c:v>
                </c:pt>
              </c:strCache>
            </c:strRef>
          </c:tx>
          <c:spPr>
            <a:solidFill>
              <a:srgbClr val="8E7CC3"/>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Sheet1!$A$2:$A$13</c:f>
              <c:multiLvlStrCache>
                <c:ptCount val="12"/>
                <c:lvl>
                  <c:pt idx="0">
                    <c:v>B.B.M.P (South)</c:v>
                  </c:pt>
                  <c:pt idx="1">
                    <c:v>B.B.M.P (Central)</c:v>
                  </c:pt>
                  <c:pt idx="2">
                    <c:v>B.B.M.P (North)</c:v>
                  </c:pt>
                  <c:pt idx="3">
                    <c:v>Bangalore Urban</c:v>
                  </c:pt>
                  <c:pt idx="4">
                    <c:v>Gulbarga</c:v>
                  </c:pt>
                  <c:pt idx="5">
                    <c:v>Mysore</c:v>
                  </c:pt>
                  <c:pt idx="6">
                    <c:v>Raichur</c:v>
                  </c:pt>
                  <c:pt idx="7">
                    <c:v>Bellary</c:v>
                  </c:pt>
                  <c:pt idx="8">
                    <c:v>Yadgir</c:v>
                  </c:pt>
                  <c:pt idx="9">
                    <c:v>Dharwad</c:v>
                  </c:pt>
                  <c:pt idx="10">
                    <c:v>Bidar</c:v>
                  </c:pt>
                  <c:pt idx="11">
                    <c:v>Bijapur</c:v>
                  </c:pt>
                </c:lvl>
              </c:multiLvlStrCache>
            </c:multiLvlStrRef>
          </c:cat>
          <c:val>
            <c:numRef>
              <c:f>Sheet1!$F$2:$F$13</c:f>
              <c:numCache>
                <c:formatCode>General</c:formatCode>
                <c:ptCount val="12"/>
                <c:pt idx="0">
                  <c:v>8.61</c:v>
                </c:pt>
                <c:pt idx="1">
                  <c:v>6.99</c:v>
                </c:pt>
                <c:pt idx="2">
                  <c:v>5.98</c:v>
                </c:pt>
                <c:pt idx="3">
                  <c:v>5.24</c:v>
                </c:pt>
                <c:pt idx="4">
                  <c:v>4.18</c:v>
                </c:pt>
                <c:pt idx="5">
                  <c:v>3.17</c:v>
                </c:pt>
                <c:pt idx="6">
                  <c:v>0.11</c:v>
                </c:pt>
                <c:pt idx="7">
                  <c:v>3.94</c:v>
                </c:pt>
                <c:pt idx="8">
                  <c:v>1.83</c:v>
                </c:pt>
                <c:pt idx="9">
                  <c:v>0.25</c:v>
                </c:pt>
                <c:pt idx="10">
                  <c:v>4.04</c:v>
                </c:pt>
                <c:pt idx="11">
                  <c:v>0.18</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At the draft</c:v>
                </c:pt>
              </c:strCache>
            </c:strRef>
          </c:tx>
          <c:spPr>
            <a:solidFill>
              <a:srgbClr val="AEB6BF"/>
            </a:solidFill>
            <a:effectLst/>
          </c:spPr>
          <c:invertIfNegative val="0"/>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B.B.M.P (South)</c:v>
                  </c:pt>
                  <c:pt idx="1">
                    <c:v>B.B.M.P (Central)</c:v>
                  </c:pt>
                  <c:pt idx="2">
                    <c:v>B.B.M.P (North)</c:v>
                  </c:pt>
                  <c:pt idx="3">
                    <c:v>Bangalore Urban</c:v>
                  </c:pt>
                  <c:pt idx="4">
                    <c:v>Gulbarga</c:v>
                  </c:pt>
                  <c:pt idx="5">
                    <c:v>Mysore</c:v>
                  </c:pt>
                  <c:pt idx="6">
                    <c:v>Raichur</c:v>
                  </c:pt>
                  <c:pt idx="7">
                    <c:v>Bellary</c:v>
                  </c:pt>
                  <c:pt idx="8">
                    <c:v>Yadgir</c:v>
                  </c:pt>
                  <c:pt idx="9">
                    <c:v>Dharwad</c:v>
                  </c:pt>
                  <c:pt idx="10">
                    <c:v>Bidar</c:v>
                  </c:pt>
                  <c:pt idx="11">
                    <c:v>Bijapur</c:v>
                  </c:pt>
                </c:lvl>
              </c:multiLvlStrCache>
            </c:multiLvlStrRef>
          </c:cat>
          <c:val>
            <c:numRef>
              <c:f>Sheet1!$B$2:$B$13</c:f>
              <c:numCache>
                <c:formatCode>General</c:formatCode>
                <c:ptCount val="12"/>
                <c:pt idx="0">
                  <c:v>49.33</c:v>
                </c:pt>
                <c:pt idx="1">
                  <c:v>45.54</c:v>
                </c:pt>
                <c:pt idx="2">
                  <c:v>45.12</c:v>
                </c:pt>
                <c:pt idx="3">
                  <c:v>42.71</c:v>
                </c:pt>
                <c:pt idx="4">
                  <c:v>22.01</c:v>
                </c:pt>
                <c:pt idx="5">
                  <c:v>19.9</c:v>
                </c:pt>
                <c:pt idx="6">
                  <c:v>18.75</c:v>
                </c:pt>
                <c:pt idx="7">
                  <c:v>18.16</c:v>
                </c:pt>
                <c:pt idx="8">
                  <c:v>17.97</c:v>
                </c:pt>
                <c:pt idx="9">
                  <c:v>16.52</c:v>
                </c:pt>
                <c:pt idx="10">
                  <c:v>16.49</c:v>
                </c:pt>
                <c:pt idx="11">
                  <c:v>14.99</c:v>
                </c:pt>
              </c:numCache>
            </c:numRef>
          </c:val>
        </c:ser>
        <c:ser>
          <c:idx val="1"/>
          <c:order val="1"/>
          <c:tx>
            <c:strRef>
              <c:f>Sheet1!$C$1</c:f>
              <c:strCache>
                <c:ptCount val="1"/>
                <c:pt idx="0">
                  <c:v>On 25 September</c:v>
                </c:pt>
              </c:strCache>
            </c:strRef>
          </c:tx>
          <c:spPr>
            <a:solidFill>
              <a:srgbClr val="1E6B52"/>
            </a:solidFill>
            <a:effectLst/>
          </c:spPr>
          <c:invertIfNegative val="0"/>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B.B.M.P (South)</c:v>
                  </c:pt>
                  <c:pt idx="1">
                    <c:v>B.B.M.P (Central)</c:v>
                  </c:pt>
                  <c:pt idx="2">
                    <c:v>B.B.M.P (North)</c:v>
                  </c:pt>
                  <c:pt idx="3">
                    <c:v>Bangalore Urban</c:v>
                  </c:pt>
                  <c:pt idx="4">
                    <c:v>Gulbarga</c:v>
                  </c:pt>
                  <c:pt idx="5">
                    <c:v>Mysore</c:v>
                  </c:pt>
                  <c:pt idx="6">
                    <c:v>Raichur</c:v>
                  </c:pt>
                  <c:pt idx="7">
                    <c:v>Bellary</c:v>
                  </c:pt>
                  <c:pt idx="8">
                    <c:v>Yadgir</c:v>
                  </c:pt>
                  <c:pt idx="9">
                    <c:v>Dharwad</c:v>
                  </c:pt>
                  <c:pt idx="10">
                    <c:v>Bidar</c:v>
                  </c:pt>
                  <c:pt idx="11">
                    <c:v>Bijapur</c:v>
                  </c:pt>
                </c:lvl>
              </c:multiLvlStrCache>
            </c:multiLvlStrRef>
          </c:cat>
          <c:val>
            <c:numRef>
              <c:f>Sheet1!$C$2:$C$13</c:f>
              <c:numCache>
                <c:formatCode>General</c:formatCode>
                <c:ptCount val="12"/>
                <c:pt idx="0">
                  <c:v>49.33</c:v>
                </c:pt>
                <c:pt idx="1">
                  <c:v>45.47</c:v>
                </c:pt>
                <c:pt idx="2">
                  <c:v>45.09</c:v>
                </c:pt>
                <c:pt idx="3">
                  <c:v>42.71</c:v>
                </c:pt>
                <c:pt idx="4">
                  <c:v>21.8</c:v>
                </c:pt>
                <c:pt idx="5">
                  <c:v>19.72</c:v>
                </c:pt>
                <c:pt idx="6">
                  <c:v>17.91</c:v>
                </c:pt>
                <c:pt idx="7">
                  <c:v>17.5</c:v>
                </c:pt>
                <c:pt idx="8">
                  <c:v>17.89</c:v>
                </c:pt>
                <c:pt idx="9">
                  <c:v>16.32</c:v>
                </c:pt>
                <c:pt idx="10">
                  <c:v>16.22</c:v>
                </c:pt>
                <c:pt idx="11">
                  <c:v>14.61</c:v>
                </c:pt>
              </c:numCache>
            </c:numRef>
          </c:val>
        </c:ser>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Special Intensive Revision (SIR) is the Election Commission's house-to-house recheck of the electoral roll, the list of people entitled to vote. Every figure is computed from the Chief Electoral Officer's district tables. Nothing has been published by assembly constituency, so there is no comparison with election margins. The final roll is due on 27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draft roll is the roll published after the house-to-house check. Per 100 electors is the number left off for every 100 people on the roll of 16 June, which lets districts of different size be compared. Electors kept on the draft can still be sent a notice to appear at a hearing, and those hearings were under way on 25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bars start above zero so that the changes can be seen. The final roll is due on 27 October 2026. A reason on the list is what the officer wrote down, and nobody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rank correlation runs from -1 to 1 and measures how far two orderings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533F"/>
        </a:solidFill>
      </p:bgPr>
    </p:bg>
    <p:spTree>
      <p:nvGrpSpPr>
        <p:cNvPr id="1" name=""/>
        <p:cNvGrpSpPr/>
        <p:nvPr/>
      </p:nvGrpSpPr>
      <p:grpSpPr>
        <a:xfrm>
          <a:off x="0" y="0"/>
          <a:ext cx="0" cy="0"/>
          <a:chOff x="0" y="0"/>
          <a:chExt cx="0" cy="0"/>
        </a:xfrm>
      </p:grpSpPr>
      <p:sp>
        <p:nvSpPr>
          <p:cNvPr id="2" name="Text 0"/>
          <p:cNvSpPr txBox="1"/>
          <p:nvPr/>
        </p:nvSpPr>
        <p:spPr>
          <a:xfrm>
            <a:off x="548640" y="640080"/>
            <a:ext cx="10058400" cy="365760"/>
          </a:xfrm>
          <a:prstGeom prst="rect">
            <a:avLst/>
          </a:prstGeom>
          <a:noFill/>
          <a:ln/>
        </p:spPr>
        <p:txBody>
          <a:bodyPr wrap="square" lIns="0" tIns="0" rIns="0" bIns="0" rtlCol="0" anchor="ctr"/>
          <a:lstStyle/>
          <a:p>
            <a:pPr indent="0" marL="0">
              <a:buNone/>
            </a:pPr>
            <a:r>
              <a:rPr lang="en-US" sz="1300" b="1" spc="300" kern="0" dirty="0">
                <a:solidFill>
                  <a:srgbClr val="CFE8DE"/>
                </a:solidFill>
                <a:latin typeface="Calibri" pitchFamily="34" charset="0"/>
                <a:ea typeface="Calibri" pitchFamily="34" charset="-122"/>
                <a:cs typeface="Calibri" pitchFamily="34" charset="-120"/>
              </a:rPr>
              <a:t>SPECIAL INTENSIVE REVISION · KARNATAKA 2026</a:t>
            </a:r>
            <a:endParaRPr lang="en-US" sz="1300" dirty="0"/>
          </a:p>
        </p:txBody>
      </p:sp>
      <p:sp>
        <p:nvSpPr>
          <p:cNvPr id="3" name="Text 1"/>
          <p:cNvSpPr txBox="1"/>
          <p:nvPr/>
        </p:nvSpPr>
        <p:spPr>
          <a:xfrm>
            <a:off x="548640" y="1051560"/>
            <a:ext cx="11094415" cy="128016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The revision left 1.08 crore names off Karnataka's draft roll</a:t>
            </a:r>
            <a:endParaRPr lang="en-US" sz="3800" dirty="0"/>
          </a:p>
        </p:txBody>
      </p:sp>
      <p:sp>
        <p:nvSpPr>
          <p:cNvPr id="4" name="Text 2"/>
          <p:cNvSpPr txBox="1"/>
          <p:nvPr/>
        </p:nvSpPr>
        <p:spPr>
          <a:xfrm>
            <a:off x="548640" y="2377440"/>
            <a:ext cx="10180015" cy="731520"/>
          </a:xfrm>
          <a:prstGeom prst="rect">
            <a:avLst/>
          </a:prstGeom>
          <a:noFill/>
          <a:ln/>
        </p:spPr>
        <p:txBody>
          <a:bodyPr wrap="square" lIns="0" tIns="0" rIns="0" bIns="0" rtlCol="0" anchor="t"/>
          <a:lstStyle/>
          <a:p>
            <a:pPr indent="0" marL="0">
              <a:buNone/>
            </a:pPr>
            <a:r>
              <a:rPr lang="en-US" sz="1700" dirty="0">
                <a:solidFill>
                  <a:srgbClr val="CFE8DE"/>
                </a:solidFill>
                <a:latin typeface="Calibri" pitchFamily="34" charset="0"/>
                <a:ea typeface="Calibri" pitchFamily="34" charset="-122"/>
                <a:cs typeface="Calibri" pitchFamily="34" charset="-120"/>
              </a:rPr>
              <a:t>District by district, on what recorded reason, and how the roll stood while notices were still being heard</a:t>
            </a:r>
            <a:endParaRPr lang="en-US" sz="1700" dirty="0"/>
          </a:p>
        </p:txBody>
      </p:sp>
      <p:sp>
        <p:nvSpPr>
          <p:cNvPr id="5" name="Shape 3"/>
          <p:cNvSpPr/>
          <p:nvPr/>
        </p:nvSpPr>
        <p:spPr>
          <a:xfrm>
            <a:off x="548640" y="3429000"/>
            <a:ext cx="2567864" cy="1737360"/>
          </a:xfrm>
          <a:prstGeom prst="roundRect">
            <a:avLst>
              <a:gd name="adj" fmla="val 4211"/>
            </a:avLst>
          </a:prstGeom>
          <a:solidFill>
            <a:srgbClr val="103D2E"/>
          </a:solidFill>
          <a:ln/>
        </p:spPr>
      </p:sp>
      <p:sp>
        <p:nvSpPr>
          <p:cNvPr id="6" name="Text 4"/>
          <p:cNvSpPr txBox="1"/>
          <p:nvPr/>
        </p:nvSpPr>
        <p:spPr>
          <a:xfrm>
            <a:off x="731520"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1,07,96,339</a:t>
            </a:r>
            <a:endParaRPr lang="en-US" sz="3000" dirty="0"/>
          </a:p>
        </p:txBody>
      </p:sp>
      <p:sp>
        <p:nvSpPr>
          <p:cNvPr id="7" name="Text 5"/>
          <p:cNvSpPr txBox="1"/>
          <p:nvPr/>
        </p:nvSpPr>
        <p:spPr>
          <a:xfrm>
            <a:off x="731520"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CFE8DE"/>
                </a:solidFill>
                <a:latin typeface="Calibri" pitchFamily="34" charset="0"/>
                <a:ea typeface="Calibri" pitchFamily="34" charset="-122"/>
                <a:cs typeface="Calibri" pitchFamily="34" charset="-120"/>
              </a:rPr>
              <a:t>names left off the draft roll of 24 August 2026</a:t>
            </a:r>
            <a:endParaRPr lang="en-US" sz="1250" dirty="0"/>
          </a:p>
        </p:txBody>
      </p:sp>
      <p:sp>
        <p:nvSpPr>
          <p:cNvPr id="8" name="Shape 6"/>
          <p:cNvSpPr/>
          <p:nvPr/>
        </p:nvSpPr>
        <p:spPr>
          <a:xfrm>
            <a:off x="3390824" y="3429000"/>
            <a:ext cx="2567864" cy="1737360"/>
          </a:xfrm>
          <a:prstGeom prst="roundRect">
            <a:avLst>
              <a:gd name="adj" fmla="val 4211"/>
            </a:avLst>
          </a:prstGeom>
          <a:solidFill>
            <a:srgbClr val="103D2E"/>
          </a:solidFill>
          <a:ln/>
        </p:spPr>
      </p:sp>
      <p:sp>
        <p:nvSpPr>
          <p:cNvPr id="9" name="Text 7"/>
          <p:cNvSpPr txBox="1"/>
          <p:nvPr/>
        </p:nvSpPr>
        <p:spPr>
          <a:xfrm>
            <a:off x="3573704"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19.5</a:t>
            </a:r>
            <a:endParaRPr lang="en-US" sz="3000" dirty="0"/>
          </a:p>
        </p:txBody>
      </p:sp>
      <p:sp>
        <p:nvSpPr>
          <p:cNvPr id="10" name="Text 8"/>
          <p:cNvSpPr txBox="1"/>
          <p:nvPr/>
        </p:nvSpPr>
        <p:spPr>
          <a:xfrm>
            <a:off x="3573704"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CFE8DE"/>
                </a:solidFill>
                <a:latin typeface="Calibri" pitchFamily="34" charset="0"/>
                <a:ea typeface="Calibri" pitchFamily="34" charset="-122"/>
                <a:cs typeface="Calibri" pitchFamily="34" charset="-120"/>
              </a:rPr>
              <a:t>of every 100 electors on the roll of 16 June</a:t>
            </a:r>
            <a:endParaRPr lang="en-US" sz="1250" dirty="0"/>
          </a:p>
        </p:txBody>
      </p:sp>
      <p:sp>
        <p:nvSpPr>
          <p:cNvPr id="11" name="Shape 9"/>
          <p:cNvSpPr/>
          <p:nvPr/>
        </p:nvSpPr>
        <p:spPr>
          <a:xfrm>
            <a:off x="6233008" y="3429000"/>
            <a:ext cx="2567864" cy="1737360"/>
          </a:xfrm>
          <a:prstGeom prst="roundRect">
            <a:avLst>
              <a:gd name="adj" fmla="val 4211"/>
            </a:avLst>
          </a:prstGeom>
          <a:solidFill>
            <a:srgbClr val="103D2E"/>
          </a:solidFill>
          <a:ln/>
        </p:spPr>
      </p:sp>
      <p:sp>
        <p:nvSpPr>
          <p:cNvPr id="12" name="Text 10"/>
          <p:cNvSpPr txBox="1"/>
          <p:nvPr/>
        </p:nvSpPr>
        <p:spPr>
          <a:xfrm>
            <a:off x="6415888"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43.4%</a:t>
            </a:r>
            <a:endParaRPr lang="en-US" sz="3000" dirty="0"/>
          </a:p>
        </p:txBody>
      </p:sp>
      <p:sp>
        <p:nvSpPr>
          <p:cNvPr id="13" name="Text 11"/>
          <p:cNvSpPr txBox="1"/>
          <p:nvPr/>
        </p:nvSpPr>
        <p:spPr>
          <a:xfrm>
            <a:off x="6415888"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CFE8DE"/>
                </a:solidFill>
                <a:latin typeface="Calibri" pitchFamily="34" charset="0"/>
                <a:ea typeface="Calibri" pitchFamily="34" charset="-122"/>
                <a:cs typeface="Calibri" pitchFamily="34" charset="-120"/>
              </a:rPr>
              <a:t>of the names removed were in Bengaluru</a:t>
            </a:r>
            <a:endParaRPr lang="en-US" sz="1250" dirty="0"/>
          </a:p>
        </p:txBody>
      </p:sp>
      <p:sp>
        <p:nvSpPr>
          <p:cNvPr id="14" name="Shape 12"/>
          <p:cNvSpPr/>
          <p:nvPr/>
        </p:nvSpPr>
        <p:spPr>
          <a:xfrm>
            <a:off x="9075191" y="3429000"/>
            <a:ext cx="2567864" cy="1737360"/>
          </a:xfrm>
          <a:prstGeom prst="roundRect">
            <a:avLst>
              <a:gd name="adj" fmla="val 4211"/>
            </a:avLst>
          </a:prstGeom>
          <a:solidFill>
            <a:srgbClr val="103D2E"/>
          </a:solidFill>
          <a:ln/>
        </p:spPr>
      </p:sp>
      <p:sp>
        <p:nvSpPr>
          <p:cNvPr id="15" name="Text 13"/>
          <p:cNvSpPr txBox="1"/>
          <p:nvPr/>
        </p:nvSpPr>
        <p:spPr>
          <a:xfrm>
            <a:off x="9258071"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1.9%</a:t>
            </a:r>
            <a:endParaRPr lang="en-US" sz="3000" dirty="0"/>
          </a:p>
        </p:txBody>
      </p:sp>
      <p:sp>
        <p:nvSpPr>
          <p:cNvPr id="16" name="Text 14"/>
          <p:cNvSpPr txBox="1"/>
          <p:nvPr/>
        </p:nvSpPr>
        <p:spPr>
          <a:xfrm>
            <a:off x="9258071"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CFE8DE"/>
                </a:solidFill>
                <a:latin typeface="Calibri" pitchFamily="34" charset="0"/>
                <a:ea typeface="Calibri" pitchFamily="34" charset="-122"/>
                <a:cs typeface="Calibri" pitchFamily="34" charset="-120"/>
              </a:rPr>
              <a:t>of the names removed back by 25 September</a:t>
            </a:r>
            <a:endParaRPr lang="en-US" sz="1250" dirty="0"/>
          </a:p>
        </p:txBody>
      </p:sp>
      <p:sp>
        <p:nvSpPr>
          <p:cNvPr id="17" name="Text 15"/>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300" dirty="0">
                <a:solidFill>
                  <a:srgbClr val="CFE8DE"/>
                </a:solidFill>
                <a:latin typeface="Calibri" pitchFamily="34" charset="0"/>
                <a:ea typeface="Calibri" pitchFamily="34" charset="-122"/>
                <a:cs typeface="Calibri" pitchFamily="34" charset="-120"/>
              </a:rPr>
              <a:t>PinPoint Ventures</a:t>
            </a:r>
            <a:endParaRPr lang="en-US" sz="1300" dirty="0"/>
          </a:p>
        </p:txBody>
      </p:sp>
      <p:sp>
        <p:nvSpPr>
          <p:cNvPr id="18" name="Shape 16"/>
          <p:cNvSpPr/>
          <p:nvPr/>
        </p:nvSpPr>
        <p:spPr>
          <a:xfrm>
            <a:off x="0" y="6748272"/>
            <a:ext cx="304792" cy="109728"/>
          </a:xfrm>
          <a:prstGeom prst="rect">
            <a:avLst/>
          </a:prstGeom>
          <a:solidFill>
            <a:srgbClr val="C0392B"/>
          </a:solidFill>
          <a:ln/>
        </p:spPr>
      </p:sp>
      <p:sp>
        <p:nvSpPr>
          <p:cNvPr id="19" name="Shape 17"/>
          <p:cNvSpPr/>
          <p:nvPr/>
        </p:nvSpPr>
        <p:spPr>
          <a:xfrm>
            <a:off x="304792" y="6748272"/>
            <a:ext cx="304792" cy="109728"/>
          </a:xfrm>
          <a:prstGeom prst="rect">
            <a:avLst/>
          </a:prstGeom>
          <a:solidFill>
            <a:srgbClr val="E67E22"/>
          </a:solidFill>
          <a:ln/>
        </p:spPr>
      </p:sp>
      <p:sp>
        <p:nvSpPr>
          <p:cNvPr id="20" name="Shape 18"/>
          <p:cNvSpPr/>
          <p:nvPr/>
        </p:nvSpPr>
        <p:spPr>
          <a:xfrm>
            <a:off x="609585" y="6748272"/>
            <a:ext cx="304792" cy="109728"/>
          </a:xfrm>
          <a:prstGeom prst="rect">
            <a:avLst/>
          </a:prstGeom>
          <a:solidFill>
            <a:srgbClr val="27AE60"/>
          </a:solidFill>
          <a:ln/>
        </p:spPr>
      </p:sp>
      <p:sp>
        <p:nvSpPr>
          <p:cNvPr id="21" name="Shape 19"/>
          <p:cNvSpPr/>
          <p:nvPr/>
        </p:nvSpPr>
        <p:spPr>
          <a:xfrm>
            <a:off x="914377" y="6748272"/>
            <a:ext cx="304792" cy="109728"/>
          </a:xfrm>
          <a:prstGeom prst="rect">
            <a:avLst/>
          </a:prstGeom>
          <a:solidFill>
            <a:srgbClr val="1F618D"/>
          </a:solidFill>
          <a:ln/>
        </p:spPr>
      </p:sp>
      <p:sp>
        <p:nvSpPr>
          <p:cNvPr id="22" name="Shape 20"/>
          <p:cNvSpPr/>
          <p:nvPr/>
        </p:nvSpPr>
        <p:spPr>
          <a:xfrm>
            <a:off x="1219170" y="6748272"/>
            <a:ext cx="304792" cy="109728"/>
          </a:xfrm>
          <a:prstGeom prst="rect">
            <a:avLst/>
          </a:prstGeom>
          <a:solidFill>
            <a:srgbClr val="8E44AD"/>
          </a:solidFill>
          <a:ln/>
        </p:spPr>
      </p:sp>
      <p:sp>
        <p:nvSpPr>
          <p:cNvPr id="23" name="Shape 21"/>
          <p:cNvSpPr/>
          <p:nvPr/>
        </p:nvSpPr>
        <p:spPr>
          <a:xfrm>
            <a:off x="1523962" y="6748272"/>
            <a:ext cx="304792" cy="109728"/>
          </a:xfrm>
          <a:prstGeom prst="rect">
            <a:avLst/>
          </a:prstGeom>
          <a:solidFill>
            <a:srgbClr val="C0392B"/>
          </a:solidFill>
          <a:ln/>
        </p:spPr>
      </p:sp>
      <p:sp>
        <p:nvSpPr>
          <p:cNvPr id="24" name="Shape 22"/>
          <p:cNvSpPr/>
          <p:nvPr/>
        </p:nvSpPr>
        <p:spPr>
          <a:xfrm>
            <a:off x="1828754" y="6748272"/>
            <a:ext cx="304792" cy="109728"/>
          </a:xfrm>
          <a:prstGeom prst="rect">
            <a:avLst/>
          </a:prstGeom>
          <a:solidFill>
            <a:srgbClr val="E67E22"/>
          </a:solidFill>
          <a:ln/>
        </p:spPr>
      </p:sp>
      <p:sp>
        <p:nvSpPr>
          <p:cNvPr id="25" name="Shape 23"/>
          <p:cNvSpPr/>
          <p:nvPr/>
        </p:nvSpPr>
        <p:spPr>
          <a:xfrm>
            <a:off x="2133547" y="6748272"/>
            <a:ext cx="304792" cy="109728"/>
          </a:xfrm>
          <a:prstGeom prst="rect">
            <a:avLst/>
          </a:prstGeom>
          <a:solidFill>
            <a:srgbClr val="27AE60"/>
          </a:solidFill>
          <a:ln/>
        </p:spPr>
      </p:sp>
      <p:sp>
        <p:nvSpPr>
          <p:cNvPr id="26" name="Shape 24"/>
          <p:cNvSpPr/>
          <p:nvPr/>
        </p:nvSpPr>
        <p:spPr>
          <a:xfrm>
            <a:off x="2438339" y="6748272"/>
            <a:ext cx="304792" cy="109728"/>
          </a:xfrm>
          <a:prstGeom prst="rect">
            <a:avLst/>
          </a:prstGeom>
          <a:solidFill>
            <a:srgbClr val="1F618D"/>
          </a:solidFill>
          <a:ln/>
        </p:spPr>
      </p:sp>
      <p:sp>
        <p:nvSpPr>
          <p:cNvPr id="27" name="Shape 25"/>
          <p:cNvSpPr/>
          <p:nvPr/>
        </p:nvSpPr>
        <p:spPr>
          <a:xfrm>
            <a:off x="2743131" y="6748272"/>
            <a:ext cx="304792" cy="109728"/>
          </a:xfrm>
          <a:prstGeom prst="rect">
            <a:avLst/>
          </a:prstGeom>
          <a:solidFill>
            <a:srgbClr val="8E44AD"/>
          </a:solidFill>
          <a:ln/>
        </p:spPr>
      </p:sp>
      <p:sp>
        <p:nvSpPr>
          <p:cNvPr id="28" name="Shape 26"/>
          <p:cNvSpPr/>
          <p:nvPr/>
        </p:nvSpPr>
        <p:spPr>
          <a:xfrm>
            <a:off x="3047924" y="6748272"/>
            <a:ext cx="304792" cy="109728"/>
          </a:xfrm>
          <a:prstGeom prst="rect">
            <a:avLst/>
          </a:prstGeom>
          <a:solidFill>
            <a:srgbClr val="C0392B"/>
          </a:solidFill>
          <a:ln/>
        </p:spPr>
      </p:sp>
      <p:sp>
        <p:nvSpPr>
          <p:cNvPr id="29" name="Shape 27"/>
          <p:cNvSpPr/>
          <p:nvPr/>
        </p:nvSpPr>
        <p:spPr>
          <a:xfrm>
            <a:off x="3352716" y="6748272"/>
            <a:ext cx="304792" cy="109728"/>
          </a:xfrm>
          <a:prstGeom prst="rect">
            <a:avLst/>
          </a:prstGeom>
          <a:solidFill>
            <a:srgbClr val="E67E22"/>
          </a:solidFill>
          <a:ln/>
        </p:spPr>
      </p:sp>
      <p:sp>
        <p:nvSpPr>
          <p:cNvPr id="30" name="Shape 28"/>
          <p:cNvSpPr/>
          <p:nvPr/>
        </p:nvSpPr>
        <p:spPr>
          <a:xfrm>
            <a:off x="3657509" y="6748272"/>
            <a:ext cx="304792" cy="109728"/>
          </a:xfrm>
          <a:prstGeom prst="rect">
            <a:avLst/>
          </a:prstGeom>
          <a:solidFill>
            <a:srgbClr val="27AE60"/>
          </a:solidFill>
          <a:ln/>
        </p:spPr>
      </p:sp>
      <p:sp>
        <p:nvSpPr>
          <p:cNvPr id="31" name="Shape 29"/>
          <p:cNvSpPr/>
          <p:nvPr/>
        </p:nvSpPr>
        <p:spPr>
          <a:xfrm>
            <a:off x="3962301" y="6748272"/>
            <a:ext cx="304792" cy="109728"/>
          </a:xfrm>
          <a:prstGeom prst="rect">
            <a:avLst/>
          </a:prstGeom>
          <a:solidFill>
            <a:srgbClr val="1F618D"/>
          </a:solidFill>
          <a:ln/>
        </p:spPr>
      </p:sp>
      <p:sp>
        <p:nvSpPr>
          <p:cNvPr id="32" name="Shape 30"/>
          <p:cNvSpPr/>
          <p:nvPr/>
        </p:nvSpPr>
        <p:spPr>
          <a:xfrm>
            <a:off x="4267093" y="6748272"/>
            <a:ext cx="304792" cy="109728"/>
          </a:xfrm>
          <a:prstGeom prst="rect">
            <a:avLst/>
          </a:prstGeom>
          <a:solidFill>
            <a:srgbClr val="8E44AD"/>
          </a:solidFill>
          <a:ln/>
        </p:spPr>
      </p:sp>
      <p:sp>
        <p:nvSpPr>
          <p:cNvPr id="33" name="Shape 31"/>
          <p:cNvSpPr/>
          <p:nvPr/>
        </p:nvSpPr>
        <p:spPr>
          <a:xfrm>
            <a:off x="4571886" y="6748272"/>
            <a:ext cx="304792" cy="109728"/>
          </a:xfrm>
          <a:prstGeom prst="rect">
            <a:avLst/>
          </a:prstGeom>
          <a:solidFill>
            <a:srgbClr val="C0392B"/>
          </a:solidFill>
          <a:ln/>
        </p:spPr>
      </p:sp>
      <p:sp>
        <p:nvSpPr>
          <p:cNvPr id="34" name="Shape 32"/>
          <p:cNvSpPr/>
          <p:nvPr/>
        </p:nvSpPr>
        <p:spPr>
          <a:xfrm>
            <a:off x="4876678" y="6748272"/>
            <a:ext cx="304792" cy="109728"/>
          </a:xfrm>
          <a:prstGeom prst="rect">
            <a:avLst/>
          </a:prstGeom>
          <a:solidFill>
            <a:srgbClr val="E67E22"/>
          </a:solidFill>
          <a:ln/>
        </p:spPr>
      </p:sp>
      <p:sp>
        <p:nvSpPr>
          <p:cNvPr id="35" name="Shape 33"/>
          <p:cNvSpPr/>
          <p:nvPr/>
        </p:nvSpPr>
        <p:spPr>
          <a:xfrm>
            <a:off x="5181470" y="6748272"/>
            <a:ext cx="304792" cy="109728"/>
          </a:xfrm>
          <a:prstGeom prst="rect">
            <a:avLst/>
          </a:prstGeom>
          <a:solidFill>
            <a:srgbClr val="27AE60"/>
          </a:solidFill>
          <a:ln/>
        </p:spPr>
      </p:sp>
      <p:sp>
        <p:nvSpPr>
          <p:cNvPr id="36" name="Shape 34"/>
          <p:cNvSpPr/>
          <p:nvPr/>
        </p:nvSpPr>
        <p:spPr>
          <a:xfrm>
            <a:off x="5486263" y="6748272"/>
            <a:ext cx="304792" cy="109728"/>
          </a:xfrm>
          <a:prstGeom prst="rect">
            <a:avLst/>
          </a:prstGeom>
          <a:solidFill>
            <a:srgbClr val="1F618D"/>
          </a:solidFill>
          <a:ln/>
        </p:spPr>
      </p:sp>
      <p:sp>
        <p:nvSpPr>
          <p:cNvPr id="37" name="Shape 35"/>
          <p:cNvSpPr/>
          <p:nvPr/>
        </p:nvSpPr>
        <p:spPr>
          <a:xfrm>
            <a:off x="5791055" y="6748272"/>
            <a:ext cx="304792" cy="109728"/>
          </a:xfrm>
          <a:prstGeom prst="rect">
            <a:avLst/>
          </a:prstGeom>
          <a:solidFill>
            <a:srgbClr val="8E44AD"/>
          </a:solidFill>
          <a:ln/>
        </p:spPr>
      </p:sp>
      <p:sp>
        <p:nvSpPr>
          <p:cNvPr id="38" name="Shape 36"/>
          <p:cNvSpPr/>
          <p:nvPr/>
        </p:nvSpPr>
        <p:spPr>
          <a:xfrm>
            <a:off x="6095848" y="6748272"/>
            <a:ext cx="304792" cy="109728"/>
          </a:xfrm>
          <a:prstGeom prst="rect">
            <a:avLst/>
          </a:prstGeom>
          <a:solidFill>
            <a:srgbClr val="C0392B"/>
          </a:solidFill>
          <a:ln/>
        </p:spPr>
      </p:sp>
      <p:sp>
        <p:nvSpPr>
          <p:cNvPr id="39" name="Shape 37"/>
          <p:cNvSpPr/>
          <p:nvPr/>
        </p:nvSpPr>
        <p:spPr>
          <a:xfrm>
            <a:off x="6400640" y="6748272"/>
            <a:ext cx="304792" cy="109728"/>
          </a:xfrm>
          <a:prstGeom prst="rect">
            <a:avLst/>
          </a:prstGeom>
          <a:solidFill>
            <a:srgbClr val="E67E22"/>
          </a:solidFill>
          <a:ln/>
        </p:spPr>
      </p:sp>
      <p:sp>
        <p:nvSpPr>
          <p:cNvPr id="40" name="Shape 38"/>
          <p:cNvSpPr/>
          <p:nvPr/>
        </p:nvSpPr>
        <p:spPr>
          <a:xfrm>
            <a:off x="6705432" y="6748272"/>
            <a:ext cx="304792" cy="109728"/>
          </a:xfrm>
          <a:prstGeom prst="rect">
            <a:avLst/>
          </a:prstGeom>
          <a:solidFill>
            <a:srgbClr val="27AE60"/>
          </a:solidFill>
          <a:ln/>
        </p:spPr>
      </p:sp>
      <p:sp>
        <p:nvSpPr>
          <p:cNvPr id="41" name="Shape 39"/>
          <p:cNvSpPr/>
          <p:nvPr/>
        </p:nvSpPr>
        <p:spPr>
          <a:xfrm>
            <a:off x="7010225" y="6748272"/>
            <a:ext cx="304792" cy="109728"/>
          </a:xfrm>
          <a:prstGeom prst="rect">
            <a:avLst/>
          </a:prstGeom>
          <a:solidFill>
            <a:srgbClr val="1F618D"/>
          </a:solidFill>
          <a:ln/>
        </p:spPr>
      </p:sp>
      <p:sp>
        <p:nvSpPr>
          <p:cNvPr id="42" name="Shape 40"/>
          <p:cNvSpPr/>
          <p:nvPr/>
        </p:nvSpPr>
        <p:spPr>
          <a:xfrm>
            <a:off x="7315017" y="6748272"/>
            <a:ext cx="304792" cy="109728"/>
          </a:xfrm>
          <a:prstGeom prst="rect">
            <a:avLst/>
          </a:prstGeom>
          <a:solidFill>
            <a:srgbClr val="8E44AD"/>
          </a:solidFill>
          <a:ln/>
        </p:spPr>
      </p:sp>
      <p:sp>
        <p:nvSpPr>
          <p:cNvPr id="43" name="Shape 41"/>
          <p:cNvSpPr/>
          <p:nvPr/>
        </p:nvSpPr>
        <p:spPr>
          <a:xfrm>
            <a:off x="7619809" y="6748272"/>
            <a:ext cx="304792" cy="109728"/>
          </a:xfrm>
          <a:prstGeom prst="rect">
            <a:avLst/>
          </a:prstGeom>
          <a:solidFill>
            <a:srgbClr val="C0392B"/>
          </a:solidFill>
          <a:ln/>
        </p:spPr>
      </p:sp>
      <p:sp>
        <p:nvSpPr>
          <p:cNvPr id="44" name="Shape 42"/>
          <p:cNvSpPr/>
          <p:nvPr/>
        </p:nvSpPr>
        <p:spPr>
          <a:xfrm>
            <a:off x="7924602" y="6748272"/>
            <a:ext cx="304792" cy="109728"/>
          </a:xfrm>
          <a:prstGeom prst="rect">
            <a:avLst/>
          </a:prstGeom>
          <a:solidFill>
            <a:srgbClr val="E67E22"/>
          </a:solidFill>
          <a:ln/>
        </p:spPr>
      </p:sp>
      <p:sp>
        <p:nvSpPr>
          <p:cNvPr id="45" name="Shape 43"/>
          <p:cNvSpPr/>
          <p:nvPr/>
        </p:nvSpPr>
        <p:spPr>
          <a:xfrm>
            <a:off x="8229394" y="6748272"/>
            <a:ext cx="304792" cy="109728"/>
          </a:xfrm>
          <a:prstGeom prst="rect">
            <a:avLst/>
          </a:prstGeom>
          <a:solidFill>
            <a:srgbClr val="27AE60"/>
          </a:solidFill>
          <a:ln/>
        </p:spPr>
      </p:sp>
      <p:sp>
        <p:nvSpPr>
          <p:cNvPr id="46" name="Shape 44"/>
          <p:cNvSpPr/>
          <p:nvPr/>
        </p:nvSpPr>
        <p:spPr>
          <a:xfrm>
            <a:off x="8534187" y="6748272"/>
            <a:ext cx="304792" cy="109728"/>
          </a:xfrm>
          <a:prstGeom prst="rect">
            <a:avLst/>
          </a:prstGeom>
          <a:solidFill>
            <a:srgbClr val="1F618D"/>
          </a:solidFill>
          <a:ln/>
        </p:spPr>
      </p:sp>
      <p:sp>
        <p:nvSpPr>
          <p:cNvPr id="47" name="Shape 45"/>
          <p:cNvSpPr/>
          <p:nvPr/>
        </p:nvSpPr>
        <p:spPr>
          <a:xfrm>
            <a:off x="8838979" y="6748272"/>
            <a:ext cx="304792" cy="109728"/>
          </a:xfrm>
          <a:prstGeom prst="rect">
            <a:avLst/>
          </a:prstGeom>
          <a:solidFill>
            <a:srgbClr val="8E44AD"/>
          </a:solidFill>
          <a:ln/>
        </p:spPr>
      </p:sp>
      <p:sp>
        <p:nvSpPr>
          <p:cNvPr id="48" name="Shape 46"/>
          <p:cNvSpPr/>
          <p:nvPr/>
        </p:nvSpPr>
        <p:spPr>
          <a:xfrm>
            <a:off x="9143771" y="6748272"/>
            <a:ext cx="304792" cy="109728"/>
          </a:xfrm>
          <a:prstGeom prst="rect">
            <a:avLst/>
          </a:prstGeom>
          <a:solidFill>
            <a:srgbClr val="C0392B"/>
          </a:solidFill>
          <a:ln/>
        </p:spPr>
      </p:sp>
      <p:sp>
        <p:nvSpPr>
          <p:cNvPr id="49" name="Shape 47"/>
          <p:cNvSpPr/>
          <p:nvPr/>
        </p:nvSpPr>
        <p:spPr>
          <a:xfrm>
            <a:off x="9448564" y="6748272"/>
            <a:ext cx="304792" cy="109728"/>
          </a:xfrm>
          <a:prstGeom prst="rect">
            <a:avLst/>
          </a:prstGeom>
          <a:solidFill>
            <a:srgbClr val="E67E22"/>
          </a:solidFill>
          <a:ln/>
        </p:spPr>
      </p:sp>
      <p:sp>
        <p:nvSpPr>
          <p:cNvPr id="50" name="Shape 48"/>
          <p:cNvSpPr/>
          <p:nvPr/>
        </p:nvSpPr>
        <p:spPr>
          <a:xfrm>
            <a:off x="9753356" y="6748272"/>
            <a:ext cx="304792" cy="109728"/>
          </a:xfrm>
          <a:prstGeom prst="rect">
            <a:avLst/>
          </a:prstGeom>
          <a:solidFill>
            <a:srgbClr val="27AE60"/>
          </a:solidFill>
          <a:ln/>
        </p:spPr>
      </p:sp>
      <p:sp>
        <p:nvSpPr>
          <p:cNvPr id="51" name="Shape 49"/>
          <p:cNvSpPr/>
          <p:nvPr/>
        </p:nvSpPr>
        <p:spPr>
          <a:xfrm>
            <a:off x="10058149" y="6748272"/>
            <a:ext cx="304792" cy="109728"/>
          </a:xfrm>
          <a:prstGeom prst="rect">
            <a:avLst/>
          </a:prstGeom>
          <a:solidFill>
            <a:srgbClr val="1F618D"/>
          </a:solidFill>
          <a:ln/>
        </p:spPr>
      </p:sp>
      <p:sp>
        <p:nvSpPr>
          <p:cNvPr id="52" name="Shape 50"/>
          <p:cNvSpPr/>
          <p:nvPr/>
        </p:nvSpPr>
        <p:spPr>
          <a:xfrm>
            <a:off x="10362941" y="6748272"/>
            <a:ext cx="304792" cy="109728"/>
          </a:xfrm>
          <a:prstGeom prst="rect">
            <a:avLst/>
          </a:prstGeom>
          <a:solidFill>
            <a:srgbClr val="8E44AD"/>
          </a:solidFill>
          <a:ln/>
        </p:spPr>
      </p:sp>
      <p:sp>
        <p:nvSpPr>
          <p:cNvPr id="53" name="Shape 51"/>
          <p:cNvSpPr/>
          <p:nvPr/>
        </p:nvSpPr>
        <p:spPr>
          <a:xfrm>
            <a:off x="10667733" y="6748272"/>
            <a:ext cx="304792" cy="109728"/>
          </a:xfrm>
          <a:prstGeom prst="rect">
            <a:avLst/>
          </a:prstGeom>
          <a:solidFill>
            <a:srgbClr val="C0392B"/>
          </a:solidFill>
          <a:ln/>
        </p:spPr>
      </p:sp>
      <p:sp>
        <p:nvSpPr>
          <p:cNvPr id="54" name="Shape 52"/>
          <p:cNvSpPr/>
          <p:nvPr/>
        </p:nvSpPr>
        <p:spPr>
          <a:xfrm>
            <a:off x="10972526" y="6748272"/>
            <a:ext cx="304792" cy="109728"/>
          </a:xfrm>
          <a:prstGeom prst="rect">
            <a:avLst/>
          </a:prstGeom>
          <a:solidFill>
            <a:srgbClr val="E67E22"/>
          </a:solidFill>
          <a:ln/>
        </p:spPr>
      </p:sp>
      <p:sp>
        <p:nvSpPr>
          <p:cNvPr id="55" name="Shape 53"/>
          <p:cNvSpPr/>
          <p:nvPr/>
        </p:nvSpPr>
        <p:spPr>
          <a:xfrm>
            <a:off x="11277318" y="6748272"/>
            <a:ext cx="304792" cy="109728"/>
          </a:xfrm>
          <a:prstGeom prst="rect">
            <a:avLst/>
          </a:prstGeom>
          <a:solidFill>
            <a:srgbClr val="27AE60"/>
          </a:solidFill>
          <a:ln/>
        </p:spPr>
      </p:sp>
      <p:sp>
        <p:nvSpPr>
          <p:cNvPr id="56" name="Shape 54"/>
          <p:cNvSpPr/>
          <p:nvPr/>
        </p:nvSpPr>
        <p:spPr>
          <a:xfrm>
            <a:off x="11582110" y="6748272"/>
            <a:ext cx="304792" cy="109728"/>
          </a:xfrm>
          <a:prstGeom prst="rect">
            <a:avLst/>
          </a:prstGeom>
          <a:solidFill>
            <a:srgbClr val="1F618D"/>
          </a:solidFill>
          <a:ln/>
        </p:spPr>
      </p:sp>
      <p:sp>
        <p:nvSpPr>
          <p:cNvPr id="57" name="Shape 55"/>
          <p:cNvSpPr/>
          <p:nvPr/>
        </p:nvSpPr>
        <p:spPr>
          <a:xfrm>
            <a:off x="11886903" y="6748272"/>
            <a:ext cx="304792" cy="109728"/>
          </a:xfrm>
          <a:prstGeom prst="rect">
            <a:avLst/>
          </a:prstGeom>
          <a:solidFill>
            <a:srgbClr val="8E44AD"/>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000" b="1" dirty="0">
                <a:solidFill>
                  <a:srgbClr val="17533F"/>
                </a:solidFill>
                <a:latin typeface="Cambria" pitchFamily="34" charset="0"/>
                <a:ea typeface="Cambria" pitchFamily="34" charset="-122"/>
                <a:cs typeface="Cambria" pitchFamily="34" charset="-120"/>
              </a:rPr>
              <a:t>Contents</a:t>
            </a:r>
            <a:endParaRPr lang="en-US" sz="3000" dirty="0"/>
          </a:p>
        </p:txBody>
      </p:sp>
      <p:sp>
        <p:nvSpPr>
          <p:cNvPr id="3" name="Shape 1"/>
          <p:cNvSpPr/>
          <p:nvPr/>
        </p:nvSpPr>
        <p:spPr>
          <a:xfrm>
            <a:off x="0" y="6748272"/>
            <a:ext cx="304792" cy="109728"/>
          </a:xfrm>
          <a:prstGeom prst="rect">
            <a:avLst/>
          </a:prstGeom>
          <a:solidFill>
            <a:srgbClr val="C0392B"/>
          </a:solidFill>
          <a:ln/>
        </p:spPr>
      </p:sp>
      <p:sp>
        <p:nvSpPr>
          <p:cNvPr id="4" name="Shape 2"/>
          <p:cNvSpPr/>
          <p:nvPr/>
        </p:nvSpPr>
        <p:spPr>
          <a:xfrm>
            <a:off x="304792" y="6748272"/>
            <a:ext cx="304792" cy="109728"/>
          </a:xfrm>
          <a:prstGeom prst="rect">
            <a:avLst/>
          </a:prstGeom>
          <a:solidFill>
            <a:srgbClr val="E67E22"/>
          </a:solidFill>
          <a:ln/>
        </p:spPr>
      </p:sp>
      <p:sp>
        <p:nvSpPr>
          <p:cNvPr id="5" name="Shape 3"/>
          <p:cNvSpPr/>
          <p:nvPr/>
        </p:nvSpPr>
        <p:spPr>
          <a:xfrm>
            <a:off x="609585" y="6748272"/>
            <a:ext cx="304792" cy="109728"/>
          </a:xfrm>
          <a:prstGeom prst="rect">
            <a:avLst/>
          </a:prstGeom>
          <a:solidFill>
            <a:srgbClr val="27AE60"/>
          </a:solidFill>
          <a:ln/>
        </p:spPr>
      </p:sp>
      <p:sp>
        <p:nvSpPr>
          <p:cNvPr id="6" name="Shape 4"/>
          <p:cNvSpPr/>
          <p:nvPr/>
        </p:nvSpPr>
        <p:spPr>
          <a:xfrm>
            <a:off x="914377" y="6748272"/>
            <a:ext cx="304792" cy="109728"/>
          </a:xfrm>
          <a:prstGeom prst="rect">
            <a:avLst/>
          </a:prstGeom>
          <a:solidFill>
            <a:srgbClr val="1F618D"/>
          </a:solidFill>
          <a:ln/>
        </p:spPr>
      </p:sp>
      <p:sp>
        <p:nvSpPr>
          <p:cNvPr id="7" name="Shape 5"/>
          <p:cNvSpPr/>
          <p:nvPr/>
        </p:nvSpPr>
        <p:spPr>
          <a:xfrm>
            <a:off x="1219170" y="6748272"/>
            <a:ext cx="304792" cy="109728"/>
          </a:xfrm>
          <a:prstGeom prst="rect">
            <a:avLst/>
          </a:prstGeom>
          <a:solidFill>
            <a:srgbClr val="8E44AD"/>
          </a:solidFill>
          <a:ln/>
        </p:spPr>
      </p:sp>
      <p:sp>
        <p:nvSpPr>
          <p:cNvPr id="8" name="Shape 6"/>
          <p:cNvSpPr/>
          <p:nvPr/>
        </p:nvSpPr>
        <p:spPr>
          <a:xfrm>
            <a:off x="1523962" y="6748272"/>
            <a:ext cx="304792" cy="109728"/>
          </a:xfrm>
          <a:prstGeom prst="rect">
            <a:avLst/>
          </a:prstGeom>
          <a:solidFill>
            <a:srgbClr val="C0392B"/>
          </a:solidFill>
          <a:ln/>
        </p:spPr>
      </p:sp>
      <p:sp>
        <p:nvSpPr>
          <p:cNvPr id="9" name="Shape 7"/>
          <p:cNvSpPr/>
          <p:nvPr/>
        </p:nvSpPr>
        <p:spPr>
          <a:xfrm>
            <a:off x="1828754" y="6748272"/>
            <a:ext cx="304792" cy="109728"/>
          </a:xfrm>
          <a:prstGeom prst="rect">
            <a:avLst/>
          </a:prstGeom>
          <a:solidFill>
            <a:srgbClr val="E67E22"/>
          </a:solidFill>
          <a:ln/>
        </p:spPr>
      </p:sp>
      <p:sp>
        <p:nvSpPr>
          <p:cNvPr id="10" name="Shape 8"/>
          <p:cNvSpPr/>
          <p:nvPr/>
        </p:nvSpPr>
        <p:spPr>
          <a:xfrm>
            <a:off x="2133547" y="6748272"/>
            <a:ext cx="304792" cy="109728"/>
          </a:xfrm>
          <a:prstGeom prst="rect">
            <a:avLst/>
          </a:prstGeom>
          <a:solidFill>
            <a:srgbClr val="27AE60"/>
          </a:solidFill>
          <a:ln/>
        </p:spPr>
      </p:sp>
      <p:sp>
        <p:nvSpPr>
          <p:cNvPr id="11" name="Shape 9"/>
          <p:cNvSpPr/>
          <p:nvPr/>
        </p:nvSpPr>
        <p:spPr>
          <a:xfrm>
            <a:off x="2438339" y="6748272"/>
            <a:ext cx="304792" cy="109728"/>
          </a:xfrm>
          <a:prstGeom prst="rect">
            <a:avLst/>
          </a:prstGeom>
          <a:solidFill>
            <a:srgbClr val="1F618D"/>
          </a:solidFill>
          <a:ln/>
        </p:spPr>
      </p:sp>
      <p:sp>
        <p:nvSpPr>
          <p:cNvPr id="12" name="Shape 10"/>
          <p:cNvSpPr/>
          <p:nvPr/>
        </p:nvSpPr>
        <p:spPr>
          <a:xfrm>
            <a:off x="2743131" y="6748272"/>
            <a:ext cx="304792" cy="109728"/>
          </a:xfrm>
          <a:prstGeom prst="rect">
            <a:avLst/>
          </a:prstGeom>
          <a:solidFill>
            <a:srgbClr val="8E44AD"/>
          </a:solidFill>
          <a:ln/>
        </p:spPr>
      </p:sp>
      <p:sp>
        <p:nvSpPr>
          <p:cNvPr id="13" name="Shape 11"/>
          <p:cNvSpPr/>
          <p:nvPr/>
        </p:nvSpPr>
        <p:spPr>
          <a:xfrm>
            <a:off x="3047924" y="6748272"/>
            <a:ext cx="304792" cy="109728"/>
          </a:xfrm>
          <a:prstGeom prst="rect">
            <a:avLst/>
          </a:prstGeom>
          <a:solidFill>
            <a:srgbClr val="C0392B"/>
          </a:solidFill>
          <a:ln/>
        </p:spPr>
      </p:sp>
      <p:sp>
        <p:nvSpPr>
          <p:cNvPr id="14" name="Shape 12"/>
          <p:cNvSpPr/>
          <p:nvPr/>
        </p:nvSpPr>
        <p:spPr>
          <a:xfrm>
            <a:off x="3352716" y="6748272"/>
            <a:ext cx="304792" cy="109728"/>
          </a:xfrm>
          <a:prstGeom prst="rect">
            <a:avLst/>
          </a:prstGeom>
          <a:solidFill>
            <a:srgbClr val="E67E22"/>
          </a:solidFill>
          <a:ln/>
        </p:spPr>
      </p:sp>
      <p:sp>
        <p:nvSpPr>
          <p:cNvPr id="15" name="Shape 13"/>
          <p:cNvSpPr/>
          <p:nvPr/>
        </p:nvSpPr>
        <p:spPr>
          <a:xfrm>
            <a:off x="3657509" y="6748272"/>
            <a:ext cx="304792" cy="109728"/>
          </a:xfrm>
          <a:prstGeom prst="rect">
            <a:avLst/>
          </a:prstGeom>
          <a:solidFill>
            <a:srgbClr val="27AE60"/>
          </a:solidFill>
          <a:ln/>
        </p:spPr>
      </p:sp>
      <p:sp>
        <p:nvSpPr>
          <p:cNvPr id="16" name="Shape 14"/>
          <p:cNvSpPr/>
          <p:nvPr/>
        </p:nvSpPr>
        <p:spPr>
          <a:xfrm>
            <a:off x="3962301" y="6748272"/>
            <a:ext cx="304792" cy="109728"/>
          </a:xfrm>
          <a:prstGeom prst="rect">
            <a:avLst/>
          </a:prstGeom>
          <a:solidFill>
            <a:srgbClr val="1F618D"/>
          </a:solidFill>
          <a:ln/>
        </p:spPr>
      </p:sp>
      <p:sp>
        <p:nvSpPr>
          <p:cNvPr id="17" name="Shape 15"/>
          <p:cNvSpPr/>
          <p:nvPr/>
        </p:nvSpPr>
        <p:spPr>
          <a:xfrm>
            <a:off x="4267093" y="6748272"/>
            <a:ext cx="304792" cy="109728"/>
          </a:xfrm>
          <a:prstGeom prst="rect">
            <a:avLst/>
          </a:prstGeom>
          <a:solidFill>
            <a:srgbClr val="8E44AD"/>
          </a:solidFill>
          <a:ln/>
        </p:spPr>
      </p:sp>
      <p:sp>
        <p:nvSpPr>
          <p:cNvPr id="18" name="Shape 16"/>
          <p:cNvSpPr/>
          <p:nvPr/>
        </p:nvSpPr>
        <p:spPr>
          <a:xfrm>
            <a:off x="4571886" y="6748272"/>
            <a:ext cx="304792" cy="109728"/>
          </a:xfrm>
          <a:prstGeom prst="rect">
            <a:avLst/>
          </a:prstGeom>
          <a:solidFill>
            <a:srgbClr val="C0392B"/>
          </a:solidFill>
          <a:ln/>
        </p:spPr>
      </p:sp>
      <p:sp>
        <p:nvSpPr>
          <p:cNvPr id="19" name="Shape 17"/>
          <p:cNvSpPr/>
          <p:nvPr/>
        </p:nvSpPr>
        <p:spPr>
          <a:xfrm>
            <a:off x="4876678" y="6748272"/>
            <a:ext cx="304792" cy="109728"/>
          </a:xfrm>
          <a:prstGeom prst="rect">
            <a:avLst/>
          </a:prstGeom>
          <a:solidFill>
            <a:srgbClr val="E67E22"/>
          </a:solidFill>
          <a:ln/>
        </p:spPr>
      </p:sp>
      <p:sp>
        <p:nvSpPr>
          <p:cNvPr id="20" name="Shape 18"/>
          <p:cNvSpPr/>
          <p:nvPr/>
        </p:nvSpPr>
        <p:spPr>
          <a:xfrm>
            <a:off x="5181470" y="6748272"/>
            <a:ext cx="304792" cy="109728"/>
          </a:xfrm>
          <a:prstGeom prst="rect">
            <a:avLst/>
          </a:prstGeom>
          <a:solidFill>
            <a:srgbClr val="27AE60"/>
          </a:solidFill>
          <a:ln/>
        </p:spPr>
      </p:sp>
      <p:sp>
        <p:nvSpPr>
          <p:cNvPr id="21" name="Shape 19"/>
          <p:cNvSpPr/>
          <p:nvPr/>
        </p:nvSpPr>
        <p:spPr>
          <a:xfrm>
            <a:off x="5486263" y="6748272"/>
            <a:ext cx="304792" cy="109728"/>
          </a:xfrm>
          <a:prstGeom prst="rect">
            <a:avLst/>
          </a:prstGeom>
          <a:solidFill>
            <a:srgbClr val="1F618D"/>
          </a:solidFill>
          <a:ln/>
        </p:spPr>
      </p:sp>
      <p:sp>
        <p:nvSpPr>
          <p:cNvPr id="22" name="Shape 20"/>
          <p:cNvSpPr/>
          <p:nvPr/>
        </p:nvSpPr>
        <p:spPr>
          <a:xfrm>
            <a:off x="5791055" y="6748272"/>
            <a:ext cx="304792" cy="109728"/>
          </a:xfrm>
          <a:prstGeom prst="rect">
            <a:avLst/>
          </a:prstGeom>
          <a:solidFill>
            <a:srgbClr val="8E44AD"/>
          </a:solidFill>
          <a:ln/>
        </p:spPr>
      </p:sp>
      <p:sp>
        <p:nvSpPr>
          <p:cNvPr id="23" name="Shape 21"/>
          <p:cNvSpPr/>
          <p:nvPr/>
        </p:nvSpPr>
        <p:spPr>
          <a:xfrm>
            <a:off x="6095848" y="6748272"/>
            <a:ext cx="304792" cy="109728"/>
          </a:xfrm>
          <a:prstGeom prst="rect">
            <a:avLst/>
          </a:prstGeom>
          <a:solidFill>
            <a:srgbClr val="C0392B"/>
          </a:solidFill>
          <a:ln/>
        </p:spPr>
      </p:sp>
      <p:sp>
        <p:nvSpPr>
          <p:cNvPr id="24" name="Shape 22"/>
          <p:cNvSpPr/>
          <p:nvPr/>
        </p:nvSpPr>
        <p:spPr>
          <a:xfrm>
            <a:off x="6400640" y="6748272"/>
            <a:ext cx="304792" cy="109728"/>
          </a:xfrm>
          <a:prstGeom prst="rect">
            <a:avLst/>
          </a:prstGeom>
          <a:solidFill>
            <a:srgbClr val="E67E22"/>
          </a:solidFill>
          <a:ln/>
        </p:spPr>
      </p:sp>
      <p:sp>
        <p:nvSpPr>
          <p:cNvPr id="25" name="Shape 23"/>
          <p:cNvSpPr/>
          <p:nvPr/>
        </p:nvSpPr>
        <p:spPr>
          <a:xfrm>
            <a:off x="6705432" y="6748272"/>
            <a:ext cx="304792" cy="109728"/>
          </a:xfrm>
          <a:prstGeom prst="rect">
            <a:avLst/>
          </a:prstGeom>
          <a:solidFill>
            <a:srgbClr val="27AE60"/>
          </a:solidFill>
          <a:ln/>
        </p:spPr>
      </p:sp>
      <p:sp>
        <p:nvSpPr>
          <p:cNvPr id="26" name="Shape 24"/>
          <p:cNvSpPr/>
          <p:nvPr/>
        </p:nvSpPr>
        <p:spPr>
          <a:xfrm>
            <a:off x="7010225" y="6748272"/>
            <a:ext cx="304792" cy="109728"/>
          </a:xfrm>
          <a:prstGeom prst="rect">
            <a:avLst/>
          </a:prstGeom>
          <a:solidFill>
            <a:srgbClr val="1F618D"/>
          </a:solidFill>
          <a:ln/>
        </p:spPr>
      </p:sp>
      <p:sp>
        <p:nvSpPr>
          <p:cNvPr id="27" name="Shape 25"/>
          <p:cNvSpPr/>
          <p:nvPr/>
        </p:nvSpPr>
        <p:spPr>
          <a:xfrm>
            <a:off x="7315017" y="6748272"/>
            <a:ext cx="304792" cy="109728"/>
          </a:xfrm>
          <a:prstGeom prst="rect">
            <a:avLst/>
          </a:prstGeom>
          <a:solidFill>
            <a:srgbClr val="8E44AD"/>
          </a:solidFill>
          <a:ln/>
        </p:spPr>
      </p:sp>
      <p:sp>
        <p:nvSpPr>
          <p:cNvPr id="28" name="Shape 26"/>
          <p:cNvSpPr/>
          <p:nvPr/>
        </p:nvSpPr>
        <p:spPr>
          <a:xfrm>
            <a:off x="7619809" y="6748272"/>
            <a:ext cx="304792" cy="109728"/>
          </a:xfrm>
          <a:prstGeom prst="rect">
            <a:avLst/>
          </a:prstGeom>
          <a:solidFill>
            <a:srgbClr val="C0392B"/>
          </a:solidFill>
          <a:ln/>
        </p:spPr>
      </p:sp>
      <p:sp>
        <p:nvSpPr>
          <p:cNvPr id="29" name="Shape 27"/>
          <p:cNvSpPr/>
          <p:nvPr/>
        </p:nvSpPr>
        <p:spPr>
          <a:xfrm>
            <a:off x="7924602" y="6748272"/>
            <a:ext cx="304792" cy="109728"/>
          </a:xfrm>
          <a:prstGeom prst="rect">
            <a:avLst/>
          </a:prstGeom>
          <a:solidFill>
            <a:srgbClr val="E67E22"/>
          </a:solidFill>
          <a:ln/>
        </p:spPr>
      </p:sp>
      <p:sp>
        <p:nvSpPr>
          <p:cNvPr id="30" name="Shape 28"/>
          <p:cNvSpPr/>
          <p:nvPr/>
        </p:nvSpPr>
        <p:spPr>
          <a:xfrm>
            <a:off x="8229394" y="6748272"/>
            <a:ext cx="304792" cy="109728"/>
          </a:xfrm>
          <a:prstGeom prst="rect">
            <a:avLst/>
          </a:prstGeom>
          <a:solidFill>
            <a:srgbClr val="27AE60"/>
          </a:solidFill>
          <a:ln/>
        </p:spPr>
      </p:sp>
      <p:sp>
        <p:nvSpPr>
          <p:cNvPr id="31" name="Shape 29"/>
          <p:cNvSpPr/>
          <p:nvPr/>
        </p:nvSpPr>
        <p:spPr>
          <a:xfrm>
            <a:off x="8534187" y="6748272"/>
            <a:ext cx="304792" cy="109728"/>
          </a:xfrm>
          <a:prstGeom prst="rect">
            <a:avLst/>
          </a:prstGeom>
          <a:solidFill>
            <a:srgbClr val="1F618D"/>
          </a:solidFill>
          <a:ln/>
        </p:spPr>
      </p:sp>
      <p:sp>
        <p:nvSpPr>
          <p:cNvPr id="32" name="Shape 30"/>
          <p:cNvSpPr/>
          <p:nvPr/>
        </p:nvSpPr>
        <p:spPr>
          <a:xfrm>
            <a:off x="8838979" y="6748272"/>
            <a:ext cx="304792" cy="109728"/>
          </a:xfrm>
          <a:prstGeom prst="rect">
            <a:avLst/>
          </a:prstGeom>
          <a:solidFill>
            <a:srgbClr val="8E44AD"/>
          </a:solidFill>
          <a:ln/>
        </p:spPr>
      </p:sp>
      <p:sp>
        <p:nvSpPr>
          <p:cNvPr id="33" name="Shape 31"/>
          <p:cNvSpPr/>
          <p:nvPr/>
        </p:nvSpPr>
        <p:spPr>
          <a:xfrm>
            <a:off x="9143771" y="6748272"/>
            <a:ext cx="304792" cy="109728"/>
          </a:xfrm>
          <a:prstGeom prst="rect">
            <a:avLst/>
          </a:prstGeom>
          <a:solidFill>
            <a:srgbClr val="C0392B"/>
          </a:solidFill>
          <a:ln/>
        </p:spPr>
      </p:sp>
      <p:sp>
        <p:nvSpPr>
          <p:cNvPr id="34" name="Shape 32"/>
          <p:cNvSpPr/>
          <p:nvPr/>
        </p:nvSpPr>
        <p:spPr>
          <a:xfrm>
            <a:off x="9448564" y="6748272"/>
            <a:ext cx="304792" cy="109728"/>
          </a:xfrm>
          <a:prstGeom prst="rect">
            <a:avLst/>
          </a:prstGeom>
          <a:solidFill>
            <a:srgbClr val="E67E22"/>
          </a:solidFill>
          <a:ln/>
        </p:spPr>
      </p:sp>
      <p:sp>
        <p:nvSpPr>
          <p:cNvPr id="35" name="Shape 33"/>
          <p:cNvSpPr/>
          <p:nvPr/>
        </p:nvSpPr>
        <p:spPr>
          <a:xfrm>
            <a:off x="9753356" y="6748272"/>
            <a:ext cx="304792" cy="109728"/>
          </a:xfrm>
          <a:prstGeom prst="rect">
            <a:avLst/>
          </a:prstGeom>
          <a:solidFill>
            <a:srgbClr val="27AE60"/>
          </a:solidFill>
          <a:ln/>
        </p:spPr>
      </p:sp>
      <p:sp>
        <p:nvSpPr>
          <p:cNvPr id="36" name="Shape 34"/>
          <p:cNvSpPr/>
          <p:nvPr/>
        </p:nvSpPr>
        <p:spPr>
          <a:xfrm>
            <a:off x="10058149" y="6748272"/>
            <a:ext cx="304792" cy="109728"/>
          </a:xfrm>
          <a:prstGeom prst="rect">
            <a:avLst/>
          </a:prstGeom>
          <a:solidFill>
            <a:srgbClr val="1F618D"/>
          </a:solidFill>
          <a:ln/>
        </p:spPr>
      </p:sp>
      <p:sp>
        <p:nvSpPr>
          <p:cNvPr id="37" name="Shape 35"/>
          <p:cNvSpPr/>
          <p:nvPr/>
        </p:nvSpPr>
        <p:spPr>
          <a:xfrm>
            <a:off x="10362941" y="6748272"/>
            <a:ext cx="304792" cy="109728"/>
          </a:xfrm>
          <a:prstGeom prst="rect">
            <a:avLst/>
          </a:prstGeom>
          <a:solidFill>
            <a:srgbClr val="8E44AD"/>
          </a:solidFill>
          <a:ln/>
        </p:spPr>
      </p:sp>
      <p:sp>
        <p:nvSpPr>
          <p:cNvPr id="38" name="Shape 36"/>
          <p:cNvSpPr/>
          <p:nvPr/>
        </p:nvSpPr>
        <p:spPr>
          <a:xfrm>
            <a:off x="10667733" y="6748272"/>
            <a:ext cx="304792" cy="109728"/>
          </a:xfrm>
          <a:prstGeom prst="rect">
            <a:avLst/>
          </a:prstGeom>
          <a:solidFill>
            <a:srgbClr val="C0392B"/>
          </a:solidFill>
          <a:ln/>
        </p:spPr>
      </p:sp>
      <p:sp>
        <p:nvSpPr>
          <p:cNvPr id="39" name="Shape 37"/>
          <p:cNvSpPr/>
          <p:nvPr/>
        </p:nvSpPr>
        <p:spPr>
          <a:xfrm>
            <a:off x="10972526" y="6748272"/>
            <a:ext cx="304792" cy="109728"/>
          </a:xfrm>
          <a:prstGeom prst="rect">
            <a:avLst/>
          </a:prstGeom>
          <a:solidFill>
            <a:srgbClr val="E67E22"/>
          </a:solidFill>
          <a:ln/>
        </p:spPr>
      </p:sp>
      <p:sp>
        <p:nvSpPr>
          <p:cNvPr id="40" name="Shape 38"/>
          <p:cNvSpPr/>
          <p:nvPr/>
        </p:nvSpPr>
        <p:spPr>
          <a:xfrm>
            <a:off x="11277318" y="6748272"/>
            <a:ext cx="304792" cy="109728"/>
          </a:xfrm>
          <a:prstGeom prst="rect">
            <a:avLst/>
          </a:prstGeom>
          <a:solidFill>
            <a:srgbClr val="27AE60"/>
          </a:solidFill>
          <a:ln/>
        </p:spPr>
      </p:sp>
      <p:sp>
        <p:nvSpPr>
          <p:cNvPr id="41" name="Shape 39"/>
          <p:cNvSpPr/>
          <p:nvPr/>
        </p:nvSpPr>
        <p:spPr>
          <a:xfrm>
            <a:off x="11582110" y="6748272"/>
            <a:ext cx="304792" cy="109728"/>
          </a:xfrm>
          <a:prstGeom prst="rect">
            <a:avLst/>
          </a:prstGeom>
          <a:solidFill>
            <a:srgbClr val="1F618D"/>
          </a:solidFill>
          <a:ln/>
        </p:spPr>
      </p:sp>
      <p:sp>
        <p:nvSpPr>
          <p:cNvPr id="42" name="Shape 40"/>
          <p:cNvSpPr/>
          <p:nvPr/>
        </p:nvSpPr>
        <p:spPr>
          <a:xfrm>
            <a:off x="11886903" y="6748272"/>
            <a:ext cx="304792" cy="109728"/>
          </a:xfrm>
          <a:prstGeom prst="rect">
            <a:avLst/>
          </a:prstGeom>
          <a:solidFill>
            <a:srgbClr val="8E44AD"/>
          </a:solidFill>
          <a:ln/>
        </p:spPr>
      </p:sp>
      <p:sp>
        <p:nvSpPr>
          <p:cNvPr id="43" name="Text 41"/>
          <p:cNvSpPr txBox="1"/>
          <p:nvPr/>
        </p:nvSpPr>
        <p:spPr>
          <a:xfrm>
            <a:off x="54864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In short   3</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The roll   4</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By district   5</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The reasons   6</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Bengaluru   7</a:t>
            </a:r>
            <a:endParaRPr lang="en-US" sz="1700" dirty="0"/>
          </a:p>
        </p:txBody>
      </p:sp>
      <p:sp>
        <p:nvSpPr>
          <p:cNvPr id="44" name="Text 42"/>
          <p:cNvSpPr txBox="1"/>
          <p:nvPr/>
        </p:nvSpPr>
        <p:spPr>
          <a:xfrm>
            <a:off x="621792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Women   8</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After the draft   9</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Limits   10</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What the Election Commission should do   11</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Method   12–13</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E6B52"/>
                </a:solidFill>
                <a:latin typeface="Calibri" pitchFamily="34" charset="0"/>
                <a:ea typeface="Calibri" pitchFamily="34" charset="-122"/>
                <a:cs typeface="Calibri" pitchFamily="34" charset="-120"/>
              </a:rPr>
              <a:t>IN SHORT</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7533F"/>
                </a:solidFill>
                <a:latin typeface="Cambria" pitchFamily="34" charset="0"/>
                <a:ea typeface="Cambria" pitchFamily="34" charset="-122"/>
                <a:cs typeface="Cambria" pitchFamily="34" charset="-120"/>
              </a:rPr>
              <a:t>The revision removed 19.5 of every 100 electors, and 45.1 in Bengaluru</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Four findings, each computed from the published tables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Karnataka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Text 45"/>
          <p:cNvSpPr txBox="1"/>
          <p:nvPr/>
        </p:nvSpPr>
        <p:spPr>
          <a:xfrm>
            <a:off x="548640" y="1737360"/>
            <a:ext cx="11094415" cy="379476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1.08 crore names were left off Karnataka's draft roll, 19.5 of every 100 electors on the roll before the revision.</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Bengaluru's four districts lost 45.1 of every 100 electors. They hold 18.7% of the roll and 43.4% of the names removed.</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60.6% were entered as shifted, 14.1% as absent, 15.2% as dead and 6.6% as already enrolled elsewhere.</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By 25 September the roll had risen by 2,08,105 since the draft, 1.9% of the names removed. In Bengaluru it rose by 2,340.</a:t>
            </a:r>
            <a:endParaRPr lang="en-US" sz="1700" dirty="0"/>
          </a:p>
        </p:txBody>
      </p:sp>
      <p:sp>
        <p:nvSpPr>
          <p:cNvPr id="48" name="Text 46"/>
          <p:cNvSpPr txBox="1"/>
          <p:nvPr/>
        </p:nvSpPr>
        <p:spPr>
          <a:xfrm>
            <a:off x="548640" y="5806440"/>
            <a:ext cx="11094415" cy="457200"/>
          </a:xfrm>
          <a:prstGeom prst="rect">
            <a:avLst/>
          </a:prstGeom>
          <a:noFill/>
          <a:ln/>
        </p:spPr>
        <p:txBody>
          <a:bodyPr wrap="square" lIns="0" tIns="0" rIns="0" bIns="0" rtlCol="0" anchor="t">
            <a:normAutofit/>
          </a:bodyPr>
          <a:lstStyle/>
          <a:p>
            <a:pPr indent="0" marL="0">
              <a:spcAft>
                <a:spcPts val="800"/>
              </a:spcAft>
              <a:buNone/>
            </a:pPr>
            <a:r>
              <a:rPr lang="en-US" sz="1200" dirty="0">
                <a:solidFill>
                  <a:srgbClr val="4D5B69"/>
                </a:solidFill>
                <a:latin typeface="Calibri" pitchFamily="34" charset="0"/>
                <a:ea typeface="Calibri" pitchFamily="34" charset="-122"/>
                <a:cs typeface="Calibri" pitchFamily="34" charset="-120"/>
              </a:rPr>
              <a:t>Published by district only, with no split by sex. A reason on the list is what the officer wrote down, and nobody checked 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E6B52"/>
                </a:solidFill>
                <a:latin typeface="Calibri" pitchFamily="34" charset="0"/>
                <a:ea typeface="Calibri" pitchFamily="34" charset="-122"/>
                <a:cs typeface="Calibri" pitchFamily="34" charset="-120"/>
              </a:rPr>
              <a:t>THE ROLL</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7533F"/>
                </a:solidFill>
                <a:latin typeface="Cambria" pitchFamily="34" charset="0"/>
                <a:ea typeface="Cambria" pitchFamily="34" charset="-122"/>
                <a:cs typeface="Cambria" pitchFamily="34" charset="-120"/>
              </a:rPr>
              <a:t>The roll fell from 5.54 crore on 16 June to 4.46 crore at the draft</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The state's roll, step by step, to 25 September 2026, while notices were still being heard</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Karnataka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733547" y="2449198"/>
            <a:ext cx="862899" cy="3128642"/>
          </a:xfrm>
          <a:prstGeom prst="rect">
            <a:avLst/>
          </a:prstGeom>
          <a:solidFill>
            <a:srgbClr val="1F618D"/>
          </a:solidFill>
          <a:ln/>
        </p:spPr>
      </p:sp>
      <p:sp>
        <p:nvSpPr>
          <p:cNvPr id="48" name="Text 46"/>
          <p:cNvSpPr txBox="1"/>
          <p:nvPr/>
        </p:nvSpPr>
        <p:spPr>
          <a:xfrm>
            <a:off x="548640" y="2174878"/>
            <a:ext cx="1232713"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5,54,32,314</a:t>
            </a:r>
            <a:endParaRPr lang="en-US" sz="1000" dirty="0"/>
          </a:p>
        </p:txBody>
      </p:sp>
      <p:sp>
        <p:nvSpPr>
          <p:cNvPr id="49" name="Text 47"/>
          <p:cNvSpPr txBox="1"/>
          <p:nvPr/>
        </p:nvSpPr>
        <p:spPr>
          <a:xfrm>
            <a:off x="548640" y="5577840"/>
            <a:ext cx="1232713"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Roll of 16 June</a:t>
            </a:r>
            <a:endParaRPr lang="en-US" sz="1000" dirty="0"/>
          </a:p>
        </p:txBody>
      </p:sp>
      <p:sp>
        <p:nvSpPr>
          <p:cNvPr id="50" name="Shape 48"/>
          <p:cNvSpPr/>
          <p:nvPr/>
        </p:nvSpPr>
        <p:spPr>
          <a:xfrm>
            <a:off x="1966260" y="2449198"/>
            <a:ext cx="862899" cy="1002289"/>
          </a:xfrm>
          <a:prstGeom prst="rect">
            <a:avLst/>
          </a:prstGeom>
          <a:solidFill>
            <a:srgbClr val="C0392B"/>
          </a:solidFill>
          <a:ln/>
        </p:spPr>
      </p:sp>
      <p:sp>
        <p:nvSpPr>
          <p:cNvPr id="51" name="Text 49"/>
          <p:cNvSpPr txBox="1"/>
          <p:nvPr/>
        </p:nvSpPr>
        <p:spPr>
          <a:xfrm>
            <a:off x="1781353" y="2174878"/>
            <a:ext cx="1232713"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−65,45,679</a:t>
            </a:r>
            <a:endParaRPr lang="en-US" sz="1000" dirty="0"/>
          </a:p>
        </p:txBody>
      </p:sp>
      <p:sp>
        <p:nvSpPr>
          <p:cNvPr id="52" name="Text 50"/>
          <p:cNvSpPr txBox="1"/>
          <p:nvPr/>
        </p:nvSpPr>
        <p:spPr>
          <a:xfrm>
            <a:off x="1781353" y="5577840"/>
            <a:ext cx="1232713"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Shifted</a:t>
            </a:r>
            <a:endParaRPr lang="en-US" sz="1000" dirty="0"/>
          </a:p>
        </p:txBody>
      </p:sp>
      <p:sp>
        <p:nvSpPr>
          <p:cNvPr id="53" name="Shape 51"/>
          <p:cNvSpPr/>
          <p:nvPr/>
        </p:nvSpPr>
        <p:spPr>
          <a:xfrm>
            <a:off x="3198973" y="3451487"/>
            <a:ext cx="862899" cy="251100"/>
          </a:xfrm>
          <a:prstGeom prst="rect">
            <a:avLst/>
          </a:prstGeom>
          <a:solidFill>
            <a:srgbClr val="C0392B"/>
          </a:solidFill>
          <a:ln/>
        </p:spPr>
      </p:sp>
      <p:sp>
        <p:nvSpPr>
          <p:cNvPr id="54" name="Text 52"/>
          <p:cNvSpPr txBox="1"/>
          <p:nvPr/>
        </p:nvSpPr>
        <p:spPr>
          <a:xfrm>
            <a:off x="3014066" y="3177167"/>
            <a:ext cx="1232713"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−16,39,864</a:t>
            </a:r>
            <a:endParaRPr lang="en-US" sz="1000" dirty="0"/>
          </a:p>
        </p:txBody>
      </p:sp>
      <p:sp>
        <p:nvSpPr>
          <p:cNvPr id="55" name="Text 53"/>
          <p:cNvSpPr txBox="1"/>
          <p:nvPr/>
        </p:nvSpPr>
        <p:spPr>
          <a:xfrm>
            <a:off x="3014066" y="5577840"/>
            <a:ext cx="1232713"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Dead</a:t>
            </a:r>
            <a:endParaRPr lang="en-US" sz="1000" dirty="0"/>
          </a:p>
        </p:txBody>
      </p:sp>
      <p:sp>
        <p:nvSpPr>
          <p:cNvPr id="56" name="Shape 54"/>
          <p:cNvSpPr/>
          <p:nvPr/>
        </p:nvSpPr>
        <p:spPr>
          <a:xfrm>
            <a:off x="4431685" y="3702587"/>
            <a:ext cx="862899" cy="232293"/>
          </a:xfrm>
          <a:prstGeom prst="rect">
            <a:avLst/>
          </a:prstGeom>
          <a:solidFill>
            <a:srgbClr val="C0392B"/>
          </a:solidFill>
          <a:ln/>
        </p:spPr>
      </p:sp>
      <p:sp>
        <p:nvSpPr>
          <p:cNvPr id="57" name="Text 55"/>
          <p:cNvSpPr txBox="1"/>
          <p:nvPr/>
        </p:nvSpPr>
        <p:spPr>
          <a:xfrm>
            <a:off x="4246778" y="3428267"/>
            <a:ext cx="1232713"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−15,17,042</a:t>
            </a:r>
            <a:endParaRPr lang="en-US" sz="1000" dirty="0"/>
          </a:p>
        </p:txBody>
      </p:sp>
      <p:sp>
        <p:nvSpPr>
          <p:cNvPr id="58" name="Text 56"/>
          <p:cNvSpPr txBox="1"/>
          <p:nvPr/>
        </p:nvSpPr>
        <p:spPr>
          <a:xfrm>
            <a:off x="4246778" y="5577840"/>
            <a:ext cx="1232713"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Absent</a:t>
            </a:r>
            <a:endParaRPr lang="en-US" sz="1000" dirty="0"/>
          </a:p>
        </p:txBody>
      </p:sp>
      <p:sp>
        <p:nvSpPr>
          <p:cNvPr id="59" name="Shape 57"/>
          <p:cNvSpPr/>
          <p:nvPr/>
        </p:nvSpPr>
        <p:spPr>
          <a:xfrm>
            <a:off x="5664398" y="3934880"/>
            <a:ext cx="862899" cy="108697"/>
          </a:xfrm>
          <a:prstGeom prst="rect">
            <a:avLst/>
          </a:prstGeom>
          <a:solidFill>
            <a:srgbClr val="C0392B"/>
          </a:solidFill>
          <a:ln/>
        </p:spPr>
      </p:sp>
      <p:sp>
        <p:nvSpPr>
          <p:cNvPr id="60" name="Text 58"/>
          <p:cNvSpPr txBox="1"/>
          <p:nvPr/>
        </p:nvSpPr>
        <p:spPr>
          <a:xfrm>
            <a:off x="5479491" y="3660560"/>
            <a:ext cx="1232713"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−7,09,870</a:t>
            </a:r>
            <a:endParaRPr lang="en-US" sz="1000" dirty="0"/>
          </a:p>
        </p:txBody>
      </p:sp>
      <p:sp>
        <p:nvSpPr>
          <p:cNvPr id="61" name="Text 59"/>
          <p:cNvSpPr txBox="1"/>
          <p:nvPr/>
        </p:nvSpPr>
        <p:spPr>
          <a:xfrm>
            <a:off x="5479491" y="5577840"/>
            <a:ext cx="1232713"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Already enrolled</a:t>
            </a:r>
            <a:endParaRPr lang="en-US" sz="1000" dirty="0"/>
          </a:p>
        </p:txBody>
      </p:sp>
      <p:sp>
        <p:nvSpPr>
          <p:cNvPr id="62" name="Shape 60"/>
          <p:cNvSpPr/>
          <p:nvPr/>
        </p:nvSpPr>
        <p:spPr>
          <a:xfrm>
            <a:off x="6897111" y="4043576"/>
            <a:ext cx="862899" cy="58781"/>
          </a:xfrm>
          <a:prstGeom prst="rect">
            <a:avLst/>
          </a:prstGeom>
          <a:solidFill>
            <a:srgbClr val="C0392B"/>
          </a:solidFill>
          <a:ln/>
        </p:spPr>
      </p:sp>
      <p:sp>
        <p:nvSpPr>
          <p:cNvPr id="63" name="Text 61"/>
          <p:cNvSpPr txBox="1"/>
          <p:nvPr/>
        </p:nvSpPr>
        <p:spPr>
          <a:xfrm>
            <a:off x="6712204" y="3769256"/>
            <a:ext cx="1232713"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−3,83,884</a:t>
            </a:r>
            <a:endParaRPr lang="en-US" sz="1000" dirty="0"/>
          </a:p>
        </p:txBody>
      </p:sp>
      <p:sp>
        <p:nvSpPr>
          <p:cNvPr id="64" name="Text 62"/>
          <p:cNvSpPr txBox="1"/>
          <p:nvPr/>
        </p:nvSpPr>
        <p:spPr>
          <a:xfrm>
            <a:off x="6712204" y="5577840"/>
            <a:ext cx="1232713"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Other</a:t>
            </a:r>
            <a:endParaRPr lang="en-US" sz="1000" dirty="0"/>
          </a:p>
        </p:txBody>
      </p:sp>
      <p:sp>
        <p:nvSpPr>
          <p:cNvPr id="65" name="Shape 63"/>
          <p:cNvSpPr/>
          <p:nvPr/>
        </p:nvSpPr>
        <p:spPr>
          <a:xfrm>
            <a:off x="8129824" y="4102358"/>
            <a:ext cx="862899" cy="1475482"/>
          </a:xfrm>
          <a:prstGeom prst="rect">
            <a:avLst/>
          </a:prstGeom>
          <a:solidFill>
            <a:srgbClr val="1F618D"/>
          </a:solidFill>
          <a:ln/>
        </p:spPr>
      </p:sp>
      <p:sp>
        <p:nvSpPr>
          <p:cNvPr id="66" name="Text 64"/>
          <p:cNvSpPr txBox="1"/>
          <p:nvPr/>
        </p:nvSpPr>
        <p:spPr>
          <a:xfrm>
            <a:off x="7944917" y="3828038"/>
            <a:ext cx="1232713"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4,46,35,975</a:t>
            </a:r>
            <a:endParaRPr lang="en-US" sz="1000" dirty="0"/>
          </a:p>
        </p:txBody>
      </p:sp>
      <p:sp>
        <p:nvSpPr>
          <p:cNvPr id="67" name="Text 65"/>
          <p:cNvSpPr txBox="1"/>
          <p:nvPr/>
        </p:nvSpPr>
        <p:spPr>
          <a:xfrm>
            <a:off x="7944917" y="5577840"/>
            <a:ext cx="1232713"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Draft roll</a:t>
            </a:r>
            <a:endParaRPr lang="en-US" sz="1000" dirty="0"/>
          </a:p>
        </p:txBody>
      </p:sp>
      <p:sp>
        <p:nvSpPr>
          <p:cNvPr id="68" name="Shape 66"/>
          <p:cNvSpPr/>
          <p:nvPr/>
        </p:nvSpPr>
        <p:spPr>
          <a:xfrm>
            <a:off x="9362537" y="4070492"/>
            <a:ext cx="862899" cy="31866"/>
          </a:xfrm>
          <a:prstGeom prst="rect">
            <a:avLst/>
          </a:prstGeom>
          <a:solidFill>
            <a:srgbClr val="17A589"/>
          </a:solidFill>
          <a:ln/>
        </p:spPr>
      </p:sp>
      <p:sp>
        <p:nvSpPr>
          <p:cNvPr id="69" name="Text 67"/>
          <p:cNvSpPr txBox="1"/>
          <p:nvPr/>
        </p:nvSpPr>
        <p:spPr>
          <a:xfrm>
            <a:off x="9177630" y="3796172"/>
            <a:ext cx="1232713"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+2,08,105</a:t>
            </a:r>
            <a:endParaRPr lang="en-US" sz="1000" dirty="0"/>
          </a:p>
        </p:txBody>
      </p:sp>
      <p:sp>
        <p:nvSpPr>
          <p:cNvPr id="70" name="Text 68"/>
          <p:cNvSpPr txBox="1"/>
          <p:nvPr/>
        </p:nvSpPr>
        <p:spPr>
          <a:xfrm>
            <a:off x="9177630" y="5577840"/>
            <a:ext cx="1232713"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Net change after the draft</a:t>
            </a:r>
            <a:endParaRPr lang="en-US" sz="1000" dirty="0"/>
          </a:p>
        </p:txBody>
      </p:sp>
      <p:sp>
        <p:nvSpPr>
          <p:cNvPr id="71" name="Shape 69"/>
          <p:cNvSpPr/>
          <p:nvPr/>
        </p:nvSpPr>
        <p:spPr>
          <a:xfrm>
            <a:off x="10595249" y="4070492"/>
            <a:ext cx="862899" cy="1507348"/>
          </a:xfrm>
          <a:prstGeom prst="rect">
            <a:avLst/>
          </a:prstGeom>
          <a:solidFill>
            <a:srgbClr val="1F618D"/>
          </a:solidFill>
          <a:ln/>
        </p:spPr>
      </p:sp>
      <p:sp>
        <p:nvSpPr>
          <p:cNvPr id="72" name="Text 70"/>
          <p:cNvSpPr txBox="1"/>
          <p:nvPr/>
        </p:nvSpPr>
        <p:spPr>
          <a:xfrm>
            <a:off x="10410342" y="3796172"/>
            <a:ext cx="1232713"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4,48,44,080</a:t>
            </a:r>
            <a:endParaRPr lang="en-US" sz="1000" dirty="0"/>
          </a:p>
        </p:txBody>
      </p:sp>
      <p:sp>
        <p:nvSpPr>
          <p:cNvPr id="73" name="Text 71"/>
          <p:cNvSpPr txBox="1"/>
          <p:nvPr/>
        </p:nvSpPr>
        <p:spPr>
          <a:xfrm>
            <a:off x="10410342" y="5577840"/>
            <a:ext cx="1232713"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Roll of 25 September</a:t>
            </a:r>
            <a:endParaRPr lang="en-US" sz="1000" dirty="0"/>
          </a:p>
        </p:txBody>
      </p:sp>
      <p:sp>
        <p:nvSpPr>
          <p:cNvPr id="74" name="Shape 72"/>
          <p:cNvSpPr/>
          <p:nvPr/>
        </p:nvSpPr>
        <p:spPr>
          <a:xfrm>
            <a:off x="548640" y="5559552"/>
            <a:ext cx="11094415" cy="0"/>
          </a:xfrm>
          <a:prstGeom prst="line">
            <a:avLst/>
          </a:prstGeom>
          <a:noFill/>
          <a:ln w="9525">
            <a:solidFill>
              <a:srgbClr val="95A5A6"/>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E6B52"/>
                </a:solidFill>
                <a:latin typeface="Calibri" pitchFamily="34" charset="0"/>
                <a:ea typeface="Calibri" pitchFamily="34" charset="-122"/>
                <a:cs typeface="Calibri" pitchFamily="34" charset="-120"/>
              </a:rPr>
              <a:t>BY DISTRICT</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7533F"/>
                </a:solidFill>
                <a:latin typeface="Cambria" pitchFamily="34" charset="0"/>
                <a:ea typeface="Cambria" pitchFamily="34" charset="-122"/>
                <a:cs typeface="Cambria" pitchFamily="34" charset="-120"/>
              </a:rPr>
              <a:t>Bengaluru's four districts lost between 42.7 and 49.3 of every 100 electors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left off the draft roll per 100 electors on the roll of 16 June, by election district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Karnataka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645920"/>
          <a:ext cx="7040880" cy="461772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state lost 19.5 per 100.</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Outside Bengaluru the highest is Gulbarga at 22.0.</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Udupi lost the fewest, 6.0.</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Bangalore Rural is outside Bengaluru's four districts.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E6B52"/>
                </a:solidFill>
                <a:latin typeface="Calibri" pitchFamily="34" charset="0"/>
                <a:ea typeface="Calibri" pitchFamily="34" charset="-122"/>
                <a:cs typeface="Calibri" pitchFamily="34" charset="-120"/>
              </a:rPr>
              <a:t>THE REASONS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7533F"/>
                </a:solidFill>
                <a:latin typeface="Cambria" pitchFamily="34" charset="0"/>
                <a:ea typeface="Cambria" pitchFamily="34" charset="-122"/>
                <a:cs typeface="Cambria" pitchFamily="34" charset="-120"/>
              </a:rPr>
              <a:t>61% of the names were entered as shifted and 14% as absent</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Share of each district's removals by the reason entered, the twelve districts with the highest rates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Karnataka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9"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15.2% were entered as dead and 6.6% as already enrolled.</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The more names a district removed, the larger the share marked shifted or absent (rank correlation 0.81).</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The share entered as dead is highest in Uttara Kannada, 41.2%.</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A reason on the list is what the officer wrote down, and nobody checked 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E6B52"/>
                </a:solidFill>
                <a:latin typeface="Calibri" pitchFamily="34" charset="0"/>
                <a:ea typeface="Calibri" pitchFamily="34" charset="-122"/>
                <a:cs typeface="Calibri" pitchFamily="34" charset="-120"/>
              </a:rPr>
              <a:t>BENGALURU</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7533F"/>
                </a:solidFill>
                <a:latin typeface="Cambria" pitchFamily="34" charset="0"/>
                <a:ea typeface="Cambria" pitchFamily="34" charset="-122"/>
                <a:cs typeface="Cambria" pitchFamily="34" charset="-120"/>
              </a:rPr>
              <a:t>Bengaluru holds 18.7% of Karnataka's roll and 43.4% of the names removed</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Bangalore Urban and the North, Central and South districts of the city corporation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Karnataka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920240"/>
            <a:ext cx="2602154" cy="1737360"/>
          </a:xfrm>
          <a:prstGeom prst="roundRect">
            <a:avLst>
              <a:gd name="adj" fmla="val 4211"/>
            </a:avLst>
          </a:prstGeom>
          <a:solidFill>
            <a:srgbClr val="F4F6F7"/>
          </a:solidFill>
          <a:ln/>
        </p:spPr>
      </p:sp>
      <p:sp>
        <p:nvSpPr>
          <p:cNvPr id="48" name="Text 46"/>
          <p:cNvSpPr txBox="1"/>
          <p:nvPr/>
        </p:nvSpPr>
        <p:spPr>
          <a:xfrm>
            <a:off x="731520" y="2029968"/>
            <a:ext cx="2236394" cy="833933"/>
          </a:xfrm>
          <a:prstGeom prst="rect">
            <a:avLst/>
          </a:prstGeom>
          <a:noFill/>
          <a:ln/>
        </p:spPr>
        <p:txBody>
          <a:bodyPr wrap="square" lIns="0" tIns="0" rIns="0" bIns="0" rtlCol="0" anchor="b">
            <a:normAutofit/>
          </a:bodyPr>
          <a:lstStyle/>
          <a:p>
            <a:pPr indent="0" marL="0">
              <a:buNone/>
            </a:pPr>
            <a:r>
              <a:rPr lang="en-US" sz="2800" b="1" dirty="0">
                <a:solidFill>
                  <a:srgbClr val="1E6B52"/>
                </a:solidFill>
                <a:latin typeface="Cambria" pitchFamily="34" charset="0"/>
                <a:ea typeface="Cambria" pitchFamily="34" charset="-122"/>
                <a:cs typeface="Cambria" pitchFamily="34" charset="-120"/>
              </a:rPr>
              <a:t>46.9 lakh</a:t>
            </a:r>
            <a:endParaRPr lang="en-US" sz="2800" dirty="0"/>
          </a:p>
        </p:txBody>
      </p:sp>
      <p:sp>
        <p:nvSpPr>
          <p:cNvPr id="49" name="Text 47"/>
          <p:cNvSpPr txBox="1"/>
          <p:nvPr/>
        </p:nvSpPr>
        <p:spPr>
          <a:xfrm>
            <a:off x="731520" y="2882189"/>
            <a:ext cx="2236394"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names removed in Bengaluru</a:t>
            </a:r>
            <a:endParaRPr lang="en-US" sz="1200" dirty="0"/>
          </a:p>
        </p:txBody>
      </p:sp>
      <p:sp>
        <p:nvSpPr>
          <p:cNvPr id="50" name="Shape 48"/>
          <p:cNvSpPr/>
          <p:nvPr/>
        </p:nvSpPr>
        <p:spPr>
          <a:xfrm>
            <a:off x="3379394" y="1920240"/>
            <a:ext cx="2602154" cy="1737360"/>
          </a:xfrm>
          <a:prstGeom prst="roundRect">
            <a:avLst>
              <a:gd name="adj" fmla="val 4211"/>
            </a:avLst>
          </a:prstGeom>
          <a:solidFill>
            <a:srgbClr val="F4F6F7"/>
          </a:solidFill>
          <a:ln/>
        </p:spPr>
      </p:sp>
      <p:sp>
        <p:nvSpPr>
          <p:cNvPr id="51" name="Text 49"/>
          <p:cNvSpPr txBox="1"/>
          <p:nvPr/>
        </p:nvSpPr>
        <p:spPr>
          <a:xfrm>
            <a:off x="3562274" y="2029968"/>
            <a:ext cx="2236394" cy="833933"/>
          </a:xfrm>
          <a:prstGeom prst="rect">
            <a:avLst/>
          </a:prstGeom>
          <a:noFill/>
          <a:ln/>
        </p:spPr>
        <p:txBody>
          <a:bodyPr wrap="square" lIns="0" tIns="0" rIns="0" bIns="0" rtlCol="0" anchor="b">
            <a:normAutofit/>
          </a:bodyPr>
          <a:lstStyle/>
          <a:p>
            <a:pPr indent="0" marL="0">
              <a:buNone/>
            </a:pPr>
            <a:r>
              <a:rPr lang="en-US" sz="2800" b="1" dirty="0">
                <a:solidFill>
                  <a:srgbClr val="1E6B52"/>
                </a:solidFill>
                <a:latin typeface="Cambria" pitchFamily="34" charset="0"/>
                <a:ea typeface="Cambria" pitchFamily="34" charset="-122"/>
                <a:cs typeface="Cambria" pitchFamily="34" charset="-120"/>
              </a:rPr>
              <a:t>45.1</a:t>
            </a:r>
            <a:endParaRPr lang="en-US" sz="2800" dirty="0"/>
          </a:p>
        </p:txBody>
      </p:sp>
      <p:sp>
        <p:nvSpPr>
          <p:cNvPr id="52" name="Text 50"/>
          <p:cNvSpPr txBox="1"/>
          <p:nvPr/>
        </p:nvSpPr>
        <p:spPr>
          <a:xfrm>
            <a:off x="3562274" y="2882189"/>
            <a:ext cx="2236394"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per 100 electors, against 13.6 elsewhere</a:t>
            </a:r>
            <a:endParaRPr lang="en-US" sz="1200" dirty="0"/>
          </a:p>
        </p:txBody>
      </p:sp>
      <p:sp>
        <p:nvSpPr>
          <p:cNvPr id="53" name="Shape 51"/>
          <p:cNvSpPr/>
          <p:nvPr/>
        </p:nvSpPr>
        <p:spPr>
          <a:xfrm>
            <a:off x="6210148" y="1920240"/>
            <a:ext cx="2602154" cy="1737360"/>
          </a:xfrm>
          <a:prstGeom prst="roundRect">
            <a:avLst>
              <a:gd name="adj" fmla="val 4211"/>
            </a:avLst>
          </a:prstGeom>
          <a:solidFill>
            <a:srgbClr val="F4F6F7"/>
          </a:solidFill>
          <a:ln/>
        </p:spPr>
      </p:sp>
      <p:sp>
        <p:nvSpPr>
          <p:cNvPr id="54" name="Text 52"/>
          <p:cNvSpPr txBox="1"/>
          <p:nvPr/>
        </p:nvSpPr>
        <p:spPr>
          <a:xfrm>
            <a:off x="6393028" y="2029968"/>
            <a:ext cx="2236394" cy="833933"/>
          </a:xfrm>
          <a:prstGeom prst="rect">
            <a:avLst/>
          </a:prstGeom>
          <a:noFill/>
          <a:ln/>
        </p:spPr>
        <p:txBody>
          <a:bodyPr wrap="square" lIns="0" tIns="0" rIns="0" bIns="0" rtlCol="0" anchor="b">
            <a:normAutofit/>
          </a:bodyPr>
          <a:lstStyle/>
          <a:p>
            <a:pPr indent="0" marL="0">
              <a:buNone/>
            </a:pPr>
            <a:r>
              <a:rPr lang="en-US" sz="2800" b="1" dirty="0">
                <a:solidFill>
                  <a:srgbClr val="1E6B52"/>
                </a:solidFill>
                <a:latin typeface="Cambria" pitchFamily="34" charset="0"/>
                <a:ea typeface="Cambria" pitchFamily="34" charset="-122"/>
                <a:cs typeface="Cambria" pitchFamily="34" charset="-120"/>
              </a:rPr>
              <a:t>85.3%</a:t>
            </a:r>
            <a:endParaRPr lang="en-US" sz="2800" dirty="0"/>
          </a:p>
        </p:txBody>
      </p:sp>
      <p:sp>
        <p:nvSpPr>
          <p:cNvPr id="55" name="Text 53"/>
          <p:cNvSpPr txBox="1"/>
          <p:nvPr/>
        </p:nvSpPr>
        <p:spPr>
          <a:xfrm>
            <a:off x="6393028" y="2882189"/>
            <a:ext cx="2236394"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entered as shifted or absent, against 66.5% elsewhere</a:t>
            </a:r>
            <a:endParaRPr lang="en-US" sz="1200" dirty="0"/>
          </a:p>
        </p:txBody>
      </p:sp>
      <p:sp>
        <p:nvSpPr>
          <p:cNvPr id="56" name="Shape 54"/>
          <p:cNvSpPr/>
          <p:nvPr/>
        </p:nvSpPr>
        <p:spPr>
          <a:xfrm>
            <a:off x="9040901" y="1920240"/>
            <a:ext cx="2602154" cy="1737360"/>
          </a:xfrm>
          <a:prstGeom prst="roundRect">
            <a:avLst>
              <a:gd name="adj" fmla="val 4211"/>
            </a:avLst>
          </a:prstGeom>
          <a:solidFill>
            <a:srgbClr val="F4F6F7"/>
          </a:solidFill>
          <a:ln/>
        </p:spPr>
      </p:sp>
      <p:sp>
        <p:nvSpPr>
          <p:cNvPr id="57" name="Text 55"/>
          <p:cNvSpPr txBox="1"/>
          <p:nvPr/>
        </p:nvSpPr>
        <p:spPr>
          <a:xfrm>
            <a:off x="9223781" y="2029968"/>
            <a:ext cx="2236394" cy="833933"/>
          </a:xfrm>
          <a:prstGeom prst="rect">
            <a:avLst/>
          </a:prstGeom>
          <a:noFill/>
          <a:ln/>
        </p:spPr>
        <p:txBody>
          <a:bodyPr wrap="square" lIns="0" tIns="0" rIns="0" bIns="0" rtlCol="0" anchor="b">
            <a:normAutofit/>
          </a:bodyPr>
          <a:lstStyle/>
          <a:p>
            <a:pPr indent="0" marL="0">
              <a:buNone/>
            </a:pPr>
            <a:r>
              <a:rPr lang="en-US" sz="2800" b="1" dirty="0">
                <a:solidFill>
                  <a:srgbClr val="1E6B52"/>
                </a:solidFill>
                <a:latin typeface="Cambria" pitchFamily="34" charset="0"/>
                <a:ea typeface="Cambria" pitchFamily="34" charset="-122"/>
                <a:cs typeface="Cambria" pitchFamily="34" charset="-120"/>
              </a:rPr>
              <a:t>6.8%</a:t>
            </a:r>
            <a:endParaRPr lang="en-US" sz="2800" dirty="0"/>
          </a:p>
        </p:txBody>
      </p:sp>
      <p:sp>
        <p:nvSpPr>
          <p:cNvPr id="58" name="Text 56"/>
          <p:cNvSpPr txBox="1"/>
          <p:nvPr/>
        </p:nvSpPr>
        <p:spPr>
          <a:xfrm>
            <a:off x="9223781" y="2882189"/>
            <a:ext cx="2236394"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entered as dead, against 21.6% elsewhere</a:t>
            </a:r>
            <a:endParaRPr lang="en-US" sz="1200" dirty="0"/>
          </a:p>
        </p:txBody>
      </p:sp>
      <p:sp>
        <p:nvSpPr>
          <p:cNvPr id="59" name="Text 57"/>
          <p:cNvSpPr txBox="1"/>
          <p:nvPr/>
        </p:nvSpPr>
        <p:spPr>
          <a:xfrm>
            <a:off x="548640" y="4023360"/>
            <a:ext cx="11094415" cy="164592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By 25 September Bengaluru's roll had risen by 2,340 since the draft, against 46.9 lakh names removed. In the rest of the state the rise came to 3.4% of the names removed.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E6B52"/>
                </a:solidFill>
                <a:latin typeface="Calibri" pitchFamily="34" charset="0"/>
                <a:ea typeface="Calibri" pitchFamily="34" charset="-122"/>
                <a:cs typeface="Calibri" pitchFamily="34" charset="-120"/>
              </a:rPr>
              <a:t>WOMEN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7533F"/>
                </a:solidFill>
                <a:latin typeface="Cambria" pitchFamily="34" charset="0"/>
                <a:ea typeface="Cambria" pitchFamily="34" charset="-122"/>
                <a:cs typeface="Cambria" pitchFamily="34" charset="-120"/>
              </a:rPr>
              <a:t>Women's share of the removals cannot be counted, because the roll of 16 June has no count by sex</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What can be counted is women's share of each later roll</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Karnataka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920240"/>
            <a:ext cx="5432908" cy="1645920"/>
          </a:xfrm>
          <a:prstGeom prst="roundRect">
            <a:avLst>
              <a:gd name="adj" fmla="val 4444"/>
            </a:avLst>
          </a:prstGeom>
          <a:solidFill>
            <a:srgbClr val="F4F6F7"/>
          </a:solidFill>
          <a:ln/>
        </p:spPr>
      </p:sp>
      <p:sp>
        <p:nvSpPr>
          <p:cNvPr id="48" name="Text 46"/>
          <p:cNvSpPr txBox="1"/>
          <p:nvPr/>
        </p:nvSpPr>
        <p:spPr>
          <a:xfrm>
            <a:off x="731520" y="2029968"/>
            <a:ext cx="5067148" cy="790042"/>
          </a:xfrm>
          <a:prstGeom prst="rect">
            <a:avLst/>
          </a:prstGeom>
          <a:noFill/>
          <a:ln/>
        </p:spPr>
        <p:txBody>
          <a:bodyPr wrap="square" lIns="0" tIns="0" rIns="0" bIns="0" rtlCol="0" anchor="b">
            <a:normAutofit/>
          </a:bodyPr>
          <a:lstStyle/>
          <a:p>
            <a:pPr indent="0" marL="0">
              <a:buNone/>
            </a:pPr>
            <a:r>
              <a:rPr lang="en-US" sz="2800" b="1" dirty="0">
                <a:solidFill>
                  <a:srgbClr val="1E6B52"/>
                </a:solidFill>
                <a:latin typeface="Cambria" pitchFamily="34" charset="0"/>
                <a:ea typeface="Cambria" pitchFamily="34" charset="-122"/>
                <a:cs typeface="Cambria" pitchFamily="34" charset="-120"/>
              </a:rPr>
              <a:t>50.4%</a:t>
            </a:r>
            <a:endParaRPr lang="en-US" sz="2800" dirty="0"/>
          </a:p>
        </p:txBody>
      </p:sp>
      <p:sp>
        <p:nvSpPr>
          <p:cNvPr id="49" name="Text 47"/>
          <p:cNvSpPr txBox="1"/>
          <p:nvPr/>
        </p:nvSpPr>
        <p:spPr>
          <a:xfrm>
            <a:off x="731520" y="2838298"/>
            <a:ext cx="5067148" cy="63642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women's share of the draft roll</a:t>
            </a:r>
            <a:endParaRPr lang="en-US" sz="1200" dirty="0"/>
          </a:p>
        </p:txBody>
      </p:sp>
      <p:sp>
        <p:nvSpPr>
          <p:cNvPr id="50" name="Shape 48"/>
          <p:cNvSpPr/>
          <p:nvPr/>
        </p:nvSpPr>
        <p:spPr>
          <a:xfrm>
            <a:off x="6210148" y="1920240"/>
            <a:ext cx="5432908" cy="1645920"/>
          </a:xfrm>
          <a:prstGeom prst="roundRect">
            <a:avLst>
              <a:gd name="adj" fmla="val 4444"/>
            </a:avLst>
          </a:prstGeom>
          <a:solidFill>
            <a:srgbClr val="F4F6F7"/>
          </a:solidFill>
          <a:ln/>
        </p:spPr>
      </p:sp>
      <p:sp>
        <p:nvSpPr>
          <p:cNvPr id="51" name="Text 49"/>
          <p:cNvSpPr txBox="1"/>
          <p:nvPr/>
        </p:nvSpPr>
        <p:spPr>
          <a:xfrm>
            <a:off x="6393028" y="2029968"/>
            <a:ext cx="5067148" cy="790042"/>
          </a:xfrm>
          <a:prstGeom prst="rect">
            <a:avLst/>
          </a:prstGeom>
          <a:noFill/>
          <a:ln/>
        </p:spPr>
        <p:txBody>
          <a:bodyPr wrap="square" lIns="0" tIns="0" rIns="0" bIns="0" rtlCol="0" anchor="b">
            <a:normAutofit/>
          </a:bodyPr>
          <a:lstStyle/>
          <a:p>
            <a:pPr indent="0" marL="0">
              <a:buNone/>
            </a:pPr>
            <a:r>
              <a:rPr lang="en-US" sz="2800" b="1" dirty="0">
                <a:solidFill>
                  <a:srgbClr val="1E6B52"/>
                </a:solidFill>
                <a:latin typeface="Cambria" pitchFamily="34" charset="0"/>
                <a:ea typeface="Cambria" pitchFamily="34" charset="-122"/>
                <a:cs typeface="Cambria" pitchFamily="34" charset="-120"/>
              </a:rPr>
              <a:t>50.4%</a:t>
            </a:r>
            <a:endParaRPr lang="en-US" sz="2800" dirty="0"/>
          </a:p>
        </p:txBody>
      </p:sp>
      <p:sp>
        <p:nvSpPr>
          <p:cNvPr id="52" name="Text 50"/>
          <p:cNvSpPr txBox="1"/>
          <p:nvPr/>
        </p:nvSpPr>
        <p:spPr>
          <a:xfrm>
            <a:off x="6393028" y="2838298"/>
            <a:ext cx="5067148" cy="63642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women's share of the roll of 25 September</a:t>
            </a:r>
            <a:endParaRPr lang="en-US" sz="1200" dirty="0"/>
          </a:p>
        </p:txBody>
      </p:sp>
      <p:sp>
        <p:nvSpPr>
          <p:cNvPr id="53" name="Text 51"/>
          <p:cNvSpPr txBox="1"/>
          <p:nvPr/>
        </p:nvSpPr>
        <p:spPr>
          <a:xfrm>
            <a:off x="548640" y="3931920"/>
            <a:ext cx="11094415" cy="146304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The names left off are not split by sex. These two figures cannot show whether women were left off more often than men.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E6B52"/>
                </a:solidFill>
                <a:latin typeface="Calibri" pitchFamily="34" charset="0"/>
                <a:ea typeface="Calibri" pitchFamily="34" charset="-122"/>
                <a:cs typeface="Calibri" pitchFamily="34" charset="-120"/>
              </a:rPr>
              <a:t>AFTER THE DRAFT</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7533F"/>
                </a:solidFill>
                <a:latin typeface="Cambria" pitchFamily="34" charset="0"/>
                <a:ea typeface="Cambria" pitchFamily="34" charset="-122"/>
                <a:cs typeface="Cambria" pitchFamily="34" charset="-120"/>
              </a:rPr>
              <a:t>By 25 September only 1.9% of the names removed had come back, and 0.05% in Bengaluru</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Removed at the draft and the fall left on 25 September, per 100 electors, the twelve districts with the highest rates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Karnataka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roll rose by 2,08,105 after the draft, against 1.08 crore names removed.</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rise includes new voters, so it is the most that could have been restored.</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final roll is due on 27 October 2026 and may change this.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E6B52"/>
                </a:solidFill>
                <a:latin typeface="Calibri" pitchFamily="34" charset="0"/>
                <a:ea typeface="Calibri" pitchFamily="34" charset="-122"/>
                <a:cs typeface="Calibri" pitchFamily="34" charset="-120"/>
              </a:rPr>
              <a:t>LIMITS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7533F"/>
                </a:solidFill>
                <a:latin typeface="Cambria" pitchFamily="34" charset="0"/>
                <a:ea typeface="Cambria" pitchFamily="34" charset="-122"/>
                <a:cs typeface="Cambria" pitchFamily="34" charset="-120"/>
              </a:rPr>
              <a:t>What the tables show, and what they cannot show</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Karnataka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Shape 44"/>
          <p:cNvSpPr/>
          <p:nvPr/>
        </p:nvSpPr>
        <p:spPr>
          <a:xfrm>
            <a:off x="548640" y="1554480"/>
            <a:ext cx="5440680" cy="2103120"/>
          </a:xfrm>
          <a:prstGeom prst="roundRect">
            <a:avLst>
              <a:gd name="adj" fmla="val 4348"/>
            </a:avLst>
          </a:prstGeom>
          <a:solidFill>
            <a:srgbClr val="EAF5F0"/>
          </a:solidFill>
          <a:ln/>
        </p:spPr>
      </p:sp>
      <p:sp>
        <p:nvSpPr>
          <p:cNvPr id="47" name="Text 45"/>
          <p:cNvSpPr txBox="1"/>
          <p:nvPr/>
        </p:nvSpPr>
        <p:spPr>
          <a:xfrm>
            <a:off x="777240" y="1719072"/>
            <a:ext cx="4983480" cy="177393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How many names were left off the draft in each of the 34 election districts, on what recorded reason, and how the roll stood on 25 September.</a:t>
            </a:r>
            <a:endParaRPr lang="en-US" sz="1500" dirty="0"/>
          </a:p>
        </p:txBody>
      </p:sp>
      <p:sp>
        <p:nvSpPr>
          <p:cNvPr id="48" name="Shape 46"/>
          <p:cNvSpPr/>
          <p:nvPr/>
        </p:nvSpPr>
        <p:spPr>
          <a:xfrm>
            <a:off x="6199632" y="1554480"/>
            <a:ext cx="5440680" cy="2103120"/>
          </a:xfrm>
          <a:prstGeom prst="roundRect">
            <a:avLst>
              <a:gd name="adj" fmla="val 4348"/>
            </a:avLst>
          </a:prstGeom>
          <a:solidFill>
            <a:srgbClr val="EAF5F0"/>
          </a:solidFill>
          <a:ln/>
        </p:spPr>
      </p:sp>
      <p:sp>
        <p:nvSpPr>
          <p:cNvPr id="49" name="Text 47"/>
          <p:cNvSpPr txBox="1"/>
          <p:nvPr/>
        </p:nvSpPr>
        <p:spPr>
          <a:xfrm>
            <a:off x="6428232" y="1719072"/>
            <a:ext cx="4983480" cy="177393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Which constituencies lost the most names, or how the removals compare with the 2023 margins, because nothing was published by constituency. Whether women, the old or the young were removed more often.</a:t>
            </a:r>
            <a:endParaRPr lang="en-US" sz="1500" dirty="0"/>
          </a:p>
        </p:txBody>
      </p:sp>
      <p:sp>
        <p:nvSpPr>
          <p:cNvPr id="50" name="Text 48"/>
          <p:cNvSpPr txBox="1"/>
          <p:nvPr/>
        </p:nvSpPr>
        <p:spPr>
          <a:xfrm>
            <a:off x="548640" y="3931920"/>
            <a:ext cx="11094415" cy="13716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A reason on the list is what the officer wrote down, and nobody checked it. The tables show where names were removed and cannot show why.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E6B52"/>
                </a:solidFill>
                <a:latin typeface="Calibri" pitchFamily="34" charset="0"/>
                <a:ea typeface="Calibri" pitchFamily="34" charset="-122"/>
                <a:cs typeface="Calibri" pitchFamily="34" charset="-120"/>
              </a:rPr>
              <a:t>WHAT THE ELECTION COMMISSION SHOULD DO</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7533F"/>
                </a:solidFill>
                <a:latin typeface="Cambria" pitchFamily="34" charset="0"/>
                <a:ea typeface="Cambria" pitchFamily="34" charset="-122"/>
                <a:cs typeface="Cambria" pitchFamily="34" charset="-120"/>
              </a:rPr>
              <a:t>Publish the revision by constituency and by sex before the final roll</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Karnataka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names removed by assembly constituency and polling station, with the reason.</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names removed by sex and age, with the roll of 16 June by sex.</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basis for the 80.6 lakh entries marked shifted or absent.</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Explain why Bengaluru lost 45.1 of every 100 electors, against 13.6 in the rest of the state.</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with the final roll how many of those added had been left off the draft.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E6B52"/>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7533F"/>
                </a:solidFill>
                <a:latin typeface="Cambria" pitchFamily="34" charset="0"/>
                <a:ea typeface="Cambria" pitchFamily="34" charset="-122"/>
                <a:cs typeface="Cambria" pitchFamily="34" charset="-120"/>
              </a:rPr>
              <a:t>Where the figures come from</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Karnataka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600" dirty="0">
                <a:solidFill>
                  <a:srgbClr val="1C2833"/>
                </a:solidFill>
                <a:latin typeface="Calibri" pitchFamily="34" charset="0"/>
                <a:ea typeface="Calibri" pitchFamily="34" charset="-122"/>
                <a:cs typeface="Calibri" pitchFamily="34" charset="-120"/>
              </a:rPr>
              <a:t>The names left off the draft roll of 24 August 2026, by election district and under five reasons, are the Chief Electoral Officer's table. The 34 district rows add up to the state row, 1,07,96,339 out of 5,54,32,314.</a:t>
            </a:r>
            <a:endParaRPr lang="en-US" sz="1600" dirty="0"/>
          </a:p>
          <a:p>
            <a:pPr marL="342900" indent="-342900">
              <a:spcAft>
                <a:spcPts val="800"/>
              </a:spcAft>
              <a:buSzPct val="100000"/>
              <a:buChar char="•"/>
            </a:pPr>
            <a:r>
              <a:rPr lang="en-US" sz="1600" dirty="0">
                <a:solidFill>
                  <a:srgbClr val="1C2833"/>
                </a:solidFill>
                <a:latin typeface="Calibri" pitchFamily="34" charset="0"/>
                <a:ea typeface="Calibri" pitchFamily="34" charset="-122"/>
                <a:cs typeface="Calibri" pitchFamily="34" charset="-120"/>
              </a:rPr>
              <a:t>The roll of 25 September 2026, by district and sex, is from the press note of that date. The final roll is due on 27 October.</a:t>
            </a:r>
            <a:endParaRPr lang="en-US" sz="1600" dirty="0"/>
          </a:p>
          <a:p>
            <a:pPr marL="342900" indent="-342900">
              <a:spcAft>
                <a:spcPts val="800"/>
              </a:spcAft>
              <a:buSzPct val="100000"/>
              <a:buChar char="•"/>
            </a:pPr>
            <a:r>
              <a:rPr lang="en-US" sz="1600" dirty="0">
                <a:solidFill>
                  <a:srgbClr val="1C2833"/>
                </a:solidFill>
                <a:latin typeface="Calibri" pitchFamily="34" charset="0"/>
                <a:ea typeface="Calibri" pitchFamily="34" charset="-122"/>
                <a:cs typeface="Calibri" pitchFamily="34" charset="-120"/>
              </a:rPr>
              <a:t>Bengaluru is four election districts, Bangalore Urban and the B.B.M.P. North, Central and South districts.</a:t>
            </a:r>
            <a:endParaRPr lang="en-US" sz="1600" dirty="0"/>
          </a:p>
          <a:p>
            <a:pPr marL="342900" indent="-342900">
              <a:spcAft>
                <a:spcPts val="800"/>
              </a:spcAft>
              <a:buSzPct val="100000"/>
              <a:buChar char="•"/>
            </a:pPr>
            <a:r>
              <a:rPr lang="en-US" sz="1600" dirty="0">
                <a:solidFill>
                  <a:srgbClr val="1C2833"/>
                </a:solidFill>
                <a:latin typeface="Calibri" pitchFamily="34" charset="0"/>
                <a:ea typeface="Calibri" pitchFamily="34" charset="-122"/>
                <a:cs typeface="Calibri" pitchFamily="34" charset="-120"/>
              </a:rPr>
              <a:t>Only counts are published, never a name, EPIC number or address.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533F"/>
        </a:solidFill>
      </p:bgPr>
    </p:bg>
    <p:spTree>
      <p:nvGrpSpPr>
        <p:cNvPr id="1" name=""/>
        <p:cNvGrpSpPr/>
        <p:nvPr/>
      </p:nvGrpSpPr>
      <p:grpSpPr>
        <a:xfrm>
          <a:off x="0" y="0"/>
          <a:ext cx="0" cy="0"/>
          <a:chOff x="0" y="0"/>
          <a:chExt cx="0" cy="0"/>
        </a:xfrm>
      </p:grpSpPr>
      <p:sp>
        <p:nvSpPr>
          <p:cNvPr id="2" name="Text 0"/>
          <p:cNvSpPr txBox="1"/>
          <p:nvPr/>
        </p:nvSpPr>
        <p:spPr>
          <a:xfrm>
            <a:off x="548640" y="1280160"/>
            <a:ext cx="11094415" cy="10972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full analysis</a:t>
            </a:r>
            <a:endParaRPr lang="en-US" sz="3400" dirty="0"/>
          </a:p>
        </p:txBody>
      </p:sp>
      <p:sp>
        <p:nvSpPr>
          <p:cNvPr id="3" name="Text 1"/>
          <p:cNvSpPr txBox="1"/>
          <p:nvPr/>
        </p:nvSpPr>
        <p:spPr>
          <a:xfrm>
            <a:off x="548640" y="2743200"/>
            <a:ext cx="11094415" cy="2377440"/>
          </a:xfrm>
          <a:prstGeom prst="rect">
            <a:avLst/>
          </a:prstGeom>
          <a:noFill/>
          <a:ln/>
        </p:spPr>
        <p:txBody>
          <a:bodyPr wrap="square" lIns="0" tIns="0" rIns="0" bIns="0" rtlCol="0" anchor="t"/>
          <a:lstStyle/>
          <a:p>
            <a:pPr indent="0" marL="0">
              <a:spcAft>
                <a:spcPts val="1000"/>
              </a:spcAft>
              <a:buNone/>
            </a:pPr>
            <a:r>
              <a:rPr lang="en-US" sz="1700" dirty="0">
                <a:solidFill>
                  <a:srgbClr val="CFE8DE"/>
                </a:solidFill>
                <a:latin typeface="Calibri" pitchFamily="34" charset="0"/>
                <a:ea typeface="Calibri" pitchFamily="34" charset="-122"/>
                <a:cs typeface="Calibri" pitchFamily="34" charset="-120"/>
              </a:rPr>
              <a:t>The district map, every district, and the full report are published online alongside this deck.</a:t>
            </a:r>
            <a:endParaRPr lang="en-US" sz="1700" dirty="0"/>
          </a:p>
          <a:p>
            <a:pPr indent="0" marL="0">
              <a:spcAft>
                <a:spcPts val="1000"/>
              </a:spcAft>
              <a:buNone/>
            </a:pPr>
            <a:r>
              <a:rPr lang="en-US" sz="1700" dirty="0">
                <a:solidFill>
                  <a:srgbClr val="CFE8DE"/>
                </a:solidFill>
                <a:latin typeface="Calibri" pitchFamily="34" charset="0"/>
                <a:ea typeface="Calibri" pitchFamily="34" charset="-122"/>
                <a:cs typeface="Calibri" pitchFamily="34" charset="-120"/>
              </a:rPr>
              <a:t>PinPoint Ventures</a:t>
            </a:r>
            <a:endParaRPr lang="en-US" sz="1700" dirty="0"/>
          </a:p>
        </p:txBody>
      </p:sp>
      <p:sp>
        <p:nvSpPr>
          <p:cNvPr id="4" name="Shape 2"/>
          <p:cNvSpPr/>
          <p:nvPr/>
        </p:nvSpPr>
        <p:spPr>
          <a:xfrm>
            <a:off x="0" y="6748272"/>
            <a:ext cx="304792" cy="109728"/>
          </a:xfrm>
          <a:prstGeom prst="rect">
            <a:avLst/>
          </a:prstGeom>
          <a:solidFill>
            <a:srgbClr val="C0392B"/>
          </a:solidFill>
          <a:ln/>
        </p:spPr>
      </p:sp>
      <p:sp>
        <p:nvSpPr>
          <p:cNvPr id="5" name="Shape 3"/>
          <p:cNvSpPr/>
          <p:nvPr/>
        </p:nvSpPr>
        <p:spPr>
          <a:xfrm>
            <a:off x="304792" y="6748272"/>
            <a:ext cx="304792" cy="109728"/>
          </a:xfrm>
          <a:prstGeom prst="rect">
            <a:avLst/>
          </a:prstGeom>
          <a:solidFill>
            <a:srgbClr val="E67E22"/>
          </a:solidFill>
          <a:ln/>
        </p:spPr>
      </p:sp>
      <p:sp>
        <p:nvSpPr>
          <p:cNvPr id="6" name="Shape 4"/>
          <p:cNvSpPr/>
          <p:nvPr/>
        </p:nvSpPr>
        <p:spPr>
          <a:xfrm>
            <a:off x="609585" y="6748272"/>
            <a:ext cx="304792" cy="109728"/>
          </a:xfrm>
          <a:prstGeom prst="rect">
            <a:avLst/>
          </a:prstGeom>
          <a:solidFill>
            <a:srgbClr val="27AE60"/>
          </a:solidFill>
          <a:ln/>
        </p:spPr>
      </p:sp>
      <p:sp>
        <p:nvSpPr>
          <p:cNvPr id="7" name="Shape 5"/>
          <p:cNvSpPr/>
          <p:nvPr/>
        </p:nvSpPr>
        <p:spPr>
          <a:xfrm>
            <a:off x="914377" y="6748272"/>
            <a:ext cx="304792" cy="109728"/>
          </a:xfrm>
          <a:prstGeom prst="rect">
            <a:avLst/>
          </a:prstGeom>
          <a:solidFill>
            <a:srgbClr val="1F618D"/>
          </a:solidFill>
          <a:ln/>
        </p:spPr>
      </p:sp>
      <p:sp>
        <p:nvSpPr>
          <p:cNvPr id="8" name="Shape 6"/>
          <p:cNvSpPr/>
          <p:nvPr/>
        </p:nvSpPr>
        <p:spPr>
          <a:xfrm>
            <a:off x="1219170" y="6748272"/>
            <a:ext cx="304792" cy="109728"/>
          </a:xfrm>
          <a:prstGeom prst="rect">
            <a:avLst/>
          </a:prstGeom>
          <a:solidFill>
            <a:srgbClr val="8E44AD"/>
          </a:solidFill>
          <a:ln/>
        </p:spPr>
      </p:sp>
      <p:sp>
        <p:nvSpPr>
          <p:cNvPr id="9" name="Shape 7"/>
          <p:cNvSpPr/>
          <p:nvPr/>
        </p:nvSpPr>
        <p:spPr>
          <a:xfrm>
            <a:off x="1523962" y="6748272"/>
            <a:ext cx="304792" cy="109728"/>
          </a:xfrm>
          <a:prstGeom prst="rect">
            <a:avLst/>
          </a:prstGeom>
          <a:solidFill>
            <a:srgbClr val="C0392B"/>
          </a:solidFill>
          <a:ln/>
        </p:spPr>
      </p:sp>
      <p:sp>
        <p:nvSpPr>
          <p:cNvPr id="10" name="Shape 8"/>
          <p:cNvSpPr/>
          <p:nvPr/>
        </p:nvSpPr>
        <p:spPr>
          <a:xfrm>
            <a:off x="1828754" y="6748272"/>
            <a:ext cx="304792" cy="109728"/>
          </a:xfrm>
          <a:prstGeom prst="rect">
            <a:avLst/>
          </a:prstGeom>
          <a:solidFill>
            <a:srgbClr val="E67E22"/>
          </a:solidFill>
          <a:ln/>
        </p:spPr>
      </p:sp>
      <p:sp>
        <p:nvSpPr>
          <p:cNvPr id="11" name="Shape 9"/>
          <p:cNvSpPr/>
          <p:nvPr/>
        </p:nvSpPr>
        <p:spPr>
          <a:xfrm>
            <a:off x="2133547" y="6748272"/>
            <a:ext cx="304792" cy="109728"/>
          </a:xfrm>
          <a:prstGeom prst="rect">
            <a:avLst/>
          </a:prstGeom>
          <a:solidFill>
            <a:srgbClr val="27AE60"/>
          </a:solidFill>
          <a:ln/>
        </p:spPr>
      </p:sp>
      <p:sp>
        <p:nvSpPr>
          <p:cNvPr id="12" name="Shape 10"/>
          <p:cNvSpPr/>
          <p:nvPr/>
        </p:nvSpPr>
        <p:spPr>
          <a:xfrm>
            <a:off x="2438339" y="6748272"/>
            <a:ext cx="304792" cy="109728"/>
          </a:xfrm>
          <a:prstGeom prst="rect">
            <a:avLst/>
          </a:prstGeom>
          <a:solidFill>
            <a:srgbClr val="1F618D"/>
          </a:solidFill>
          <a:ln/>
        </p:spPr>
      </p:sp>
      <p:sp>
        <p:nvSpPr>
          <p:cNvPr id="13" name="Shape 11"/>
          <p:cNvSpPr/>
          <p:nvPr/>
        </p:nvSpPr>
        <p:spPr>
          <a:xfrm>
            <a:off x="2743131" y="6748272"/>
            <a:ext cx="304792" cy="109728"/>
          </a:xfrm>
          <a:prstGeom prst="rect">
            <a:avLst/>
          </a:prstGeom>
          <a:solidFill>
            <a:srgbClr val="8E44AD"/>
          </a:solidFill>
          <a:ln/>
        </p:spPr>
      </p:sp>
      <p:sp>
        <p:nvSpPr>
          <p:cNvPr id="14" name="Shape 12"/>
          <p:cNvSpPr/>
          <p:nvPr/>
        </p:nvSpPr>
        <p:spPr>
          <a:xfrm>
            <a:off x="3047924" y="6748272"/>
            <a:ext cx="304792" cy="109728"/>
          </a:xfrm>
          <a:prstGeom prst="rect">
            <a:avLst/>
          </a:prstGeom>
          <a:solidFill>
            <a:srgbClr val="C0392B"/>
          </a:solidFill>
          <a:ln/>
        </p:spPr>
      </p:sp>
      <p:sp>
        <p:nvSpPr>
          <p:cNvPr id="15" name="Shape 13"/>
          <p:cNvSpPr/>
          <p:nvPr/>
        </p:nvSpPr>
        <p:spPr>
          <a:xfrm>
            <a:off x="3352716" y="6748272"/>
            <a:ext cx="304792" cy="109728"/>
          </a:xfrm>
          <a:prstGeom prst="rect">
            <a:avLst/>
          </a:prstGeom>
          <a:solidFill>
            <a:srgbClr val="E67E22"/>
          </a:solidFill>
          <a:ln/>
        </p:spPr>
      </p:sp>
      <p:sp>
        <p:nvSpPr>
          <p:cNvPr id="16" name="Shape 14"/>
          <p:cNvSpPr/>
          <p:nvPr/>
        </p:nvSpPr>
        <p:spPr>
          <a:xfrm>
            <a:off x="3657509" y="6748272"/>
            <a:ext cx="304792" cy="109728"/>
          </a:xfrm>
          <a:prstGeom prst="rect">
            <a:avLst/>
          </a:prstGeom>
          <a:solidFill>
            <a:srgbClr val="27AE60"/>
          </a:solidFill>
          <a:ln/>
        </p:spPr>
      </p:sp>
      <p:sp>
        <p:nvSpPr>
          <p:cNvPr id="17" name="Shape 15"/>
          <p:cNvSpPr/>
          <p:nvPr/>
        </p:nvSpPr>
        <p:spPr>
          <a:xfrm>
            <a:off x="3962301" y="6748272"/>
            <a:ext cx="304792" cy="109728"/>
          </a:xfrm>
          <a:prstGeom prst="rect">
            <a:avLst/>
          </a:prstGeom>
          <a:solidFill>
            <a:srgbClr val="1F618D"/>
          </a:solidFill>
          <a:ln/>
        </p:spPr>
      </p:sp>
      <p:sp>
        <p:nvSpPr>
          <p:cNvPr id="18" name="Shape 16"/>
          <p:cNvSpPr/>
          <p:nvPr/>
        </p:nvSpPr>
        <p:spPr>
          <a:xfrm>
            <a:off x="4267093" y="6748272"/>
            <a:ext cx="304792" cy="109728"/>
          </a:xfrm>
          <a:prstGeom prst="rect">
            <a:avLst/>
          </a:prstGeom>
          <a:solidFill>
            <a:srgbClr val="8E44AD"/>
          </a:solidFill>
          <a:ln/>
        </p:spPr>
      </p:sp>
      <p:sp>
        <p:nvSpPr>
          <p:cNvPr id="19" name="Shape 17"/>
          <p:cNvSpPr/>
          <p:nvPr/>
        </p:nvSpPr>
        <p:spPr>
          <a:xfrm>
            <a:off x="4571886" y="6748272"/>
            <a:ext cx="304792" cy="109728"/>
          </a:xfrm>
          <a:prstGeom prst="rect">
            <a:avLst/>
          </a:prstGeom>
          <a:solidFill>
            <a:srgbClr val="C0392B"/>
          </a:solidFill>
          <a:ln/>
        </p:spPr>
      </p:sp>
      <p:sp>
        <p:nvSpPr>
          <p:cNvPr id="20" name="Shape 18"/>
          <p:cNvSpPr/>
          <p:nvPr/>
        </p:nvSpPr>
        <p:spPr>
          <a:xfrm>
            <a:off x="4876678" y="6748272"/>
            <a:ext cx="304792" cy="109728"/>
          </a:xfrm>
          <a:prstGeom prst="rect">
            <a:avLst/>
          </a:prstGeom>
          <a:solidFill>
            <a:srgbClr val="E67E22"/>
          </a:solidFill>
          <a:ln/>
        </p:spPr>
      </p:sp>
      <p:sp>
        <p:nvSpPr>
          <p:cNvPr id="21" name="Shape 19"/>
          <p:cNvSpPr/>
          <p:nvPr/>
        </p:nvSpPr>
        <p:spPr>
          <a:xfrm>
            <a:off x="5181470" y="6748272"/>
            <a:ext cx="304792" cy="109728"/>
          </a:xfrm>
          <a:prstGeom prst="rect">
            <a:avLst/>
          </a:prstGeom>
          <a:solidFill>
            <a:srgbClr val="27AE60"/>
          </a:solidFill>
          <a:ln/>
        </p:spPr>
      </p:sp>
      <p:sp>
        <p:nvSpPr>
          <p:cNvPr id="22" name="Shape 20"/>
          <p:cNvSpPr/>
          <p:nvPr/>
        </p:nvSpPr>
        <p:spPr>
          <a:xfrm>
            <a:off x="5486263" y="6748272"/>
            <a:ext cx="304792" cy="109728"/>
          </a:xfrm>
          <a:prstGeom prst="rect">
            <a:avLst/>
          </a:prstGeom>
          <a:solidFill>
            <a:srgbClr val="1F618D"/>
          </a:solidFill>
          <a:ln/>
        </p:spPr>
      </p:sp>
      <p:sp>
        <p:nvSpPr>
          <p:cNvPr id="23" name="Shape 21"/>
          <p:cNvSpPr/>
          <p:nvPr/>
        </p:nvSpPr>
        <p:spPr>
          <a:xfrm>
            <a:off x="5791055" y="6748272"/>
            <a:ext cx="304792" cy="109728"/>
          </a:xfrm>
          <a:prstGeom prst="rect">
            <a:avLst/>
          </a:prstGeom>
          <a:solidFill>
            <a:srgbClr val="8E44AD"/>
          </a:solidFill>
          <a:ln/>
        </p:spPr>
      </p:sp>
      <p:sp>
        <p:nvSpPr>
          <p:cNvPr id="24" name="Shape 22"/>
          <p:cNvSpPr/>
          <p:nvPr/>
        </p:nvSpPr>
        <p:spPr>
          <a:xfrm>
            <a:off x="6095848" y="6748272"/>
            <a:ext cx="304792" cy="109728"/>
          </a:xfrm>
          <a:prstGeom prst="rect">
            <a:avLst/>
          </a:prstGeom>
          <a:solidFill>
            <a:srgbClr val="C0392B"/>
          </a:solidFill>
          <a:ln/>
        </p:spPr>
      </p:sp>
      <p:sp>
        <p:nvSpPr>
          <p:cNvPr id="25" name="Shape 23"/>
          <p:cNvSpPr/>
          <p:nvPr/>
        </p:nvSpPr>
        <p:spPr>
          <a:xfrm>
            <a:off x="6400640" y="6748272"/>
            <a:ext cx="304792" cy="109728"/>
          </a:xfrm>
          <a:prstGeom prst="rect">
            <a:avLst/>
          </a:prstGeom>
          <a:solidFill>
            <a:srgbClr val="E67E22"/>
          </a:solidFill>
          <a:ln/>
        </p:spPr>
      </p:sp>
      <p:sp>
        <p:nvSpPr>
          <p:cNvPr id="26" name="Shape 24"/>
          <p:cNvSpPr/>
          <p:nvPr/>
        </p:nvSpPr>
        <p:spPr>
          <a:xfrm>
            <a:off x="6705432" y="6748272"/>
            <a:ext cx="304792" cy="109728"/>
          </a:xfrm>
          <a:prstGeom prst="rect">
            <a:avLst/>
          </a:prstGeom>
          <a:solidFill>
            <a:srgbClr val="27AE60"/>
          </a:solidFill>
          <a:ln/>
        </p:spPr>
      </p:sp>
      <p:sp>
        <p:nvSpPr>
          <p:cNvPr id="27" name="Shape 25"/>
          <p:cNvSpPr/>
          <p:nvPr/>
        </p:nvSpPr>
        <p:spPr>
          <a:xfrm>
            <a:off x="7010225" y="6748272"/>
            <a:ext cx="304792" cy="109728"/>
          </a:xfrm>
          <a:prstGeom prst="rect">
            <a:avLst/>
          </a:prstGeom>
          <a:solidFill>
            <a:srgbClr val="1F618D"/>
          </a:solidFill>
          <a:ln/>
        </p:spPr>
      </p:sp>
      <p:sp>
        <p:nvSpPr>
          <p:cNvPr id="28" name="Shape 26"/>
          <p:cNvSpPr/>
          <p:nvPr/>
        </p:nvSpPr>
        <p:spPr>
          <a:xfrm>
            <a:off x="7315017" y="6748272"/>
            <a:ext cx="304792" cy="109728"/>
          </a:xfrm>
          <a:prstGeom prst="rect">
            <a:avLst/>
          </a:prstGeom>
          <a:solidFill>
            <a:srgbClr val="8E44AD"/>
          </a:solidFill>
          <a:ln/>
        </p:spPr>
      </p:sp>
      <p:sp>
        <p:nvSpPr>
          <p:cNvPr id="29" name="Shape 27"/>
          <p:cNvSpPr/>
          <p:nvPr/>
        </p:nvSpPr>
        <p:spPr>
          <a:xfrm>
            <a:off x="7619809" y="6748272"/>
            <a:ext cx="304792" cy="109728"/>
          </a:xfrm>
          <a:prstGeom prst="rect">
            <a:avLst/>
          </a:prstGeom>
          <a:solidFill>
            <a:srgbClr val="C0392B"/>
          </a:solidFill>
          <a:ln/>
        </p:spPr>
      </p:sp>
      <p:sp>
        <p:nvSpPr>
          <p:cNvPr id="30" name="Shape 28"/>
          <p:cNvSpPr/>
          <p:nvPr/>
        </p:nvSpPr>
        <p:spPr>
          <a:xfrm>
            <a:off x="7924602" y="6748272"/>
            <a:ext cx="304792" cy="109728"/>
          </a:xfrm>
          <a:prstGeom prst="rect">
            <a:avLst/>
          </a:prstGeom>
          <a:solidFill>
            <a:srgbClr val="E67E22"/>
          </a:solidFill>
          <a:ln/>
        </p:spPr>
      </p:sp>
      <p:sp>
        <p:nvSpPr>
          <p:cNvPr id="31" name="Shape 29"/>
          <p:cNvSpPr/>
          <p:nvPr/>
        </p:nvSpPr>
        <p:spPr>
          <a:xfrm>
            <a:off x="8229394" y="6748272"/>
            <a:ext cx="304792" cy="109728"/>
          </a:xfrm>
          <a:prstGeom prst="rect">
            <a:avLst/>
          </a:prstGeom>
          <a:solidFill>
            <a:srgbClr val="27AE60"/>
          </a:solidFill>
          <a:ln/>
        </p:spPr>
      </p:sp>
      <p:sp>
        <p:nvSpPr>
          <p:cNvPr id="32" name="Shape 30"/>
          <p:cNvSpPr/>
          <p:nvPr/>
        </p:nvSpPr>
        <p:spPr>
          <a:xfrm>
            <a:off x="8534187" y="6748272"/>
            <a:ext cx="304792" cy="109728"/>
          </a:xfrm>
          <a:prstGeom prst="rect">
            <a:avLst/>
          </a:prstGeom>
          <a:solidFill>
            <a:srgbClr val="1F618D"/>
          </a:solidFill>
          <a:ln/>
        </p:spPr>
      </p:sp>
      <p:sp>
        <p:nvSpPr>
          <p:cNvPr id="33" name="Shape 31"/>
          <p:cNvSpPr/>
          <p:nvPr/>
        </p:nvSpPr>
        <p:spPr>
          <a:xfrm>
            <a:off x="8838979" y="6748272"/>
            <a:ext cx="304792" cy="109728"/>
          </a:xfrm>
          <a:prstGeom prst="rect">
            <a:avLst/>
          </a:prstGeom>
          <a:solidFill>
            <a:srgbClr val="8E44AD"/>
          </a:solidFill>
          <a:ln/>
        </p:spPr>
      </p:sp>
      <p:sp>
        <p:nvSpPr>
          <p:cNvPr id="34" name="Shape 32"/>
          <p:cNvSpPr/>
          <p:nvPr/>
        </p:nvSpPr>
        <p:spPr>
          <a:xfrm>
            <a:off x="9143771" y="6748272"/>
            <a:ext cx="304792" cy="109728"/>
          </a:xfrm>
          <a:prstGeom prst="rect">
            <a:avLst/>
          </a:prstGeom>
          <a:solidFill>
            <a:srgbClr val="C0392B"/>
          </a:solidFill>
          <a:ln/>
        </p:spPr>
      </p:sp>
      <p:sp>
        <p:nvSpPr>
          <p:cNvPr id="35" name="Shape 33"/>
          <p:cNvSpPr/>
          <p:nvPr/>
        </p:nvSpPr>
        <p:spPr>
          <a:xfrm>
            <a:off x="9448564" y="6748272"/>
            <a:ext cx="304792" cy="109728"/>
          </a:xfrm>
          <a:prstGeom prst="rect">
            <a:avLst/>
          </a:prstGeom>
          <a:solidFill>
            <a:srgbClr val="E67E22"/>
          </a:solidFill>
          <a:ln/>
        </p:spPr>
      </p:sp>
      <p:sp>
        <p:nvSpPr>
          <p:cNvPr id="36" name="Shape 34"/>
          <p:cNvSpPr/>
          <p:nvPr/>
        </p:nvSpPr>
        <p:spPr>
          <a:xfrm>
            <a:off x="9753356" y="6748272"/>
            <a:ext cx="304792" cy="109728"/>
          </a:xfrm>
          <a:prstGeom prst="rect">
            <a:avLst/>
          </a:prstGeom>
          <a:solidFill>
            <a:srgbClr val="27AE60"/>
          </a:solidFill>
          <a:ln/>
        </p:spPr>
      </p:sp>
      <p:sp>
        <p:nvSpPr>
          <p:cNvPr id="37" name="Shape 35"/>
          <p:cNvSpPr/>
          <p:nvPr/>
        </p:nvSpPr>
        <p:spPr>
          <a:xfrm>
            <a:off x="10058149" y="6748272"/>
            <a:ext cx="304792" cy="109728"/>
          </a:xfrm>
          <a:prstGeom prst="rect">
            <a:avLst/>
          </a:prstGeom>
          <a:solidFill>
            <a:srgbClr val="1F618D"/>
          </a:solidFill>
          <a:ln/>
        </p:spPr>
      </p:sp>
      <p:sp>
        <p:nvSpPr>
          <p:cNvPr id="38" name="Shape 36"/>
          <p:cNvSpPr/>
          <p:nvPr/>
        </p:nvSpPr>
        <p:spPr>
          <a:xfrm>
            <a:off x="10362941" y="6748272"/>
            <a:ext cx="304792" cy="109728"/>
          </a:xfrm>
          <a:prstGeom prst="rect">
            <a:avLst/>
          </a:prstGeom>
          <a:solidFill>
            <a:srgbClr val="8E44AD"/>
          </a:solidFill>
          <a:ln/>
        </p:spPr>
      </p:sp>
      <p:sp>
        <p:nvSpPr>
          <p:cNvPr id="39" name="Shape 37"/>
          <p:cNvSpPr/>
          <p:nvPr/>
        </p:nvSpPr>
        <p:spPr>
          <a:xfrm>
            <a:off x="10667733" y="6748272"/>
            <a:ext cx="304792" cy="109728"/>
          </a:xfrm>
          <a:prstGeom prst="rect">
            <a:avLst/>
          </a:prstGeom>
          <a:solidFill>
            <a:srgbClr val="C0392B"/>
          </a:solidFill>
          <a:ln/>
        </p:spPr>
      </p:sp>
      <p:sp>
        <p:nvSpPr>
          <p:cNvPr id="40" name="Shape 38"/>
          <p:cNvSpPr/>
          <p:nvPr/>
        </p:nvSpPr>
        <p:spPr>
          <a:xfrm>
            <a:off x="10972526" y="6748272"/>
            <a:ext cx="304792" cy="109728"/>
          </a:xfrm>
          <a:prstGeom prst="rect">
            <a:avLst/>
          </a:prstGeom>
          <a:solidFill>
            <a:srgbClr val="E67E22"/>
          </a:solidFill>
          <a:ln/>
        </p:spPr>
      </p:sp>
      <p:sp>
        <p:nvSpPr>
          <p:cNvPr id="41" name="Shape 39"/>
          <p:cNvSpPr/>
          <p:nvPr/>
        </p:nvSpPr>
        <p:spPr>
          <a:xfrm>
            <a:off x="11277318" y="6748272"/>
            <a:ext cx="304792" cy="109728"/>
          </a:xfrm>
          <a:prstGeom prst="rect">
            <a:avLst/>
          </a:prstGeom>
          <a:solidFill>
            <a:srgbClr val="27AE60"/>
          </a:solidFill>
          <a:ln/>
        </p:spPr>
      </p:sp>
      <p:sp>
        <p:nvSpPr>
          <p:cNvPr id="42" name="Shape 40"/>
          <p:cNvSpPr/>
          <p:nvPr/>
        </p:nvSpPr>
        <p:spPr>
          <a:xfrm>
            <a:off x="11582110" y="6748272"/>
            <a:ext cx="304792" cy="109728"/>
          </a:xfrm>
          <a:prstGeom prst="rect">
            <a:avLst/>
          </a:prstGeom>
          <a:solidFill>
            <a:srgbClr val="1F618D"/>
          </a:solidFill>
          <a:ln/>
        </p:spPr>
      </p:sp>
      <p:sp>
        <p:nvSpPr>
          <p:cNvPr id="43" name="Shape 41"/>
          <p:cNvSpPr/>
          <p:nvPr/>
        </p:nvSpPr>
        <p:spPr>
          <a:xfrm>
            <a:off x="11886903" y="6748272"/>
            <a:ext cx="304792" cy="109728"/>
          </a:xfrm>
          <a:prstGeom prst="rect">
            <a:avLst/>
          </a:prstGeom>
          <a:solidFill>
            <a:srgbClr val="8E44AD"/>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Karnataka SIR 2026</dc:title>
  <dc:subject>PptxGenJS Presentation</dc:subject>
  <dc:creator>PinPoint Ventures</dc:creator>
  <cp:lastModifiedBy>PinPoint Ventures</cp:lastModifiedBy>
  <cp:revision>1</cp:revision>
  <dcterms:created xsi:type="dcterms:W3CDTF">2026-10-05T14:28:29Z</dcterms:created>
  <dcterms:modified xsi:type="dcterms:W3CDTF">2026-10-05T14:28:29Z</dcterms:modified>
</cp:coreProperties>
</file>