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cat>
            <c:multiLvlStrRef>
              <c:f>Sheet1!$A$2:$A$35</c:f>
              <c:multiLvlStrCache>
                <c:ptCount val="34"/>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pt idx="12">
                    <c:v>Bagalkot</c:v>
                  </c:pt>
                  <c:pt idx="13">
                    <c:v>Davangere</c:v>
                  </c:pt>
                  <c:pt idx="14">
                    <c:v>Kodagu</c:v>
                  </c:pt>
                  <c:pt idx="15">
                    <c:v>Gadag</c:v>
                  </c:pt>
                  <c:pt idx="16">
                    <c:v>Kolar</c:v>
                  </c:pt>
                  <c:pt idx="17">
                    <c:v>Vijayanagara</c:v>
                  </c:pt>
                  <c:pt idx="18">
                    <c:v>Bangalore Rural</c:v>
                  </c:pt>
                  <c:pt idx="19">
                    <c:v>Belgaum</c:v>
                  </c:pt>
                  <c:pt idx="20">
                    <c:v>Koppal</c:v>
                  </c:pt>
                  <c:pt idx="21">
                    <c:v>Shimoga</c:v>
                  </c:pt>
                  <c:pt idx="22">
                    <c:v>Ramanagaram</c:v>
                  </c:pt>
                  <c:pt idx="23">
                    <c:v>Chikkaballapur</c:v>
                  </c:pt>
                  <c:pt idx="24">
                    <c:v>Hassan</c:v>
                  </c:pt>
                  <c:pt idx="25">
                    <c:v>Mandya</c:v>
                  </c:pt>
                  <c:pt idx="26">
                    <c:v>Tumkur</c:v>
                  </c:pt>
                  <c:pt idx="27">
                    <c:v>Chikkmagalur</c:v>
                  </c:pt>
                  <c:pt idx="28">
                    <c:v>Chamarajnagar</c:v>
                  </c:pt>
                  <c:pt idx="29">
                    <c:v>Chitradurga</c:v>
                  </c:pt>
                  <c:pt idx="30">
                    <c:v>Dakshina Kannada</c:v>
                  </c:pt>
                  <c:pt idx="31">
                    <c:v>Uttara Kannada</c:v>
                  </c:pt>
                  <c:pt idx="32">
                    <c:v>Haveri</c:v>
                  </c:pt>
                  <c:pt idx="33">
                    <c:v>Udupi</c:v>
                  </c:pt>
                </c:lvl>
              </c:multiLvlStrCache>
            </c:multiLvlStrRef>
          </c:cat>
          <c:val>
            <c:numRef>
              <c:f>Sheet1!$B$2:$B$35</c:f>
              <c:numCache>
                <c:formatCode>General</c:formatCode>
                <c:ptCount val="34"/>
                <c:pt idx="0">
                  <c:v>49.33</c:v>
                </c:pt>
                <c:pt idx="1">
                  <c:v>45.54</c:v>
                </c:pt>
                <c:pt idx="2">
                  <c:v>45.12</c:v>
                </c:pt>
                <c:pt idx="3">
                  <c:v>42.71</c:v>
                </c:pt>
                <c:pt idx="4">
                  <c:v>22.01</c:v>
                </c:pt>
                <c:pt idx="5">
                  <c:v>19.9</c:v>
                </c:pt>
                <c:pt idx="6">
                  <c:v>18.75</c:v>
                </c:pt>
                <c:pt idx="7">
                  <c:v>18.16</c:v>
                </c:pt>
                <c:pt idx="8">
                  <c:v>17.97</c:v>
                </c:pt>
                <c:pt idx="9">
                  <c:v>16.52</c:v>
                </c:pt>
                <c:pt idx="10">
                  <c:v>16.49</c:v>
                </c:pt>
                <c:pt idx="11">
                  <c:v>14.99</c:v>
                </c:pt>
                <c:pt idx="12">
                  <c:v>14.63</c:v>
                </c:pt>
                <c:pt idx="13">
                  <c:v>13.41</c:v>
                </c:pt>
                <c:pt idx="14">
                  <c:v>13.41</c:v>
                </c:pt>
                <c:pt idx="15">
                  <c:v>13.37</c:v>
                </c:pt>
                <c:pt idx="16">
                  <c:v>13.2</c:v>
                </c:pt>
                <c:pt idx="17">
                  <c:v>13</c:v>
                </c:pt>
                <c:pt idx="18">
                  <c:v>12.79</c:v>
                </c:pt>
                <c:pt idx="19">
                  <c:v>12.5</c:v>
                </c:pt>
                <c:pt idx="20">
                  <c:v>12.5</c:v>
                </c:pt>
                <c:pt idx="21">
                  <c:v>12.41</c:v>
                </c:pt>
                <c:pt idx="22">
                  <c:v>11.78</c:v>
                </c:pt>
                <c:pt idx="23">
                  <c:v>11.68</c:v>
                </c:pt>
                <c:pt idx="24">
                  <c:v>10.84</c:v>
                </c:pt>
                <c:pt idx="25">
                  <c:v>10.63</c:v>
                </c:pt>
                <c:pt idx="26">
                  <c:v>10.31</c:v>
                </c:pt>
                <c:pt idx="27">
                  <c:v>10.07</c:v>
                </c:pt>
                <c:pt idx="28">
                  <c:v>10.03</c:v>
                </c:pt>
                <c:pt idx="29">
                  <c:v>9.91</c:v>
                </c:pt>
                <c:pt idx="30">
                  <c:v>8.73</c:v>
                </c:pt>
                <c:pt idx="31">
                  <c:v>8.7</c:v>
                </c:pt>
                <c:pt idx="32">
                  <c:v>8.62</c:v>
                </c:pt>
                <c:pt idx="33">
                  <c:v>5.95</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58.6</c:v>
                </c:pt>
                <c:pt idx="1">
                  <c:v>67.33</c:v>
                </c:pt>
                <c:pt idx="2">
                  <c:v>74.74</c:v>
                </c:pt>
                <c:pt idx="3">
                  <c:v>75.02</c:v>
                </c:pt>
                <c:pt idx="4">
                  <c:v>66.6</c:v>
                </c:pt>
                <c:pt idx="5">
                  <c:v>44.35</c:v>
                </c:pt>
                <c:pt idx="6">
                  <c:v>58.48</c:v>
                </c:pt>
                <c:pt idx="7">
                  <c:v>45.75</c:v>
                </c:pt>
                <c:pt idx="8">
                  <c:v>61.79</c:v>
                </c:pt>
                <c:pt idx="9">
                  <c:v>46.75</c:v>
                </c:pt>
                <c:pt idx="10">
                  <c:v>66.92</c:v>
                </c:pt>
                <c:pt idx="11">
                  <c:v>51.21</c:v>
                </c:pt>
              </c:numCache>
            </c:numRef>
          </c:val>
        </c:ser>
        <c:ser>
          <c:idx val="1"/>
          <c:order val="1"/>
          <c:tx>
            <c:strRef>
              <c:f>Sheet1!$C$1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25.19</c:v>
                </c:pt>
                <c:pt idx="1">
                  <c:v>17.01</c:v>
                </c:pt>
                <c:pt idx="2">
                  <c:v>10.11</c:v>
                </c:pt>
                <c:pt idx="3">
                  <c:v>12.1</c:v>
                </c:pt>
                <c:pt idx="4">
                  <c:v>9.09</c:v>
                </c:pt>
                <c:pt idx="5">
                  <c:v>24.1</c:v>
                </c:pt>
                <c:pt idx="6">
                  <c:v>9.56</c:v>
                </c:pt>
                <c:pt idx="7">
                  <c:v>22.26</c:v>
                </c:pt>
                <c:pt idx="8">
                  <c:v>9.15</c:v>
                </c:pt>
                <c:pt idx="9">
                  <c:v>23.16</c:v>
                </c:pt>
                <c:pt idx="10">
                  <c:v>8.68</c:v>
                </c:pt>
                <c:pt idx="11">
                  <c:v>19.89</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Sheet1!$D$2:$D$13</c:f>
              <c:numCache>
                <c:formatCode>General</c:formatCode>
                <c:ptCount val="12"/>
                <c:pt idx="0">
                  <c:v>6.56</c:v>
                </c:pt>
                <c:pt idx="1">
                  <c:v>7.5</c:v>
                </c:pt>
                <c:pt idx="2">
                  <c:v>7.67</c:v>
                </c:pt>
                <c:pt idx="3">
                  <c:v>6.08</c:v>
                </c:pt>
                <c:pt idx="4">
                  <c:v>13.74</c:v>
                </c:pt>
                <c:pt idx="5">
                  <c:v>20.49</c:v>
                </c:pt>
                <c:pt idx="6">
                  <c:v>19.1</c:v>
                </c:pt>
                <c:pt idx="7">
                  <c:v>18.44</c:v>
                </c:pt>
                <c:pt idx="8">
                  <c:v>15.34</c:v>
                </c:pt>
                <c:pt idx="9">
                  <c:v>19.7</c:v>
                </c:pt>
                <c:pt idx="10">
                  <c:v>13.26</c:v>
                </c:pt>
                <c:pt idx="11">
                  <c:v>18.43</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Sheet1!$E$2:$E$13</c:f>
              <c:numCache>
                <c:formatCode>General</c:formatCode>
                <c:ptCount val="12"/>
                <c:pt idx="0">
                  <c:v>1.03</c:v>
                </c:pt>
                <c:pt idx="1">
                  <c:v>1.17</c:v>
                </c:pt>
                <c:pt idx="2">
                  <c:v>1.5</c:v>
                </c:pt>
                <c:pt idx="3">
                  <c:v>1.56</c:v>
                </c:pt>
                <c:pt idx="4">
                  <c:v>6.4</c:v>
                </c:pt>
                <c:pt idx="5">
                  <c:v>7.88</c:v>
                </c:pt>
                <c:pt idx="6">
                  <c:v>12.75</c:v>
                </c:pt>
                <c:pt idx="7">
                  <c:v>9.62</c:v>
                </c:pt>
                <c:pt idx="8">
                  <c:v>11.89</c:v>
                </c:pt>
                <c:pt idx="9">
                  <c:v>10.14</c:v>
                </c:pt>
                <c:pt idx="10">
                  <c:v>7.1</c:v>
                </c:pt>
                <c:pt idx="11">
                  <c:v>10.3</c:v>
                </c:pt>
              </c:numCache>
            </c:numRef>
          </c:val>
        </c:ser>
        <c:ser>
          <c:idx val="4"/>
          <c:order val="4"/>
          <c:tx>
            <c:strRef>
              <c:f>Sheet1!$F$1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Sheet1!$F$2:$F$13</c:f>
              <c:numCache>
                <c:formatCode>General</c:formatCode>
                <c:ptCount val="12"/>
                <c:pt idx="0">
                  <c:v>8.61</c:v>
                </c:pt>
                <c:pt idx="1">
                  <c:v>6.99</c:v>
                </c:pt>
                <c:pt idx="2">
                  <c:v>5.98</c:v>
                </c:pt>
                <c:pt idx="3">
                  <c:v>5.24</c:v>
                </c:pt>
                <c:pt idx="4">
                  <c:v>4.18</c:v>
                </c:pt>
                <c:pt idx="5">
                  <c:v>3.17</c:v>
                </c:pt>
                <c:pt idx="6">
                  <c:v>0.11</c:v>
                </c:pt>
                <c:pt idx="7">
                  <c:v>3.94</c:v>
                </c:pt>
                <c:pt idx="8">
                  <c:v>1.83</c:v>
                </c:pt>
                <c:pt idx="9">
                  <c:v>0.25</c:v>
                </c:pt>
                <c:pt idx="10">
                  <c:v>4.04</c:v>
                </c:pt>
                <c:pt idx="11">
                  <c:v>0.18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49.33</c:v>
                </c:pt>
                <c:pt idx="1">
                  <c:v>45.54</c:v>
                </c:pt>
                <c:pt idx="2">
                  <c:v>45.12</c:v>
                </c:pt>
                <c:pt idx="3">
                  <c:v>42.71</c:v>
                </c:pt>
                <c:pt idx="4">
                  <c:v>22.01</c:v>
                </c:pt>
                <c:pt idx="5">
                  <c:v>19.9</c:v>
                </c:pt>
                <c:pt idx="6">
                  <c:v>18.75</c:v>
                </c:pt>
                <c:pt idx="7">
                  <c:v>18.16</c:v>
                </c:pt>
                <c:pt idx="8">
                  <c:v>17.97</c:v>
                </c:pt>
                <c:pt idx="9">
                  <c:v>16.52</c:v>
                </c:pt>
                <c:pt idx="10">
                  <c:v>16.49</c:v>
                </c:pt>
                <c:pt idx="11">
                  <c:v>14.99</c:v>
                </c:pt>
              </c:numCache>
            </c:numRef>
          </c:val>
        </c:ser>
        <c:ser>
          <c:idx val="1"/>
          <c:order val="1"/>
          <c:tx>
            <c:strRef>
              <c:f>Sheet1!$C$1</c:f>
              <c:strCache>
                <c:ptCount val="1"/>
                <c:pt idx="0">
                  <c:v>On 25 September</c:v>
                </c:pt>
              </c:strCache>
            </c:strRef>
          </c:tx>
          <c:spPr>
            <a:solidFill>
              <a:srgbClr val="1E6B52"/>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49.33</c:v>
                </c:pt>
                <c:pt idx="1">
                  <c:v>45.47</c:v>
                </c:pt>
                <c:pt idx="2">
                  <c:v>45.09</c:v>
                </c:pt>
                <c:pt idx="3">
                  <c:v>42.71</c:v>
                </c:pt>
                <c:pt idx="4">
                  <c:v>21.8</c:v>
                </c:pt>
                <c:pt idx="5">
                  <c:v>19.72</c:v>
                </c:pt>
                <c:pt idx="6">
                  <c:v>17.91</c:v>
                </c:pt>
                <c:pt idx="7">
                  <c:v>17.5</c:v>
                </c:pt>
                <c:pt idx="8">
                  <c:v>17.89</c:v>
                </c:pt>
                <c:pt idx="9">
                  <c:v>16.32</c:v>
                </c:pt>
                <c:pt idx="10">
                  <c:v>16.22</c:v>
                </c:pt>
                <c:pt idx="11">
                  <c:v>14.61</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is computed from the Chief Electoral Officer's district tables. Nothing has been published by assembly constituency, so there is no comparison with election margins. The final roll is due on 27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Per 100 electors is the number left off for every 100 people on the roll of 16 June, which lets districts of different size be compared. Electors kept on the draft can still be sent a notice to appear at a hearing, and those hearings were under way on 25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final roll is due on 27 October 2026.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FE8DE"/>
                </a:solidFill>
                <a:latin typeface="Calibri" pitchFamily="34" charset="0"/>
                <a:ea typeface="Calibri" pitchFamily="34" charset="-122"/>
                <a:cs typeface="Calibri" pitchFamily="34" charset="-120"/>
              </a:rPr>
              <a:t>SPECIAL INTENSIVE REVISION · KARNATAKA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1.08 crore names off Karnataka's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FE8DE"/>
                </a:solidFill>
                <a:latin typeface="Calibri" pitchFamily="34" charset="0"/>
                <a:ea typeface="Calibri" pitchFamily="34" charset="-122"/>
                <a:cs typeface="Calibri" pitchFamily="34" charset="-120"/>
              </a:rPr>
              <a:t>District by district, on what recorded reason, and how the roll stood while notices were still being heard</a:t>
            </a:r>
            <a:endParaRPr lang="en-US" sz="1700" dirty="0"/>
          </a:p>
        </p:txBody>
      </p:sp>
      <p:sp>
        <p:nvSpPr>
          <p:cNvPr id="5" name="Shape 3"/>
          <p:cNvSpPr/>
          <p:nvPr/>
        </p:nvSpPr>
        <p:spPr>
          <a:xfrm>
            <a:off x="548640" y="3429000"/>
            <a:ext cx="2567864" cy="1737360"/>
          </a:xfrm>
          <a:prstGeom prst="roundRect">
            <a:avLst>
              <a:gd name="adj" fmla="val 4211"/>
            </a:avLst>
          </a:prstGeom>
          <a:solidFill>
            <a:srgbClr val="103D2E"/>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1,07,96,339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names left off the draft roll of 24 August 2026</a:t>
            </a:r>
            <a:endParaRPr lang="en-US" sz="1250" dirty="0"/>
          </a:p>
        </p:txBody>
      </p:sp>
      <p:sp>
        <p:nvSpPr>
          <p:cNvPr id="8" name="Shape 6"/>
          <p:cNvSpPr/>
          <p:nvPr/>
        </p:nvSpPr>
        <p:spPr>
          <a:xfrm>
            <a:off x="3390824" y="3429000"/>
            <a:ext cx="2567864" cy="1737360"/>
          </a:xfrm>
          <a:prstGeom prst="roundRect">
            <a:avLst>
              <a:gd name="adj" fmla="val 4211"/>
            </a:avLst>
          </a:prstGeom>
          <a:solidFill>
            <a:srgbClr val="103D2E"/>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every 100 electors on the roll of 16 June</a:t>
            </a:r>
            <a:endParaRPr lang="en-US" sz="1250" dirty="0"/>
          </a:p>
        </p:txBody>
      </p:sp>
      <p:sp>
        <p:nvSpPr>
          <p:cNvPr id="11" name="Shape 9"/>
          <p:cNvSpPr/>
          <p:nvPr/>
        </p:nvSpPr>
        <p:spPr>
          <a:xfrm>
            <a:off x="6233008" y="3429000"/>
            <a:ext cx="2567864" cy="1737360"/>
          </a:xfrm>
          <a:prstGeom prst="roundRect">
            <a:avLst>
              <a:gd name="adj" fmla="val 4211"/>
            </a:avLst>
          </a:prstGeom>
          <a:solidFill>
            <a:srgbClr val="103D2E"/>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were in Bengaluru</a:t>
            </a:r>
            <a:endParaRPr lang="en-US" sz="1250" dirty="0"/>
          </a:p>
        </p:txBody>
      </p:sp>
      <p:sp>
        <p:nvSpPr>
          <p:cNvPr id="14" name="Shape 12"/>
          <p:cNvSpPr/>
          <p:nvPr/>
        </p:nvSpPr>
        <p:spPr>
          <a:xfrm>
            <a:off x="9075191" y="3429000"/>
            <a:ext cx="2567864" cy="1737360"/>
          </a:xfrm>
          <a:prstGeom prst="roundRect">
            <a:avLst>
              <a:gd name="adj" fmla="val 4211"/>
            </a:avLst>
          </a:prstGeom>
          <a:solidFill>
            <a:srgbClr val="103D2E"/>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back by 25 September</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FE8DE"/>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7533F"/>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Bengaluru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12–13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revision removed 19.5 of every 100 electors, and 45.1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Four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1.08 crore names were left off Karnataka's draft roll, 19.5 of every 100 electors on the roll before the revision.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Bengaluru's four districts lost 45.1 of every 100 electors. They hold 18.7% of the roll and 43.4% of the names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60.6% were entered as shifted, 14.1% as absent, 15.2% as dead and 6.6% as already enrolled elsewhere.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By 25 September the roll had risen by 2,08,105 since the draft, 1.9% of the names removed. In Bengaluru it rose by 2,340.</a:t>
            </a:r>
            <a:endParaRPr lang="en-US" sz="17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Published by district only, with no split by sex.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roll fell from 5.54 crore on 16 June to 4.46 crore at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25 September 2026, while notices were still being heard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33547" y="2449198"/>
            <a:ext cx="862899" cy="3128642"/>
          </a:xfrm>
          <a:prstGeom prst="rect">
            <a:avLst/>
          </a:prstGeom>
          <a:solidFill>
            <a:srgbClr val="1F618D"/>
          </a:solidFill>
          <a:ln/>
        </p:spPr>
      </p:sp>
      <p:sp>
        <p:nvSpPr>
          <p:cNvPr id="48" name="Text 46"/>
          <p:cNvSpPr txBox="1"/>
          <p:nvPr/>
        </p:nvSpPr>
        <p:spPr>
          <a:xfrm>
            <a:off x="548640"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5,54,32,314</a:t>
            </a:r>
            <a:endParaRPr lang="en-US" sz="1000" dirty="0"/>
          </a:p>
        </p:txBody>
      </p:sp>
      <p:sp>
        <p:nvSpPr>
          <p:cNvPr id="49" name="Text 47"/>
          <p:cNvSpPr txBox="1"/>
          <p:nvPr/>
        </p:nvSpPr>
        <p:spPr>
          <a:xfrm>
            <a:off x="54864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16 June</a:t>
            </a:r>
            <a:endParaRPr lang="en-US" sz="1000" dirty="0"/>
          </a:p>
        </p:txBody>
      </p:sp>
      <p:sp>
        <p:nvSpPr>
          <p:cNvPr id="50" name="Shape 48"/>
          <p:cNvSpPr/>
          <p:nvPr/>
        </p:nvSpPr>
        <p:spPr>
          <a:xfrm>
            <a:off x="1966260" y="2449198"/>
            <a:ext cx="862899" cy="1002289"/>
          </a:xfrm>
          <a:prstGeom prst="rect">
            <a:avLst/>
          </a:prstGeom>
          <a:solidFill>
            <a:srgbClr val="C0392B"/>
          </a:solidFill>
          <a:ln/>
        </p:spPr>
      </p:sp>
      <p:sp>
        <p:nvSpPr>
          <p:cNvPr id="51" name="Text 49"/>
          <p:cNvSpPr txBox="1"/>
          <p:nvPr/>
        </p:nvSpPr>
        <p:spPr>
          <a:xfrm>
            <a:off x="1781353"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−65,45,679</a:t>
            </a:r>
            <a:endParaRPr lang="en-US" sz="1000" dirty="0"/>
          </a:p>
        </p:txBody>
      </p:sp>
      <p:sp>
        <p:nvSpPr>
          <p:cNvPr id="52" name="Text 50"/>
          <p:cNvSpPr txBox="1"/>
          <p:nvPr/>
        </p:nvSpPr>
        <p:spPr>
          <a:xfrm>
            <a:off x="1781353"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3" name="Shape 51"/>
          <p:cNvSpPr/>
          <p:nvPr/>
        </p:nvSpPr>
        <p:spPr>
          <a:xfrm>
            <a:off x="3198973" y="3451487"/>
            <a:ext cx="862899" cy="251100"/>
          </a:xfrm>
          <a:prstGeom prst="rect">
            <a:avLst/>
          </a:prstGeom>
          <a:solidFill>
            <a:srgbClr val="C0392B"/>
          </a:solidFill>
          <a:ln/>
        </p:spPr>
      </p:sp>
      <p:sp>
        <p:nvSpPr>
          <p:cNvPr id="54" name="Text 52"/>
          <p:cNvSpPr txBox="1"/>
          <p:nvPr/>
        </p:nvSpPr>
        <p:spPr>
          <a:xfrm>
            <a:off x="3014066" y="31771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−16,39,864</a:t>
            </a:r>
            <a:endParaRPr lang="en-US" sz="1000" dirty="0"/>
          </a:p>
        </p:txBody>
      </p:sp>
      <p:sp>
        <p:nvSpPr>
          <p:cNvPr id="55" name="Text 53"/>
          <p:cNvSpPr txBox="1"/>
          <p:nvPr/>
        </p:nvSpPr>
        <p:spPr>
          <a:xfrm>
            <a:off x="3014066"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6" name="Shape 54"/>
          <p:cNvSpPr/>
          <p:nvPr/>
        </p:nvSpPr>
        <p:spPr>
          <a:xfrm>
            <a:off x="4431685" y="3702587"/>
            <a:ext cx="862899" cy="232293"/>
          </a:xfrm>
          <a:prstGeom prst="rect">
            <a:avLst/>
          </a:prstGeom>
          <a:solidFill>
            <a:srgbClr val="C0392B"/>
          </a:solidFill>
          <a:ln/>
        </p:spPr>
      </p:sp>
      <p:sp>
        <p:nvSpPr>
          <p:cNvPr id="57" name="Text 55"/>
          <p:cNvSpPr txBox="1"/>
          <p:nvPr/>
        </p:nvSpPr>
        <p:spPr>
          <a:xfrm>
            <a:off x="4246778" y="34282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−15,17,042</a:t>
            </a:r>
            <a:endParaRPr lang="en-US" sz="1000" dirty="0"/>
          </a:p>
        </p:txBody>
      </p:sp>
      <p:sp>
        <p:nvSpPr>
          <p:cNvPr id="58" name="Text 56"/>
          <p:cNvSpPr txBox="1"/>
          <p:nvPr/>
        </p:nvSpPr>
        <p:spPr>
          <a:xfrm>
            <a:off x="4246778"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5664398" y="3934880"/>
            <a:ext cx="862899" cy="108697"/>
          </a:xfrm>
          <a:prstGeom prst="rect">
            <a:avLst/>
          </a:prstGeom>
          <a:solidFill>
            <a:srgbClr val="C0392B"/>
          </a:solidFill>
          <a:ln/>
        </p:spPr>
      </p:sp>
      <p:sp>
        <p:nvSpPr>
          <p:cNvPr id="60" name="Text 58"/>
          <p:cNvSpPr txBox="1"/>
          <p:nvPr/>
        </p:nvSpPr>
        <p:spPr>
          <a:xfrm>
            <a:off x="5479491" y="3660560"/>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−7,09,870</a:t>
            </a:r>
            <a:endParaRPr lang="en-US" sz="1000" dirty="0"/>
          </a:p>
        </p:txBody>
      </p:sp>
      <p:sp>
        <p:nvSpPr>
          <p:cNvPr id="61" name="Text 59"/>
          <p:cNvSpPr txBox="1"/>
          <p:nvPr/>
        </p:nvSpPr>
        <p:spPr>
          <a:xfrm>
            <a:off x="5479491"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Already enrolled</a:t>
            </a:r>
            <a:endParaRPr lang="en-US" sz="1000" dirty="0"/>
          </a:p>
        </p:txBody>
      </p:sp>
      <p:sp>
        <p:nvSpPr>
          <p:cNvPr id="62" name="Shape 60"/>
          <p:cNvSpPr/>
          <p:nvPr/>
        </p:nvSpPr>
        <p:spPr>
          <a:xfrm>
            <a:off x="6897111" y="4043576"/>
            <a:ext cx="862899" cy="58781"/>
          </a:xfrm>
          <a:prstGeom prst="rect">
            <a:avLst/>
          </a:prstGeom>
          <a:solidFill>
            <a:srgbClr val="C0392B"/>
          </a:solidFill>
          <a:ln/>
        </p:spPr>
      </p:sp>
      <p:sp>
        <p:nvSpPr>
          <p:cNvPr id="63" name="Text 61"/>
          <p:cNvSpPr txBox="1"/>
          <p:nvPr/>
        </p:nvSpPr>
        <p:spPr>
          <a:xfrm>
            <a:off x="6712204" y="3769256"/>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−3,83,884</a:t>
            </a:r>
            <a:endParaRPr lang="en-US" sz="1000" dirty="0"/>
          </a:p>
        </p:txBody>
      </p:sp>
      <p:sp>
        <p:nvSpPr>
          <p:cNvPr id="64" name="Text 62"/>
          <p:cNvSpPr txBox="1"/>
          <p:nvPr/>
        </p:nvSpPr>
        <p:spPr>
          <a:xfrm>
            <a:off x="6712204"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Other</a:t>
            </a:r>
            <a:endParaRPr lang="en-US" sz="1000" dirty="0"/>
          </a:p>
        </p:txBody>
      </p:sp>
      <p:sp>
        <p:nvSpPr>
          <p:cNvPr id="65" name="Shape 63"/>
          <p:cNvSpPr/>
          <p:nvPr/>
        </p:nvSpPr>
        <p:spPr>
          <a:xfrm>
            <a:off x="8129824" y="4102358"/>
            <a:ext cx="862899" cy="1475482"/>
          </a:xfrm>
          <a:prstGeom prst="rect">
            <a:avLst/>
          </a:prstGeom>
          <a:solidFill>
            <a:srgbClr val="1F618D"/>
          </a:solidFill>
          <a:ln/>
        </p:spPr>
      </p:sp>
      <p:sp>
        <p:nvSpPr>
          <p:cNvPr id="66" name="Text 64"/>
          <p:cNvSpPr txBox="1"/>
          <p:nvPr/>
        </p:nvSpPr>
        <p:spPr>
          <a:xfrm>
            <a:off x="7944917" y="382803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4,46,35,975</a:t>
            </a:r>
            <a:endParaRPr lang="en-US" sz="1000" dirty="0"/>
          </a:p>
        </p:txBody>
      </p:sp>
      <p:sp>
        <p:nvSpPr>
          <p:cNvPr id="67" name="Text 65"/>
          <p:cNvSpPr txBox="1"/>
          <p:nvPr/>
        </p:nvSpPr>
        <p:spPr>
          <a:xfrm>
            <a:off x="7944917"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8" name="Shape 66"/>
          <p:cNvSpPr/>
          <p:nvPr/>
        </p:nvSpPr>
        <p:spPr>
          <a:xfrm>
            <a:off x="9362537" y="4070492"/>
            <a:ext cx="862899" cy="31866"/>
          </a:xfrm>
          <a:prstGeom prst="rect">
            <a:avLst/>
          </a:prstGeom>
          <a:solidFill>
            <a:srgbClr val="17A589"/>
          </a:solidFill>
          <a:ln/>
        </p:spPr>
      </p:sp>
      <p:sp>
        <p:nvSpPr>
          <p:cNvPr id="69" name="Text 67"/>
          <p:cNvSpPr txBox="1"/>
          <p:nvPr/>
        </p:nvSpPr>
        <p:spPr>
          <a:xfrm>
            <a:off x="9177630" y="3796172"/>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+2,08,105</a:t>
            </a:r>
            <a:endParaRPr lang="en-US" sz="1000" dirty="0"/>
          </a:p>
        </p:txBody>
      </p:sp>
      <p:sp>
        <p:nvSpPr>
          <p:cNvPr id="70" name="Text 68"/>
          <p:cNvSpPr txBox="1"/>
          <p:nvPr/>
        </p:nvSpPr>
        <p:spPr>
          <a:xfrm>
            <a:off x="917763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71" name="Shape 69"/>
          <p:cNvSpPr/>
          <p:nvPr/>
        </p:nvSpPr>
        <p:spPr>
          <a:xfrm>
            <a:off x="10595249" y="4070492"/>
            <a:ext cx="862899" cy="1507348"/>
          </a:xfrm>
          <a:prstGeom prst="rect">
            <a:avLst/>
          </a:prstGeom>
          <a:solidFill>
            <a:srgbClr val="1F618D"/>
          </a:solidFill>
          <a:ln/>
        </p:spPr>
      </p:sp>
      <p:sp>
        <p:nvSpPr>
          <p:cNvPr id="72" name="Text 70"/>
          <p:cNvSpPr txBox="1"/>
          <p:nvPr/>
        </p:nvSpPr>
        <p:spPr>
          <a:xfrm>
            <a:off x="10410342" y="3796172"/>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4,48,44,080</a:t>
            </a:r>
            <a:endParaRPr lang="en-US" sz="1000" dirty="0"/>
          </a:p>
        </p:txBody>
      </p:sp>
      <p:sp>
        <p:nvSpPr>
          <p:cNvPr id="73" name="Text 71"/>
          <p:cNvSpPr txBox="1"/>
          <p:nvPr/>
        </p:nvSpPr>
        <p:spPr>
          <a:xfrm>
            <a:off x="10410342"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25 September</a:t>
            </a:r>
            <a:endParaRPr lang="en-US" sz="1000" dirty="0"/>
          </a:p>
        </p:txBody>
      </p:sp>
      <p:sp>
        <p:nvSpPr>
          <p:cNvPr id="74" name="Shape 72"/>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Bengaluru's four districts lost between 42.7 and 49.3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of 16 June, by election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state lost 19.5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Outside Bengaluru the highest is Gulbarga at 22.0.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Udupi lost the fewest, 6.0.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Bangalore Rural is outside Bengaluru's four districts.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61% of the names were entered as shifted and 14%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15.2% were entered as dead and 6.6% as already enrolled.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more names a district removed, the larger the share marked shifted or absent (rank correlation 0.81).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Uttara Kannada, 41.2%.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BENGALURU</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 holds 18.7% of Karnataka's roll and 43.4% of the names removed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Bangalore Urban and the North, Central and South districts of the city corporation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737360"/>
          </a:xfrm>
          <a:prstGeom prst="roundRect">
            <a:avLst>
              <a:gd name="adj" fmla="val 4211"/>
            </a:avLst>
          </a:prstGeom>
          <a:solidFill>
            <a:srgbClr val="F4F6F7"/>
          </a:solidFill>
          <a:ln/>
        </p:spPr>
      </p:sp>
      <p:sp>
        <p:nvSpPr>
          <p:cNvPr id="48" name="Text 46"/>
          <p:cNvSpPr txBox="1"/>
          <p:nvPr/>
        </p:nvSpPr>
        <p:spPr>
          <a:xfrm>
            <a:off x="731520"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46.9 lakh</a:t>
            </a:r>
            <a:endParaRPr lang="en-US" sz="2800" dirty="0"/>
          </a:p>
        </p:txBody>
      </p:sp>
      <p:sp>
        <p:nvSpPr>
          <p:cNvPr id="49" name="Text 47"/>
          <p:cNvSpPr txBox="1"/>
          <p:nvPr/>
        </p:nvSpPr>
        <p:spPr>
          <a:xfrm>
            <a:off x="731520"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Bengaluru</a:t>
            </a:r>
            <a:endParaRPr lang="en-US" sz="1200" dirty="0"/>
          </a:p>
        </p:txBody>
      </p:sp>
      <p:sp>
        <p:nvSpPr>
          <p:cNvPr id="50" name="Shape 48"/>
          <p:cNvSpPr/>
          <p:nvPr/>
        </p:nvSpPr>
        <p:spPr>
          <a:xfrm>
            <a:off x="3379394" y="1920240"/>
            <a:ext cx="2602154" cy="1737360"/>
          </a:xfrm>
          <a:prstGeom prst="roundRect">
            <a:avLst>
              <a:gd name="adj" fmla="val 4211"/>
            </a:avLst>
          </a:prstGeom>
          <a:solidFill>
            <a:srgbClr val="F4F6F7"/>
          </a:solidFill>
          <a:ln/>
        </p:spPr>
      </p:sp>
      <p:sp>
        <p:nvSpPr>
          <p:cNvPr id="51" name="Text 49"/>
          <p:cNvSpPr txBox="1"/>
          <p:nvPr/>
        </p:nvSpPr>
        <p:spPr>
          <a:xfrm>
            <a:off x="3562274"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45.1</a:t>
            </a:r>
            <a:endParaRPr lang="en-US" sz="2800" dirty="0"/>
          </a:p>
        </p:txBody>
      </p:sp>
      <p:sp>
        <p:nvSpPr>
          <p:cNvPr id="52" name="Text 50"/>
          <p:cNvSpPr txBox="1"/>
          <p:nvPr/>
        </p:nvSpPr>
        <p:spPr>
          <a:xfrm>
            <a:off x="3562274"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per 100 electors, against 13.6 elsewhere</a:t>
            </a:r>
            <a:endParaRPr lang="en-US" sz="1200" dirty="0"/>
          </a:p>
        </p:txBody>
      </p:sp>
      <p:sp>
        <p:nvSpPr>
          <p:cNvPr id="53" name="Shape 51"/>
          <p:cNvSpPr/>
          <p:nvPr/>
        </p:nvSpPr>
        <p:spPr>
          <a:xfrm>
            <a:off x="6210148" y="1920240"/>
            <a:ext cx="2602154" cy="1737360"/>
          </a:xfrm>
          <a:prstGeom prst="roundRect">
            <a:avLst>
              <a:gd name="adj" fmla="val 4211"/>
            </a:avLst>
          </a:prstGeom>
          <a:solidFill>
            <a:srgbClr val="F4F6F7"/>
          </a:solidFill>
          <a:ln/>
        </p:spPr>
      </p:sp>
      <p:sp>
        <p:nvSpPr>
          <p:cNvPr id="54" name="Text 52"/>
          <p:cNvSpPr txBox="1"/>
          <p:nvPr/>
        </p:nvSpPr>
        <p:spPr>
          <a:xfrm>
            <a:off x="6393028"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85.3%</a:t>
            </a:r>
            <a:endParaRPr lang="en-US" sz="2800" dirty="0"/>
          </a:p>
        </p:txBody>
      </p:sp>
      <p:sp>
        <p:nvSpPr>
          <p:cNvPr id="55" name="Text 53"/>
          <p:cNvSpPr txBox="1"/>
          <p:nvPr/>
        </p:nvSpPr>
        <p:spPr>
          <a:xfrm>
            <a:off x="6393028"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or absent, against 66.5% elsewhere</a:t>
            </a:r>
            <a:endParaRPr lang="en-US" sz="1200" dirty="0"/>
          </a:p>
        </p:txBody>
      </p:sp>
      <p:sp>
        <p:nvSpPr>
          <p:cNvPr id="56" name="Shape 54"/>
          <p:cNvSpPr/>
          <p:nvPr/>
        </p:nvSpPr>
        <p:spPr>
          <a:xfrm>
            <a:off x="9040901" y="1920240"/>
            <a:ext cx="2602154" cy="1737360"/>
          </a:xfrm>
          <a:prstGeom prst="roundRect">
            <a:avLst>
              <a:gd name="adj" fmla="val 4211"/>
            </a:avLst>
          </a:prstGeom>
          <a:solidFill>
            <a:srgbClr val="F4F6F7"/>
          </a:solidFill>
          <a:ln/>
        </p:spPr>
      </p:sp>
      <p:sp>
        <p:nvSpPr>
          <p:cNvPr id="57" name="Text 55"/>
          <p:cNvSpPr txBox="1"/>
          <p:nvPr/>
        </p:nvSpPr>
        <p:spPr>
          <a:xfrm>
            <a:off x="9223781"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6.8%</a:t>
            </a:r>
            <a:endParaRPr lang="en-US" sz="2800" dirty="0"/>
          </a:p>
        </p:txBody>
      </p:sp>
      <p:sp>
        <p:nvSpPr>
          <p:cNvPr id="58" name="Text 56"/>
          <p:cNvSpPr txBox="1"/>
          <p:nvPr/>
        </p:nvSpPr>
        <p:spPr>
          <a:xfrm>
            <a:off x="9223781"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 against 21.6% elsewhere</a:t>
            </a:r>
            <a:endParaRPr lang="en-US" sz="1200" dirty="0"/>
          </a:p>
        </p:txBody>
      </p:sp>
      <p:sp>
        <p:nvSpPr>
          <p:cNvPr id="59" name="Text 57"/>
          <p:cNvSpPr txBox="1"/>
          <p:nvPr/>
        </p:nvSpPr>
        <p:spPr>
          <a:xfrm>
            <a:off x="548640" y="4023360"/>
            <a:ext cx="11094415" cy="16459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By 25 September Bengaluru's roll had risen by 2,340 since the draft, against 46.9 lakh names removed. In the rest of the state the rise came to 3.4% of the names removed.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Women's share of the removals cannot be counted, because the roll of 16 June has no count by sex</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women's share of each later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5432908" cy="1645920"/>
          </a:xfrm>
          <a:prstGeom prst="roundRect">
            <a:avLst>
              <a:gd name="adj" fmla="val 4444"/>
            </a:avLst>
          </a:prstGeom>
          <a:solidFill>
            <a:srgbClr val="F4F6F7"/>
          </a:solidFill>
          <a:ln/>
        </p:spPr>
      </p:sp>
      <p:sp>
        <p:nvSpPr>
          <p:cNvPr id="48" name="Text 46"/>
          <p:cNvSpPr txBox="1"/>
          <p:nvPr/>
        </p:nvSpPr>
        <p:spPr>
          <a:xfrm>
            <a:off x="731520"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49" name="Text 47"/>
          <p:cNvSpPr txBox="1"/>
          <p:nvPr/>
        </p:nvSpPr>
        <p:spPr>
          <a:xfrm>
            <a:off x="731520"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6210148" y="1920240"/>
            <a:ext cx="5432908" cy="1645920"/>
          </a:xfrm>
          <a:prstGeom prst="roundRect">
            <a:avLst>
              <a:gd name="adj" fmla="val 4444"/>
            </a:avLst>
          </a:prstGeom>
          <a:solidFill>
            <a:srgbClr val="F4F6F7"/>
          </a:solidFill>
          <a:ln/>
        </p:spPr>
      </p:sp>
      <p:sp>
        <p:nvSpPr>
          <p:cNvPr id="51" name="Text 49"/>
          <p:cNvSpPr txBox="1"/>
          <p:nvPr/>
        </p:nvSpPr>
        <p:spPr>
          <a:xfrm>
            <a:off x="6393028"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2" name="Text 50"/>
          <p:cNvSpPr txBox="1"/>
          <p:nvPr/>
        </p:nvSpPr>
        <p:spPr>
          <a:xfrm>
            <a:off x="6393028"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roll of 25 September</a:t>
            </a:r>
            <a:endParaRPr lang="en-US" sz="1200" dirty="0"/>
          </a:p>
        </p:txBody>
      </p:sp>
      <p:sp>
        <p:nvSpPr>
          <p:cNvPr id="53" name="Text 51"/>
          <p:cNvSpPr txBox="1"/>
          <p:nvPr/>
        </p:nvSpPr>
        <p:spPr>
          <a:xfrm>
            <a:off x="548640" y="3931920"/>
            <a:ext cx="11094415" cy="146304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names left off are not split by sex. These two figures cannot show whether women were left off more often than men.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By 25 September only 1.9% of the names removed had come back, and 0.05%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left on 25 September, per 100 electors,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roll rose by 2,08,105 after the draft, against 1.08 crore names removed.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could have been restored.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due on 27 October 2026 and may change this.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5F0"/>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of the 34 election districts, on what recorded reason, and how the roll stood on 25 September.</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5F0"/>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Which constituencies lost the most names, or how the removals compare with the 2023 margins, because nothing was published by constituency. Whether women, the old or the young were removed more often.</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The tables show where names were removed and cannot show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Publish the revision by constituency and by sex 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assembly constituency and polling station, with the reason.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with the roll of 16 June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80.6 lakh entries marked shifted or absent.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Bengaluru lost 45.1 of every 100 electors, against 13.6 in the rest of the state.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with the final roll how many of those added had been left off the draft.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names left off the draft roll of 24 August 2026, by election district and under five reasons, are the Chief Electoral Officer's table. The 34 district rows add up to the state row, 1,07,96,339 out of 5,54,32,314.</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roll of 25 September 2026, by district and sex, is from the press note of that date. The final roll is due on 27 October.</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Bengaluru is four election districts, Bangalore Urban and the B.B.M.P. North, Central and South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The district map, every district, and the full report are published online alongside this deck.</a:t>
            </a:r>
            <a:endParaRPr lang="en-US" sz="1700" dirty="0"/>
          </a:p>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SIR 2026</dc:title>
  <dc:subject>PptxGenJS Presentation</dc:subject>
  <dc:creator>PinPoint Ventures</dc:creator>
  <cp:lastModifiedBy>PinPoint Ventures</cp:lastModifiedBy>
  <cp:revision>1</cp:revision>
  <dcterms:created xsi:type="dcterms:W3CDTF">2026-10-09T04:26:10Z</dcterms:created>
  <dcterms:modified xsi:type="dcterms:W3CDTF">2026-10-09T04:26:10Z</dcterms:modified>
</cp:coreProperties>
</file>