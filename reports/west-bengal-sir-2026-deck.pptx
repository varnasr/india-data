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17A58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7A589"/>
              </a:solidFill>
              <a:effectLst/>
            </c:spPr>
          </c:dPt>
          <c:dPt>
            <c:idx val="1"/>
            <c:invertIfNegative val="0"/>
            <c:bubble3D val="0"/>
            <c:spPr>
              <a:solidFill>
                <a:srgbClr val="D4AC0D"/>
              </a:solidFill>
              <a:effectLst/>
            </c:spPr>
          </c:dPt>
          <c:dPt>
            <c:idx val="2"/>
            <c:invertIfNegative val="0"/>
            <c:bubble3D val="0"/>
            <c:spPr>
              <a:solidFill>
                <a:srgbClr val="C0392B"/>
              </a:solidFill>
              <a:effectLst/>
            </c:spPr>
          </c:dPt>
          <c:dPt>
            <c:idx val="3"/>
            <c:invertIfNegative val="0"/>
            <c:bubble3D val="0"/>
            <c:spPr>
              <a:solidFill>
                <a:srgbClr val="95A5A6"/>
              </a:solidFill>
              <a:effectLst/>
            </c:spPr>
          </c:dPt>
          <c:cat>
            <c:multiLvlStrRef>
              <c:f>Sheet1!$A$2:$A$5</c:f>
              <c:multiLvlStrCache>
                <c:ptCount val="4"/>
                <c:lvl>
                  <c:pt idx="0">
                    <c:v>Found eligible</c:v>
                  </c:pt>
                  <c:pt idx="1">
                    <c:v>Not eligible, appealed</c:v>
                  </c:pt>
                  <c:pt idx="2">
                    <c:v>Not eligible, no appeal</c:v>
                  </c:pt>
                  <c:pt idx="3">
                    <c:v>Not accounted for</c:v>
                  </c:pt>
                </c:lvl>
              </c:multiLvlStrCache>
            </c:multiLvlStrRef>
          </c:cat>
          <c:val>
            <c:numRef>
              <c:f>Sheet1!$B$2:$B$5</c:f>
              <c:numCache>
                <c:formatCode>General</c:formatCode>
                <c:ptCount val="4"/>
                <c:pt idx="0">
                  <c:v>3268119</c:v>
                </c:pt>
                <c:pt idx="1">
                  <c:v>2221118</c:v>
                </c:pt>
                <c:pt idx="2">
                  <c:v>495275</c:v>
                </c:pt>
                <c:pt idx="3">
                  <c:v>22163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cat>
            <c:multiLvlStrRef>
              <c:f>Sheet1!$A$2:$A$25</c:f>
              <c:multiLvlStrCache>
                <c:ptCount val="24"/>
                <c:lvl>
                  <c:pt idx="0">
                    <c:v>Kolkata North</c:v>
                  </c:pt>
                  <c:pt idx="1">
                    <c:v>Kolkata South</c:v>
                  </c:pt>
                  <c:pt idx="2">
                    <c:v>Paschim Bardhaman</c:v>
                  </c:pt>
                  <c:pt idx="3">
                    <c:v>Uttar Dinajpur</c:v>
                  </c:pt>
                  <c:pt idx="4">
                    <c:v>North 24 Parganas</c:v>
                  </c:pt>
                  <c:pt idx="5">
                    <c:v>Darjeeling</c:v>
                  </c:pt>
                  <c:pt idx="6">
                    <c:v>Howrah</c:v>
                  </c:pt>
                  <c:pt idx="7">
                    <c:v>Dakshin Dinajpur</c:v>
                  </c:pt>
                  <c:pt idx="8">
                    <c:v>Murshidabad</c:v>
                  </c:pt>
                  <c:pt idx="9">
                    <c:v>Malda</c:v>
                  </c:pt>
                  <c:pt idx="10">
                    <c:v>South 24 Parganas</c:v>
                  </c:pt>
                  <c:pt idx="11">
                    <c:v>Nadia</c:v>
                  </c:pt>
                  <c:pt idx="12">
                    <c:v>Alipurduar</c:v>
                  </c:pt>
                  <c:pt idx="13">
                    <c:v>Jalpaiguri</c:v>
                  </c:pt>
                  <c:pt idx="14">
                    <c:v>Purba Bardhaman</c:v>
                  </c:pt>
                  <c:pt idx="15">
                    <c:v>Hooghly</c:v>
                  </c:pt>
                  <c:pt idx="16">
                    <c:v>Kalimpong</c:v>
                  </c:pt>
                  <c:pt idx="17">
                    <c:v>Birbhum</c:v>
                  </c:pt>
                  <c:pt idx="18">
                    <c:v>Coochbehar</c:v>
                  </c:pt>
                  <c:pt idx="19">
                    <c:v>Purulia</c:v>
                  </c:pt>
                  <c:pt idx="20">
                    <c:v>Paschim Medinipur</c:v>
                  </c:pt>
                  <c:pt idx="21">
                    <c:v>Jhargram</c:v>
                  </c:pt>
                  <c:pt idx="22">
                    <c:v>Bankura</c:v>
                  </c:pt>
                  <c:pt idx="23">
                    <c:v>Purbo Medinipur</c:v>
                  </c:pt>
                </c:lvl>
              </c:multiLvlStrCache>
            </c:multiLvlStrRef>
          </c:cat>
          <c:val>
            <c:numRef>
              <c:f>Sheet1!$B$2:$B$25</c:f>
              <c:numCache>
                <c:formatCode>General</c:formatCode>
                <c:ptCount val="24"/>
                <c:pt idx="0">
                  <c:v>27.979</c:v>
                </c:pt>
                <c:pt idx="1">
                  <c:v>24.5407</c:v>
                </c:pt>
                <c:pt idx="2">
                  <c:v>14.9663</c:v>
                </c:pt>
                <c:pt idx="3">
                  <c:v>14.1908</c:v>
                </c:pt>
                <c:pt idx="4">
                  <c:v>13.6976</c:v>
                </c:pt>
                <c:pt idx="5">
                  <c:v>13.4993</c:v>
                </c:pt>
                <c:pt idx="6">
                  <c:v>12.3937</c:v>
                </c:pt>
                <c:pt idx="7">
                  <c:v>12.2331</c:v>
                </c:pt>
                <c:pt idx="8">
                  <c:v>11.8552</c:v>
                </c:pt>
                <c:pt idx="9">
                  <c:v>11.6296</c:v>
                </c:pt>
                <c:pt idx="10">
                  <c:v>10.8391</c:v>
                </c:pt>
                <c:pt idx="11">
                  <c:v>10.1199</c:v>
                </c:pt>
                <c:pt idx="12">
                  <c:v>9.3528</c:v>
                </c:pt>
                <c:pt idx="13">
                  <c:v>9.0927</c:v>
                </c:pt>
                <c:pt idx="14">
                  <c:v>8.9814</c:v>
                </c:pt>
                <c:pt idx="15">
                  <c:v>8.5544</c:v>
                </c:pt>
                <c:pt idx="16">
                  <c:v>7.7292</c:v>
                </c:pt>
                <c:pt idx="17">
                  <c:v>7.6653</c:v>
                </c:pt>
                <c:pt idx="18">
                  <c:v>7.5874</c:v>
                </c:pt>
                <c:pt idx="19">
                  <c:v>5.8754</c:v>
                </c:pt>
                <c:pt idx="20">
                  <c:v>5.3301</c:v>
                </c:pt>
                <c:pt idx="21">
                  <c:v>4.6884</c:v>
                </c:pt>
                <c:pt idx="22">
                  <c:v>3.0796</c:v>
                </c:pt>
                <c:pt idx="23">
                  <c:v>1.64</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C0392B"/>
              </a:solidFill>
              <a:effectLst/>
            </c:spPr>
          </c:dPt>
          <c:dPt>
            <c:idx val="3"/>
            <c:invertIfNegative val="0"/>
            <c:bubble3D val="0"/>
            <c:spPr>
              <a:solidFill>
                <a:srgbClr val="D4AC0D"/>
              </a:solidFill>
              <a:effectLst/>
            </c:spPr>
          </c:dPt>
          <c:dPt>
            <c:idx val="4"/>
            <c:invertIfNegative val="0"/>
            <c:bubble3D val="0"/>
            <c:spPr>
              <a:solidFill>
                <a:srgbClr val="8E7CC3"/>
              </a:solidFill>
              <a:effectLst/>
            </c:spPr>
          </c:dPt>
          <c:cat>
            <c:multiLvlStrRef>
              <c:f>Sheet1!$A$2:$A$6</c:f>
              <c:multiLvlStrCache>
                <c:ptCount val="5"/>
                <c:lvl>
                  <c:pt idx="0">
                    <c:v>Dead</c:v>
                  </c:pt>
                  <c:pt idx="1">
                    <c:v>Shifted</c:v>
                  </c:pt>
                  <c:pt idx="2">
                    <c:v>Absent</c:v>
                  </c:pt>
                  <c:pt idx="3">
                    <c:v>Already enrolled</c:v>
                  </c:pt>
                  <c:pt idx="4">
                    <c:v>Other</c:v>
                  </c:pt>
                </c:lvl>
              </c:multiLvlStrCache>
            </c:multiLvlStrRef>
          </c:cat>
          <c:val>
            <c:numRef>
              <c:f>Sheet1!$B$2:$B$6</c:f>
              <c:numCache>
                <c:formatCode>General</c:formatCode>
                <c:ptCount val="5"/>
                <c:pt idx="0">
                  <c:v>2416852</c:v>
                </c:pt>
                <c:pt idx="1">
                  <c:v>1988076</c:v>
                </c:pt>
                <c:pt idx="2">
                  <c:v>1220039</c:v>
                </c:pt>
                <c:pt idx="3">
                  <c:v>138328</c:v>
                </c:pt>
                <c:pt idx="4">
                  <c:v>57604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2024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Purba Bardhaman</c:v>
                  </c:pt>
                  <c:pt idx="17">
                    <c:v>Jalpaiguri</c:v>
                  </c:pt>
                  <c:pt idx="18">
                    <c:v>Hooghly</c:v>
                  </c:pt>
                  <c:pt idx="19">
                    <c:v>Howrah</c:v>
                  </c:pt>
                  <c:pt idx="20">
                    <c:v>Paschim Bardhaman</c:v>
                  </c:pt>
                  <c:pt idx="21">
                    <c:v>Darjeeling</c:v>
                  </c:pt>
                  <c:pt idx="22">
                    <c:v>Kolkata North</c:v>
                  </c:pt>
                  <c:pt idx="23">
                    <c:v>Kolkata South</c:v>
                  </c:pt>
                </c:lvl>
              </c:multiLvlStrCache>
            </c:multiLvlStrRef>
          </c:cat>
          <c:val>
            <c:numRef>
              <c:f>Sheet1!$B$2:$B$25</c:f>
              <c:numCache>
                <c:formatCode>General</c:formatCode>
                <c:ptCount val="24"/>
                <c:pt idx="0">
                  <c:v>48.7485</c:v>
                </c:pt>
                <c:pt idx="1">
                  <c:v>49.4388</c:v>
                </c:pt>
                <c:pt idx="2">
                  <c:v>49.4374</c:v>
                </c:pt>
                <c:pt idx="3">
                  <c:v>50.1827</c:v>
                </c:pt>
                <c:pt idx="4">
                  <c:v>49.596</c:v>
                </c:pt>
                <c:pt idx="5">
                  <c:v>50.665</c:v>
                </c:pt>
                <c:pt idx="6">
                  <c:v>48.2794</c:v>
                </c:pt>
                <c:pt idx="7">
                  <c:v>49.2108</c:v>
                </c:pt>
                <c:pt idx="8">
                  <c:v>49.5059</c:v>
                </c:pt>
                <c:pt idx="9">
                  <c:v>49.6688</c:v>
                </c:pt>
                <c:pt idx="10">
                  <c:v>49.2335</c:v>
                </c:pt>
                <c:pt idx="11">
                  <c:v>48.6366</c:v>
                </c:pt>
                <c:pt idx="12">
                  <c:v>49.7875</c:v>
                </c:pt>
                <c:pt idx="13">
                  <c:v>48.4692</c:v>
                </c:pt>
                <c:pt idx="14">
                  <c:v>48.9297</c:v>
                </c:pt>
                <c:pt idx="15">
                  <c:v>49.4772</c:v>
                </c:pt>
                <c:pt idx="16">
                  <c:v>49.4787</c:v>
                </c:pt>
                <c:pt idx="17">
                  <c:v>49.5075</c:v>
                </c:pt>
                <c:pt idx="18">
                  <c:v>49.7467</c:v>
                </c:pt>
                <c:pt idx="19">
                  <c:v>48.9431</c:v>
                </c:pt>
                <c:pt idx="20">
                  <c:v>49.0584</c:v>
                </c:pt>
                <c:pt idx="21">
                  <c:v>50.2763</c:v>
                </c:pt>
                <c:pt idx="22">
                  <c:v>45.8371</c:v>
                </c:pt>
                <c:pt idx="23">
                  <c:v>46.754</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Purba Bardhaman</c:v>
                  </c:pt>
                  <c:pt idx="17">
                    <c:v>Jalpaiguri</c:v>
                  </c:pt>
                  <c:pt idx="18">
                    <c:v>Hooghly</c:v>
                  </c:pt>
                  <c:pt idx="19">
                    <c:v>Howrah</c:v>
                  </c:pt>
                  <c:pt idx="20">
                    <c:v>Paschim Bardhaman</c:v>
                  </c:pt>
                  <c:pt idx="21">
                    <c:v>Darjeeling</c:v>
                  </c:pt>
                  <c:pt idx="22">
                    <c:v>Kolkata North</c:v>
                  </c:pt>
                  <c:pt idx="23">
                    <c:v>Kolkata South</c:v>
                  </c:pt>
                </c:lvl>
              </c:multiLvlStrCache>
            </c:multiLvlStrRef>
          </c:cat>
          <c:val>
            <c:numRef>
              <c:f>Sheet1!$C$2:$C$25</c:f>
              <c:numCache>
                <c:formatCode>General</c:formatCode>
                <c:ptCount val="24"/>
                <c:pt idx="0">
                  <c:v>67.658</c:v>
                </c:pt>
                <c:pt idx="1">
                  <c:v>62.0996</c:v>
                </c:pt>
                <c:pt idx="2">
                  <c:v>60.7145</c:v>
                </c:pt>
                <c:pt idx="3">
                  <c:v>60.906</c:v>
                </c:pt>
                <c:pt idx="4">
                  <c:v>58.5148</c:v>
                </c:pt>
                <c:pt idx="5">
                  <c:v>58.8193</c:v>
                </c:pt>
                <c:pt idx="6">
                  <c:v>55.2587</c:v>
                </c:pt>
                <c:pt idx="7">
                  <c:v>55.8047</c:v>
                </c:pt>
                <c:pt idx="8">
                  <c:v>55.3119</c:v>
                </c:pt>
                <c:pt idx="9">
                  <c:v>55.3583</c:v>
                </c:pt>
                <c:pt idx="10">
                  <c:v>54.7374</c:v>
                </c:pt>
                <c:pt idx="11">
                  <c:v>53.9667</c:v>
                </c:pt>
                <c:pt idx="12">
                  <c:v>54.2675</c:v>
                </c:pt>
                <c:pt idx="13">
                  <c:v>52.646</c:v>
                </c:pt>
                <c:pt idx="14">
                  <c:v>52.617</c:v>
                </c:pt>
                <c:pt idx="15">
                  <c:v>52.1132</c:v>
                </c:pt>
                <c:pt idx="16">
                  <c:v>52.0648</c:v>
                </c:pt>
                <c:pt idx="17">
                  <c:v>52.0911</c:v>
                </c:pt>
                <c:pt idx="18">
                  <c:v>51.5633</c:v>
                </c:pt>
                <c:pt idx="19">
                  <c:v>50.4159</c:v>
                </c:pt>
                <c:pt idx="20">
                  <c:v>50.316</c:v>
                </c:pt>
                <c:pt idx="21">
                  <c:v>50.245</c:v>
                </c:pt>
                <c:pt idx="22">
                  <c:v>38.6688</c:v>
                </c:pt>
                <c:pt idx="23">
                  <c:v>39.1943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70"/>
          <c:min val="3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Sheet1!$B$2:$B$13</c:f>
              <c:numCache>
                <c:formatCode>General</c:formatCode>
                <c:ptCount val="12"/>
                <c:pt idx="0">
                  <c:v>3.8051</c:v>
                </c:pt>
                <c:pt idx="1">
                  <c:v>6.3306</c:v>
                </c:pt>
                <c:pt idx="2">
                  <c:v>5.3416</c:v>
                </c:pt>
                <c:pt idx="3">
                  <c:v>5.1112</c:v>
                </c:pt>
                <c:pt idx="4">
                  <c:v>4.499</c:v>
                </c:pt>
                <c:pt idx="5">
                  <c:v>8.8869</c:v>
                </c:pt>
                <c:pt idx="6">
                  <c:v>4.1825</c:v>
                </c:pt>
                <c:pt idx="7">
                  <c:v>8.8084</c:v>
                </c:pt>
                <c:pt idx="8">
                  <c:v>2.948</c:v>
                </c:pt>
                <c:pt idx="9">
                  <c:v>5.8621</c:v>
                </c:pt>
                <c:pt idx="10">
                  <c:v>6.2629</c:v>
                </c:pt>
                <c:pt idx="11">
                  <c:v>5.0909</c:v>
                </c:pt>
              </c:numCache>
            </c:numRef>
          </c:val>
        </c:ser>
        <c:ser>
          <c:idx val="1"/>
          <c:order val="1"/>
          <c:tx>
            <c:strRef>
              <c:f>Sheet1!$C$1</c:f>
              <c:strCache>
                <c:ptCount val="1"/>
                <c:pt idx="0">
                  <c:v>At the election</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Sheet1!$C$2:$C$13</c:f>
              <c:numCache>
                <c:formatCode>General</c:formatCode>
                <c:ptCount val="12"/>
                <c:pt idx="0">
                  <c:v>11.8552</c:v>
                </c:pt>
                <c:pt idx="1">
                  <c:v>14.1908</c:v>
                </c:pt>
                <c:pt idx="2">
                  <c:v>12.2331</c:v>
                </c:pt>
                <c:pt idx="3">
                  <c:v>11.6296</c:v>
                </c:pt>
                <c:pt idx="4">
                  <c:v>10.1199</c:v>
                </c:pt>
                <c:pt idx="5">
                  <c:v>13.6976</c:v>
                </c:pt>
                <c:pt idx="6">
                  <c:v>8.9814</c:v>
                </c:pt>
                <c:pt idx="7">
                  <c:v>13.4993</c:v>
                </c:pt>
                <c:pt idx="8">
                  <c:v>7.5874</c:v>
                </c:pt>
                <c:pt idx="9">
                  <c:v>9.0927</c:v>
                </c:pt>
                <c:pt idx="10">
                  <c:v>9.3528</c:v>
                </c:pt>
                <c:pt idx="11">
                  <c:v>7.6653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155</c:v>
                </c:pt>
                <c:pt idx="1">
                  <c:v>61</c:v>
                </c:pt>
                <c:pt idx="2">
                  <c:v>54</c:v>
                </c:pt>
                <c:pt idx="3">
                  <c:v>11</c:v>
                </c:pt>
                <c:pt idx="4">
                  <c:v>13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in the roll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Adjudication means the names were kept off the final roll while judicial officers decided whether each elector was eligible. The names left off the draft and their reasons are published for the state only. Below the state the deck measures the fall in the roll from 2024, which takes in ordinary changes as well as the revision and is a different count from the names left off the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for every 100 people on the earlier roll, which lets places of different size be compared. The fall in the roll is the earlier roll less the later one, so it counts names left off or deleted less names added, ordinary deaths and moves included.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claim asks for a name to be added to the draft, and an objection asks for one to be deleted. From press note PN-05-2026 and the roll at the 2026 nominations. The bars start above zero so that the changes can be seen.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Judicial officers appointed on the Supreme Court's direction decided the cases, and their orders could be appealed to tribunals. These outcomes are as reported, and they are not published by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WEST BENGAL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58.2 lakh names off West Bengal's draft roll and held back 60.1 lakh more</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names left off by reason, the names held back for adjudication, and how much smaller each roll was at the 2026 election than in 2024</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58,20,899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names left off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60,06,675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held back for adjudication</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 of 294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seats where the roll fell by more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53.5%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of the names left off were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Adjudication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revision left 7.6 of every 100 electors off the draft, and held back 60.1 lakh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691640"/>
            <a:ext cx="11094415" cy="388620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58.2 lakh names were left off the draft roll, 7.6 of every 100 electors, and another 60.1 lakh were held back from the final roll for adjudication.</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In 139 of the 294 constituencies, the roll fell by more than the 2026 winning margin, large enough to decide the seat. At each seat's turnout the number is 132.</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53.5% of the names left off the draft, against 49.2% of the roll before it.</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held back, 27.2 lakh were found not eligible, as reported, and 1,607 were restored by appeal in time to vote.</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roll the election was held on was 77.6 lakh smaller than in 2024. Kolkata North's fell by 28.0 per 100.</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41.5% of the names left off were entered as dead, 34.2% as shifted and 21.0% as absent.</a:t>
            </a:r>
            <a:endParaRPr lang="en-US" sz="1500" dirty="0"/>
          </a:p>
        </p:txBody>
      </p:sp>
      <p:sp>
        <p:nvSpPr>
          <p:cNvPr id="48" name="Text 46"/>
          <p:cNvSpPr txBox="1"/>
          <p:nvPr/>
        </p:nvSpPr>
        <p:spPr>
          <a:xfrm>
            <a:off x="548640" y="5852160"/>
            <a:ext cx="11094415" cy="41148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The fall in the roll from 2024 includes ordinary changes as well as the revision.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from 7.66 crore to 6.45 crore at the final roll, and stood at 6.83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as the Chief Electoral Officer reported 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687320" y="2506494"/>
            <a:ext cx="647174" cy="3071346"/>
          </a:xfrm>
          <a:prstGeom prst="rect">
            <a:avLst/>
          </a:prstGeom>
          <a:solidFill>
            <a:srgbClr val="1F618D"/>
          </a:solidFill>
          <a:ln/>
        </p:spPr>
      </p:sp>
      <p:sp>
        <p:nvSpPr>
          <p:cNvPr id="48" name="Text 46"/>
          <p:cNvSpPr txBox="1"/>
          <p:nvPr/>
        </p:nvSpPr>
        <p:spPr>
          <a:xfrm>
            <a:off x="548640"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7,66,37,529</a:t>
            </a:r>
            <a:endParaRPr lang="en-US" sz="1000" dirty="0"/>
          </a:p>
        </p:txBody>
      </p:sp>
      <p:sp>
        <p:nvSpPr>
          <p:cNvPr id="49" name="Text 47"/>
          <p:cNvSpPr txBox="1"/>
          <p:nvPr/>
        </p:nvSpPr>
        <p:spPr>
          <a:xfrm>
            <a:off x="548640"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Oct 2025</a:t>
            </a:r>
            <a:endParaRPr lang="en-US" sz="1000" dirty="0"/>
          </a:p>
        </p:txBody>
      </p:sp>
      <p:sp>
        <p:nvSpPr>
          <p:cNvPr id="50" name="Shape 48"/>
          <p:cNvSpPr/>
          <p:nvPr/>
        </p:nvSpPr>
        <p:spPr>
          <a:xfrm>
            <a:off x="1611855" y="2506494"/>
            <a:ext cx="647174" cy="327906"/>
          </a:xfrm>
          <a:prstGeom prst="rect">
            <a:avLst/>
          </a:prstGeom>
          <a:solidFill>
            <a:srgbClr val="C0392B"/>
          </a:solidFill>
          <a:ln/>
        </p:spPr>
      </p:sp>
      <p:sp>
        <p:nvSpPr>
          <p:cNvPr id="51" name="Text 49"/>
          <p:cNvSpPr txBox="1"/>
          <p:nvPr/>
        </p:nvSpPr>
        <p:spPr>
          <a:xfrm>
            <a:off x="1473175"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−24,16,852</a:t>
            </a:r>
            <a:endParaRPr lang="en-US" sz="1000" dirty="0"/>
          </a:p>
        </p:txBody>
      </p:sp>
      <p:sp>
        <p:nvSpPr>
          <p:cNvPr id="52" name="Text 50"/>
          <p:cNvSpPr txBox="1"/>
          <p:nvPr/>
        </p:nvSpPr>
        <p:spPr>
          <a:xfrm>
            <a:off x="1473175"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2536389" y="2834400"/>
            <a:ext cx="647174" cy="269732"/>
          </a:xfrm>
          <a:prstGeom prst="rect">
            <a:avLst/>
          </a:prstGeom>
          <a:solidFill>
            <a:srgbClr val="C0392B"/>
          </a:solidFill>
          <a:ln/>
        </p:spPr>
      </p:sp>
      <p:sp>
        <p:nvSpPr>
          <p:cNvPr id="54" name="Text 52"/>
          <p:cNvSpPr txBox="1"/>
          <p:nvPr/>
        </p:nvSpPr>
        <p:spPr>
          <a:xfrm>
            <a:off x="2397709" y="2560080"/>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−19,88,076</a:t>
            </a:r>
            <a:endParaRPr lang="en-US" sz="1000" dirty="0"/>
          </a:p>
        </p:txBody>
      </p:sp>
      <p:sp>
        <p:nvSpPr>
          <p:cNvPr id="55" name="Text 53"/>
          <p:cNvSpPr txBox="1"/>
          <p:nvPr/>
        </p:nvSpPr>
        <p:spPr>
          <a:xfrm>
            <a:off x="2397709"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6" name="Shape 54"/>
          <p:cNvSpPr/>
          <p:nvPr/>
        </p:nvSpPr>
        <p:spPr>
          <a:xfrm>
            <a:off x="3460924" y="3104132"/>
            <a:ext cx="647174" cy="165529"/>
          </a:xfrm>
          <a:prstGeom prst="rect">
            <a:avLst/>
          </a:prstGeom>
          <a:solidFill>
            <a:srgbClr val="C0392B"/>
          </a:solidFill>
          <a:ln/>
        </p:spPr>
      </p:sp>
      <p:sp>
        <p:nvSpPr>
          <p:cNvPr id="57" name="Text 55"/>
          <p:cNvSpPr txBox="1"/>
          <p:nvPr/>
        </p:nvSpPr>
        <p:spPr>
          <a:xfrm>
            <a:off x="3322244" y="2829812"/>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−12,20,039</a:t>
            </a:r>
            <a:endParaRPr lang="en-US" sz="1000" dirty="0"/>
          </a:p>
        </p:txBody>
      </p:sp>
      <p:sp>
        <p:nvSpPr>
          <p:cNvPr id="58" name="Text 56"/>
          <p:cNvSpPr txBox="1"/>
          <p:nvPr/>
        </p:nvSpPr>
        <p:spPr>
          <a:xfrm>
            <a:off x="3322244"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4385459" y="3269661"/>
            <a:ext cx="647174" cy="26583"/>
          </a:xfrm>
          <a:prstGeom prst="rect">
            <a:avLst/>
          </a:prstGeom>
          <a:solidFill>
            <a:srgbClr val="C0392B"/>
          </a:solidFill>
          <a:ln/>
        </p:spPr>
      </p:sp>
      <p:sp>
        <p:nvSpPr>
          <p:cNvPr id="60" name="Text 58"/>
          <p:cNvSpPr txBox="1"/>
          <p:nvPr/>
        </p:nvSpPr>
        <p:spPr>
          <a:xfrm>
            <a:off x="4246778" y="299534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−1,95,932</a:t>
            </a:r>
            <a:endParaRPr lang="en-US" sz="1000" dirty="0"/>
          </a:p>
        </p:txBody>
      </p:sp>
      <p:sp>
        <p:nvSpPr>
          <p:cNvPr id="61" name="Text 59"/>
          <p:cNvSpPr txBox="1"/>
          <p:nvPr/>
        </p:nvSpPr>
        <p:spPr>
          <a:xfrm>
            <a:off x="424677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elsewhere and other</a:t>
            </a:r>
            <a:endParaRPr lang="en-US" sz="1000" dirty="0"/>
          </a:p>
        </p:txBody>
      </p:sp>
      <p:sp>
        <p:nvSpPr>
          <p:cNvPr id="62" name="Shape 60"/>
          <p:cNvSpPr/>
          <p:nvPr/>
        </p:nvSpPr>
        <p:spPr>
          <a:xfrm>
            <a:off x="5309993" y="3296244"/>
            <a:ext cx="647174" cy="2281596"/>
          </a:xfrm>
          <a:prstGeom prst="rect">
            <a:avLst/>
          </a:prstGeom>
          <a:solidFill>
            <a:srgbClr val="1F618D"/>
          </a:solidFill>
          <a:ln/>
        </p:spPr>
      </p:sp>
      <p:sp>
        <p:nvSpPr>
          <p:cNvPr id="63" name="Text 61"/>
          <p:cNvSpPr txBox="1"/>
          <p:nvPr/>
        </p:nvSpPr>
        <p:spPr>
          <a:xfrm>
            <a:off x="5171313" y="302192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7,08,16,630</a:t>
            </a:r>
            <a:endParaRPr lang="en-US" sz="1000" dirty="0"/>
          </a:p>
        </p:txBody>
      </p:sp>
      <p:sp>
        <p:nvSpPr>
          <p:cNvPr id="64" name="Text 62"/>
          <p:cNvSpPr txBox="1"/>
          <p:nvPr/>
        </p:nvSpPr>
        <p:spPr>
          <a:xfrm>
            <a:off x="5171313"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5" name="Shape 63"/>
          <p:cNvSpPr/>
          <p:nvPr/>
        </p:nvSpPr>
        <p:spPr>
          <a:xfrm>
            <a:off x="6234528" y="3270641"/>
            <a:ext cx="647174" cy="25603"/>
          </a:xfrm>
          <a:prstGeom prst="rect">
            <a:avLst/>
          </a:prstGeom>
          <a:solidFill>
            <a:srgbClr val="17A589"/>
          </a:solidFill>
          <a:ln/>
        </p:spPr>
      </p:sp>
      <p:sp>
        <p:nvSpPr>
          <p:cNvPr id="66" name="Text 64"/>
          <p:cNvSpPr txBox="1"/>
          <p:nvPr/>
        </p:nvSpPr>
        <p:spPr>
          <a:xfrm>
            <a:off x="6095848"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+1,88,707</a:t>
            </a:r>
            <a:endParaRPr lang="en-US" sz="1000" dirty="0"/>
          </a:p>
        </p:txBody>
      </p:sp>
      <p:sp>
        <p:nvSpPr>
          <p:cNvPr id="67" name="Text 65"/>
          <p:cNvSpPr txBox="1"/>
          <p:nvPr/>
        </p:nvSpPr>
        <p:spPr>
          <a:xfrm>
            <a:off x="609584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Added on claims</a:t>
            </a:r>
            <a:endParaRPr lang="en-US" sz="1000" dirty="0"/>
          </a:p>
        </p:txBody>
      </p:sp>
      <p:sp>
        <p:nvSpPr>
          <p:cNvPr id="68" name="Shape 66"/>
          <p:cNvSpPr/>
          <p:nvPr/>
        </p:nvSpPr>
        <p:spPr>
          <a:xfrm>
            <a:off x="7159062" y="3270641"/>
            <a:ext cx="647174" cy="74086"/>
          </a:xfrm>
          <a:prstGeom prst="rect">
            <a:avLst/>
          </a:prstGeom>
          <a:solidFill>
            <a:srgbClr val="C0392B"/>
          </a:solidFill>
          <a:ln/>
        </p:spPr>
      </p:sp>
      <p:sp>
        <p:nvSpPr>
          <p:cNvPr id="69" name="Text 67"/>
          <p:cNvSpPr txBox="1"/>
          <p:nvPr/>
        </p:nvSpPr>
        <p:spPr>
          <a:xfrm>
            <a:off x="7020382"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−5,46,053</a:t>
            </a:r>
            <a:endParaRPr lang="en-US" sz="1000" dirty="0"/>
          </a:p>
        </p:txBody>
      </p:sp>
      <p:sp>
        <p:nvSpPr>
          <p:cNvPr id="70" name="Text 68"/>
          <p:cNvSpPr txBox="1"/>
          <p:nvPr/>
        </p:nvSpPr>
        <p:spPr>
          <a:xfrm>
            <a:off x="7020382"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Deleted on objections</a:t>
            </a:r>
            <a:endParaRPr lang="en-US" sz="1000" dirty="0"/>
          </a:p>
        </p:txBody>
      </p:sp>
      <p:sp>
        <p:nvSpPr>
          <p:cNvPr id="71" name="Shape 69"/>
          <p:cNvSpPr/>
          <p:nvPr/>
        </p:nvSpPr>
        <p:spPr>
          <a:xfrm>
            <a:off x="8083597" y="3344727"/>
            <a:ext cx="647174" cy="814955"/>
          </a:xfrm>
          <a:prstGeom prst="rect">
            <a:avLst/>
          </a:prstGeom>
          <a:solidFill>
            <a:srgbClr val="C0392B"/>
          </a:solidFill>
          <a:ln/>
        </p:spPr>
      </p:sp>
      <p:sp>
        <p:nvSpPr>
          <p:cNvPr id="72" name="Text 70"/>
          <p:cNvSpPr txBox="1"/>
          <p:nvPr/>
        </p:nvSpPr>
        <p:spPr>
          <a:xfrm>
            <a:off x="7944917" y="3070407"/>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−60,06,675</a:t>
            </a:r>
            <a:endParaRPr lang="en-US" sz="1000" dirty="0"/>
          </a:p>
        </p:txBody>
      </p:sp>
      <p:sp>
        <p:nvSpPr>
          <p:cNvPr id="73" name="Text 71"/>
          <p:cNvSpPr txBox="1"/>
          <p:nvPr/>
        </p:nvSpPr>
        <p:spPr>
          <a:xfrm>
            <a:off x="7944917"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Held back</a:t>
            </a:r>
            <a:endParaRPr lang="en-US" sz="1000" dirty="0"/>
          </a:p>
        </p:txBody>
      </p:sp>
      <p:sp>
        <p:nvSpPr>
          <p:cNvPr id="74" name="Shape 72"/>
          <p:cNvSpPr/>
          <p:nvPr/>
        </p:nvSpPr>
        <p:spPr>
          <a:xfrm>
            <a:off x="9008132" y="4159683"/>
            <a:ext cx="647174" cy="1418157"/>
          </a:xfrm>
          <a:prstGeom prst="rect">
            <a:avLst/>
          </a:prstGeom>
          <a:solidFill>
            <a:srgbClr val="1F618D"/>
          </a:solidFill>
          <a:ln/>
        </p:spPr>
      </p:sp>
      <p:sp>
        <p:nvSpPr>
          <p:cNvPr id="75" name="Text 73"/>
          <p:cNvSpPr txBox="1"/>
          <p:nvPr/>
        </p:nvSpPr>
        <p:spPr>
          <a:xfrm>
            <a:off x="8869451" y="3885363"/>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6,44,52,609</a:t>
            </a:r>
            <a:endParaRPr lang="en-US" sz="1000" dirty="0"/>
          </a:p>
        </p:txBody>
      </p:sp>
      <p:sp>
        <p:nvSpPr>
          <p:cNvPr id="76" name="Text 74"/>
          <p:cNvSpPr txBox="1"/>
          <p:nvPr/>
        </p:nvSpPr>
        <p:spPr>
          <a:xfrm>
            <a:off x="886945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7" name="Shape 75"/>
          <p:cNvSpPr/>
          <p:nvPr/>
        </p:nvSpPr>
        <p:spPr>
          <a:xfrm>
            <a:off x="9932666" y="3644335"/>
            <a:ext cx="647174" cy="515348"/>
          </a:xfrm>
          <a:prstGeom prst="rect">
            <a:avLst/>
          </a:prstGeom>
          <a:solidFill>
            <a:srgbClr val="17A589"/>
          </a:solidFill>
          <a:ln/>
        </p:spPr>
      </p:sp>
      <p:sp>
        <p:nvSpPr>
          <p:cNvPr id="78" name="Text 76"/>
          <p:cNvSpPr txBox="1"/>
          <p:nvPr/>
        </p:nvSpPr>
        <p:spPr>
          <a:xfrm>
            <a:off x="9793986"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+37,98,399</a:t>
            </a:r>
            <a:endParaRPr lang="en-US" sz="1000" dirty="0"/>
          </a:p>
        </p:txBody>
      </p:sp>
      <p:sp>
        <p:nvSpPr>
          <p:cNvPr id="79" name="Text 77"/>
          <p:cNvSpPr txBox="1"/>
          <p:nvPr/>
        </p:nvSpPr>
        <p:spPr>
          <a:xfrm>
            <a:off x="9793986"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a:t>
            </a:r>
            <a:endParaRPr lang="en-US" sz="1000" dirty="0"/>
          </a:p>
        </p:txBody>
      </p:sp>
      <p:sp>
        <p:nvSpPr>
          <p:cNvPr id="80" name="Shape 78"/>
          <p:cNvSpPr/>
          <p:nvPr/>
        </p:nvSpPr>
        <p:spPr>
          <a:xfrm>
            <a:off x="10857201" y="3644335"/>
            <a:ext cx="647174" cy="1933505"/>
          </a:xfrm>
          <a:prstGeom prst="rect">
            <a:avLst/>
          </a:prstGeom>
          <a:solidFill>
            <a:srgbClr val="1F618D"/>
          </a:solidFill>
          <a:ln/>
        </p:spPr>
      </p:sp>
      <p:sp>
        <p:nvSpPr>
          <p:cNvPr id="81" name="Text 79"/>
          <p:cNvSpPr txBox="1"/>
          <p:nvPr/>
        </p:nvSpPr>
        <p:spPr>
          <a:xfrm>
            <a:off x="10718521"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6,82,51,008</a:t>
            </a:r>
            <a:endParaRPr lang="en-US" sz="1000" dirty="0"/>
          </a:p>
        </p:txBody>
      </p:sp>
      <p:sp>
        <p:nvSpPr>
          <p:cNvPr id="82" name="Text 80"/>
          <p:cNvSpPr txBox="1"/>
          <p:nvPr/>
        </p:nvSpPr>
        <p:spPr>
          <a:xfrm>
            <a:off x="1071852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at the nominations</a:t>
            </a:r>
            <a:endParaRPr lang="en-US" sz="1000" dirty="0"/>
          </a:p>
        </p:txBody>
      </p:sp>
      <p:sp>
        <p:nvSpPr>
          <p:cNvPr id="83" name="Shape 81"/>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ADJUDICATION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Of the 60.1 lakh names held back, 27.2 lakh were found not eligible, as reported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Election Commission's figures as reported, for the state as a whole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280160"/>
          </a:xfrm>
          <a:prstGeom prst="roundRect">
            <a:avLst>
              <a:gd name="adj" fmla="val 5714"/>
            </a:avLst>
          </a:prstGeom>
          <a:solidFill>
            <a:srgbClr val="F4F6F7"/>
          </a:solidFill>
          <a:ln/>
        </p:spPr>
      </p:sp>
      <p:sp>
        <p:nvSpPr>
          <p:cNvPr id="49" name="Text 46"/>
          <p:cNvSpPr txBox="1"/>
          <p:nvPr/>
        </p:nvSpPr>
        <p:spPr>
          <a:xfrm>
            <a:off x="8092440" y="202996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1,607</a:t>
            </a:r>
            <a:endParaRPr lang="en-US" sz="2800" dirty="0"/>
          </a:p>
        </p:txBody>
      </p:sp>
      <p:sp>
        <p:nvSpPr>
          <p:cNvPr id="50" name="Text 47"/>
          <p:cNvSpPr txBox="1"/>
          <p:nvPr/>
        </p:nvSpPr>
        <p:spPr>
          <a:xfrm>
            <a:off x="8092440" y="266273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restored by the tribunals in time to vote</a:t>
            </a:r>
            <a:endParaRPr lang="en-US" sz="1200" dirty="0"/>
          </a:p>
        </p:txBody>
      </p:sp>
      <p:sp>
        <p:nvSpPr>
          <p:cNvPr id="51" name="Shape 48"/>
          <p:cNvSpPr/>
          <p:nvPr/>
        </p:nvSpPr>
        <p:spPr>
          <a:xfrm>
            <a:off x="7909560" y="3429000"/>
            <a:ext cx="3733495" cy="1280160"/>
          </a:xfrm>
          <a:prstGeom prst="roundRect">
            <a:avLst>
              <a:gd name="adj" fmla="val 5714"/>
            </a:avLst>
          </a:prstGeom>
          <a:solidFill>
            <a:srgbClr val="F4F6F7"/>
          </a:solidFill>
          <a:ln/>
        </p:spPr>
      </p:sp>
      <p:sp>
        <p:nvSpPr>
          <p:cNvPr id="52" name="Text 49"/>
          <p:cNvSpPr txBox="1"/>
          <p:nvPr/>
        </p:nvSpPr>
        <p:spPr>
          <a:xfrm>
            <a:off x="8092440" y="353872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16.1 lakh</a:t>
            </a:r>
            <a:endParaRPr lang="en-US" sz="2800" dirty="0"/>
          </a:p>
        </p:txBody>
      </p:sp>
      <p:sp>
        <p:nvSpPr>
          <p:cNvPr id="53" name="Text 50"/>
          <p:cNvSpPr txBox="1"/>
          <p:nvPr/>
        </p:nvSpPr>
        <p:spPr>
          <a:xfrm>
            <a:off x="8092440" y="417149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appeals against names the judicial officers kept</a:t>
            </a:r>
            <a:endParaRPr lang="en-US" sz="1200" dirty="0"/>
          </a:p>
        </p:txBody>
      </p:sp>
      <p:sp>
        <p:nvSpPr>
          <p:cNvPr id="54" name="Shape 51"/>
          <p:cNvSpPr/>
          <p:nvPr/>
        </p:nvSpPr>
        <p:spPr>
          <a:xfrm>
            <a:off x="7909560" y="4937760"/>
            <a:ext cx="3733495" cy="1280160"/>
          </a:xfrm>
          <a:prstGeom prst="roundRect">
            <a:avLst>
              <a:gd name="adj" fmla="val 5714"/>
            </a:avLst>
          </a:prstGeom>
          <a:solidFill>
            <a:srgbClr val="F4F6F7"/>
          </a:solidFill>
          <a:ln/>
        </p:spPr>
      </p:sp>
      <p:sp>
        <p:nvSpPr>
          <p:cNvPr id="55" name="Text 52"/>
          <p:cNvSpPr txBox="1"/>
          <p:nvPr/>
        </p:nvSpPr>
        <p:spPr>
          <a:xfrm>
            <a:off x="8092440" y="504748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96.7%</a:t>
            </a:r>
            <a:endParaRPr lang="en-US" sz="2800" dirty="0"/>
          </a:p>
        </p:txBody>
      </p:sp>
      <p:sp>
        <p:nvSpPr>
          <p:cNvPr id="56" name="Text 53"/>
          <p:cNvSpPr txBox="1"/>
          <p:nvPr/>
        </p:nvSpPr>
        <p:spPr>
          <a:xfrm>
            <a:off x="8092440" y="568025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all appeals undecided on 16 September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10.2 per 100 from 2024 to the election, and by 28.0 in Kolkata North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the 2024 Lok Sabha nominations to the 2026 nominations, per 100 electors on the 2024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count of the names left off the draft is published below the state, so this is the fall in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It takes in eighteen months of ordinary changes, and the 2024 roll was 6.3 lakh smaller than the roll the revision started from.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Purbo Medinipur fell the least, 1.6.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42% of the names left off were entered as dead, 34% as shifted and 21%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by the reason entered, for the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reasons are published for the state only, so no district or constituency figure can be split by reason.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Women were 53.5% of the names left off the draft, against 49.2%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2024 roll and of the fall in the roll,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From 2024 to the election women were 52.6% of the fall in the roll and 49.2% of the 2024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They were more than their share in 21 of the 24 districts.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North and Kolkata South men were the larger part of the fall.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Most of the fall in Murshidabad, Uttar Dinajpur and Dakshin Dinajpur came after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electors on the 2024 roll, at the draft and at the election, the twelve districts where it grew most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60.1 lakh names held back are counted for the state only.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This gap is the nearest the published tables come to showing where they fell, and it is not a count of them.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almost all of the fall was already in the draft.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139 of 294 constituencies, the roll fell by more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from 2024 to the election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fall was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counts the dead and ordinary changes too.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Counted at each seat's own turnout, the fall still exceeds the margin in 132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 of 294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139 of 294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132 of 294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None of the three separates the names entered as dead, because the reasons are published for the state only. In the other 162 seats, the runner-up could not have won even if every elector missing from the roll had voted for the runner-up at the seat's turnout.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9.4 per 100 in BJP seats and 12.4 in AITC seats, and against their own districts they differ by 0.2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AITC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AJUP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ISF</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BJP won 208 seats and the AITC 80.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 two come out at +0.0 and +0.2, so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fall exceeded the margin in 93 BJP seats and 44 AITC seats.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1F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names left off and held back for the state as a whole, by reason and by sex, and how much smaller every constituency's roll was at the 2026 election than in 2024.</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1F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district or constituency, or why. Where the names held back were. Whether each name was rightly left off or deleted, or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adjudication outcomes are the Election Commission's figures as reported. A reason on the list is what the officer wrote down, and nobody checked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the names left off and adjudication where they happened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adjudication by district and constituency, in full.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Decide the 37.1 lakh appeals still pending, and publish what each decision restored or deleted.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Account for the 22,163 cases missing from the reported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after the draft had been left off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state's revision is from the Chief Electoral Officer's press note PN-05-2026, whose figures add up step by step.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rolls at the 2024 Lok Sabha nominations, the draft of 16 December 2025 and the 2026 nominations are the Chief Electoral Officer's tables by constituency and sex. The fall between them is never called the names left off.</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adjudication outcomes and appeals are the Election Commission's figures as the press reported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with Falta's from its re-poll. Each seat's fall is also set against its own district's.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West Bengal SIR 2026</dc:title>
  <dc:subject>PptxGenJS Presentation</dc:subject>
  <dc:creator>ImpactMojo</dc:creator>
  <cp:lastModifiedBy>ImpactMojo</cp:lastModifiedBy>
  <cp:revision>1</cp:revision>
  <dcterms:created xsi:type="dcterms:W3CDTF">2026-10-14T06:30:49Z</dcterms:created>
  <dcterms:modified xsi:type="dcterms:W3CDTF">2026-10-14T06:30:49Z</dcterms:modified>
</cp:coreProperties>
</file>