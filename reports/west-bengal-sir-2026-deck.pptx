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9.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10.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1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Names</c:v>
                </c:pt>
              </c:strCache>
            </c:strRef>
          </c:tx>
          <c:spPr>
            <a:solidFill>
              <a:srgbClr val="17A589"/>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17A589"/>
              </a:solidFill>
              <a:effectLst/>
            </c:spPr>
          </c:dPt>
          <c:dPt>
            <c:idx val="1"/>
            <c:invertIfNegative val="0"/>
            <c:bubble3D val="0"/>
            <c:spPr>
              <a:solidFill>
                <a:srgbClr val="D4AC0D"/>
              </a:solidFill>
              <a:effectLst/>
            </c:spPr>
          </c:dPt>
          <c:dPt>
            <c:idx val="2"/>
            <c:invertIfNegative val="0"/>
            <c:bubble3D val="0"/>
            <c:spPr>
              <a:solidFill>
                <a:srgbClr val="C0392B"/>
              </a:solidFill>
              <a:effectLst/>
            </c:spPr>
          </c:dPt>
          <c:dPt>
            <c:idx val="3"/>
            <c:invertIfNegative val="0"/>
            <c:bubble3D val="0"/>
            <c:spPr>
              <a:solidFill>
                <a:srgbClr val="95A5A6"/>
              </a:solidFill>
              <a:effectLst/>
            </c:spPr>
          </c:dPt>
          <c:cat>
            <c:multiLvlStrRef>
              <c:f>Sheet1!$A$2:$A$5</c:f>
              <c:multiLvlStrCache>
                <c:ptCount val="4"/>
                <c:lvl>
                  <c:pt idx="0">
                    <c:v>Found eligible</c:v>
                  </c:pt>
                  <c:pt idx="1">
                    <c:v>Not eligible, appealed</c:v>
                  </c:pt>
                  <c:pt idx="2">
                    <c:v>Not eligible, no appeal</c:v>
                  </c:pt>
                  <c:pt idx="3">
                    <c:v>Not accounted for</c:v>
                  </c:pt>
                </c:lvl>
              </c:multiLvlStrCache>
            </c:multiLvlStrRef>
          </c:cat>
          <c:val>
            <c:numRef>
              <c:f>Sheet1!$B$2:$B$5</c:f>
              <c:numCache>
                <c:formatCode>General</c:formatCode>
                <c:ptCount val="4"/>
                <c:pt idx="0">
                  <c:v>3268119</c:v>
                </c:pt>
                <c:pt idx="1">
                  <c:v>2221118</c:v>
                </c:pt>
                <c:pt idx="2">
                  <c:v>495275</c:v>
                </c:pt>
                <c:pt idx="3">
                  <c:v>22163</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Fall per 100</c:v>
                </c:pt>
              </c:strCache>
            </c:strRef>
          </c:tx>
          <c:spPr>
            <a:solidFill>
              <a:srgbClr val="C0392B"/>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1F618D"/>
              </a:solidFill>
              <a:effectLst/>
            </c:spPr>
          </c:dPt>
          <c:dPt>
            <c:idx val="3"/>
            <c:invertIfNegative val="0"/>
            <c:bubble3D val="0"/>
            <c:spPr>
              <a:solidFill>
                <a:srgbClr val="1F618D"/>
              </a:solidFill>
              <a:effectLst/>
            </c:spPr>
          </c:dPt>
          <c:dPt>
            <c:idx val="4"/>
            <c:invertIfNegative val="0"/>
            <c:bubble3D val="0"/>
            <c:spPr>
              <a:solidFill>
                <a:srgbClr val="1F618D"/>
              </a:solidFill>
              <a:effectLst/>
            </c:spPr>
          </c:dPt>
          <c:dPt>
            <c:idx val="5"/>
            <c:invertIfNegative val="0"/>
            <c:bubble3D val="0"/>
            <c:spPr>
              <a:solidFill>
                <a:srgbClr val="1F618D"/>
              </a:solidFill>
              <a:effectLst/>
            </c:spPr>
          </c:dPt>
          <c:dPt>
            <c:idx val="6"/>
            <c:invertIfNegative val="0"/>
            <c:bubble3D val="0"/>
            <c:spPr>
              <a:solidFill>
                <a:srgbClr val="1F618D"/>
              </a:solidFill>
              <a:effectLst/>
            </c:spPr>
          </c:dPt>
          <c:dPt>
            <c:idx val="7"/>
            <c:invertIfNegative val="0"/>
            <c:bubble3D val="0"/>
            <c:spPr>
              <a:solidFill>
                <a:srgbClr val="1F618D"/>
              </a:solidFill>
              <a:effectLst/>
            </c:spPr>
          </c:dPt>
          <c:dPt>
            <c:idx val="8"/>
            <c:invertIfNegative val="0"/>
            <c:bubble3D val="0"/>
            <c:spPr>
              <a:solidFill>
                <a:srgbClr val="1F618D"/>
              </a:solidFill>
              <a:effectLst/>
            </c:spPr>
          </c:dPt>
          <c:dPt>
            <c:idx val="9"/>
            <c:invertIfNegative val="0"/>
            <c:bubble3D val="0"/>
            <c:spPr>
              <a:solidFill>
                <a:srgbClr val="1F618D"/>
              </a:solidFill>
              <a:effectLst/>
            </c:spPr>
          </c:dPt>
          <c:dPt>
            <c:idx val="10"/>
            <c:invertIfNegative val="0"/>
            <c:bubble3D val="0"/>
            <c:spPr>
              <a:solidFill>
                <a:srgbClr val="1F618D"/>
              </a:solidFill>
              <a:effectLst/>
            </c:spPr>
          </c:dPt>
          <c:dPt>
            <c:idx val="11"/>
            <c:invertIfNegative val="0"/>
            <c:bubble3D val="0"/>
            <c:spPr>
              <a:solidFill>
                <a:srgbClr val="1F618D"/>
              </a:solidFill>
              <a:effectLst/>
            </c:spPr>
          </c:dPt>
          <c:dPt>
            <c:idx val="12"/>
            <c:invertIfNegative val="0"/>
            <c:bubble3D val="0"/>
            <c:spPr>
              <a:solidFill>
                <a:srgbClr val="1F618D"/>
              </a:solidFill>
              <a:effectLst/>
            </c:spPr>
          </c:dPt>
          <c:dPt>
            <c:idx val="13"/>
            <c:invertIfNegative val="0"/>
            <c:bubble3D val="0"/>
            <c:spPr>
              <a:solidFill>
                <a:srgbClr val="1F618D"/>
              </a:solidFill>
              <a:effectLst/>
            </c:spPr>
          </c:dPt>
          <c:dPt>
            <c:idx val="14"/>
            <c:invertIfNegative val="0"/>
            <c:bubble3D val="0"/>
            <c:spPr>
              <a:solidFill>
                <a:srgbClr val="1F618D"/>
              </a:solidFill>
              <a:effectLst/>
            </c:spPr>
          </c:dPt>
          <c:dPt>
            <c:idx val="15"/>
            <c:invertIfNegative val="0"/>
            <c:bubble3D val="0"/>
            <c:spPr>
              <a:solidFill>
                <a:srgbClr val="1F618D"/>
              </a:solidFill>
              <a:effectLst/>
            </c:spPr>
          </c:dPt>
          <c:dPt>
            <c:idx val="16"/>
            <c:invertIfNegative val="0"/>
            <c:bubble3D val="0"/>
            <c:spPr>
              <a:solidFill>
                <a:srgbClr val="1F618D"/>
              </a:solidFill>
              <a:effectLst/>
            </c:spPr>
          </c:dPt>
          <c:dPt>
            <c:idx val="17"/>
            <c:invertIfNegative val="0"/>
            <c:bubble3D val="0"/>
            <c:spPr>
              <a:solidFill>
                <a:srgbClr val="1F618D"/>
              </a:solidFill>
              <a:effectLst/>
            </c:spPr>
          </c:dPt>
          <c:dPt>
            <c:idx val="18"/>
            <c:invertIfNegative val="0"/>
            <c:bubble3D val="0"/>
            <c:spPr>
              <a:solidFill>
                <a:srgbClr val="1F618D"/>
              </a:solidFill>
              <a:effectLst/>
            </c:spPr>
          </c:dPt>
          <c:dPt>
            <c:idx val="19"/>
            <c:invertIfNegative val="0"/>
            <c:bubble3D val="0"/>
            <c:spPr>
              <a:solidFill>
                <a:srgbClr val="1F618D"/>
              </a:solidFill>
              <a:effectLst/>
            </c:spPr>
          </c:dPt>
          <c:dPt>
            <c:idx val="20"/>
            <c:invertIfNegative val="0"/>
            <c:bubble3D val="0"/>
            <c:spPr>
              <a:solidFill>
                <a:srgbClr val="1F618D"/>
              </a:solidFill>
              <a:effectLst/>
            </c:spPr>
          </c:dPt>
          <c:dPt>
            <c:idx val="21"/>
            <c:invertIfNegative val="0"/>
            <c:bubble3D val="0"/>
            <c:spPr>
              <a:solidFill>
                <a:srgbClr val="1F618D"/>
              </a:solidFill>
              <a:effectLst/>
            </c:spPr>
          </c:dPt>
          <c:dPt>
            <c:idx val="22"/>
            <c:invertIfNegative val="0"/>
            <c:bubble3D val="0"/>
            <c:spPr>
              <a:solidFill>
                <a:srgbClr val="1F618D"/>
              </a:solidFill>
              <a:effectLst/>
            </c:spPr>
          </c:dPt>
          <c:dPt>
            <c:idx val="23"/>
            <c:invertIfNegative val="0"/>
            <c:bubble3D val="0"/>
            <c:spPr>
              <a:solidFill>
                <a:srgbClr val="1F618D"/>
              </a:solidFill>
              <a:effectLst/>
            </c:spPr>
          </c:dPt>
          <c:cat>
            <c:multiLvlStrRef>
              <c:f>Sheet1!$A$2:$A$25</c:f>
              <c:multiLvlStrCache>
                <c:ptCount val="24"/>
                <c:lvl>
                  <c:pt idx="0">
                    <c:v>Kolkata North</c:v>
                  </c:pt>
                  <c:pt idx="1">
                    <c:v>Kolkata South</c:v>
                  </c:pt>
                  <c:pt idx="2">
                    <c:v>Paschim Bardhaman</c:v>
                  </c:pt>
                  <c:pt idx="3">
                    <c:v>Uttar Dinajpur</c:v>
                  </c:pt>
                  <c:pt idx="4">
                    <c:v>North 24 Parganas</c:v>
                  </c:pt>
                  <c:pt idx="5">
                    <c:v>Darjeeling</c:v>
                  </c:pt>
                  <c:pt idx="6">
                    <c:v>Howrah</c:v>
                  </c:pt>
                  <c:pt idx="7">
                    <c:v>Dakshin Dinajpur</c:v>
                  </c:pt>
                  <c:pt idx="8">
                    <c:v>Murshidabad</c:v>
                  </c:pt>
                  <c:pt idx="9">
                    <c:v>Malda</c:v>
                  </c:pt>
                  <c:pt idx="10">
                    <c:v>South 24 Parganas</c:v>
                  </c:pt>
                  <c:pt idx="11">
                    <c:v>Nadia</c:v>
                  </c:pt>
                  <c:pt idx="12">
                    <c:v>Alipurduar</c:v>
                  </c:pt>
                  <c:pt idx="13">
                    <c:v>Jalpaiguri</c:v>
                  </c:pt>
                  <c:pt idx="14">
                    <c:v>Purba Bardhaman</c:v>
                  </c:pt>
                  <c:pt idx="15">
                    <c:v>Hooghly</c:v>
                  </c:pt>
                  <c:pt idx="16">
                    <c:v>Kalimpong</c:v>
                  </c:pt>
                  <c:pt idx="17">
                    <c:v>Birbhum</c:v>
                  </c:pt>
                  <c:pt idx="18">
                    <c:v>Coochbehar</c:v>
                  </c:pt>
                  <c:pt idx="19">
                    <c:v>Purulia</c:v>
                  </c:pt>
                  <c:pt idx="20">
                    <c:v>Paschim Medinipur</c:v>
                  </c:pt>
                  <c:pt idx="21">
                    <c:v>Jhargram</c:v>
                  </c:pt>
                  <c:pt idx="22">
                    <c:v>Bankura</c:v>
                  </c:pt>
                  <c:pt idx="23">
                    <c:v>Purbo Medinipur</c:v>
                  </c:pt>
                </c:lvl>
              </c:multiLvlStrCache>
            </c:multiLvlStrRef>
          </c:cat>
          <c:val>
            <c:numRef>
              <c:f>Sheet1!$B$2:$B$25</c:f>
              <c:numCache>
                <c:formatCode>General</c:formatCode>
                <c:ptCount val="24"/>
                <c:pt idx="0">
                  <c:v>27.98</c:v>
                </c:pt>
                <c:pt idx="1">
                  <c:v>24.54</c:v>
                </c:pt>
                <c:pt idx="2">
                  <c:v>14.97</c:v>
                </c:pt>
                <c:pt idx="3">
                  <c:v>14.19</c:v>
                </c:pt>
                <c:pt idx="4">
                  <c:v>13.7</c:v>
                </c:pt>
                <c:pt idx="5">
                  <c:v>13.5</c:v>
                </c:pt>
                <c:pt idx="6">
                  <c:v>12.39</c:v>
                </c:pt>
                <c:pt idx="7">
                  <c:v>12.23</c:v>
                </c:pt>
                <c:pt idx="8">
                  <c:v>11.86</c:v>
                </c:pt>
                <c:pt idx="9">
                  <c:v>11.63</c:v>
                </c:pt>
                <c:pt idx="10">
                  <c:v>10.84</c:v>
                </c:pt>
                <c:pt idx="11">
                  <c:v>10.12</c:v>
                </c:pt>
                <c:pt idx="12">
                  <c:v>9.35</c:v>
                </c:pt>
                <c:pt idx="13">
                  <c:v>9.09</c:v>
                </c:pt>
                <c:pt idx="14">
                  <c:v>8.98</c:v>
                </c:pt>
                <c:pt idx="15">
                  <c:v>8.55</c:v>
                </c:pt>
                <c:pt idx="16">
                  <c:v>7.73</c:v>
                </c:pt>
                <c:pt idx="17">
                  <c:v>7.67</c:v>
                </c:pt>
                <c:pt idx="18">
                  <c:v>7.59</c:v>
                </c:pt>
                <c:pt idx="19">
                  <c:v>5.88</c:v>
                </c:pt>
                <c:pt idx="20">
                  <c:v>5.33</c:v>
                </c:pt>
                <c:pt idx="21">
                  <c:v>4.69</c:v>
                </c:pt>
                <c:pt idx="22">
                  <c:v>3.08</c:v>
                </c:pt>
                <c:pt idx="23">
                  <c:v>1.64</c:v>
                </c:pt>
              </c:numCache>
            </c:numRef>
          </c:val>
        </c:ser>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Names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1F618D"/>
              </a:solidFill>
              <a:effectLst/>
            </c:spPr>
          </c:dPt>
          <c:dPt>
            <c:idx val="2"/>
            <c:invertIfNegative val="0"/>
            <c:bubble3D val="0"/>
            <c:spPr>
              <a:solidFill>
                <a:srgbClr val="C0392B"/>
              </a:solidFill>
              <a:effectLst/>
            </c:spPr>
          </c:dPt>
          <c:dPt>
            <c:idx val="3"/>
            <c:invertIfNegative val="0"/>
            <c:bubble3D val="0"/>
            <c:spPr>
              <a:solidFill>
                <a:srgbClr val="D4AC0D"/>
              </a:solidFill>
              <a:effectLst/>
            </c:spPr>
          </c:dPt>
          <c:dPt>
            <c:idx val="4"/>
            <c:invertIfNegative val="0"/>
            <c:bubble3D val="0"/>
            <c:spPr>
              <a:solidFill>
                <a:srgbClr val="8E7CC3"/>
              </a:solidFill>
              <a:effectLst/>
            </c:spPr>
          </c:dPt>
          <c:cat>
            <c:multiLvlStrRef>
              <c:f>Sheet1!$A$2:$A$6</c:f>
              <c:multiLvlStrCache>
                <c:ptCount val="5"/>
                <c:lvl>
                  <c:pt idx="0">
                    <c:v>Dead</c:v>
                  </c:pt>
                  <c:pt idx="1">
                    <c:v>Shifted</c:v>
                  </c:pt>
                  <c:pt idx="2">
                    <c:v>Absent</c:v>
                  </c:pt>
                  <c:pt idx="3">
                    <c:v>Already enrolled</c:v>
                  </c:pt>
                  <c:pt idx="4">
                    <c:v>Other</c:v>
                  </c:pt>
                </c:lvl>
              </c:multiLvlStrCache>
            </c:multiLvlStrRef>
          </c:cat>
          <c:val>
            <c:numRef>
              <c:f>Sheet1!$B$2:$B$6</c:f>
              <c:numCache>
                <c:formatCode>General</c:formatCode>
                <c:ptCount val="5"/>
                <c:pt idx="0">
                  <c:v>2416852</c:v>
                </c:pt>
                <c:pt idx="1">
                  <c:v>1988076</c:v>
                </c:pt>
                <c:pt idx="2">
                  <c:v>1220039</c:v>
                </c:pt>
                <c:pt idx="3">
                  <c:v>138328</c:v>
                </c:pt>
                <c:pt idx="4">
                  <c:v>57604</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the 2024 roll</c:v>
                </c:pt>
              </c:strCache>
            </c:strRef>
          </c:tx>
          <c:spPr>
            <a:solidFill>
              <a:srgbClr val="AEB6BF"/>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Sheet1!$A$2:$A$25</c:f>
              <c:multiLvlStrCache>
                <c:ptCount val="24"/>
                <c:lvl>
                  <c:pt idx="0">
                    <c:v>Purbo Medinipur</c:v>
                  </c:pt>
                  <c:pt idx="1">
                    <c:v>Purulia</c:v>
                  </c:pt>
                  <c:pt idx="2">
                    <c:v>Bankura</c:v>
                  </c:pt>
                  <c:pt idx="3">
                    <c:v>Jhargram</c:v>
                  </c:pt>
                  <c:pt idx="4">
                    <c:v>Paschim Medinipur</c:v>
                  </c:pt>
                  <c:pt idx="5">
                    <c:v>Kalimpong</c:v>
                  </c:pt>
                  <c:pt idx="6">
                    <c:v>Uttar Dinajpur</c:v>
                  </c:pt>
                  <c:pt idx="7">
                    <c:v>Malda</c:v>
                  </c:pt>
                  <c:pt idx="8">
                    <c:v>South 24 Parganas</c:v>
                  </c:pt>
                  <c:pt idx="9">
                    <c:v>Birbhum</c:v>
                  </c:pt>
                  <c:pt idx="10">
                    <c:v>Murshidabad</c:v>
                  </c:pt>
                  <c:pt idx="11">
                    <c:v>Nadia</c:v>
                  </c:pt>
                  <c:pt idx="12">
                    <c:v>Alipurduar</c:v>
                  </c:pt>
                  <c:pt idx="13">
                    <c:v>Coochbehar</c:v>
                  </c:pt>
                  <c:pt idx="14">
                    <c:v>Dakshin Dinajpur</c:v>
                  </c:pt>
                  <c:pt idx="15">
                    <c:v>North 24 Parganas</c:v>
                  </c:pt>
                  <c:pt idx="16">
                    <c:v>Jalpaiguri</c:v>
                  </c:pt>
                  <c:pt idx="17">
                    <c:v>Purba Bardhaman</c:v>
                  </c:pt>
                  <c:pt idx="18">
                    <c:v>Hooghly</c:v>
                  </c:pt>
                  <c:pt idx="19">
                    <c:v>Howrah</c:v>
                  </c:pt>
                  <c:pt idx="20">
                    <c:v>Paschim Bardhaman</c:v>
                  </c:pt>
                  <c:pt idx="21">
                    <c:v>Darjeeling</c:v>
                  </c:pt>
                  <c:pt idx="22">
                    <c:v>Kolkata North</c:v>
                  </c:pt>
                  <c:pt idx="23">
                    <c:v>Kolkata South</c:v>
                  </c:pt>
                </c:lvl>
              </c:multiLvlStrCache>
            </c:multiLvlStrRef>
          </c:cat>
          <c:val>
            <c:numRef>
              <c:f>Sheet1!$B$2:$B$25</c:f>
              <c:numCache>
                <c:formatCode>General</c:formatCode>
                <c:ptCount val="24"/>
                <c:pt idx="0">
                  <c:v>48.75</c:v>
                </c:pt>
                <c:pt idx="1">
                  <c:v>49.44</c:v>
                </c:pt>
                <c:pt idx="2">
                  <c:v>49.44</c:v>
                </c:pt>
                <c:pt idx="3">
                  <c:v>50.18</c:v>
                </c:pt>
                <c:pt idx="4">
                  <c:v>49.6</c:v>
                </c:pt>
                <c:pt idx="5">
                  <c:v>50.66</c:v>
                </c:pt>
                <c:pt idx="6">
                  <c:v>48.28</c:v>
                </c:pt>
                <c:pt idx="7">
                  <c:v>49.21</c:v>
                </c:pt>
                <c:pt idx="8">
                  <c:v>49.51</c:v>
                </c:pt>
                <c:pt idx="9">
                  <c:v>49.67</c:v>
                </c:pt>
                <c:pt idx="10">
                  <c:v>49.23</c:v>
                </c:pt>
                <c:pt idx="11">
                  <c:v>48.64</c:v>
                </c:pt>
                <c:pt idx="12">
                  <c:v>49.79</c:v>
                </c:pt>
                <c:pt idx="13">
                  <c:v>48.47</c:v>
                </c:pt>
                <c:pt idx="14">
                  <c:v>48.93</c:v>
                </c:pt>
                <c:pt idx="15">
                  <c:v>49.48</c:v>
                </c:pt>
                <c:pt idx="16">
                  <c:v>49.51</c:v>
                </c:pt>
                <c:pt idx="17">
                  <c:v>49.48</c:v>
                </c:pt>
                <c:pt idx="18">
                  <c:v>49.75</c:v>
                </c:pt>
                <c:pt idx="19">
                  <c:v>48.94</c:v>
                </c:pt>
                <c:pt idx="20">
                  <c:v>49.06</c:v>
                </c:pt>
                <c:pt idx="21">
                  <c:v>50.28</c:v>
                </c:pt>
                <c:pt idx="22">
                  <c:v>45.84</c:v>
                </c:pt>
                <c:pt idx="23">
                  <c:v>46.75</c:v>
                </c:pt>
              </c:numCache>
            </c:numRef>
          </c:val>
        </c:ser>
        <c:ser>
          <c:idx val="1"/>
          <c:order val="1"/>
          <c:tx>
            <c:strRef>
              <c:f>Sheet1!$C$1</c:f>
              <c:strCache>
                <c:ptCount val="1"/>
                <c:pt idx="0">
                  <c:v>Share of the fall</c:v>
                </c:pt>
              </c:strCache>
            </c:strRef>
          </c:tx>
          <c:spPr>
            <a:solidFill>
              <a:srgbClr val="AF3B6E"/>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Sheet1!$A$2:$A$25</c:f>
              <c:multiLvlStrCache>
                <c:ptCount val="24"/>
                <c:lvl>
                  <c:pt idx="0">
                    <c:v>Purbo Medinipur</c:v>
                  </c:pt>
                  <c:pt idx="1">
                    <c:v>Purulia</c:v>
                  </c:pt>
                  <c:pt idx="2">
                    <c:v>Bankura</c:v>
                  </c:pt>
                  <c:pt idx="3">
                    <c:v>Jhargram</c:v>
                  </c:pt>
                  <c:pt idx="4">
                    <c:v>Paschim Medinipur</c:v>
                  </c:pt>
                  <c:pt idx="5">
                    <c:v>Kalimpong</c:v>
                  </c:pt>
                  <c:pt idx="6">
                    <c:v>Uttar Dinajpur</c:v>
                  </c:pt>
                  <c:pt idx="7">
                    <c:v>Malda</c:v>
                  </c:pt>
                  <c:pt idx="8">
                    <c:v>South 24 Parganas</c:v>
                  </c:pt>
                  <c:pt idx="9">
                    <c:v>Birbhum</c:v>
                  </c:pt>
                  <c:pt idx="10">
                    <c:v>Murshidabad</c:v>
                  </c:pt>
                  <c:pt idx="11">
                    <c:v>Nadia</c:v>
                  </c:pt>
                  <c:pt idx="12">
                    <c:v>Alipurduar</c:v>
                  </c:pt>
                  <c:pt idx="13">
                    <c:v>Coochbehar</c:v>
                  </c:pt>
                  <c:pt idx="14">
                    <c:v>Dakshin Dinajpur</c:v>
                  </c:pt>
                  <c:pt idx="15">
                    <c:v>North 24 Parganas</c:v>
                  </c:pt>
                  <c:pt idx="16">
                    <c:v>Jalpaiguri</c:v>
                  </c:pt>
                  <c:pt idx="17">
                    <c:v>Purba Bardhaman</c:v>
                  </c:pt>
                  <c:pt idx="18">
                    <c:v>Hooghly</c:v>
                  </c:pt>
                  <c:pt idx="19">
                    <c:v>Howrah</c:v>
                  </c:pt>
                  <c:pt idx="20">
                    <c:v>Paschim Bardhaman</c:v>
                  </c:pt>
                  <c:pt idx="21">
                    <c:v>Darjeeling</c:v>
                  </c:pt>
                  <c:pt idx="22">
                    <c:v>Kolkata North</c:v>
                  </c:pt>
                  <c:pt idx="23">
                    <c:v>Kolkata South</c:v>
                  </c:pt>
                </c:lvl>
              </c:multiLvlStrCache>
            </c:multiLvlStrRef>
          </c:cat>
          <c:val>
            <c:numRef>
              <c:f>Sheet1!$C$2:$C$25</c:f>
              <c:numCache>
                <c:formatCode>General</c:formatCode>
                <c:ptCount val="24"/>
                <c:pt idx="0">
                  <c:v>67.66</c:v>
                </c:pt>
                <c:pt idx="1">
                  <c:v>62.1</c:v>
                </c:pt>
                <c:pt idx="2">
                  <c:v>60.71</c:v>
                </c:pt>
                <c:pt idx="3">
                  <c:v>60.91</c:v>
                </c:pt>
                <c:pt idx="4">
                  <c:v>58.51</c:v>
                </c:pt>
                <c:pt idx="5">
                  <c:v>58.82</c:v>
                </c:pt>
                <c:pt idx="6">
                  <c:v>55.26</c:v>
                </c:pt>
                <c:pt idx="7">
                  <c:v>55.8</c:v>
                </c:pt>
                <c:pt idx="8">
                  <c:v>55.31</c:v>
                </c:pt>
                <c:pt idx="9">
                  <c:v>55.36</c:v>
                </c:pt>
                <c:pt idx="10">
                  <c:v>54.74</c:v>
                </c:pt>
                <c:pt idx="11">
                  <c:v>53.97</c:v>
                </c:pt>
                <c:pt idx="12">
                  <c:v>54.27</c:v>
                </c:pt>
                <c:pt idx="13">
                  <c:v>52.65</c:v>
                </c:pt>
                <c:pt idx="14">
                  <c:v>52.62</c:v>
                </c:pt>
                <c:pt idx="15">
                  <c:v>52.11</c:v>
                </c:pt>
                <c:pt idx="16">
                  <c:v>52.09</c:v>
                </c:pt>
                <c:pt idx="17">
                  <c:v>52.06</c:v>
                </c:pt>
                <c:pt idx="18">
                  <c:v>51.56</c:v>
                </c:pt>
                <c:pt idx="19">
                  <c:v>50.42</c:v>
                </c:pt>
                <c:pt idx="20">
                  <c:v>50.32</c:v>
                </c:pt>
                <c:pt idx="21">
                  <c:v>50.24</c:v>
                </c:pt>
                <c:pt idx="22">
                  <c:v>38.67</c:v>
                </c:pt>
                <c:pt idx="23">
                  <c:v>39.19</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max val="70"/>
          <c:min val="30"/>
        </c:scaling>
        <c:delete val="0"/>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 the draft</c:v>
                </c:pt>
              </c:strCache>
            </c:strRef>
          </c:tx>
          <c:spPr>
            <a:solidFill>
              <a:srgbClr val="AEB6BF"/>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Murshidabad</c:v>
                  </c:pt>
                  <c:pt idx="1">
                    <c:v>Uttar Dinajpur</c:v>
                  </c:pt>
                  <c:pt idx="2">
                    <c:v>Dakshin Dinajpur</c:v>
                  </c:pt>
                  <c:pt idx="3">
                    <c:v>Malda</c:v>
                  </c:pt>
                  <c:pt idx="4">
                    <c:v>Nadia</c:v>
                  </c:pt>
                  <c:pt idx="5">
                    <c:v>North 24 Parganas</c:v>
                  </c:pt>
                  <c:pt idx="6">
                    <c:v>Purba Bardhaman</c:v>
                  </c:pt>
                  <c:pt idx="7">
                    <c:v>Darjeeling</c:v>
                  </c:pt>
                  <c:pt idx="8">
                    <c:v>Coochbehar</c:v>
                  </c:pt>
                  <c:pt idx="9">
                    <c:v>Jalpaiguri</c:v>
                  </c:pt>
                  <c:pt idx="10">
                    <c:v>Alipurduar</c:v>
                  </c:pt>
                  <c:pt idx="11">
                    <c:v>Birbhum</c:v>
                  </c:pt>
                </c:lvl>
              </c:multiLvlStrCache>
            </c:multiLvlStrRef>
          </c:cat>
          <c:val>
            <c:numRef>
              <c:f>Sheet1!$B$2:$B$13</c:f>
              <c:numCache>
                <c:formatCode>General</c:formatCode>
                <c:ptCount val="12"/>
                <c:pt idx="0">
                  <c:v>3.81</c:v>
                </c:pt>
                <c:pt idx="1">
                  <c:v>6.33</c:v>
                </c:pt>
                <c:pt idx="2">
                  <c:v>5.34</c:v>
                </c:pt>
                <c:pt idx="3">
                  <c:v>5.11</c:v>
                </c:pt>
                <c:pt idx="4">
                  <c:v>4.5</c:v>
                </c:pt>
                <c:pt idx="5">
                  <c:v>8.89</c:v>
                </c:pt>
                <c:pt idx="6">
                  <c:v>4.18</c:v>
                </c:pt>
                <c:pt idx="7">
                  <c:v>8.81</c:v>
                </c:pt>
                <c:pt idx="8">
                  <c:v>2.95</c:v>
                </c:pt>
                <c:pt idx="9">
                  <c:v>5.86</c:v>
                </c:pt>
                <c:pt idx="10">
                  <c:v>6.26</c:v>
                </c:pt>
                <c:pt idx="11">
                  <c:v>5.09</c:v>
                </c:pt>
              </c:numCache>
            </c:numRef>
          </c:val>
        </c:ser>
        <c:ser>
          <c:idx val="1"/>
          <c:order val="1"/>
          <c:tx>
            <c:strRef>
              <c:f>Sheet1!$C$1</c:f>
              <c:strCache>
                <c:ptCount val="1"/>
                <c:pt idx="0">
                  <c:v>At the election</c:v>
                </c:pt>
              </c:strCache>
            </c:strRef>
          </c:tx>
          <c:spPr>
            <a:solidFill>
              <a:srgbClr val="1F618D"/>
            </a:solidFill>
            <a:effectLst/>
          </c:spPr>
          <c:invertIfNegative val="0"/>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Murshidabad</c:v>
                  </c:pt>
                  <c:pt idx="1">
                    <c:v>Uttar Dinajpur</c:v>
                  </c:pt>
                  <c:pt idx="2">
                    <c:v>Dakshin Dinajpur</c:v>
                  </c:pt>
                  <c:pt idx="3">
                    <c:v>Malda</c:v>
                  </c:pt>
                  <c:pt idx="4">
                    <c:v>Nadia</c:v>
                  </c:pt>
                  <c:pt idx="5">
                    <c:v>North 24 Parganas</c:v>
                  </c:pt>
                  <c:pt idx="6">
                    <c:v>Purba Bardhaman</c:v>
                  </c:pt>
                  <c:pt idx="7">
                    <c:v>Darjeeling</c:v>
                  </c:pt>
                  <c:pt idx="8">
                    <c:v>Coochbehar</c:v>
                  </c:pt>
                  <c:pt idx="9">
                    <c:v>Jalpaiguri</c:v>
                  </c:pt>
                  <c:pt idx="10">
                    <c:v>Alipurduar</c:v>
                  </c:pt>
                  <c:pt idx="11">
                    <c:v>Birbhum</c:v>
                  </c:pt>
                </c:lvl>
              </c:multiLvlStrCache>
            </c:multiLvlStrRef>
          </c:cat>
          <c:val>
            <c:numRef>
              <c:f>Sheet1!$C$2:$C$13</c:f>
              <c:numCache>
                <c:formatCode>General</c:formatCode>
                <c:ptCount val="12"/>
                <c:pt idx="0">
                  <c:v>11.86</c:v>
                </c:pt>
                <c:pt idx="1">
                  <c:v>14.19</c:v>
                </c:pt>
                <c:pt idx="2">
                  <c:v>12.23</c:v>
                </c:pt>
                <c:pt idx="3">
                  <c:v>11.63</c:v>
                </c:pt>
                <c:pt idx="4">
                  <c:v>10.12</c:v>
                </c:pt>
                <c:pt idx="5">
                  <c:v>13.7</c:v>
                </c:pt>
                <c:pt idx="6">
                  <c:v>8.98</c:v>
                </c:pt>
                <c:pt idx="7">
                  <c:v>13.5</c:v>
                </c:pt>
                <c:pt idx="8">
                  <c:v>7.59</c:v>
                </c:pt>
                <c:pt idx="9">
                  <c:v>9.09</c:v>
                </c:pt>
                <c:pt idx="10">
                  <c:v>9.35</c:v>
                </c:pt>
                <c:pt idx="11">
                  <c:v>7.67</c:v>
                </c:pt>
              </c:numCache>
            </c:numRef>
          </c:val>
        </c:ser>
        <c:dLbls>
          <c:numFmt formatCode="0.0" sourceLinked="0"/>
          <c:txPr>
            <a:bodyPr/>
            <a:lstStyle/>
            <a:p>
              <a:pPr>
                <a:defRPr b="0" i="0" strike="noStrike" sz="8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Seats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1F618D"/>
              </a:solidFill>
              <a:effectLst/>
            </c:spPr>
          </c:dPt>
          <c:dPt>
            <c:idx val="2"/>
            <c:invertIfNegative val="0"/>
            <c:bubble3D val="0"/>
            <c:spPr>
              <a:solidFill>
                <a:srgbClr val="1F618D"/>
              </a:solidFill>
              <a:effectLst/>
            </c:spPr>
          </c:dPt>
          <c:dPt>
            <c:idx val="3"/>
            <c:invertIfNegative val="0"/>
            <c:bubble3D val="0"/>
            <c:spPr>
              <a:solidFill>
                <a:srgbClr val="1F618D"/>
              </a:solidFill>
              <a:effectLst/>
            </c:spPr>
          </c:dPt>
          <c:dPt>
            <c:idx val="4"/>
            <c:invertIfNegative val="0"/>
            <c:bubble3D val="0"/>
            <c:spPr>
              <a:solidFill>
                <a:srgbClr val="1F618D"/>
              </a:solidFill>
              <a:effectLst/>
            </c:spPr>
          </c:dPt>
          <c:cat>
            <c:multiLvlStrRef>
              <c:f>Sheet1!$A$2:$A$6</c:f>
              <c:multiLvlStrCache>
                <c:ptCount val="5"/>
                <c:lvl>
                  <c:pt idx="0">
                    <c:v>under 1×</c:v>
                  </c:pt>
                  <c:pt idx="1">
                    <c:v>1 to 2×</c:v>
                  </c:pt>
                  <c:pt idx="2">
                    <c:v>2 to 5×</c:v>
                  </c:pt>
                  <c:pt idx="3">
                    <c:v>5 to 10×</c:v>
                  </c:pt>
                  <c:pt idx="4">
                    <c:v>10× or more</c:v>
                  </c:pt>
                </c:lvl>
              </c:multiLvlStrCache>
            </c:multiLvlStrRef>
          </c:cat>
          <c:val>
            <c:numRef>
              <c:f>Sheet1!$B$2:$B$6</c:f>
              <c:numCache>
                <c:formatCode>General</c:formatCode>
                <c:ptCount val="5"/>
                <c:pt idx="0">
                  <c:v>155</c:v>
                </c:pt>
                <c:pt idx="1">
                  <c:v>61</c:v>
                </c:pt>
                <c:pt idx="2">
                  <c:v>54</c:v>
                </c:pt>
                <c:pt idx="3">
                  <c:v>11</c:v>
                </c:pt>
                <c:pt idx="4">
                  <c:v>13</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4D5B69"/>
                    </a:solidFill>
                    <a:latin typeface="Arial"/>
                  </a:defRPr>
                </a:pPr>
                <a:r>
                  <a:rPr sz="1100" b="0" i="0" u="none" strike="noStrike">
                    <a:solidFill>
                      <a:srgbClr val="4D5B69"/>
                    </a:solidFill>
                    <a:latin typeface="Arial"/>
                  </a:rPr>
                  <a:t>Fall in the roll as a multiple of the margin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Intensive Revision (SIR) is the Election Commission's house-to-house recheck of the electoral roll, the list of people entitled to vote. Adjudication means the names were kept off the final roll while judicial officers decided whether each elector was eligible. The removals and their reasons are published for the state only. Below the state the deck measures the fall in the roll from 2024, which takes in ordinary changes as well as the revision and is a different count from the names struck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100 electors is the number for every 100 people on the earlier roll, which lets places of different size be compared. The fall in the roll is the earlier roll less the later one, so it counts names removed less names added, ordinary deaths and moves included. The winning margin is the winner's votes less the runner-up's.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claim asks for a name to be added to the draft, and an objection asks for one to be removed. From press note PN-05-2026 and the roll at the 2026 nominations. The bars start above zero so that the changes can be seen. A reason on the list is what the officer wrote down, and nobody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Judicial officers appointed on the Supreme Court's direction decided the cases, and their orders could be appealed to tribunals. These outcomes are as reported, and they are not published by district.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margin means large enough to decide a seat, and says nothing about whether the fall did. Nobody can know how anyone missing from the roll would have voted. A rank correlation runs from -1 to 1 and measures how far two orderings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own district is each seat's figure less its district's, averaged over the party's seats. A minus means a smaller fall than the district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D6E4F0"/>
                </a:solidFill>
                <a:latin typeface="Calibri" pitchFamily="34" charset="0"/>
                <a:ea typeface="Calibri" pitchFamily="34" charset="-122"/>
                <a:cs typeface="Calibri" pitchFamily="34" charset="-120"/>
              </a:rPr>
              <a:t>SPECIAL INTENSIVE REVISION · WEST BENGAL 2026</a:t>
            </a:r>
            <a:endParaRPr lang="en-US" sz="1300" dirty="0"/>
          </a:p>
        </p:txBody>
      </p:sp>
      <p:sp>
        <p:nvSpPr>
          <p:cNvPr id="3" name="Text 1"/>
          <p:cNvSpPr txBox="1"/>
          <p:nvPr/>
        </p:nvSpPr>
        <p:spPr>
          <a:xfrm>
            <a:off x="548640" y="1051560"/>
            <a:ext cx="11094415"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The revision left 58.2 lakh names off West Bengal's draft roll and held back 60.1 lakh more</a:t>
            </a:r>
            <a:endParaRPr lang="en-US" sz="3800" dirty="0"/>
          </a:p>
        </p:txBody>
      </p:sp>
      <p:sp>
        <p:nvSpPr>
          <p:cNvPr id="4" name="Text 2"/>
          <p:cNvSpPr txBox="1"/>
          <p:nvPr/>
        </p:nvSpPr>
        <p:spPr>
          <a:xfrm>
            <a:off x="548640" y="2377440"/>
            <a:ext cx="10180015" cy="731520"/>
          </a:xfrm>
          <a:prstGeom prst="rect">
            <a:avLst/>
          </a:prstGeom>
          <a:noFill/>
          <a:ln/>
        </p:spPr>
        <p:txBody>
          <a:bodyPr wrap="square" lIns="0" tIns="0" rIns="0" bIns="0" rtlCol="0" anchor="t"/>
          <a:lstStyle/>
          <a:p>
            <a:pPr indent="0" marL="0">
              <a:buNone/>
            </a:pPr>
            <a:r>
              <a:rPr lang="en-US" sz="1700" dirty="0">
                <a:solidFill>
                  <a:srgbClr val="D6E4F0"/>
                </a:solidFill>
                <a:latin typeface="Calibri" pitchFamily="34" charset="0"/>
                <a:ea typeface="Calibri" pitchFamily="34" charset="-122"/>
                <a:cs typeface="Calibri" pitchFamily="34" charset="-120"/>
              </a:rPr>
              <a:t>The names left off by reason, the names held back for adjudication, and how much smaller each roll was at the 2026 election than in 2024</a:t>
            </a:r>
            <a:endParaRPr lang="en-US" sz="1700" dirty="0"/>
          </a:p>
        </p:txBody>
      </p:sp>
      <p:sp>
        <p:nvSpPr>
          <p:cNvPr id="5" name="Shape 3"/>
          <p:cNvSpPr/>
          <p:nvPr/>
        </p:nvSpPr>
        <p:spPr>
          <a:xfrm>
            <a:off x="548640" y="3429000"/>
            <a:ext cx="2567864" cy="1737360"/>
          </a:xfrm>
          <a:prstGeom prst="roundRect">
            <a:avLst>
              <a:gd name="adj" fmla="val 4211"/>
            </a:avLst>
          </a:prstGeom>
          <a:solidFill>
            <a:srgbClr val="163A5C"/>
          </a:solidFill>
          <a:ln/>
        </p:spPr>
      </p:sp>
      <p:sp>
        <p:nvSpPr>
          <p:cNvPr id="6" name="Text 4"/>
          <p:cNvSpPr txBox="1"/>
          <p:nvPr/>
        </p:nvSpPr>
        <p:spPr>
          <a:xfrm>
            <a:off x="731520"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58,20,899</a:t>
            </a:r>
            <a:endParaRPr lang="en-US" sz="3000" dirty="0"/>
          </a:p>
        </p:txBody>
      </p:sp>
      <p:sp>
        <p:nvSpPr>
          <p:cNvPr id="7" name="Text 5"/>
          <p:cNvSpPr txBox="1"/>
          <p:nvPr/>
        </p:nvSpPr>
        <p:spPr>
          <a:xfrm>
            <a:off x="731520"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names left off the draft roll</a:t>
            </a:r>
            <a:endParaRPr lang="en-US" sz="1250" dirty="0"/>
          </a:p>
        </p:txBody>
      </p:sp>
      <p:sp>
        <p:nvSpPr>
          <p:cNvPr id="8" name="Shape 6"/>
          <p:cNvSpPr/>
          <p:nvPr/>
        </p:nvSpPr>
        <p:spPr>
          <a:xfrm>
            <a:off x="3390824" y="3429000"/>
            <a:ext cx="2567864" cy="1737360"/>
          </a:xfrm>
          <a:prstGeom prst="roundRect">
            <a:avLst>
              <a:gd name="adj" fmla="val 4211"/>
            </a:avLst>
          </a:prstGeom>
          <a:solidFill>
            <a:srgbClr val="163A5C"/>
          </a:solidFill>
          <a:ln/>
        </p:spPr>
      </p:sp>
      <p:sp>
        <p:nvSpPr>
          <p:cNvPr id="9" name="Text 7"/>
          <p:cNvSpPr txBox="1"/>
          <p:nvPr/>
        </p:nvSpPr>
        <p:spPr>
          <a:xfrm>
            <a:off x="3573704"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60,06,675</a:t>
            </a:r>
            <a:endParaRPr lang="en-US" sz="3000" dirty="0"/>
          </a:p>
        </p:txBody>
      </p:sp>
      <p:sp>
        <p:nvSpPr>
          <p:cNvPr id="10" name="Text 8"/>
          <p:cNvSpPr txBox="1"/>
          <p:nvPr/>
        </p:nvSpPr>
        <p:spPr>
          <a:xfrm>
            <a:off x="3573704"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held back for adjudication</a:t>
            </a:r>
            <a:endParaRPr lang="en-US" sz="1250" dirty="0"/>
          </a:p>
        </p:txBody>
      </p:sp>
      <p:sp>
        <p:nvSpPr>
          <p:cNvPr id="11" name="Shape 9"/>
          <p:cNvSpPr/>
          <p:nvPr/>
        </p:nvSpPr>
        <p:spPr>
          <a:xfrm>
            <a:off x="6233008" y="3429000"/>
            <a:ext cx="2567864" cy="1737360"/>
          </a:xfrm>
          <a:prstGeom prst="roundRect">
            <a:avLst>
              <a:gd name="adj" fmla="val 4211"/>
            </a:avLst>
          </a:prstGeom>
          <a:solidFill>
            <a:srgbClr val="163A5C"/>
          </a:solidFill>
          <a:ln/>
        </p:spPr>
      </p:sp>
      <p:sp>
        <p:nvSpPr>
          <p:cNvPr id="12" name="Text 10"/>
          <p:cNvSpPr txBox="1"/>
          <p:nvPr/>
        </p:nvSpPr>
        <p:spPr>
          <a:xfrm>
            <a:off x="6415888"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139 of 294</a:t>
            </a:r>
            <a:endParaRPr lang="en-US" sz="3000" dirty="0"/>
          </a:p>
        </p:txBody>
      </p:sp>
      <p:sp>
        <p:nvSpPr>
          <p:cNvPr id="13" name="Text 11"/>
          <p:cNvSpPr txBox="1"/>
          <p:nvPr/>
        </p:nvSpPr>
        <p:spPr>
          <a:xfrm>
            <a:off x="6415888"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seats where the roll fell by more than the 2026 margin</a:t>
            </a:r>
            <a:endParaRPr lang="en-US" sz="1250" dirty="0"/>
          </a:p>
        </p:txBody>
      </p:sp>
      <p:sp>
        <p:nvSpPr>
          <p:cNvPr id="14" name="Shape 12"/>
          <p:cNvSpPr/>
          <p:nvPr/>
        </p:nvSpPr>
        <p:spPr>
          <a:xfrm>
            <a:off x="9075191" y="3429000"/>
            <a:ext cx="2567864" cy="1737360"/>
          </a:xfrm>
          <a:prstGeom prst="roundRect">
            <a:avLst>
              <a:gd name="adj" fmla="val 4211"/>
            </a:avLst>
          </a:prstGeom>
          <a:solidFill>
            <a:srgbClr val="163A5C"/>
          </a:solidFill>
          <a:ln/>
        </p:spPr>
      </p:sp>
      <p:sp>
        <p:nvSpPr>
          <p:cNvPr id="15" name="Text 13"/>
          <p:cNvSpPr txBox="1"/>
          <p:nvPr/>
        </p:nvSpPr>
        <p:spPr>
          <a:xfrm>
            <a:off x="9258071"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53.5%</a:t>
            </a:r>
            <a:endParaRPr lang="en-US" sz="3000" dirty="0"/>
          </a:p>
        </p:txBody>
      </p:sp>
      <p:sp>
        <p:nvSpPr>
          <p:cNvPr id="16" name="Text 14"/>
          <p:cNvSpPr txBox="1"/>
          <p:nvPr/>
        </p:nvSpPr>
        <p:spPr>
          <a:xfrm>
            <a:off x="9258071"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D6E4F0"/>
                </a:solidFill>
                <a:latin typeface="Calibri" pitchFamily="34" charset="0"/>
                <a:ea typeface="Calibri" pitchFamily="34" charset="-122"/>
                <a:cs typeface="Calibri" pitchFamily="34" charset="-120"/>
              </a:rPr>
              <a:t>of the names left off were women</a:t>
            </a:r>
            <a:endParaRPr lang="en-US" sz="1250" dirty="0"/>
          </a:p>
        </p:txBody>
      </p:sp>
      <p:sp>
        <p:nvSpPr>
          <p:cNvPr id="17" name="Text 15"/>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rgbClr val="D6E4F0"/>
                </a:solidFill>
                <a:latin typeface="Calibri" pitchFamily="34" charset="0"/>
                <a:ea typeface="Calibri" pitchFamily="34" charset="-122"/>
                <a:cs typeface="Calibri" pitchFamily="34" charset="-120"/>
              </a:rPr>
              <a:t>PinPoint Ventures</a:t>
            </a:r>
            <a:endParaRPr lang="en-US" sz="1300" dirty="0"/>
          </a:p>
        </p:txBody>
      </p:sp>
      <p:sp>
        <p:nvSpPr>
          <p:cNvPr id="18" name="Shape 16"/>
          <p:cNvSpPr/>
          <p:nvPr/>
        </p:nvSpPr>
        <p:spPr>
          <a:xfrm>
            <a:off x="0" y="6748272"/>
            <a:ext cx="304792" cy="109728"/>
          </a:xfrm>
          <a:prstGeom prst="rect">
            <a:avLst/>
          </a:prstGeom>
          <a:solidFill>
            <a:srgbClr val="C0392B"/>
          </a:solidFill>
          <a:ln/>
        </p:spPr>
      </p:sp>
      <p:sp>
        <p:nvSpPr>
          <p:cNvPr id="19" name="Shape 17"/>
          <p:cNvSpPr/>
          <p:nvPr/>
        </p:nvSpPr>
        <p:spPr>
          <a:xfrm>
            <a:off x="304792" y="6748272"/>
            <a:ext cx="304792" cy="109728"/>
          </a:xfrm>
          <a:prstGeom prst="rect">
            <a:avLst/>
          </a:prstGeom>
          <a:solidFill>
            <a:srgbClr val="E67E22"/>
          </a:solidFill>
          <a:ln/>
        </p:spPr>
      </p:sp>
      <p:sp>
        <p:nvSpPr>
          <p:cNvPr id="20" name="Shape 18"/>
          <p:cNvSpPr/>
          <p:nvPr/>
        </p:nvSpPr>
        <p:spPr>
          <a:xfrm>
            <a:off x="609585" y="6748272"/>
            <a:ext cx="304792" cy="109728"/>
          </a:xfrm>
          <a:prstGeom prst="rect">
            <a:avLst/>
          </a:prstGeom>
          <a:solidFill>
            <a:srgbClr val="27AE60"/>
          </a:solidFill>
          <a:ln/>
        </p:spPr>
      </p:sp>
      <p:sp>
        <p:nvSpPr>
          <p:cNvPr id="21" name="Shape 19"/>
          <p:cNvSpPr/>
          <p:nvPr/>
        </p:nvSpPr>
        <p:spPr>
          <a:xfrm>
            <a:off x="914377" y="6748272"/>
            <a:ext cx="304792" cy="109728"/>
          </a:xfrm>
          <a:prstGeom prst="rect">
            <a:avLst/>
          </a:prstGeom>
          <a:solidFill>
            <a:srgbClr val="1F618D"/>
          </a:solidFill>
          <a:ln/>
        </p:spPr>
      </p:sp>
      <p:sp>
        <p:nvSpPr>
          <p:cNvPr id="22" name="Shape 20"/>
          <p:cNvSpPr/>
          <p:nvPr/>
        </p:nvSpPr>
        <p:spPr>
          <a:xfrm>
            <a:off x="1219170" y="6748272"/>
            <a:ext cx="304792" cy="109728"/>
          </a:xfrm>
          <a:prstGeom prst="rect">
            <a:avLst/>
          </a:prstGeom>
          <a:solidFill>
            <a:srgbClr val="8E44AD"/>
          </a:solidFill>
          <a:ln/>
        </p:spPr>
      </p:sp>
      <p:sp>
        <p:nvSpPr>
          <p:cNvPr id="23" name="Shape 21"/>
          <p:cNvSpPr/>
          <p:nvPr/>
        </p:nvSpPr>
        <p:spPr>
          <a:xfrm>
            <a:off x="1523962" y="6748272"/>
            <a:ext cx="304792" cy="109728"/>
          </a:xfrm>
          <a:prstGeom prst="rect">
            <a:avLst/>
          </a:prstGeom>
          <a:solidFill>
            <a:srgbClr val="C0392B"/>
          </a:solidFill>
          <a:ln/>
        </p:spPr>
      </p:sp>
      <p:sp>
        <p:nvSpPr>
          <p:cNvPr id="24" name="Shape 22"/>
          <p:cNvSpPr/>
          <p:nvPr/>
        </p:nvSpPr>
        <p:spPr>
          <a:xfrm>
            <a:off x="1828754" y="6748272"/>
            <a:ext cx="304792" cy="109728"/>
          </a:xfrm>
          <a:prstGeom prst="rect">
            <a:avLst/>
          </a:prstGeom>
          <a:solidFill>
            <a:srgbClr val="E67E22"/>
          </a:solidFill>
          <a:ln/>
        </p:spPr>
      </p:sp>
      <p:sp>
        <p:nvSpPr>
          <p:cNvPr id="25" name="Shape 23"/>
          <p:cNvSpPr/>
          <p:nvPr/>
        </p:nvSpPr>
        <p:spPr>
          <a:xfrm>
            <a:off x="2133547" y="6748272"/>
            <a:ext cx="304792" cy="109728"/>
          </a:xfrm>
          <a:prstGeom prst="rect">
            <a:avLst/>
          </a:prstGeom>
          <a:solidFill>
            <a:srgbClr val="27AE60"/>
          </a:solidFill>
          <a:ln/>
        </p:spPr>
      </p:sp>
      <p:sp>
        <p:nvSpPr>
          <p:cNvPr id="26" name="Shape 24"/>
          <p:cNvSpPr/>
          <p:nvPr/>
        </p:nvSpPr>
        <p:spPr>
          <a:xfrm>
            <a:off x="2438339" y="6748272"/>
            <a:ext cx="304792" cy="109728"/>
          </a:xfrm>
          <a:prstGeom prst="rect">
            <a:avLst/>
          </a:prstGeom>
          <a:solidFill>
            <a:srgbClr val="1F618D"/>
          </a:solidFill>
          <a:ln/>
        </p:spPr>
      </p:sp>
      <p:sp>
        <p:nvSpPr>
          <p:cNvPr id="27" name="Shape 25"/>
          <p:cNvSpPr/>
          <p:nvPr/>
        </p:nvSpPr>
        <p:spPr>
          <a:xfrm>
            <a:off x="2743131" y="6748272"/>
            <a:ext cx="304792" cy="109728"/>
          </a:xfrm>
          <a:prstGeom prst="rect">
            <a:avLst/>
          </a:prstGeom>
          <a:solidFill>
            <a:srgbClr val="8E44AD"/>
          </a:solidFill>
          <a:ln/>
        </p:spPr>
      </p:sp>
      <p:sp>
        <p:nvSpPr>
          <p:cNvPr id="28" name="Shape 26"/>
          <p:cNvSpPr/>
          <p:nvPr/>
        </p:nvSpPr>
        <p:spPr>
          <a:xfrm>
            <a:off x="3047924" y="6748272"/>
            <a:ext cx="304792" cy="109728"/>
          </a:xfrm>
          <a:prstGeom prst="rect">
            <a:avLst/>
          </a:prstGeom>
          <a:solidFill>
            <a:srgbClr val="C0392B"/>
          </a:solidFill>
          <a:ln/>
        </p:spPr>
      </p:sp>
      <p:sp>
        <p:nvSpPr>
          <p:cNvPr id="29" name="Shape 27"/>
          <p:cNvSpPr/>
          <p:nvPr/>
        </p:nvSpPr>
        <p:spPr>
          <a:xfrm>
            <a:off x="3352716" y="6748272"/>
            <a:ext cx="304792" cy="109728"/>
          </a:xfrm>
          <a:prstGeom prst="rect">
            <a:avLst/>
          </a:prstGeom>
          <a:solidFill>
            <a:srgbClr val="E67E22"/>
          </a:solidFill>
          <a:ln/>
        </p:spPr>
      </p:sp>
      <p:sp>
        <p:nvSpPr>
          <p:cNvPr id="30" name="Shape 28"/>
          <p:cNvSpPr/>
          <p:nvPr/>
        </p:nvSpPr>
        <p:spPr>
          <a:xfrm>
            <a:off x="3657509" y="6748272"/>
            <a:ext cx="304792" cy="109728"/>
          </a:xfrm>
          <a:prstGeom prst="rect">
            <a:avLst/>
          </a:prstGeom>
          <a:solidFill>
            <a:srgbClr val="27AE60"/>
          </a:solidFill>
          <a:ln/>
        </p:spPr>
      </p:sp>
      <p:sp>
        <p:nvSpPr>
          <p:cNvPr id="31" name="Shape 29"/>
          <p:cNvSpPr/>
          <p:nvPr/>
        </p:nvSpPr>
        <p:spPr>
          <a:xfrm>
            <a:off x="3962301" y="6748272"/>
            <a:ext cx="304792" cy="109728"/>
          </a:xfrm>
          <a:prstGeom prst="rect">
            <a:avLst/>
          </a:prstGeom>
          <a:solidFill>
            <a:srgbClr val="1F618D"/>
          </a:solidFill>
          <a:ln/>
        </p:spPr>
      </p:sp>
      <p:sp>
        <p:nvSpPr>
          <p:cNvPr id="32" name="Shape 30"/>
          <p:cNvSpPr/>
          <p:nvPr/>
        </p:nvSpPr>
        <p:spPr>
          <a:xfrm>
            <a:off x="4267093" y="6748272"/>
            <a:ext cx="304792" cy="109728"/>
          </a:xfrm>
          <a:prstGeom prst="rect">
            <a:avLst/>
          </a:prstGeom>
          <a:solidFill>
            <a:srgbClr val="8E44AD"/>
          </a:solidFill>
          <a:ln/>
        </p:spPr>
      </p:sp>
      <p:sp>
        <p:nvSpPr>
          <p:cNvPr id="33" name="Shape 31"/>
          <p:cNvSpPr/>
          <p:nvPr/>
        </p:nvSpPr>
        <p:spPr>
          <a:xfrm>
            <a:off x="4571886" y="6748272"/>
            <a:ext cx="304792" cy="109728"/>
          </a:xfrm>
          <a:prstGeom prst="rect">
            <a:avLst/>
          </a:prstGeom>
          <a:solidFill>
            <a:srgbClr val="C0392B"/>
          </a:solidFill>
          <a:ln/>
        </p:spPr>
      </p:sp>
      <p:sp>
        <p:nvSpPr>
          <p:cNvPr id="34" name="Shape 32"/>
          <p:cNvSpPr/>
          <p:nvPr/>
        </p:nvSpPr>
        <p:spPr>
          <a:xfrm>
            <a:off x="4876678" y="6748272"/>
            <a:ext cx="304792" cy="109728"/>
          </a:xfrm>
          <a:prstGeom prst="rect">
            <a:avLst/>
          </a:prstGeom>
          <a:solidFill>
            <a:srgbClr val="E67E22"/>
          </a:solidFill>
          <a:ln/>
        </p:spPr>
      </p:sp>
      <p:sp>
        <p:nvSpPr>
          <p:cNvPr id="35" name="Shape 33"/>
          <p:cNvSpPr/>
          <p:nvPr/>
        </p:nvSpPr>
        <p:spPr>
          <a:xfrm>
            <a:off x="5181470" y="6748272"/>
            <a:ext cx="304792" cy="109728"/>
          </a:xfrm>
          <a:prstGeom prst="rect">
            <a:avLst/>
          </a:prstGeom>
          <a:solidFill>
            <a:srgbClr val="27AE60"/>
          </a:solidFill>
          <a:ln/>
        </p:spPr>
      </p:sp>
      <p:sp>
        <p:nvSpPr>
          <p:cNvPr id="36" name="Shape 34"/>
          <p:cNvSpPr/>
          <p:nvPr/>
        </p:nvSpPr>
        <p:spPr>
          <a:xfrm>
            <a:off x="5486263" y="6748272"/>
            <a:ext cx="304792" cy="109728"/>
          </a:xfrm>
          <a:prstGeom prst="rect">
            <a:avLst/>
          </a:prstGeom>
          <a:solidFill>
            <a:srgbClr val="1F618D"/>
          </a:solidFill>
          <a:ln/>
        </p:spPr>
      </p:sp>
      <p:sp>
        <p:nvSpPr>
          <p:cNvPr id="37" name="Shape 35"/>
          <p:cNvSpPr/>
          <p:nvPr/>
        </p:nvSpPr>
        <p:spPr>
          <a:xfrm>
            <a:off x="5791055" y="6748272"/>
            <a:ext cx="304792" cy="109728"/>
          </a:xfrm>
          <a:prstGeom prst="rect">
            <a:avLst/>
          </a:prstGeom>
          <a:solidFill>
            <a:srgbClr val="8E44AD"/>
          </a:solidFill>
          <a:ln/>
        </p:spPr>
      </p:sp>
      <p:sp>
        <p:nvSpPr>
          <p:cNvPr id="38" name="Shape 36"/>
          <p:cNvSpPr/>
          <p:nvPr/>
        </p:nvSpPr>
        <p:spPr>
          <a:xfrm>
            <a:off x="6095848" y="6748272"/>
            <a:ext cx="304792" cy="109728"/>
          </a:xfrm>
          <a:prstGeom prst="rect">
            <a:avLst/>
          </a:prstGeom>
          <a:solidFill>
            <a:srgbClr val="C0392B"/>
          </a:solidFill>
          <a:ln/>
        </p:spPr>
      </p:sp>
      <p:sp>
        <p:nvSpPr>
          <p:cNvPr id="39" name="Shape 37"/>
          <p:cNvSpPr/>
          <p:nvPr/>
        </p:nvSpPr>
        <p:spPr>
          <a:xfrm>
            <a:off x="6400640" y="6748272"/>
            <a:ext cx="304792" cy="109728"/>
          </a:xfrm>
          <a:prstGeom prst="rect">
            <a:avLst/>
          </a:prstGeom>
          <a:solidFill>
            <a:srgbClr val="E67E22"/>
          </a:solidFill>
          <a:ln/>
        </p:spPr>
      </p:sp>
      <p:sp>
        <p:nvSpPr>
          <p:cNvPr id="40" name="Shape 38"/>
          <p:cNvSpPr/>
          <p:nvPr/>
        </p:nvSpPr>
        <p:spPr>
          <a:xfrm>
            <a:off x="6705432" y="6748272"/>
            <a:ext cx="304792" cy="109728"/>
          </a:xfrm>
          <a:prstGeom prst="rect">
            <a:avLst/>
          </a:prstGeom>
          <a:solidFill>
            <a:srgbClr val="27AE60"/>
          </a:solidFill>
          <a:ln/>
        </p:spPr>
      </p:sp>
      <p:sp>
        <p:nvSpPr>
          <p:cNvPr id="41" name="Shape 39"/>
          <p:cNvSpPr/>
          <p:nvPr/>
        </p:nvSpPr>
        <p:spPr>
          <a:xfrm>
            <a:off x="7010225" y="6748272"/>
            <a:ext cx="304792" cy="109728"/>
          </a:xfrm>
          <a:prstGeom prst="rect">
            <a:avLst/>
          </a:prstGeom>
          <a:solidFill>
            <a:srgbClr val="1F618D"/>
          </a:solidFill>
          <a:ln/>
        </p:spPr>
      </p:sp>
      <p:sp>
        <p:nvSpPr>
          <p:cNvPr id="42" name="Shape 40"/>
          <p:cNvSpPr/>
          <p:nvPr/>
        </p:nvSpPr>
        <p:spPr>
          <a:xfrm>
            <a:off x="7315017" y="6748272"/>
            <a:ext cx="304792" cy="109728"/>
          </a:xfrm>
          <a:prstGeom prst="rect">
            <a:avLst/>
          </a:prstGeom>
          <a:solidFill>
            <a:srgbClr val="8E44AD"/>
          </a:solidFill>
          <a:ln/>
        </p:spPr>
      </p:sp>
      <p:sp>
        <p:nvSpPr>
          <p:cNvPr id="43" name="Shape 41"/>
          <p:cNvSpPr/>
          <p:nvPr/>
        </p:nvSpPr>
        <p:spPr>
          <a:xfrm>
            <a:off x="7619809" y="6748272"/>
            <a:ext cx="304792" cy="109728"/>
          </a:xfrm>
          <a:prstGeom prst="rect">
            <a:avLst/>
          </a:prstGeom>
          <a:solidFill>
            <a:srgbClr val="C0392B"/>
          </a:solidFill>
          <a:ln/>
        </p:spPr>
      </p:sp>
      <p:sp>
        <p:nvSpPr>
          <p:cNvPr id="44" name="Shape 42"/>
          <p:cNvSpPr/>
          <p:nvPr/>
        </p:nvSpPr>
        <p:spPr>
          <a:xfrm>
            <a:off x="7924602" y="6748272"/>
            <a:ext cx="304792" cy="109728"/>
          </a:xfrm>
          <a:prstGeom prst="rect">
            <a:avLst/>
          </a:prstGeom>
          <a:solidFill>
            <a:srgbClr val="E67E22"/>
          </a:solidFill>
          <a:ln/>
        </p:spPr>
      </p:sp>
      <p:sp>
        <p:nvSpPr>
          <p:cNvPr id="45" name="Shape 43"/>
          <p:cNvSpPr/>
          <p:nvPr/>
        </p:nvSpPr>
        <p:spPr>
          <a:xfrm>
            <a:off x="8229394" y="6748272"/>
            <a:ext cx="304792" cy="109728"/>
          </a:xfrm>
          <a:prstGeom prst="rect">
            <a:avLst/>
          </a:prstGeom>
          <a:solidFill>
            <a:srgbClr val="27AE60"/>
          </a:solidFill>
          <a:ln/>
        </p:spPr>
      </p:sp>
      <p:sp>
        <p:nvSpPr>
          <p:cNvPr id="46" name="Shape 44"/>
          <p:cNvSpPr/>
          <p:nvPr/>
        </p:nvSpPr>
        <p:spPr>
          <a:xfrm>
            <a:off x="8534187" y="6748272"/>
            <a:ext cx="304792" cy="109728"/>
          </a:xfrm>
          <a:prstGeom prst="rect">
            <a:avLst/>
          </a:prstGeom>
          <a:solidFill>
            <a:srgbClr val="1F618D"/>
          </a:solidFill>
          <a:ln/>
        </p:spPr>
      </p:sp>
      <p:sp>
        <p:nvSpPr>
          <p:cNvPr id="47" name="Shape 45"/>
          <p:cNvSpPr/>
          <p:nvPr/>
        </p:nvSpPr>
        <p:spPr>
          <a:xfrm>
            <a:off x="8838979" y="6748272"/>
            <a:ext cx="304792" cy="109728"/>
          </a:xfrm>
          <a:prstGeom prst="rect">
            <a:avLst/>
          </a:prstGeom>
          <a:solidFill>
            <a:srgbClr val="8E44AD"/>
          </a:solidFill>
          <a:ln/>
        </p:spPr>
      </p:sp>
      <p:sp>
        <p:nvSpPr>
          <p:cNvPr id="48" name="Shape 46"/>
          <p:cNvSpPr/>
          <p:nvPr/>
        </p:nvSpPr>
        <p:spPr>
          <a:xfrm>
            <a:off x="9143771" y="6748272"/>
            <a:ext cx="304792" cy="109728"/>
          </a:xfrm>
          <a:prstGeom prst="rect">
            <a:avLst/>
          </a:prstGeom>
          <a:solidFill>
            <a:srgbClr val="C0392B"/>
          </a:solidFill>
          <a:ln/>
        </p:spPr>
      </p:sp>
      <p:sp>
        <p:nvSpPr>
          <p:cNvPr id="49" name="Shape 47"/>
          <p:cNvSpPr/>
          <p:nvPr/>
        </p:nvSpPr>
        <p:spPr>
          <a:xfrm>
            <a:off x="9448564" y="6748272"/>
            <a:ext cx="304792" cy="109728"/>
          </a:xfrm>
          <a:prstGeom prst="rect">
            <a:avLst/>
          </a:prstGeom>
          <a:solidFill>
            <a:srgbClr val="E67E22"/>
          </a:solidFill>
          <a:ln/>
        </p:spPr>
      </p:sp>
      <p:sp>
        <p:nvSpPr>
          <p:cNvPr id="50" name="Shape 48"/>
          <p:cNvSpPr/>
          <p:nvPr/>
        </p:nvSpPr>
        <p:spPr>
          <a:xfrm>
            <a:off x="9753356" y="6748272"/>
            <a:ext cx="304792" cy="109728"/>
          </a:xfrm>
          <a:prstGeom prst="rect">
            <a:avLst/>
          </a:prstGeom>
          <a:solidFill>
            <a:srgbClr val="27AE60"/>
          </a:solidFill>
          <a:ln/>
        </p:spPr>
      </p:sp>
      <p:sp>
        <p:nvSpPr>
          <p:cNvPr id="51" name="Shape 49"/>
          <p:cNvSpPr/>
          <p:nvPr/>
        </p:nvSpPr>
        <p:spPr>
          <a:xfrm>
            <a:off x="10058149" y="6748272"/>
            <a:ext cx="304792" cy="109728"/>
          </a:xfrm>
          <a:prstGeom prst="rect">
            <a:avLst/>
          </a:prstGeom>
          <a:solidFill>
            <a:srgbClr val="1F618D"/>
          </a:solidFill>
          <a:ln/>
        </p:spPr>
      </p:sp>
      <p:sp>
        <p:nvSpPr>
          <p:cNvPr id="52" name="Shape 50"/>
          <p:cNvSpPr/>
          <p:nvPr/>
        </p:nvSpPr>
        <p:spPr>
          <a:xfrm>
            <a:off x="10362941" y="6748272"/>
            <a:ext cx="304792" cy="109728"/>
          </a:xfrm>
          <a:prstGeom prst="rect">
            <a:avLst/>
          </a:prstGeom>
          <a:solidFill>
            <a:srgbClr val="8E44AD"/>
          </a:solidFill>
          <a:ln/>
        </p:spPr>
      </p:sp>
      <p:sp>
        <p:nvSpPr>
          <p:cNvPr id="53" name="Shape 51"/>
          <p:cNvSpPr/>
          <p:nvPr/>
        </p:nvSpPr>
        <p:spPr>
          <a:xfrm>
            <a:off x="10667733" y="6748272"/>
            <a:ext cx="304792" cy="109728"/>
          </a:xfrm>
          <a:prstGeom prst="rect">
            <a:avLst/>
          </a:prstGeom>
          <a:solidFill>
            <a:srgbClr val="C0392B"/>
          </a:solidFill>
          <a:ln/>
        </p:spPr>
      </p:sp>
      <p:sp>
        <p:nvSpPr>
          <p:cNvPr id="54" name="Shape 52"/>
          <p:cNvSpPr/>
          <p:nvPr/>
        </p:nvSpPr>
        <p:spPr>
          <a:xfrm>
            <a:off x="10972526" y="6748272"/>
            <a:ext cx="304792" cy="109728"/>
          </a:xfrm>
          <a:prstGeom prst="rect">
            <a:avLst/>
          </a:prstGeom>
          <a:solidFill>
            <a:srgbClr val="E67E22"/>
          </a:solidFill>
          <a:ln/>
        </p:spPr>
      </p:sp>
      <p:sp>
        <p:nvSpPr>
          <p:cNvPr id="55" name="Shape 53"/>
          <p:cNvSpPr/>
          <p:nvPr/>
        </p:nvSpPr>
        <p:spPr>
          <a:xfrm>
            <a:off x="11277318" y="6748272"/>
            <a:ext cx="304792" cy="109728"/>
          </a:xfrm>
          <a:prstGeom prst="rect">
            <a:avLst/>
          </a:prstGeom>
          <a:solidFill>
            <a:srgbClr val="27AE60"/>
          </a:solidFill>
          <a:ln/>
        </p:spPr>
      </p:sp>
      <p:sp>
        <p:nvSpPr>
          <p:cNvPr id="56" name="Shape 54"/>
          <p:cNvSpPr/>
          <p:nvPr/>
        </p:nvSpPr>
        <p:spPr>
          <a:xfrm>
            <a:off x="11582110" y="6748272"/>
            <a:ext cx="304792" cy="109728"/>
          </a:xfrm>
          <a:prstGeom prst="rect">
            <a:avLst/>
          </a:prstGeom>
          <a:solidFill>
            <a:srgbClr val="1F618D"/>
          </a:solidFill>
          <a:ln/>
        </p:spPr>
      </p:sp>
      <p:sp>
        <p:nvSpPr>
          <p:cNvPr id="57" name="Shape 55"/>
          <p:cNvSpPr/>
          <p:nvPr/>
        </p:nvSpPr>
        <p:spPr>
          <a:xfrm>
            <a:off x="11886903" y="6748272"/>
            <a:ext cx="304792" cy="109728"/>
          </a:xfrm>
          <a:prstGeom prst="rect">
            <a:avLst/>
          </a:prstGeom>
          <a:solidFill>
            <a:srgbClr val="8E44A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000" b="1" dirty="0">
                <a:solidFill>
                  <a:srgbClr val="1F4E79"/>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0" y="6748272"/>
            <a:ext cx="304792" cy="109728"/>
          </a:xfrm>
          <a:prstGeom prst="rect">
            <a:avLst/>
          </a:prstGeom>
          <a:solidFill>
            <a:srgbClr val="C0392B"/>
          </a:solidFill>
          <a:ln/>
        </p:spPr>
      </p:sp>
      <p:sp>
        <p:nvSpPr>
          <p:cNvPr id="4" name="Shape 2"/>
          <p:cNvSpPr/>
          <p:nvPr/>
        </p:nvSpPr>
        <p:spPr>
          <a:xfrm>
            <a:off x="304792" y="6748272"/>
            <a:ext cx="304792" cy="109728"/>
          </a:xfrm>
          <a:prstGeom prst="rect">
            <a:avLst/>
          </a:prstGeom>
          <a:solidFill>
            <a:srgbClr val="E67E22"/>
          </a:solidFill>
          <a:ln/>
        </p:spPr>
      </p:sp>
      <p:sp>
        <p:nvSpPr>
          <p:cNvPr id="5" name="Shape 3"/>
          <p:cNvSpPr/>
          <p:nvPr/>
        </p:nvSpPr>
        <p:spPr>
          <a:xfrm>
            <a:off x="609585" y="6748272"/>
            <a:ext cx="304792" cy="109728"/>
          </a:xfrm>
          <a:prstGeom prst="rect">
            <a:avLst/>
          </a:prstGeom>
          <a:solidFill>
            <a:srgbClr val="27AE60"/>
          </a:solidFill>
          <a:ln/>
        </p:spPr>
      </p:sp>
      <p:sp>
        <p:nvSpPr>
          <p:cNvPr id="6" name="Shape 4"/>
          <p:cNvSpPr/>
          <p:nvPr/>
        </p:nvSpPr>
        <p:spPr>
          <a:xfrm>
            <a:off x="914377" y="6748272"/>
            <a:ext cx="304792" cy="109728"/>
          </a:xfrm>
          <a:prstGeom prst="rect">
            <a:avLst/>
          </a:prstGeom>
          <a:solidFill>
            <a:srgbClr val="1F618D"/>
          </a:solidFill>
          <a:ln/>
        </p:spPr>
      </p:sp>
      <p:sp>
        <p:nvSpPr>
          <p:cNvPr id="7" name="Shape 5"/>
          <p:cNvSpPr/>
          <p:nvPr/>
        </p:nvSpPr>
        <p:spPr>
          <a:xfrm>
            <a:off x="1219170" y="6748272"/>
            <a:ext cx="304792" cy="109728"/>
          </a:xfrm>
          <a:prstGeom prst="rect">
            <a:avLst/>
          </a:prstGeom>
          <a:solidFill>
            <a:srgbClr val="8E44AD"/>
          </a:solidFill>
          <a:ln/>
        </p:spPr>
      </p:sp>
      <p:sp>
        <p:nvSpPr>
          <p:cNvPr id="8" name="Shape 6"/>
          <p:cNvSpPr/>
          <p:nvPr/>
        </p:nvSpPr>
        <p:spPr>
          <a:xfrm>
            <a:off x="1523962" y="6748272"/>
            <a:ext cx="304792" cy="109728"/>
          </a:xfrm>
          <a:prstGeom prst="rect">
            <a:avLst/>
          </a:prstGeom>
          <a:solidFill>
            <a:srgbClr val="C0392B"/>
          </a:solidFill>
          <a:ln/>
        </p:spPr>
      </p:sp>
      <p:sp>
        <p:nvSpPr>
          <p:cNvPr id="9" name="Shape 7"/>
          <p:cNvSpPr/>
          <p:nvPr/>
        </p:nvSpPr>
        <p:spPr>
          <a:xfrm>
            <a:off x="1828754" y="6748272"/>
            <a:ext cx="304792" cy="109728"/>
          </a:xfrm>
          <a:prstGeom prst="rect">
            <a:avLst/>
          </a:prstGeom>
          <a:solidFill>
            <a:srgbClr val="E67E22"/>
          </a:solidFill>
          <a:ln/>
        </p:spPr>
      </p:sp>
      <p:sp>
        <p:nvSpPr>
          <p:cNvPr id="10" name="Shape 8"/>
          <p:cNvSpPr/>
          <p:nvPr/>
        </p:nvSpPr>
        <p:spPr>
          <a:xfrm>
            <a:off x="2133547" y="6748272"/>
            <a:ext cx="304792" cy="109728"/>
          </a:xfrm>
          <a:prstGeom prst="rect">
            <a:avLst/>
          </a:prstGeom>
          <a:solidFill>
            <a:srgbClr val="27AE60"/>
          </a:solidFill>
          <a:ln/>
        </p:spPr>
      </p:sp>
      <p:sp>
        <p:nvSpPr>
          <p:cNvPr id="11" name="Shape 9"/>
          <p:cNvSpPr/>
          <p:nvPr/>
        </p:nvSpPr>
        <p:spPr>
          <a:xfrm>
            <a:off x="2438339" y="6748272"/>
            <a:ext cx="304792" cy="109728"/>
          </a:xfrm>
          <a:prstGeom prst="rect">
            <a:avLst/>
          </a:prstGeom>
          <a:solidFill>
            <a:srgbClr val="1F618D"/>
          </a:solidFill>
          <a:ln/>
        </p:spPr>
      </p:sp>
      <p:sp>
        <p:nvSpPr>
          <p:cNvPr id="12" name="Shape 10"/>
          <p:cNvSpPr/>
          <p:nvPr/>
        </p:nvSpPr>
        <p:spPr>
          <a:xfrm>
            <a:off x="2743131" y="6748272"/>
            <a:ext cx="304792" cy="109728"/>
          </a:xfrm>
          <a:prstGeom prst="rect">
            <a:avLst/>
          </a:prstGeom>
          <a:solidFill>
            <a:srgbClr val="8E44AD"/>
          </a:solidFill>
          <a:ln/>
        </p:spPr>
      </p:sp>
      <p:sp>
        <p:nvSpPr>
          <p:cNvPr id="13" name="Shape 11"/>
          <p:cNvSpPr/>
          <p:nvPr/>
        </p:nvSpPr>
        <p:spPr>
          <a:xfrm>
            <a:off x="3047924" y="6748272"/>
            <a:ext cx="304792" cy="109728"/>
          </a:xfrm>
          <a:prstGeom prst="rect">
            <a:avLst/>
          </a:prstGeom>
          <a:solidFill>
            <a:srgbClr val="C0392B"/>
          </a:solidFill>
          <a:ln/>
        </p:spPr>
      </p:sp>
      <p:sp>
        <p:nvSpPr>
          <p:cNvPr id="14" name="Shape 12"/>
          <p:cNvSpPr/>
          <p:nvPr/>
        </p:nvSpPr>
        <p:spPr>
          <a:xfrm>
            <a:off x="3352716" y="6748272"/>
            <a:ext cx="304792" cy="109728"/>
          </a:xfrm>
          <a:prstGeom prst="rect">
            <a:avLst/>
          </a:prstGeom>
          <a:solidFill>
            <a:srgbClr val="E67E22"/>
          </a:solidFill>
          <a:ln/>
        </p:spPr>
      </p:sp>
      <p:sp>
        <p:nvSpPr>
          <p:cNvPr id="15" name="Shape 13"/>
          <p:cNvSpPr/>
          <p:nvPr/>
        </p:nvSpPr>
        <p:spPr>
          <a:xfrm>
            <a:off x="3657509" y="6748272"/>
            <a:ext cx="304792" cy="109728"/>
          </a:xfrm>
          <a:prstGeom prst="rect">
            <a:avLst/>
          </a:prstGeom>
          <a:solidFill>
            <a:srgbClr val="27AE60"/>
          </a:solidFill>
          <a:ln/>
        </p:spPr>
      </p:sp>
      <p:sp>
        <p:nvSpPr>
          <p:cNvPr id="16" name="Shape 14"/>
          <p:cNvSpPr/>
          <p:nvPr/>
        </p:nvSpPr>
        <p:spPr>
          <a:xfrm>
            <a:off x="3962301" y="6748272"/>
            <a:ext cx="304792" cy="109728"/>
          </a:xfrm>
          <a:prstGeom prst="rect">
            <a:avLst/>
          </a:prstGeom>
          <a:solidFill>
            <a:srgbClr val="1F618D"/>
          </a:solidFill>
          <a:ln/>
        </p:spPr>
      </p:sp>
      <p:sp>
        <p:nvSpPr>
          <p:cNvPr id="17" name="Shape 15"/>
          <p:cNvSpPr/>
          <p:nvPr/>
        </p:nvSpPr>
        <p:spPr>
          <a:xfrm>
            <a:off x="4267093" y="6748272"/>
            <a:ext cx="304792" cy="109728"/>
          </a:xfrm>
          <a:prstGeom prst="rect">
            <a:avLst/>
          </a:prstGeom>
          <a:solidFill>
            <a:srgbClr val="8E44AD"/>
          </a:solidFill>
          <a:ln/>
        </p:spPr>
      </p:sp>
      <p:sp>
        <p:nvSpPr>
          <p:cNvPr id="18" name="Shape 16"/>
          <p:cNvSpPr/>
          <p:nvPr/>
        </p:nvSpPr>
        <p:spPr>
          <a:xfrm>
            <a:off x="4571886" y="6748272"/>
            <a:ext cx="304792" cy="109728"/>
          </a:xfrm>
          <a:prstGeom prst="rect">
            <a:avLst/>
          </a:prstGeom>
          <a:solidFill>
            <a:srgbClr val="C0392B"/>
          </a:solidFill>
          <a:ln/>
        </p:spPr>
      </p:sp>
      <p:sp>
        <p:nvSpPr>
          <p:cNvPr id="19" name="Shape 17"/>
          <p:cNvSpPr/>
          <p:nvPr/>
        </p:nvSpPr>
        <p:spPr>
          <a:xfrm>
            <a:off x="4876678" y="6748272"/>
            <a:ext cx="304792" cy="109728"/>
          </a:xfrm>
          <a:prstGeom prst="rect">
            <a:avLst/>
          </a:prstGeom>
          <a:solidFill>
            <a:srgbClr val="E67E22"/>
          </a:solidFill>
          <a:ln/>
        </p:spPr>
      </p:sp>
      <p:sp>
        <p:nvSpPr>
          <p:cNvPr id="20" name="Shape 18"/>
          <p:cNvSpPr/>
          <p:nvPr/>
        </p:nvSpPr>
        <p:spPr>
          <a:xfrm>
            <a:off x="5181470" y="6748272"/>
            <a:ext cx="304792" cy="109728"/>
          </a:xfrm>
          <a:prstGeom prst="rect">
            <a:avLst/>
          </a:prstGeom>
          <a:solidFill>
            <a:srgbClr val="27AE60"/>
          </a:solidFill>
          <a:ln/>
        </p:spPr>
      </p:sp>
      <p:sp>
        <p:nvSpPr>
          <p:cNvPr id="21" name="Shape 19"/>
          <p:cNvSpPr/>
          <p:nvPr/>
        </p:nvSpPr>
        <p:spPr>
          <a:xfrm>
            <a:off x="5486263" y="6748272"/>
            <a:ext cx="304792" cy="109728"/>
          </a:xfrm>
          <a:prstGeom prst="rect">
            <a:avLst/>
          </a:prstGeom>
          <a:solidFill>
            <a:srgbClr val="1F618D"/>
          </a:solidFill>
          <a:ln/>
        </p:spPr>
      </p:sp>
      <p:sp>
        <p:nvSpPr>
          <p:cNvPr id="22" name="Shape 20"/>
          <p:cNvSpPr/>
          <p:nvPr/>
        </p:nvSpPr>
        <p:spPr>
          <a:xfrm>
            <a:off x="5791055" y="6748272"/>
            <a:ext cx="304792" cy="109728"/>
          </a:xfrm>
          <a:prstGeom prst="rect">
            <a:avLst/>
          </a:prstGeom>
          <a:solidFill>
            <a:srgbClr val="8E44AD"/>
          </a:solidFill>
          <a:ln/>
        </p:spPr>
      </p:sp>
      <p:sp>
        <p:nvSpPr>
          <p:cNvPr id="23" name="Shape 21"/>
          <p:cNvSpPr/>
          <p:nvPr/>
        </p:nvSpPr>
        <p:spPr>
          <a:xfrm>
            <a:off x="6095848" y="6748272"/>
            <a:ext cx="304792" cy="109728"/>
          </a:xfrm>
          <a:prstGeom prst="rect">
            <a:avLst/>
          </a:prstGeom>
          <a:solidFill>
            <a:srgbClr val="C0392B"/>
          </a:solidFill>
          <a:ln/>
        </p:spPr>
      </p:sp>
      <p:sp>
        <p:nvSpPr>
          <p:cNvPr id="24" name="Shape 22"/>
          <p:cNvSpPr/>
          <p:nvPr/>
        </p:nvSpPr>
        <p:spPr>
          <a:xfrm>
            <a:off x="6400640" y="6748272"/>
            <a:ext cx="304792" cy="109728"/>
          </a:xfrm>
          <a:prstGeom prst="rect">
            <a:avLst/>
          </a:prstGeom>
          <a:solidFill>
            <a:srgbClr val="E67E22"/>
          </a:solidFill>
          <a:ln/>
        </p:spPr>
      </p:sp>
      <p:sp>
        <p:nvSpPr>
          <p:cNvPr id="25" name="Shape 23"/>
          <p:cNvSpPr/>
          <p:nvPr/>
        </p:nvSpPr>
        <p:spPr>
          <a:xfrm>
            <a:off x="6705432" y="6748272"/>
            <a:ext cx="304792" cy="109728"/>
          </a:xfrm>
          <a:prstGeom prst="rect">
            <a:avLst/>
          </a:prstGeom>
          <a:solidFill>
            <a:srgbClr val="27AE60"/>
          </a:solidFill>
          <a:ln/>
        </p:spPr>
      </p:sp>
      <p:sp>
        <p:nvSpPr>
          <p:cNvPr id="26" name="Shape 24"/>
          <p:cNvSpPr/>
          <p:nvPr/>
        </p:nvSpPr>
        <p:spPr>
          <a:xfrm>
            <a:off x="7010225" y="6748272"/>
            <a:ext cx="304792" cy="109728"/>
          </a:xfrm>
          <a:prstGeom prst="rect">
            <a:avLst/>
          </a:prstGeom>
          <a:solidFill>
            <a:srgbClr val="1F618D"/>
          </a:solidFill>
          <a:ln/>
        </p:spPr>
      </p:sp>
      <p:sp>
        <p:nvSpPr>
          <p:cNvPr id="27" name="Shape 25"/>
          <p:cNvSpPr/>
          <p:nvPr/>
        </p:nvSpPr>
        <p:spPr>
          <a:xfrm>
            <a:off x="7315017" y="6748272"/>
            <a:ext cx="304792" cy="109728"/>
          </a:xfrm>
          <a:prstGeom prst="rect">
            <a:avLst/>
          </a:prstGeom>
          <a:solidFill>
            <a:srgbClr val="8E44AD"/>
          </a:solidFill>
          <a:ln/>
        </p:spPr>
      </p:sp>
      <p:sp>
        <p:nvSpPr>
          <p:cNvPr id="28" name="Shape 26"/>
          <p:cNvSpPr/>
          <p:nvPr/>
        </p:nvSpPr>
        <p:spPr>
          <a:xfrm>
            <a:off x="7619809" y="6748272"/>
            <a:ext cx="304792" cy="109728"/>
          </a:xfrm>
          <a:prstGeom prst="rect">
            <a:avLst/>
          </a:prstGeom>
          <a:solidFill>
            <a:srgbClr val="C0392B"/>
          </a:solidFill>
          <a:ln/>
        </p:spPr>
      </p:sp>
      <p:sp>
        <p:nvSpPr>
          <p:cNvPr id="29" name="Shape 27"/>
          <p:cNvSpPr/>
          <p:nvPr/>
        </p:nvSpPr>
        <p:spPr>
          <a:xfrm>
            <a:off x="7924602" y="6748272"/>
            <a:ext cx="304792" cy="109728"/>
          </a:xfrm>
          <a:prstGeom prst="rect">
            <a:avLst/>
          </a:prstGeom>
          <a:solidFill>
            <a:srgbClr val="E67E22"/>
          </a:solidFill>
          <a:ln/>
        </p:spPr>
      </p:sp>
      <p:sp>
        <p:nvSpPr>
          <p:cNvPr id="30" name="Shape 28"/>
          <p:cNvSpPr/>
          <p:nvPr/>
        </p:nvSpPr>
        <p:spPr>
          <a:xfrm>
            <a:off x="8229394" y="6748272"/>
            <a:ext cx="304792" cy="109728"/>
          </a:xfrm>
          <a:prstGeom prst="rect">
            <a:avLst/>
          </a:prstGeom>
          <a:solidFill>
            <a:srgbClr val="27AE60"/>
          </a:solidFill>
          <a:ln/>
        </p:spPr>
      </p:sp>
      <p:sp>
        <p:nvSpPr>
          <p:cNvPr id="31" name="Shape 29"/>
          <p:cNvSpPr/>
          <p:nvPr/>
        </p:nvSpPr>
        <p:spPr>
          <a:xfrm>
            <a:off x="8534187" y="6748272"/>
            <a:ext cx="304792" cy="109728"/>
          </a:xfrm>
          <a:prstGeom prst="rect">
            <a:avLst/>
          </a:prstGeom>
          <a:solidFill>
            <a:srgbClr val="1F618D"/>
          </a:solidFill>
          <a:ln/>
        </p:spPr>
      </p:sp>
      <p:sp>
        <p:nvSpPr>
          <p:cNvPr id="32" name="Shape 30"/>
          <p:cNvSpPr/>
          <p:nvPr/>
        </p:nvSpPr>
        <p:spPr>
          <a:xfrm>
            <a:off x="8838979" y="6748272"/>
            <a:ext cx="304792" cy="109728"/>
          </a:xfrm>
          <a:prstGeom prst="rect">
            <a:avLst/>
          </a:prstGeom>
          <a:solidFill>
            <a:srgbClr val="8E44AD"/>
          </a:solidFill>
          <a:ln/>
        </p:spPr>
      </p:sp>
      <p:sp>
        <p:nvSpPr>
          <p:cNvPr id="33" name="Shape 31"/>
          <p:cNvSpPr/>
          <p:nvPr/>
        </p:nvSpPr>
        <p:spPr>
          <a:xfrm>
            <a:off x="9143771" y="6748272"/>
            <a:ext cx="304792" cy="109728"/>
          </a:xfrm>
          <a:prstGeom prst="rect">
            <a:avLst/>
          </a:prstGeom>
          <a:solidFill>
            <a:srgbClr val="C0392B"/>
          </a:solidFill>
          <a:ln/>
        </p:spPr>
      </p:sp>
      <p:sp>
        <p:nvSpPr>
          <p:cNvPr id="34" name="Shape 32"/>
          <p:cNvSpPr/>
          <p:nvPr/>
        </p:nvSpPr>
        <p:spPr>
          <a:xfrm>
            <a:off x="9448564" y="6748272"/>
            <a:ext cx="304792" cy="109728"/>
          </a:xfrm>
          <a:prstGeom prst="rect">
            <a:avLst/>
          </a:prstGeom>
          <a:solidFill>
            <a:srgbClr val="E67E22"/>
          </a:solidFill>
          <a:ln/>
        </p:spPr>
      </p:sp>
      <p:sp>
        <p:nvSpPr>
          <p:cNvPr id="35" name="Shape 33"/>
          <p:cNvSpPr/>
          <p:nvPr/>
        </p:nvSpPr>
        <p:spPr>
          <a:xfrm>
            <a:off x="9753356" y="6748272"/>
            <a:ext cx="304792" cy="109728"/>
          </a:xfrm>
          <a:prstGeom prst="rect">
            <a:avLst/>
          </a:prstGeom>
          <a:solidFill>
            <a:srgbClr val="27AE60"/>
          </a:solidFill>
          <a:ln/>
        </p:spPr>
      </p:sp>
      <p:sp>
        <p:nvSpPr>
          <p:cNvPr id="36" name="Shape 34"/>
          <p:cNvSpPr/>
          <p:nvPr/>
        </p:nvSpPr>
        <p:spPr>
          <a:xfrm>
            <a:off x="10058149" y="6748272"/>
            <a:ext cx="304792" cy="109728"/>
          </a:xfrm>
          <a:prstGeom prst="rect">
            <a:avLst/>
          </a:prstGeom>
          <a:solidFill>
            <a:srgbClr val="1F618D"/>
          </a:solidFill>
          <a:ln/>
        </p:spPr>
      </p:sp>
      <p:sp>
        <p:nvSpPr>
          <p:cNvPr id="37" name="Shape 35"/>
          <p:cNvSpPr/>
          <p:nvPr/>
        </p:nvSpPr>
        <p:spPr>
          <a:xfrm>
            <a:off x="10362941" y="6748272"/>
            <a:ext cx="304792" cy="109728"/>
          </a:xfrm>
          <a:prstGeom prst="rect">
            <a:avLst/>
          </a:prstGeom>
          <a:solidFill>
            <a:srgbClr val="8E44AD"/>
          </a:solidFill>
          <a:ln/>
        </p:spPr>
      </p:sp>
      <p:sp>
        <p:nvSpPr>
          <p:cNvPr id="38" name="Shape 36"/>
          <p:cNvSpPr/>
          <p:nvPr/>
        </p:nvSpPr>
        <p:spPr>
          <a:xfrm>
            <a:off x="10667733" y="6748272"/>
            <a:ext cx="304792" cy="109728"/>
          </a:xfrm>
          <a:prstGeom prst="rect">
            <a:avLst/>
          </a:prstGeom>
          <a:solidFill>
            <a:srgbClr val="C0392B"/>
          </a:solidFill>
          <a:ln/>
        </p:spPr>
      </p:sp>
      <p:sp>
        <p:nvSpPr>
          <p:cNvPr id="39" name="Shape 37"/>
          <p:cNvSpPr/>
          <p:nvPr/>
        </p:nvSpPr>
        <p:spPr>
          <a:xfrm>
            <a:off x="10972526" y="6748272"/>
            <a:ext cx="304792" cy="109728"/>
          </a:xfrm>
          <a:prstGeom prst="rect">
            <a:avLst/>
          </a:prstGeom>
          <a:solidFill>
            <a:srgbClr val="E67E22"/>
          </a:solidFill>
          <a:ln/>
        </p:spPr>
      </p:sp>
      <p:sp>
        <p:nvSpPr>
          <p:cNvPr id="40" name="Shape 38"/>
          <p:cNvSpPr/>
          <p:nvPr/>
        </p:nvSpPr>
        <p:spPr>
          <a:xfrm>
            <a:off x="11277318" y="6748272"/>
            <a:ext cx="304792" cy="109728"/>
          </a:xfrm>
          <a:prstGeom prst="rect">
            <a:avLst/>
          </a:prstGeom>
          <a:solidFill>
            <a:srgbClr val="27AE60"/>
          </a:solidFill>
          <a:ln/>
        </p:spPr>
      </p:sp>
      <p:sp>
        <p:nvSpPr>
          <p:cNvPr id="41" name="Shape 39"/>
          <p:cNvSpPr/>
          <p:nvPr/>
        </p:nvSpPr>
        <p:spPr>
          <a:xfrm>
            <a:off x="11582110" y="6748272"/>
            <a:ext cx="304792" cy="109728"/>
          </a:xfrm>
          <a:prstGeom prst="rect">
            <a:avLst/>
          </a:prstGeom>
          <a:solidFill>
            <a:srgbClr val="1F618D"/>
          </a:solidFill>
          <a:ln/>
        </p:spPr>
      </p:sp>
      <p:sp>
        <p:nvSpPr>
          <p:cNvPr id="42" name="Shape 40"/>
          <p:cNvSpPr/>
          <p:nvPr/>
        </p:nvSpPr>
        <p:spPr>
          <a:xfrm>
            <a:off x="11886903" y="6748272"/>
            <a:ext cx="304792" cy="109728"/>
          </a:xfrm>
          <a:prstGeom prst="rect">
            <a:avLst/>
          </a:prstGeom>
          <a:solidFill>
            <a:srgbClr val="8E44AD"/>
          </a:solidFill>
          <a:ln/>
        </p:spPr>
      </p:sp>
      <p:sp>
        <p:nvSpPr>
          <p:cNvPr id="43" name="Text 41"/>
          <p:cNvSpPr txBox="1"/>
          <p:nvPr/>
        </p:nvSpPr>
        <p:spPr>
          <a:xfrm>
            <a:off x="54864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In short   3</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roll   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Adjudication   5</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By district   6</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reasons   7</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Women   8</a:t>
            </a:r>
            <a:endParaRPr lang="en-US" sz="1700" dirty="0"/>
          </a:p>
        </p:txBody>
      </p:sp>
      <p:sp>
        <p:nvSpPr>
          <p:cNvPr id="44" name="Text 42"/>
          <p:cNvSpPr txBox="1"/>
          <p:nvPr/>
        </p:nvSpPr>
        <p:spPr>
          <a:xfrm>
            <a:off x="621792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After the draft   9</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2026 election   10–12</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Limits   13</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What the Election Commission should do   14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Method   15–16</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IN SHORT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The revision left 7.6 of every 100 electors off the draft, and held back 60.1 lakh more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Six findings, each computed from the published tables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Text 45"/>
          <p:cNvSpPr txBox="1"/>
          <p:nvPr/>
        </p:nvSpPr>
        <p:spPr>
          <a:xfrm>
            <a:off x="548640" y="1691640"/>
            <a:ext cx="11094415" cy="388620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500" dirty="0">
                <a:solidFill>
                  <a:srgbClr val="1C2833"/>
                </a:solidFill>
                <a:latin typeface="Calibri" pitchFamily="34" charset="0"/>
                <a:ea typeface="Calibri" pitchFamily="34" charset="-122"/>
                <a:cs typeface="Calibri" pitchFamily="34" charset="-120"/>
              </a:rPr>
              <a:t>58.2 lakh names were left off the draft roll, 7.6 of every 100 electors, and another 60.1 lakh were held back from the final roll for adjudication.</a:t>
            </a:r>
            <a:endParaRPr lang="en-US" sz="1500" dirty="0"/>
          </a:p>
          <a:p>
            <a:pPr marL="342900" indent="-342900">
              <a:spcAft>
                <a:spcPts val="1000"/>
              </a:spcAft>
              <a:buSzPct val="100000"/>
              <a:buFont typeface="+mj-lt"/>
              <a:buAutoNum type="arabicPeriod" startAt="1"/>
            </a:pPr>
            <a:r>
              <a:rPr lang="en-US" sz="1500" dirty="0">
                <a:solidFill>
                  <a:srgbClr val="1C2833"/>
                </a:solidFill>
                <a:latin typeface="Calibri" pitchFamily="34" charset="0"/>
                <a:ea typeface="Calibri" pitchFamily="34" charset="-122"/>
                <a:cs typeface="Calibri" pitchFamily="34" charset="-120"/>
              </a:rPr>
              <a:t>In 139 of the 294 constituencies, the roll fell by more than the 2026 winning margin, large enough to decide the seat. At each seat's turnout the number is 132.</a:t>
            </a:r>
            <a:endParaRPr lang="en-US" sz="1500" dirty="0"/>
          </a:p>
          <a:p>
            <a:pPr marL="342900" indent="-342900">
              <a:spcAft>
                <a:spcPts val="1000"/>
              </a:spcAft>
              <a:buSzPct val="100000"/>
              <a:buFont typeface="+mj-lt"/>
              <a:buAutoNum type="arabicPeriod" startAt="1"/>
            </a:pPr>
            <a:r>
              <a:rPr lang="en-US" sz="1500" dirty="0">
                <a:solidFill>
                  <a:srgbClr val="1C2833"/>
                </a:solidFill>
                <a:latin typeface="Calibri" pitchFamily="34" charset="0"/>
                <a:ea typeface="Calibri" pitchFamily="34" charset="-122"/>
                <a:cs typeface="Calibri" pitchFamily="34" charset="-120"/>
              </a:rPr>
              <a:t>Women were 53.5% of the names left off the draft, against 49.2% of the roll before it.</a:t>
            </a:r>
            <a:endParaRPr lang="en-US" sz="1500" dirty="0"/>
          </a:p>
          <a:p>
            <a:pPr marL="342900" indent="-342900">
              <a:spcAft>
                <a:spcPts val="1000"/>
              </a:spcAft>
              <a:buSzPct val="100000"/>
              <a:buFont typeface="+mj-lt"/>
              <a:buAutoNum type="arabicPeriod" startAt="1"/>
            </a:pPr>
            <a:r>
              <a:rPr lang="en-US" sz="1500" dirty="0">
                <a:solidFill>
                  <a:srgbClr val="1C2833"/>
                </a:solidFill>
                <a:latin typeface="Calibri" pitchFamily="34" charset="0"/>
                <a:ea typeface="Calibri" pitchFamily="34" charset="-122"/>
                <a:cs typeface="Calibri" pitchFamily="34" charset="-120"/>
              </a:rPr>
              <a:t>Of the names held back, 27.2 lakh were found not eligible, as reported, and 1,607 were restored by appeal in time to vote.</a:t>
            </a:r>
            <a:endParaRPr lang="en-US" sz="1500" dirty="0"/>
          </a:p>
          <a:p>
            <a:pPr marL="342900" indent="-342900">
              <a:spcAft>
                <a:spcPts val="1000"/>
              </a:spcAft>
              <a:buSzPct val="100000"/>
              <a:buFont typeface="+mj-lt"/>
              <a:buAutoNum type="arabicPeriod" startAt="1"/>
            </a:pPr>
            <a:r>
              <a:rPr lang="en-US" sz="1500" dirty="0">
                <a:solidFill>
                  <a:srgbClr val="1C2833"/>
                </a:solidFill>
                <a:latin typeface="Calibri" pitchFamily="34" charset="0"/>
                <a:ea typeface="Calibri" pitchFamily="34" charset="-122"/>
                <a:cs typeface="Calibri" pitchFamily="34" charset="-120"/>
              </a:rPr>
              <a:t>The roll the election was held on was 77.6 lakh smaller than in 2024. Kolkata North's fell by 28.0 per 100.</a:t>
            </a:r>
            <a:endParaRPr lang="en-US" sz="1500" dirty="0"/>
          </a:p>
          <a:p>
            <a:pPr marL="342900" indent="-342900">
              <a:spcAft>
                <a:spcPts val="1000"/>
              </a:spcAft>
              <a:buSzPct val="100000"/>
              <a:buFont typeface="+mj-lt"/>
              <a:buAutoNum type="arabicPeriod" startAt="1"/>
            </a:pPr>
            <a:r>
              <a:rPr lang="en-US" sz="1500" dirty="0">
                <a:solidFill>
                  <a:srgbClr val="1C2833"/>
                </a:solidFill>
                <a:latin typeface="Calibri" pitchFamily="34" charset="0"/>
                <a:ea typeface="Calibri" pitchFamily="34" charset="-122"/>
                <a:cs typeface="Calibri" pitchFamily="34" charset="-120"/>
              </a:rPr>
              <a:t>41.5% of the names left off were entered as dead, 34.1% as shifted and 21.0% as absent.</a:t>
            </a:r>
            <a:endParaRPr lang="en-US" sz="1500" dirty="0"/>
          </a:p>
        </p:txBody>
      </p:sp>
      <p:sp>
        <p:nvSpPr>
          <p:cNvPr id="48" name="Text 46"/>
          <p:cNvSpPr txBox="1"/>
          <p:nvPr/>
        </p:nvSpPr>
        <p:spPr>
          <a:xfrm>
            <a:off x="548640" y="5852160"/>
            <a:ext cx="11094415" cy="411480"/>
          </a:xfrm>
          <a:prstGeom prst="rect">
            <a:avLst/>
          </a:prstGeom>
          <a:noFill/>
          <a:ln/>
        </p:spPr>
        <p:txBody>
          <a:bodyPr wrap="square" lIns="0" tIns="0" rIns="0" bIns="0" rtlCol="0" anchor="t">
            <a:normAutofit/>
          </a:bodyPr>
          <a:lstStyle/>
          <a:p>
            <a:pPr indent="0" marL="0">
              <a:spcAft>
                <a:spcPts val="800"/>
              </a:spcAft>
              <a:buNone/>
            </a:pPr>
            <a:r>
              <a:rPr lang="en-US" sz="1200" dirty="0">
                <a:solidFill>
                  <a:srgbClr val="4D5B69"/>
                </a:solidFill>
                <a:latin typeface="Calibri" pitchFamily="34" charset="0"/>
                <a:ea typeface="Calibri" pitchFamily="34" charset="-122"/>
                <a:cs typeface="Calibri" pitchFamily="34" charset="-120"/>
              </a:rPr>
              <a:t>The fall in the roll from 2024 includes ordinary changes as well as the revision. A reason on the list is what the officer wrote down, and nobody checked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THE ROLL</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The roll fell from 7.66 crore to 6.45 crore at the final roll, and stood at 6.83 crore for the election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state's roll, step by step, as the Chief Electoral Officer reported it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687320" y="2506494"/>
            <a:ext cx="647174" cy="3071346"/>
          </a:xfrm>
          <a:prstGeom prst="rect">
            <a:avLst/>
          </a:prstGeom>
          <a:solidFill>
            <a:srgbClr val="1F618D"/>
          </a:solidFill>
          <a:ln/>
        </p:spPr>
      </p:sp>
      <p:sp>
        <p:nvSpPr>
          <p:cNvPr id="48" name="Text 46"/>
          <p:cNvSpPr txBox="1"/>
          <p:nvPr/>
        </p:nvSpPr>
        <p:spPr>
          <a:xfrm>
            <a:off x="548640" y="2232174"/>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7,66,37,529</a:t>
            </a:r>
            <a:endParaRPr lang="en-US" sz="1000" dirty="0"/>
          </a:p>
        </p:txBody>
      </p:sp>
      <p:sp>
        <p:nvSpPr>
          <p:cNvPr id="49" name="Text 47"/>
          <p:cNvSpPr txBox="1"/>
          <p:nvPr/>
        </p:nvSpPr>
        <p:spPr>
          <a:xfrm>
            <a:off x="548640"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Roll of Oct 2025</a:t>
            </a:r>
            <a:endParaRPr lang="en-US" sz="1000" dirty="0"/>
          </a:p>
        </p:txBody>
      </p:sp>
      <p:sp>
        <p:nvSpPr>
          <p:cNvPr id="50" name="Shape 48"/>
          <p:cNvSpPr/>
          <p:nvPr/>
        </p:nvSpPr>
        <p:spPr>
          <a:xfrm>
            <a:off x="1611855" y="2506494"/>
            <a:ext cx="647174" cy="327906"/>
          </a:xfrm>
          <a:prstGeom prst="rect">
            <a:avLst/>
          </a:prstGeom>
          <a:solidFill>
            <a:srgbClr val="C0392B"/>
          </a:solidFill>
          <a:ln/>
        </p:spPr>
      </p:sp>
      <p:sp>
        <p:nvSpPr>
          <p:cNvPr id="51" name="Text 49"/>
          <p:cNvSpPr txBox="1"/>
          <p:nvPr/>
        </p:nvSpPr>
        <p:spPr>
          <a:xfrm>
            <a:off x="1473175" y="2232174"/>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−24,16,852</a:t>
            </a:r>
            <a:endParaRPr lang="en-US" sz="1000" dirty="0"/>
          </a:p>
        </p:txBody>
      </p:sp>
      <p:sp>
        <p:nvSpPr>
          <p:cNvPr id="52" name="Text 50"/>
          <p:cNvSpPr txBox="1"/>
          <p:nvPr/>
        </p:nvSpPr>
        <p:spPr>
          <a:xfrm>
            <a:off x="1473175"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Dead</a:t>
            </a:r>
            <a:endParaRPr lang="en-US" sz="1000" dirty="0"/>
          </a:p>
        </p:txBody>
      </p:sp>
      <p:sp>
        <p:nvSpPr>
          <p:cNvPr id="53" name="Shape 51"/>
          <p:cNvSpPr/>
          <p:nvPr/>
        </p:nvSpPr>
        <p:spPr>
          <a:xfrm>
            <a:off x="2536389" y="2834400"/>
            <a:ext cx="647174" cy="269732"/>
          </a:xfrm>
          <a:prstGeom prst="rect">
            <a:avLst/>
          </a:prstGeom>
          <a:solidFill>
            <a:srgbClr val="C0392B"/>
          </a:solidFill>
          <a:ln/>
        </p:spPr>
      </p:sp>
      <p:sp>
        <p:nvSpPr>
          <p:cNvPr id="54" name="Text 52"/>
          <p:cNvSpPr txBox="1"/>
          <p:nvPr/>
        </p:nvSpPr>
        <p:spPr>
          <a:xfrm>
            <a:off x="2397709" y="2560080"/>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−19,88,076</a:t>
            </a:r>
            <a:endParaRPr lang="en-US" sz="1000" dirty="0"/>
          </a:p>
        </p:txBody>
      </p:sp>
      <p:sp>
        <p:nvSpPr>
          <p:cNvPr id="55" name="Text 53"/>
          <p:cNvSpPr txBox="1"/>
          <p:nvPr/>
        </p:nvSpPr>
        <p:spPr>
          <a:xfrm>
            <a:off x="2397709"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Shifted</a:t>
            </a:r>
            <a:endParaRPr lang="en-US" sz="1000" dirty="0"/>
          </a:p>
        </p:txBody>
      </p:sp>
      <p:sp>
        <p:nvSpPr>
          <p:cNvPr id="56" name="Shape 54"/>
          <p:cNvSpPr/>
          <p:nvPr/>
        </p:nvSpPr>
        <p:spPr>
          <a:xfrm>
            <a:off x="3460924" y="3104132"/>
            <a:ext cx="647174" cy="165529"/>
          </a:xfrm>
          <a:prstGeom prst="rect">
            <a:avLst/>
          </a:prstGeom>
          <a:solidFill>
            <a:srgbClr val="C0392B"/>
          </a:solidFill>
          <a:ln/>
        </p:spPr>
      </p:sp>
      <p:sp>
        <p:nvSpPr>
          <p:cNvPr id="57" name="Text 55"/>
          <p:cNvSpPr txBox="1"/>
          <p:nvPr/>
        </p:nvSpPr>
        <p:spPr>
          <a:xfrm>
            <a:off x="3322244" y="2829812"/>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−12,20,039</a:t>
            </a:r>
            <a:endParaRPr lang="en-US" sz="1000" dirty="0"/>
          </a:p>
        </p:txBody>
      </p:sp>
      <p:sp>
        <p:nvSpPr>
          <p:cNvPr id="58" name="Text 56"/>
          <p:cNvSpPr txBox="1"/>
          <p:nvPr/>
        </p:nvSpPr>
        <p:spPr>
          <a:xfrm>
            <a:off x="3322244"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Absent</a:t>
            </a:r>
            <a:endParaRPr lang="en-US" sz="1000" dirty="0"/>
          </a:p>
        </p:txBody>
      </p:sp>
      <p:sp>
        <p:nvSpPr>
          <p:cNvPr id="59" name="Shape 57"/>
          <p:cNvSpPr/>
          <p:nvPr/>
        </p:nvSpPr>
        <p:spPr>
          <a:xfrm>
            <a:off x="4385459" y="3269661"/>
            <a:ext cx="647174" cy="26583"/>
          </a:xfrm>
          <a:prstGeom prst="rect">
            <a:avLst/>
          </a:prstGeom>
          <a:solidFill>
            <a:srgbClr val="C0392B"/>
          </a:solidFill>
          <a:ln/>
        </p:spPr>
      </p:sp>
      <p:sp>
        <p:nvSpPr>
          <p:cNvPr id="60" name="Text 58"/>
          <p:cNvSpPr txBox="1"/>
          <p:nvPr/>
        </p:nvSpPr>
        <p:spPr>
          <a:xfrm>
            <a:off x="4246778" y="2995341"/>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−1,95,932</a:t>
            </a:r>
            <a:endParaRPr lang="en-US" sz="1000" dirty="0"/>
          </a:p>
        </p:txBody>
      </p:sp>
      <p:sp>
        <p:nvSpPr>
          <p:cNvPr id="61" name="Text 59"/>
          <p:cNvSpPr txBox="1"/>
          <p:nvPr/>
        </p:nvSpPr>
        <p:spPr>
          <a:xfrm>
            <a:off x="4246778"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Enrolled elsewhere and other</a:t>
            </a:r>
            <a:endParaRPr lang="en-US" sz="1000" dirty="0"/>
          </a:p>
        </p:txBody>
      </p:sp>
      <p:sp>
        <p:nvSpPr>
          <p:cNvPr id="62" name="Shape 60"/>
          <p:cNvSpPr/>
          <p:nvPr/>
        </p:nvSpPr>
        <p:spPr>
          <a:xfrm>
            <a:off x="5309993" y="3296244"/>
            <a:ext cx="647174" cy="2281596"/>
          </a:xfrm>
          <a:prstGeom prst="rect">
            <a:avLst/>
          </a:prstGeom>
          <a:solidFill>
            <a:srgbClr val="1F618D"/>
          </a:solidFill>
          <a:ln/>
        </p:spPr>
      </p:sp>
      <p:sp>
        <p:nvSpPr>
          <p:cNvPr id="63" name="Text 61"/>
          <p:cNvSpPr txBox="1"/>
          <p:nvPr/>
        </p:nvSpPr>
        <p:spPr>
          <a:xfrm>
            <a:off x="5171313" y="3021924"/>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7,08,16,630</a:t>
            </a:r>
            <a:endParaRPr lang="en-US" sz="1000" dirty="0"/>
          </a:p>
        </p:txBody>
      </p:sp>
      <p:sp>
        <p:nvSpPr>
          <p:cNvPr id="64" name="Text 62"/>
          <p:cNvSpPr txBox="1"/>
          <p:nvPr/>
        </p:nvSpPr>
        <p:spPr>
          <a:xfrm>
            <a:off x="5171313"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Draft roll</a:t>
            </a:r>
            <a:endParaRPr lang="en-US" sz="1000" dirty="0"/>
          </a:p>
        </p:txBody>
      </p:sp>
      <p:sp>
        <p:nvSpPr>
          <p:cNvPr id="65" name="Shape 63"/>
          <p:cNvSpPr/>
          <p:nvPr/>
        </p:nvSpPr>
        <p:spPr>
          <a:xfrm>
            <a:off x="6234528" y="3270641"/>
            <a:ext cx="647174" cy="25603"/>
          </a:xfrm>
          <a:prstGeom prst="rect">
            <a:avLst/>
          </a:prstGeom>
          <a:solidFill>
            <a:srgbClr val="17A589"/>
          </a:solidFill>
          <a:ln/>
        </p:spPr>
      </p:sp>
      <p:sp>
        <p:nvSpPr>
          <p:cNvPr id="66" name="Text 64"/>
          <p:cNvSpPr txBox="1"/>
          <p:nvPr/>
        </p:nvSpPr>
        <p:spPr>
          <a:xfrm>
            <a:off x="6095848" y="2996321"/>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+1,88,707</a:t>
            </a:r>
            <a:endParaRPr lang="en-US" sz="1000" dirty="0"/>
          </a:p>
        </p:txBody>
      </p:sp>
      <p:sp>
        <p:nvSpPr>
          <p:cNvPr id="67" name="Text 65"/>
          <p:cNvSpPr txBox="1"/>
          <p:nvPr/>
        </p:nvSpPr>
        <p:spPr>
          <a:xfrm>
            <a:off x="6095848"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Added on claims</a:t>
            </a:r>
            <a:endParaRPr lang="en-US" sz="1000" dirty="0"/>
          </a:p>
        </p:txBody>
      </p:sp>
      <p:sp>
        <p:nvSpPr>
          <p:cNvPr id="68" name="Shape 66"/>
          <p:cNvSpPr/>
          <p:nvPr/>
        </p:nvSpPr>
        <p:spPr>
          <a:xfrm>
            <a:off x="7159062" y="3270641"/>
            <a:ext cx="647174" cy="74086"/>
          </a:xfrm>
          <a:prstGeom prst="rect">
            <a:avLst/>
          </a:prstGeom>
          <a:solidFill>
            <a:srgbClr val="C0392B"/>
          </a:solidFill>
          <a:ln/>
        </p:spPr>
      </p:sp>
      <p:sp>
        <p:nvSpPr>
          <p:cNvPr id="69" name="Text 67"/>
          <p:cNvSpPr txBox="1"/>
          <p:nvPr/>
        </p:nvSpPr>
        <p:spPr>
          <a:xfrm>
            <a:off x="7020382" y="2996321"/>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−5,46,053</a:t>
            </a:r>
            <a:endParaRPr lang="en-US" sz="1000" dirty="0"/>
          </a:p>
        </p:txBody>
      </p:sp>
      <p:sp>
        <p:nvSpPr>
          <p:cNvPr id="70" name="Text 68"/>
          <p:cNvSpPr txBox="1"/>
          <p:nvPr/>
        </p:nvSpPr>
        <p:spPr>
          <a:xfrm>
            <a:off x="7020382"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Removed on objections</a:t>
            </a:r>
            <a:endParaRPr lang="en-US" sz="1000" dirty="0"/>
          </a:p>
        </p:txBody>
      </p:sp>
      <p:sp>
        <p:nvSpPr>
          <p:cNvPr id="71" name="Shape 69"/>
          <p:cNvSpPr/>
          <p:nvPr/>
        </p:nvSpPr>
        <p:spPr>
          <a:xfrm>
            <a:off x="8083597" y="3344727"/>
            <a:ext cx="647174" cy="814955"/>
          </a:xfrm>
          <a:prstGeom prst="rect">
            <a:avLst/>
          </a:prstGeom>
          <a:solidFill>
            <a:srgbClr val="C0392B"/>
          </a:solidFill>
          <a:ln/>
        </p:spPr>
      </p:sp>
      <p:sp>
        <p:nvSpPr>
          <p:cNvPr id="72" name="Text 70"/>
          <p:cNvSpPr txBox="1"/>
          <p:nvPr/>
        </p:nvSpPr>
        <p:spPr>
          <a:xfrm>
            <a:off x="7944917" y="3070407"/>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−60,06,675</a:t>
            </a:r>
            <a:endParaRPr lang="en-US" sz="1000" dirty="0"/>
          </a:p>
        </p:txBody>
      </p:sp>
      <p:sp>
        <p:nvSpPr>
          <p:cNvPr id="73" name="Text 71"/>
          <p:cNvSpPr txBox="1"/>
          <p:nvPr/>
        </p:nvSpPr>
        <p:spPr>
          <a:xfrm>
            <a:off x="7944917"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Held back</a:t>
            </a:r>
            <a:endParaRPr lang="en-US" sz="1000" dirty="0"/>
          </a:p>
        </p:txBody>
      </p:sp>
      <p:sp>
        <p:nvSpPr>
          <p:cNvPr id="74" name="Shape 72"/>
          <p:cNvSpPr/>
          <p:nvPr/>
        </p:nvSpPr>
        <p:spPr>
          <a:xfrm>
            <a:off x="9008132" y="4159683"/>
            <a:ext cx="647174" cy="1418157"/>
          </a:xfrm>
          <a:prstGeom prst="rect">
            <a:avLst/>
          </a:prstGeom>
          <a:solidFill>
            <a:srgbClr val="1F618D"/>
          </a:solidFill>
          <a:ln/>
        </p:spPr>
      </p:sp>
      <p:sp>
        <p:nvSpPr>
          <p:cNvPr id="75" name="Text 73"/>
          <p:cNvSpPr txBox="1"/>
          <p:nvPr/>
        </p:nvSpPr>
        <p:spPr>
          <a:xfrm>
            <a:off x="8869451" y="3885363"/>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6,44,52,609</a:t>
            </a:r>
            <a:endParaRPr lang="en-US" sz="1000" dirty="0"/>
          </a:p>
        </p:txBody>
      </p:sp>
      <p:sp>
        <p:nvSpPr>
          <p:cNvPr id="76" name="Text 74"/>
          <p:cNvSpPr txBox="1"/>
          <p:nvPr/>
        </p:nvSpPr>
        <p:spPr>
          <a:xfrm>
            <a:off x="8869451"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Final roll</a:t>
            </a:r>
            <a:endParaRPr lang="en-US" sz="1000" dirty="0"/>
          </a:p>
        </p:txBody>
      </p:sp>
      <p:sp>
        <p:nvSpPr>
          <p:cNvPr id="77" name="Shape 75"/>
          <p:cNvSpPr/>
          <p:nvPr/>
        </p:nvSpPr>
        <p:spPr>
          <a:xfrm>
            <a:off x="9932666" y="3644335"/>
            <a:ext cx="647174" cy="515348"/>
          </a:xfrm>
          <a:prstGeom prst="rect">
            <a:avLst/>
          </a:prstGeom>
          <a:solidFill>
            <a:srgbClr val="17A589"/>
          </a:solidFill>
          <a:ln/>
        </p:spPr>
      </p:sp>
      <p:sp>
        <p:nvSpPr>
          <p:cNvPr id="78" name="Text 76"/>
          <p:cNvSpPr txBox="1"/>
          <p:nvPr/>
        </p:nvSpPr>
        <p:spPr>
          <a:xfrm>
            <a:off x="9793986" y="3370015"/>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+37,98,399</a:t>
            </a:r>
            <a:endParaRPr lang="en-US" sz="1000" dirty="0"/>
          </a:p>
        </p:txBody>
      </p:sp>
      <p:sp>
        <p:nvSpPr>
          <p:cNvPr id="79" name="Text 77"/>
          <p:cNvSpPr txBox="1"/>
          <p:nvPr/>
        </p:nvSpPr>
        <p:spPr>
          <a:xfrm>
            <a:off x="9793986"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Net change after</a:t>
            </a:r>
            <a:endParaRPr lang="en-US" sz="1000" dirty="0"/>
          </a:p>
        </p:txBody>
      </p:sp>
      <p:sp>
        <p:nvSpPr>
          <p:cNvPr id="80" name="Shape 78"/>
          <p:cNvSpPr/>
          <p:nvPr/>
        </p:nvSpPr>
        <p:spPr>
          <a:xfrm>
            <a:off x="10857201" y="3644335"/>
            <a:ext cx="647174" cy="1933505"/>
          </a:xfrm>
          <a:prstGeom prst="rect">
            <a:avLst/>
          </a:prstGeom>
          <a:solidFill>
            <a:srgbClr val="1F618D"/>
          </a:solidFill>
          <a:ln/>
        </p:spPr>
      </p:sp>
      <p:sp>
        <p:nvSpPr>
          <p:cNvPr id="81" name="Text 79"/>
          <p:cNvSpPr txBox="1"/>
          <p:nvPr/>
        </p:nvSpPr>
        <p:spPr>
          <a:xfrm>
            <a:off x="10718521" y="3370015"/>
            <a:ext cx="924535" cy="256032"/>
          </a:xfrm>
          <a:prstGeom prst="rect">
            <a:avLst/>
          </a:prstGeom>
          <a:noFill/>
          <a:ln/>
        </p:spPr>
        <p:txBody>
          <a:bodyPr wrap="square" lIns="0" tIns="0" rIns="0" bIns="0" rtlCol="0" anchor="ctr">
            <a:normAutofit/>
          </a:bodyPr>
          <a:lstStyle/>
          <a:p>
            <a:pPr algn="ctr" indent="0" marL="0">
              <a:buNone/>
            </a:pPr>
            <a:r>
              <a:rPr lang="en-US" sz="1000" dirty="0">
                <a:solidFill>
                  <a:srgbClr val="1C2833"/>
                </a:solidFill>
                <a:latin typeface="Calibri" pitchFamily="34" charset="0"/>
                <a:ea typeface="Calibri" pitchFamily="34" charset="-122"/>
                <a:cs typeface="Calibri" pitchFamily="34" charset="-120"/>
              </a:rPr>
              <a:t>6,82,51,008</a:t>
            </a:r>
            <a:endParaRPr lang="en-US" sz="1000" dirty="0"/>
          </a:p>
        </p:txBody>
      </p:sp>
      <p:sp>
        <p:nvSpPr>
          <p:cNvPr id="82" name="Text 80"/>
          <p:cNvSpPr txBox="1"/>
          <p:nvPr/>
        </p:nvSpPr>
        <p:spPr>
          <a:xfrm>
            <a:off x="10718521" y="5577840"/>
            <a:ext cx="924535" cy="685800"/>
          </a:xfrm>
          <a:prstGeom prst="rect">
            <a:avLst/>
          </a:prstGeom>
          <a:noFill/>
          <a:ln/>
        </p:spPr>
        <p:txBody>
          <a:bodyPr wrap="square" lIns="0" tIns="0" rIns="0" bIns="0" rtlCol="0" anchor="t">
            <a:normAutofit/>
          </a:bodyPr>
          <a:lstStyle/>
          <a:p>
            <a:pPr algn="ctr" indent="0" marL="0">
              <a:buNone/>
            </a:pPr>
            <a:r>
              <a:rPr lang="en-US" sz="1000" dirty="0">
                <a:solidFill>
                  <a:srgbClr val="4D5B69"/>
                </a:solidFill>
                <a:latin typeface="Calibri" pitchFamily="34" charset="0"/>
                <a:ea typeface="Calibri" pitchFamily="34" charset="-122"/>
                <a:cs typeface="Calibri" pitchFamily="34" charset="-120"/>
              </a:rPr>
              <a:t>Roll at the nominations</a:t>
            </a:r>
            <a:endParaRPr lang="en-US" sz="1000" dirty="0"/>
          </a:p>
        </p:txBody>
      </p:sp>
      <p:sp>
        <p:nvSpPr>
          <p:cNvPr id="83" name="Shape 81"/>
          <p:cNvSpPr/>
          <p:nvPr/>
        </p:nvSpPr>
        <p:spPr>
          <a:xfrm>
            <a:off x="548640" y="5559552"/>
            <a:ext cx="11094415" cy="0"/>
          </a:xfrm>
          <a:prstGeom prst="line">
            <a:avLst/>
          </a:prstGeom>
          <a:noFill/>
          <a:ln w="9525">
            <a:solidFill>
              <a:srgbClr val="95A5A6"/>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ADJUDICATION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Of the 60.1 lakh names held back, 27.2 lakh were found not eligible, as reported</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Election Commission's figures as reported, for the state as a whole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Shape 45"/>
          <p:cNvSpPr/>
          <p:nvPr/>
        </p:nvSpPr>
        <p:spPr>
          <a:xfrm>
            <a:off x="7909560" y="1920240"/>
            <a:ext cx="3733495" cy="1280160"/>
          </a:xfrm>
          <a:prstGeom prst="roundRect">
            <a:avLst>
              <a:gd name="adj" fmla="val 5714"/>
            </a:avLst>
          </a:prstGeom>
          <a:solidFill>
            <a:srgbClr val="F4F6F7"/>
          </a:solidFill>
          <a:ln/>
        </p:spPr>
      </p:sp>
      <p:sp>
        <p:nvSpPr>
          <p:cNvPr id="49" name="Text 46"/>
          <p:cNvSpPr txBox="1"/>
          <p:nvPr/>
        </p:nvSpPr>
        <p:spPr>
          <a:xfrm>
            <a:off x="8092440" y="2029968"/>
            <a:ext cx="3367735" cy="614477"/>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1,607</a:t>
            </a:r>
            <a:endParaRPr lang="en-US" sz="2800" dirty="0"/>
          </a:p>
        </p:txBody>
      </p:sp>
      <p:sp>
        <p:nvSpPr>
          <p:cNvPr id="50" name="Text 47"/>
          <p:cNvSpPr txBox="1"/>
          <p:nvPr/>
        </p:nvSpPr>
        <p:spPr>
          <a:xfrm>
            <a:off x="8092440" y="2662733"/>
            <a:ext cx="3367735" cy="446227"/>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restored by the tribunals in time to vote</a:t>
            </a:r>
            <a:endParaRPr lang="en-US" sz="1200" dirty="0"/>
          </a:p>
        </p:txBody>
      </p:sp>
      <p:sp>
        <p:nvSpPr>
          <p:cNvPr id="51" name="Shape 48"/>
          <p:cNvSpPr/>
          <p:nvPr/>
        </p:nvSpPr>
        <p:spPr>
          <a:xfrm>
            <a:off x="7909560" y="3429000"/>
            <a:ext cx="3733495" cy="1280160"/>
          </a:xfrm>
          <a:prstGeom prst="roundRect">
            <a:avLst>
              <a:gd name="adj" fmla="val 5714"/>
            </a:avLst>
          </a:prstGeom>
          <a:solidFill>
            <a:srgbClr val="F4F6F7"/>
          </a:solidFill>
          <a:ln/>
        </p:spPr>
      </p:sp>
      <p:sp>
        <p:nvSpPr>
          <p:cNvPr id="52" name="Text 49"/>
          <p:cNvSpPr txBox="1"/>
          <p:nvPr/>
        </p:nvSpPr>
        <p:spPr>
          <a:xfrm>
            <a:off x="8092440" y="3538728"/>
            <a:ext cx="3367735" cy="614477"/>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16.1 lakh</a:t>
            </a:r>
            <a:endParaRPr lang="en-US" sz="2800" dirty="0"/>
          </a:p>
        </p:txBody>
      </p:sp>
      <p:sp>
        <p:nvSpPr>
          <p:cNvPr id="53" name="Text 50"/>
          <p:cNvSpPr txBox="1"/>
          <p:nvPr/>
        </p:nvSpPr>
        <p:spPr>
          <a:xfrm>
            <a:off x="8092440" y="4171493"/>
            <a:ext cx="3367735" cy="446227"/>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appeals against names the judicial officers kept</a:t>
            </a:r>
            <a:endParaRPr lang="en-US" sz="1200" dirty="0"/>
          </a:p>
        </p:txBody>
      </p:sp>
      <p:sp>
        <p:nvSpPr>
          <p:cNvPr id="54" name="Shape 51"/>
          <p:cNvSpPr/>
          <p:nvPr/>
        </p:nvSpPr>
        <p:spPr>
          <a:xfrm>
            <a:off x="7909560" y="4937760"/>
            <a:ext cx="3733495" cy="1280160"/>
          </a:xfrm>
          <a:prstGeom prst="roundRect">
            <a:avLst>
              <a:gd name="adj" fmla="val 5714"/>
            </a:avLst>
          </a:prstGeom>
          <a:solidFill>
            <a:srgbClr val="F4F6F7"/>
          </a:solidFill>
          <a:ln/>
        </p:spPr>
      </p:sp>
      <p:sp>
        <p:nvSpPr>
          <p:cNvPr id="55" name="Text 52"/>
          <p:cNvSpPr txBox="1"/>
          <p:nvPr/>
        </p:nvSpPr>
        <p:spPr>
          <a:xfrm>
            <a:off x="8092440" y="5047488"/>
            <a:ext cx="3367735" cy="614477"/>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96.7%</a:t>
            </a:r>
            <a:endParaRPr lang="en-US" sz="2800" dirty="0"/>
          </a:p>
        </p:txBody>
      </p:sp>
      <p:sp>
        <p:nvSpPr>
          <p:cNvPr id="56" name="Text 53"/>
          <p:cNvSpPr txBox="1"/>
          <p:nvPr/>
        </p:nvSpPr>
        <p:spPr>
          <a:xfrm>
            <a:off x="8092440" y="5680253"/>
            <a:ext cx="3367735" cy="446227"/>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of all appeals undecided on 16 September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BY DISTRICT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The roll fell by 10.2 per 100 from 2024 to the election, and by 28.0 in Kolkata North</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Fall in the roll from the 2024 Lok Sabha nominations to the 2026 nominations, per 100 electors on the 2024 roll</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645920"/>
          <a:ext cx="7040880" cy="461772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No count of the names removed is published below the state, so this is the fall in the roll.</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It takes in eighteen months of ordinary changes, and the 2024 roll was 6.3 lakh smaller than the roll the revision started from.</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Purbo Medinipur fell the least, 1.6.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THE REASONS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42% of the names left off were entered as dead, 34% as shifted and 21% as absent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left off the draft roll by the reason entered, for the state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reasons are published for the state only, so no district or constituency figure can be split by reason.</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 reason on the list is what the officer wrote down, and nobody checked 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WOMEN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Women were 53.5% of the names left off the draft, against 49.2% of the roll</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Women's share of the 2024 roll and of the fall in the roll, by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645920"/>
          <a:ext cx="7040880" cy="461772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From 2024 to the election women were 52.6% of the fall in the roll and 49.2% of the 2024 roll.</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They were more than their share in 21 of the 24 districts.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In Kolkata North and Kolkata South men were the larger part of the fall.</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AFTER THE DRAFT</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Most of the fall in Murshidabad, Uttar Dinajpur and Dakshin Dinajpur came after the draft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Fall per 100 electors on the 2024 roll, at the draft and at the election, the twelve districts where it grew most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60.1 lakh names held back are counted for the state only.</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This gap is the nearest the published tables come to showing where they fell, and it is not a count of them.</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In Kolkata almost all of the fall was already in the draft.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In 139 of 294 constituencies, the roll fell by more than the 2026 winning margin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by the fall in the roll from 2024 to the election as a multiple of the 2026 margin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In those seats the fall was large enough to decide the result.</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fall and the margin as a share of votes are close to unrelated (rank correlation 0.13).</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fall counts the dead and ordinary changes too.</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Counted at each seat's own turnout, the fall still exceeds the margin in 132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Three ways of setting the fall in the roll against the margin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3545738" cy="1737360"/>
          </a:xfrm>
          <a:prstGeom prst="roundRect">
            <a:avLst>
              <a:gd name="adj" fmla="val 4211"/>
            </a:avLst>
          </a:prstGeom>
          <a:solidFill>
            <a:srgbClr val="F4F6F7"/>
          </a:solidFill>
          <a:ln/>
        </p:spPr>
      </p:sp>
      <p:sp>
        <p:nvSpPr>
          <p:cNvPr id="48" name="Text 46"/>
          <p:cNvSpPr txBox="1"/>
          <p:nvPr/>
        </p:nvSpPr>
        <p:spPr>
          <a:xfrm>
            <a:off x="731520"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94 of 294</a:t>
            </a:r>
            <a:endParaRPr lang="en-US" sz="2800" dirty="0"/>
          </a:p>
        </p:txBody>
      </p:sp>
      <p:sp>
        <p:nvSpPr>
          <p:cNvPr id="49" name="Text 47"/>
          <p:cNvSpPr txBox="1"/>
          <p:nvPr/>
        </p:nvSpPr>
        <p:spPr>
          <a:xfrm>
            <a:off x="731520"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fall to the draft roll</a:t>
            </a:r>
            <a:endParaRPr lang="en-US" sz="1200" dirty="0"/>
          </a:p>
        </p:txBody>
      </p:sp>
      <p:sp>
        <p:nvSpPr>
          <p:cNvPr id="50" name="Shape 48"/>
          <p:cNvSpPr/>
          <p:nvPr/>
        </p:nvSpPr>
        <p:spPr>
          <a:xfrm>
            <a:off x="4322978" y="1920240"/>
            <a:ext cx="3545738" cy="1737360"/>
          </a:xfrm>
          <a:prstGeom prst="roundRect">
            <a:avLst>
              <a:gd name="adj" fmla="val 4211"/>
            </a:avLst>
          </a:prstGeom>
          <a:solidFill>
            <a:srgbClr val="F4F6F7"/>
          </a:solidFill>
          <a:ln/>
        </p:spPr>
      </p:sp>
      <p:sp>
        <p:nvSpPr>
          <p:cNvPr id="51" name="Text 49"/>
          <p:cNvSpPr txBox="1"/>
          <p:nvPr/>
        </p:nvSpPr>
        <p:spPr>
          <a:xfrm>
            <a:off x="4505858"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139 of 294</a:t>
            </a:r>
            <a:endParaRPr lang="en-US" sz="2800" dirty="0"/>
          </a:p>
        </p:txBody>
      </p:sp>
      <p:sp>
        <p:nvSpPr>
          <p:cNvPr id="52" name="Text 50"/>
          <p:cNvSpPr txBox="1"/>
          <p:nvPr/>
        </p:nvSpPr>
        <p:spPr>
          <a:xfrm>
            <a:off x="4505858"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fall to the roll the election was held on</a:t>
            </a:r>
            <a:endParaRPr lang="en-US" sz="1200" dirty="0"/>
          </a:p>
        </p:txBody>
      </p:sp>
      <p:sp>
        <p:nvSpPr>
          <p:cNvPr id="53" name="Shape 51"/>
          <p:cNvSpPr/>
          <p:nvPr/>
        </p:nvSpPr>
        <p:spPr>
          <a:xfrm>
            <a:off x="8097317" y="1920240"/>
            <a:ext cx="3545738" cy="1737360"/>
          </a:xfrm>
          <a:prstGeom prst="roundRect">
            <a:avLst>
              <a:gd name="adj" fmla="val 4211"/>
            </a:avLst>
          </a:prstGeom>
          <a:solidFill>
            <a:srgbClr val="F4F6F7"/>
          </a:solidFill>
          <a:ln/>
        </p:spPr>
      </p:sp>
      <p:sp>
        <p:nvSpPr>
          <p:cNvPr id="54" name="Text 52"/>
          <p:cNvSpPr txBox="1"/>
          <p:nvPr/>
        </p:nvSpPr>
        <p:spPr>
          <a:xfrm>
            <a:off x="8280197" y="2029968"/>
            <a:ext cx="3179978" cy="833933"/>
          </a:xfrm>
          <a:prstGeom prst="rect">
            <a:avLst/>
          </a:prstGeom>
          <a:noFill/>
          <a:ln/>
        </p:spPr>
        <p:txBody>
          <a:bodyPr wrap="square" lIns="0" tIns="0" rIns="0" bIns="0" rtlCol="0" anchor="b">
            <a:normAutofit/>
          </a:bodyPr>
          <a:lstStyle/>
          <a:p>
            <a:pPr indent="0" marL="0">
              <a:buNone/>
            </a:pPr>
            <a:r>
              <a:rPr lang="en-US" sz="2800" b="1" dirty="0">
                <a:solidFill>
                  <a:srgbClr val="1F618D"/>
                </a:solidFill>
                <a:latin typeface="Cambria" pitchFamily="34" charset="0"/>
                <a:ea typeface="Cambria" pitchFamily="34" charset="-122"/>
                <a:cs typeface="Cambria" pitchFamily="34" charset="-120"/>
              </a:rPr>
              <a:t>132 of 294</a:t>
            </a:r>
            <a:endParaRPr lang="en-US" sz="2800" dirty="0"/>
          </a:p>
        </p:txBody>
      </p:sp>
      <p:sp>
        <p:nvSpPr>
          <p:cNvPr id="55" name="Text 53"/>
          <p:cNvSpPr txBox="1"/>
          <p:nvPr/>
        </p:nvSpPr>
        <p:spPr>
          <a:xfrm>
            <a:off x="8280197" y="2882189"/>
            <a:ext cx="3179978"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the same, at the seat's 2026 turnout</a:t>
            </a:r>
            <a:endParaRPr lang="en-US" sz="1200" dirty="0"/>
          </a:p>
        </p:txBody>
      </p:sp>
      <p:sp>
        <p:nvSpPr>
          <p:cNvPr id="56" name="Text 54"/>
          <p:cNvSpPr txBox="1"/>
          <p:nvPr/>
        </p:nvSpPr>
        <p:spPr>
          <a:xfrm>
            <a:off x="548640" y="4023360"/>
            <a:ext cx="11094415" cy="1828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None of the three separates the names entered as dead, because the reasons are published for the state only. In the other 162 seats, the runner-up could not have won even if every elector missing from the roll had voted for the runner-up at the seat's turnout.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THE 2026 ELECTION</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The roll fell by 9.4 per 100 in BJP seats and 12.4 in AITC seats, and against their own districts they differ by 0.2 points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Fall per 100 in the seats each party won, and against the fall of each seat's own district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949440" cy="914400"/>
        </p:xfrm>
        <a:graphic>
          <a:graphicData uri="http://schemas.openxmlformats.org/drawingml/2006/table">
            <a:tbl>
              <a:tblPr/>
              <a:tblGrid>
                <a:gridCol w="1828800"/>
                <a:gridCol w="914400"/>
                <a:gridCol w="1463040"/>
                <a:gridCol w="1463040"/>
                <a:gridCol w="1280160"/>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Party that won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Seats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Fall per 100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Against own district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Over the margin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F4E79"/>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BJP</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AITC</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INC</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AJUP</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CPI(M)</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ISF</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
        <p:nvSpPr>
          <p:cNvPr id="49"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BJP won 208 seats and the AITC 80.</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Against their own districts the two come out at +0.0 and +0.2, so the difference is about where the seats are.</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fall exceeded the margin in 93 BJP seats and 44 AITC seats.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What the tables show, and what they cannot show</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Shape 44"/>
          <p:cNvSpPr/>
          <p:nvPr/>
        </p:nvSpPr>
        <p:spPr>
          <a:xfrm>
            <a:off x="548640" y="1554480"/>
            <a:ext cx="5440680" cy="2103120"/>
          </a:xfrm>
          <a:prstGeom prst="roundRect">
            <a:avLst>
              <a:gd name="adj" fmla="val 4348"/>
            </a:avLst>
          </a:prstGeom>
          <a:solidFill>
            <a:srgbClr val="EAF1F8"/>
          </a:solidFill>
          <a:ln/>
        </p:spPr>
      </p:sp>
      <p:sp>
        <p:nvSpPr>
          <p:cNvPr id="47" name="Text 45"/>
          <p:cNvSpPr txBox="1"/>
          <p:nvPr/>
        </p:nvSpPr>
        <p:spPr>
          <a:xfrm>
            <a:off x="777240"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The names left off and held back for the state as a whole, by reason and by sex, and how much smaller every constituency's roll was at the 2026 election than in 2024.</a:t>
            </a:r>
            <a:endParaRPr lang="en-US" sz="1500" dirty="0"/>
          </a:p>
        </p:txBody>
      </p:sp>
      <p:sp>
        <p:nvSpPr>
          <p:cNvPr id="48" name="Shape 46"/>
          <p:cNvSpPr/>
          <p:nvPr/>
        </p:nvSpPr>
        <p:spPr>
          <a:xfrm>
            <a:off x="6199632" y="1554480"/>
            <a:ext cx="5440680" cy="2103120"/>
          </a:xfrm>
          <a:prstGeom prst="roundRect">
            <a:avLst>
              <a:gd name="adj" fmla="val 4348"/>
            </a:avLst>
          </a:prstGeom>
          <a:solidFill>
            <a:srgbClr val="EAF1F8"/>
          </a:solidFill>
          <a:ln/>
        </p:spPr>
      </p:sp>
      <p:sp>
        <p:nvSpPr>
          <p:cNvPr id="49" name="Text 47"/>
          <p:cNvSpPr txBox="1"/>
          <p:nvPr/>
        </p:nvSpPr>
        <p:spPr>
          <a:xfrm>
            <a:off x="6428232"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How many names were removed in each district or constituency, or why. Where the names held back were. Whether each removal was right, or how anyone missing from the roll would have voted.</a:t>
            </a:r>
            <a:endParaRPr lang="en-US" sz="1500" dirty="0"/>
          </a:p>
        </p:txBody>
      </p:sp>
      <p:sp>
        <p:nvSpPr>
          <p:cNvPr id="50" name="Text 48"/>
          <p:cNvSpPr txBox="1"/>
          <p:nvPr/>
        </p:nvSpPr>
        <p:spPr>
          <a:xfrm>
            <a:off x="548640" y="3931920"/>
            <a:ext cx="11094415" cy="13716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The adjudication outcomes are the Election Commission's figures as reported. A reason on the list is what the officer wrote down, and nobody checked it.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WHAT THE ELECTION COMMISSION SHOULD DO</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Publish the removals and adjudication where they happened</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names removed by constituency and polling station, with the reason and the sex of each.</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outcome of adjudication by district and constituency, in full.</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Decide the 37.1 lakh appeals still pending, and publish what each decision restored or removed.</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Account for the 22,163 cases missing from the reported outcome.</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how many of those added after the draft had been left off it.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1F618D"/>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1F4E79"/>
                </a:solidFill>
                <a:latin typeface="Cambria" pitchFamily="34" charset="0"/>
                <a:ea typeface="Cambria" pitchFamily="34" charset="-122"/>
                <a:cs typeface="Cambria" pitchFamily="34" charset="-120"/>
              </a:rPr>
              <a:t>Where the figures come from</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West Bengal SIR 2026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state's revision is from the Chief Electoral Officer's press note PN-05-2026, whose figures add up step by step.</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rolls at the 2024 Lok Sabha nominations, the draft of 16 December 2025 and the 2026 nominations are the Chief Electoral Officer's tables by constituency and sex. The fall between them is never called the removals.</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adjudication outcomes and appeals are the Election Commission's figures as the press reported them.</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2026 result is from the Election Commission's result pages, with Falta's from its re-poll. Each seat's fall is also set against its own district's.</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Only counts are published, never a name, EPIC number or address.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548640" y="1280160"/>
            <a:ext cx="11094415" cy="1097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full analysis</a:t>
            </a:r>
            <a:endParaRPr lang="en-US" sz="3400" dirty="0"/>
          </a:p>
        </p:txBody>
      </p:sp>
      <p:sp>
        <p:nvSpPr>
          <p:cNvPr id="3" name="Text 1"/>
          <p:cNvSpPr txBox="1"/>
          <p:nvPr/>
        </p:nvSpPr>
        <p:spPr>
          <a:xfrm>
            <a:off x="548640" y="2743200"/>
            <a:ext cx="11094415" cy="2377440"/>
          </a:xfrm>
          <a:prstGeom prst="rect">
            <a:avLst/>
          </a:prstGeom>
          <a:noFill/>
          <a:ln/>
        </p:spPr>
        <p:txBody>
          <a:bodyPr wrap="square" lIns="0" tIns="0" rIns="0" bIns="0" rtlCol="0" anchor="t"/>
          <a:lstStyle/>
          <a:p>
            <a:pPr indent="0" marL="0">
              <a:spcAft>
                <a:spcPts val="1000"/>
              </a:spcAft>
              <a:buNone/>
            </a:pPr>
            <a:r>
              <a:rPr lang="en-US" sz="1700" dirty="0">
                <a:solidFill>
                  <a:srgbClr val="D6E4F0"/>
                </a:solidFill>
                <a:latin typeface="Calibri" pitchFamily="34" charset="0"/>
                <a:ea typeface="Calibri" pitchFamily="34" charset="-122"/>
                <a:cs typeface="Calibri" pitchFamily="34" charset="-120"/>
              </a:rPr>
              <a:t>The constituency map, every district and constituency, and the full report are published online alongside this deck.</a:t>
            </a:r>
            <a:endParaRPr lang="en-US" sz="1700" dirty="0"/>
          </a:p>
          <a:p>
            <a:pPr indent="0" marL="0">
              <a:spcAft>
                <a:spcPts val="1000"/>
              </a:spcAft>
              <a:buNone/>
            </a:pPr>
            <a:r>
              <a:rPr lang="en-US" sz="1700" dirty="0">
                <a:solidFill>
                  <a:srgbClr val="D6E4F0"/>
                </a:solidFill>
                <a:latin typeface="Calibri" pitchFamily="34" charset="0"/>
                <a:ea typeface="Calibri" pitchFamily="34" charset="-122"/>
                <a:cs typeface="Calibri" pitchFamily="34" charset="-120"/>
              </a:rPr>
              <a:t>PinPoint Ventures</a:t>
            </a:r>
            <a:endParaRPr lang="en-US" sz="1700" dirty="0"/>
          </a:p>
        </p:txBody>
      </p:sp>
      <p:sp>
        <p:nvSpPr>
          <p:cNvPr id="4" name="Shape 2"/>
          <p:cNvSpPr/>
          <p:nvPr/>
        </p:nvSpPr>
        <p:spPr>
          <a:xfrm>
            <a:off x="0" y="6748272"/>
            <a:ext cx="304792" cy="109728"/>
          </a:xfrm>
          <a:prstGeom prst="rect">
            <a:avLst/>
          </a:prstGeom>
          <a:solidFill>
            <a:srgbClr val="C0392B"/>
          </a:solidFill>
          <a:ln/>
        </p:spPr>
      </p:sp>
      <p:sp>
        <p:nvSpPr>
          <p:cNvPr id="5" name="Shape 3"/>
          <p:cNvSpPr/>
          <p:nvPr/>
        </p:nvSpPr>
        <p:spPr>
          <a:xfrm>
            <a:off x="304792" y="6748272"/>
            <a:ext cx="304792" cy="109728"/>
          </a:xfrm>
          <a:prstGeom prst="rect">
            <a:avLst/>
          </a:prstGeom>
          <a:solidFill>
            <a:srgbClr val="E67E22"/>
          </a:solidFill>
          <a:ln/>
        </p:spPr>
      </p:sp>
      <p:sp>
        <p:nvSpPr>
          <p:cNvPr id="6" name="Shape 4"/>
          <p:cNvSpPr/>
          <p:nvPr/>
        </p:nvSpPr>
        <p:spPr>
          <a:xfrm>
            <a:off x="609585" y="6748272"/>
            <a:ext cx="304792" cy="109728"/>
          </a:xfrm>
          <a:prstGeom prst="rect">
            <a:avLst/>
          </a:prstGeom>
          <a:solidFill>
            <a:srgbClr val="27AE60"/>
          </a:solidFill>
          <a:ln/>
        </p:spPr>
      </p:sp>
      <p:sp>
        <p:nvSpPr>
          <p:cNvPr id="7" name="Shape 5"/>
          <p:cNvSpPr/>
          <p:nvPr/>
        </p:nvSpPr>
        <p:spPr>
          <a:xfrm>
            <a:off x="914377" y="6748272"/>
            <a:ext cx="304792" cy="109728"/>
          </a:xfrm>
          <a:prstGeom prst="rect">
            <a:avLst/>
          </a:prstGeom>
          <a:solidFill>
            <a:srgbClr val="1F618D"/>
          </a:solidFill>
          <a:ln/>
        </p:spPr>
      </p:sp>
      <p:sp>
        <p:nvSpPr>
          <p:cNvPr id="8" name="Shape 6"/>
          <p:cNvSpPr/>
          <p:nvPr/>
        </p:nvSpPr>
        <p:spPr>
          <a:xfrm>
            <a:off x="1219170" y="6748272"/>
            <a:ext cx="304792" cy="109728"/>
          </a:xfrm>
          <a:prstGeom prst="rect">
            <a:avLst/>
          </a:prstGeom>
          <a:solidFill>
            <a:srgbClr val="8E44AD"/>
          </a:solidFill>
          <a:ln/>
        </p:spPr>
      </p:sp>
      <p:sp>
        <p:nvSpPr>
          <p:cNvPr id="9" name="Shape 7"/>
          <p:cNvSpPr/>
          <p:nvPr/>
        </p:nvSpPr>
        <p:spPr>
          <a:xfrm>
            <a:off x="1523962" y="6748272"/>
            <a:ext cx="304792" cy="109728"/>
          </a:xfrm>
          <a:prstGeom prst="rect">
            <a:avLst/>
          </a:prstGeom>
          <a:solidFill>
            <a:srgbClr val="C0392B"/>
          </a:solidFill>
          <a:ln/>
        </p:spPr>
      </p:sp>
      <p:sp>
        <p:nvSpPr>
          <p:cNvPr id="10" name="Shape 8"/>
          <p:cNvSpPr/>
          <p:nvPr/>
        </p:nvSpPr>
        <p:spPr>
          <a:xfrm>
            <a:off x="1828754" y="6748272"/>
            <a:ext cx="304792" cy="109728"/>
          </a:xfrm>
          <a:prstGeom prst="rect">
            <a:avLst/>
          </a:prstGeom>
          <a:solidFill>
            <a:srgbClr val="E67E22"/>
          </a:solidFill>
          <a:ln/>
        </p:spPr>
      </p:sp>
      <p:sp>
        <p:nvSpPr>
          <p:cNvPr id="11" name="Shape 9"/>
          <p:cNvSpPr/>
          <p:nvPr/>
        </p:nvSpPr>
        <p:spPr>
          <a:xfrm>
            <a:off x="2133547" y="6748272"/>
            <a:ext cx="304792" cy="109728"/>
          </a:xfrm>
          <a:prstGeom prst="rect">
            <a:avLst/>
          </a:prstGeom>
          <a:solidFill>
            <a:srgbClr val="27AE60"/>
          </a:solidFill>
          <a:ln/>
        </p:spPr>
      </p:sp>
      <p:sp>
        <p:nvSpPr>
          <p:cNvPr id="12" name="Shape 10"/>
          <p:cNvSpPr/>
          <p:nvPr/>
        </p:nvSpPr>
        <p:spPr>
          <a:xfrm>
            <a:off x="2438339" y="6748272"/>
            <a:ext cx="304792" cy="109728"/>
          </a:xfrm>
          <a:prstGeom prst="rect">
            <a:avLst/>
          </a:prstGeom>
          <a:solidFill>
            <a:srgbClr val="1F618D"/>
          </a:solidFill>
          <a:ln/>
        </p:spPr>
      </p:sp>
      <p:sp>
        <p:nvSpPr>
          <p:cNvPr id="13" name="Shape 11"/>
          <p:cNvSpPr/>
          <p:nvPr/>
        </p:nvSpPr>
        <p:spPr>
          <a:xfrm>
            <a:off x="2743131" y="6748272"/>
            <a:ext cx="304792" cy="109728"/>
          </a:xfrm>
          <a:prstGeom prst="rect">
            <a:avLst/>
          </a:prstGeom>
          <a:solidFill>
            <a:srgbClr val="8E44AD"/>
          </a:solidFill>
          <a:ln/>
        </p:spPr>
      </p:sp>
      <p:sp>
        <p:nvSpPr>
          <p:cNvPr id="14" name="Shape 12"/>
          <p:cNvSpPr/>
          <p:nvPr/>
        </p:nvSpPr>
        <p:spPr>
          <a:xfrm>
            <a:off x="3047924" y="6748272"/>
            <a:ext cx="304792" cy="109728"/>
          </a:xfrm>
          <a:prstGeom prst="rect">
            <a:avLst/>
          </a:prstGeom>
          <a:solidFill>
            <a:srgbClr val="C0392B"/>
          </a:solidFill>
          <a:ln/>
        </p:spPr>
      </p:sp>
      <p:sp>
        <p:nvSpPr>
          <p:cNvPr id="15" name="Shape 13"/>
          <p:cNvSpPr/>
          <p:nvPr/>
        </p:nvSpPr>
        <p:spPr>
          <a:xfrm>
            <a:off x="3352716" y="6748272"/>
            <a:ext cx="304792" cy="109728"/>
          </a:xfrm>
          <a:prstGeom prst="rect">
            <a:avLst/>
          </a:prstGeom>
          <a:solidFill>
            <a:srgbClr val="E67E22"/>
          </a:solidFill>
          <a:ln/>
        </p:spPr>
      </p:sp>
      <p:sp>
        <p:nvSpPr>
          <p:cNvPr id="16" name="Shape 14"/>
          <p:cNvSpPr/>
          <p:nvPr/>
        </p:nvSpPr>
        <p:spPr>
          <a:xfrm>
            <a:off x="3657509" y="6748272"/>
            <a:ext cx="304792" cy="109728"/>
          </a:xfrm>
          <a:prstGeom prst="rect">
            <a:avLst/>
          </a:prstGeom>
          <a:solidFill>
            <a:srgbClr val="27AE60"/>
          </a:solidFill>
          <a:ln/>
        </p:spPr>
      </p:sp>
      <p:sp>
        <p:nvSpPr>
          <p:cNvPr id="17" name="Shape 15"/>
          <p:cNvSpPr/>
          <p:nvPr/>
        </p:nvSpPr>
        <p:spPr>
          <a:xfrm>
            <a:off x="3962301" y="6748272"/>
            <a:ext cx="304792" cy="109728"/>
          </a:xfrm>
          <a:prstGeom prst="rect">
            <a:avLst/>
          </a:prstGeom>
          <a:solidFill>
            <a:srgbClr val="1F618D"/>
          </a:solidFill>
          <a:ln/>
        </p:spPr>
      </p:sp>
      <p:sp>
        <p:nvSpPr>
          <p:cNvPr id="18" name="Shape 16"/>
          <p:cNvSpPr/>
          <p:nvPr/>
        </p:nvSpPr>
        <p:spPr>
          <a:xfrm>
            <a:off x="4267093" y="6748272"/>
            <a:ext cx="304792" cy="109728"/>
          </a:xfrm>
          <a:prstGeom prst="rect">
            <a:avLst/>
          </a:prstGeom>
          <a:solidFill>
            <a:srgbClr val="8E44AD"/>
          </a:solidFill>
          <a:ln/>
        </p:spPr>
      </p:sp>
      <p:sp>
        <p:nvSpPr>
          <p:cNvPr id="19" name="Shape 17"/>
          <p:cNvSpPr/>
          <p:nvPr/>
        </p:nvSpPr>
        <p:spPr>
          <a:xfrm>
            <a:off x="4571886" y="6748272"/>
            <a:ext cx="304792" cy="109728"/>
          </a:xfrm>
          <a:prstGeom prst="rect">
            <a:avLst/>
          </a:prstGeom>
          <a:solidFill>
            <a:srgbClr val="C0392B"/>
          </a:solidFill>
          <a:ln/>
        </p:spPr>
      </p:sp>
      <p:sp>
        <p:nvSpPr>
          <p:cNvPr id="20" name="Shape 18"/>
          <p:cNvSpPr/>
          <p:nvPr/>
        </p:nvSpPr>
        <p:spPr>
          <a:xfrm>
            <a:off x="4876678" y="6748272"/>
            <a:ext cx="304792" cy="109728"/>
          </a:xfrm>
          <a:prstGeom prst="rect">
            <a:avLst/>
          </a:prstGeom>
          <a:solidFill>
            <a:srgbClr val="E67E22"/>
          </a:solidFill>
          <a:ln/>
        </p:spPr>
      </p:sp>
      <p:sp>
        <p:nvSpPr>
          <p:cNvPr id="21" name="Shape 19"/>
          <p:cNvSpPr/>
          <p:nvPr/>
        </p:nvSpPr>
        <p:spPr>
          <a:xfrm>
            <a:off x="5181470" y="6748272"/>
            <a:ext cx="304792" cy="109728"/>
          </a:xfrm>
          <a:prstGeom prst="rect">
            <a:avLst/>
          </a:prstGeom>
          <a:solidFill>
            <a:srgbClr val="27AE60"/>
          </a:solidFill>
          <a:ln/>
        </p:spPr>
      </p:sp>
      <p:sp>
        <p:nvSpPr>
          <p:cNvPr id="22" name="Shape 20"/>
          <p:cNvSpPr/>
          <p:nvPr/>
        </p:nvSpPr>
        <p:spPr>
          <a:xfrm>
            <a:off x="5486263" y="6748272"/>
            <a:ext cx="304792" cy="109728"/>
          </a:xfrm>
          <a:prstGeom prst="rect">
            <a:avLst/>
          </a:prstGeom>
          <a:solidFill>
            <a:srgbClr val="1F618D"/>
          </a:solidFill>
          <a:ln/>
        </p:spPr>
      </p:sp>
      <p:sp>
        <p:nvSpPr>
          <p:cNvPr id="23" name="Shape 21"/>
          <p:cNvSpPr/>
          <p:nvPr/>
        </p:nvSpPr>
        <p:spPr>
          <a:xfrm>
            <a:off x="5791055" y="6748272"/>
            <a:ext cx="304792" cy="109728"/>
          </a:xfrm>
          <a:prstGeom prst="rect">
            <a:avLst/>
          </a:prstGeom>
          <a:solidFill>
            <a:srgbClr val="8E44AD"/>
          </a:solidFill>
          <a:ln/>
        </p:spPr>
      </p:sp>
      <p:sp>
        <p:nvSpPr>
          <p:cNvPr id="24" name="Shape 22"/>
          <p:cNvSpPr/>
          <p:nvPr/>
        </p:nvSpPr>
        <p:spPr>
          <a:xfrm>
            <a:off x="6095848" y="6748272"/>
            <a:ext cx="304792" cy="109728"/>
          </a:xfrm>
          <a:prstGeom prst="rect">
            <a:avLst/>
          </a:prstGeom>
          <a:solidFill>
            <a:srgbClr val="C0392B"/>
          </a:solidFill>
          <a:ln/>
        </p:spPr>
      </p:sp>
      <p:sp>
        <p:nvSpPr>
          <p:cNvPr id="25" name="Shape 23"/>
          <p:cNvSpPr/>
          <p:nvPr/>
        </p:nvSpPr>
        <p:spPr>
          <a:xfrm>
            <a:off x="6400640" y="6748272"/>
            <a:ext cx="304792" cy="109728"/>
          </a:xfrm>
          <a:prstGeom prst="rect">
            <a:avLst/>
          </a:prstGeom>
          <a:solidFill>
            <a:srgbClr val="E67E22"/>
          </a:solidFill>
          <a:ln/>
        </p:spPr>
      </p:sp>
      <p:sp>
        <p:nvSpPr>
          <p:cNvPr id="26" name="Shape 24"/>
          <p:cNvSpPr/>
          <p:nvPr/>
        </p:nvSpPr>
        <p:spPr>
          <a:xfrm>
            <a:off x="6705432" y="6748272"/>
            <a:ext cx="304792" cy="109728"/>
          </a:xfrm>
          <a:prstGeom prst="rect">
            <a:avLst/>
          </a:prstGeom>
          <a:solidFill>
            <a:srgbClr val="27AE60"/>
          </a:solidFill>
          <a:ln/>
        </p:spPr>
      </p:sp>
      <p:sp>
        <p:nvSpPr>
          <p:cNvPr id="27" name="Shape 25"/>
          <p:cNvSpPr/>
          <p:nvPr/>
        </p:nvSpPr>
        <p:spPr>
          <a:xfrm>
            <a:off x="7010225" y="6748272"/>
            <a:ext cx="304792" cy="109728"/>
          </a:xfrm>
          <a:prstGeom prst="rect">
            <a:avLst/>
          </a:prstGeom>
          <a:solidFill>
            <a:srgbClr val="1F618D"/>
          </a:solidFill>
          <a:ln/>
        </p:spPr>
      </p:sp>
      <p:sp>
        <p:nvSpPr>
          <p:cNvPr id="28" name="Shape 26"/>
          <p:cNvSpPr/>
          <p:nvPr/>
        </p:nvSpPr>
        <p:spPr>
          <a:xfrm>
            <a:off x="7315017" y="6748272"/>
            <a:ext cx="304792" cy="109728"/>
          </a:xfrm>
          <a:prstGeom prst="rect">
            <a:avLst/>
          </a:prstGeom>
          <a:solidFill>
            <a:srgbClr val="8E44AD"/>
          </a:solidFill>
          <a:ln/>
        </p:spPr>
      </p:sp>
      <p:sp>
        <p:nvSpPr>
          <p:cNvPr id="29" name="Shape 27"/>
          <p:cNvSpPr/>
          <p:nvPr/>
        </p:nvSpPr>
        <p:spPr>
          <a:xfrm>
            <a:off x="7619809" y="6748272"/>
            <a:ext cx="304792" cy="109728"/>
          </a:xfrm>
          <a:prstGeom prst="rect">
            <a:avLst/>
          </a:prstGeom>
          <a:solidFill>
            <a:srgbClr val="C0392B"/>
          </a:solidFill>
          <a:ln/>
        </p:spPr>
      </p:sp>
      <p:sp>
        <p:nvSpPr>
          <p:cNvPr id="30" name="Shape 28"/>
          <p:cNvSpPr/>
          <p:nvPr/>
        </p:nvSpPr>
        <p:spPr>
          <a:xfrm>
            <a:off x="7924602" y="6748272"/>
            <a:ext cx="304792" cy="109728"/>
          </a:xfrm>
          <a:prstGeom prst="rect">
            <a:avLst/>
          </a:prstGeom>
          <a:solidFill>
            <a:srgbClr val="E67E22"/>
          </a:solidFill>
          <a:ln/>
        </p:spPr>
      </p:sp>
      <p:sp>
        <p:nvSpPr>
          <p:cNvPr id="31" name="Shape 29"/>
          <p:cNvSpPr/>
          <p:nvPr/>
        </p:nvSpPr>
        <p:spPr>
          <a:xfrm>
            <a:off x="8229394" y="6748272"/>
            <a:ext cx="304792" cy="109728"/>
          </a:xfrm>
          <a:prstGeom prst="rect">
            <a:avLst/>
          </a:prstGeom>
          <a:solidFill>
            <a:srgbClr val="27AE60"/>
          </a:solidFill>
          <a:ln/>
        </p:spPr>
      </p:sp>
      <p:sp>
        <p:nvSpPr>
          <p:cNvPr id="32" name="Shape 30"/>
          <p:cNvSpPr/>
          <p:nvPr/>
        </p:nvSpPr>
        <p:spPr>
          <a:xfrm>
            <a:off x="8534187" y="6748272"/>
            <a:ext cx="304792" cy="109728"/>
          </a:xfrm>
          <a:prstGeom prst="rect">
            <a:avLst/>
          </a:prstGeom>
          <a:solidFill>
            <a:srgbClr val="1F618D"/>
          </a:solidFill>
          <a:ln/>
        </p:spPr>
      </p:sp>
      <p:sp>
        <p:nvSpPr>
          <p:cNvPr id="33" name="Shape 31"/>
          <p:cNvSpPr/>
          <p:nvPr/>
        </p:nvSpPr>
        <p:spPr>
          <a:xfrm>
            <a:off x="8838979" y="6748272"/>
            <a:ext cx="304792" cy="109728"/>
          </a:xfrm>
          <a:prstGeom prst="rect">
            <a:avLst/>
          </a:prstGeom>
          <a:solidFill>
            <a:srgbClr val="8E44AD"/>
          </a:solidFill>
          <a:ln/>
        </p:spPr>
      </p:sp>
      <p:sp>
        <p:nvSpPr>
          <p:cNvPr id="34" name="Shape 32"/>
          <p:cNvSpPr/>
          <p:nvPr/>
        </p:nvSpPr>
        <p:spPr>
          <a:xfrm>
            <a:off x="9143771" y="6748272"/>
            <a:ext cx="304792" cy="109728"/>
          </a:xfrm>
          <a:prstGeom prst="rect">
            <a:avLst/>
          </a:prstGeom>
          <a:solidFill>
            <a:srgbClr val="C0392B"/>
          </a:solidFill>
          <a:ln/>
        </p:spPr>
      </p:sp>
      <p:sp>
        <p:nvSpPr>
          <p:cNvPr id="35" name="Shape 33"/>
          <p:cNvSpPr/>
          <p:nvPr/>
        </p:nvSpPr>
        <p:spPr>
          <a:xfrm>
            <a:off x="9448564" y="6748272"/>
            <a:ext cx="304792" cy="109728"/>
          </a:xfrm>
          <a:prstGeom prst="rect">
            <a:avLst/>
          </a:prstGeom>
          <a:solidFill>
            <a:srgbClr val="E67E22"/>
          </a:solidFill>
          <a:ln/>
        </p:spPr>
      </p:sp>
      <p:sp>
        <p:nvSpPr>
          <p:cNvPr id="36" name="Shape 34"/>
          <p:cNvSpPr/>
          <p:nvPr/>
        </p:nvSpPr>
        <p:spPr>
          <a:xfrm>
            <a:off x="9753356" y="6748272"/>
            <a:ext cx="304792" cy="109728"/>
          </a:xfrm>
          <a:prstGeom prst="rect">
            <a:avLst/>
          </a:prstGeom>
          <a:solidFill>
            <a:srgbClr val="27AE60"/>
          </a:solidFill>
          <a:ln/>
        </p:spPr>
      </p:sp>
      <p:sp>
        <p:nvSpPr>
          <p:cNvPr id="37" name="Shape 35"/>
          <p:cNvSpPr/>
          <p:nvPr/>
        </p:nvSpPr>
        <p:spPr>
          <a:xfrm>
            <a:off x="10058149" y="6748272"/>
            <a:ext cx="304792" cy="109728"/>
          </a:xfrm>
          <a:prstGeom prst="rect">
            <a:avLst/>
          </a:prstGeom>
          <a:solidFill>
            <a:srgbClr val="1F618D"/>
          </a:solidFill>
          <a:ln/>
        </p:spPr>
      </p:sp>
      <p:sp>
        <p:nvSpPr>
          <p:cNvPr id="38" name="Shape 36"/>
          <p:cNvSpPr/>
          <p:nvPr/>
        </p:nvSpPr>
        <p:spPr>
          <a:xfrm>
            <a:off x="10362941" y="6748272"/>
            <a:ext cx="304792" cy="109728"/>
          </a:xfrm>
          <a:prstGeom prst="rect">
            <a:avLst/>
          </a:prstGeom>
          <a:solidFill>
            <a:srgbClr val="8E44AD"/>
          </a:solidFill>
          <a:ln/>
        </p:spPr>
      </p:sp>
      <p:sp>
        <p:nvSpPr>
          <p:cNvPr id="39" name="Shape 37"/>
          <p:cNvSpPr/>
          <p:nvPr/>
        </p:nvSpPr>
        <p:spPr>
          <a:xfrm>
            <a:off x="10667733" y="6748272"/>
            <a:ext cx="304792" cy="109728"/>
          </a:xfrm>
          <a:prstGeom prst="rect">
            <a:avLst/>
          </a:prstGeom>
          <a:solidFill>
            <a:srgbClr val="C0392B"/>
          </a:solidFill>
          <a:ln/>
        </p:spPr>
      </p:sp>
      <p:sp>
        <p:nvSpPr>
          <p:cNvPr id="40" name="Shape 38"/>
          <p:cNvSpPr/>
          <p:nvPr/>
        </p:nvSpPr>
        <p:spPr>
          <a:xfrm>
            <a:off x="10972526" y="6748272"/>
            <a:ext cx="304792" cy="109728"/>
          </a:xfrm>
          <a:prstGeom prst="rect">
            <a:avLst/>
          </a:prstGeom>
          <a:solidFill>
            <a:srgbClr val="E67E22"/>
          </a:solidFill>
          <a:ln/>
        </p:spPr>
      </p:sp>
      <p:sp>
        <p:nvSpPr>
          <p:cNvPr id="41" name="Shape 39"/>
          <p:cNvSpPr/>
          <p:nvPr/>
        </p:nvSpPr>
        <p:spPr>
          <a:xfrm>
            <a:off x="11277318" y="6748272"/>
            <a:ext cx="304792" cy="109728"/>
          </a:xfrm>
          <a:prstGeom prst="rect">
            <a:avLst/>
          </a:prstGeom>
          <a:solidFill>
            <a:srgbClr val="27AE60"/>
          </a:solidFill>
          <a:ln/>
        </p:spPr>
      </p:sp>
      <p:sp>
        <p:nvSpPr>
          <p:cNvPr id="42" name="Shape 40"/>
          <p:cNvSpPr/>
          <p:nvPr/>
        </p:nvSpPr>
        <p:spPr>
          <a:xfrm>
            <a:off x="11582110" y="6748272"/>
            <a:ext cx="304792" cy="109728"/>
          </a:xfrm>
          <a:prstGeom prst="rect">
            <a:avLst/>
          </a:prstGeom>
          <a:solidFill>
            <a:srgbClr val="1F618D"/>
          </a:solidFill>
          <a:ln/>
        </p:spPr>
      </p:sp>
      <p:sp>
        <p:nvSpPr>
          <p:cNvPr id="43" name="Shape 41"/>
          <p:cNvSpPr/>
          <p:nvPr/>
        </p:nvSpPr>
        <p:spPr>
          <a:xfrm>
            <a:off x="11886903" y="6748272"/>
            <a:ext cx="304792" cy="109728"/>
          </a:xfrm>
          <a:prstGeom prst="rect">
            <a:avLst/>
          </a:prstGeom>
          <a:solidFill>
            <a:srgbClr val="8E44A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 Bengal SIR 2026</dc:title>
  <dc:subject>PptxGenJS Presentation</dc:subject>
  <dc:creator>PinPoint Ventures</dc:creator>
  <cp:lastModifiedBy>PinPoint Ventures</cp:lastModifiedBy>
  <cp:revision>1</cp:revision>
  <dcterms:created xsi:type="dcterms:W3CDTF">2026-10-09T04:26:10Z</dcterms:created>
  <dcterms:modified xsi:type="dcterms:W3CDTF">2026-10-09T04:26:10Z</dcterms:modified>
</cp:coreProperties>
</file>