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3.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7.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9.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0.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2.xml" ContentType="application/vnd.openxmlformats-officedocument.drawingml.chart+xml"/>
  <Override PartName="/ppt/charts/chart3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Struck off</c:v>
                </c:pt>
              </c:strCache>
            </c:strRef>
          </c:tx>
          <c:spPr>
            <a:solidFill>
              <a:srgbClr val="C0392B"/>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39.66</c:v>
                </c:pt>
                <c:pt idx="1">
                  <c:v>41.33</c:v>
                </c:pt>
                <c:pt idx="2">
                  <c:v>45.09</c:v>
                </c:pt>
                <c:pt idx="3">
                  <c:v>39.46</c:v>
                </c:pt>
                <c:pt idx="4">
                  <c:v>34.57</c:v>
                </c:pt>
              </c:numCache>
            </c:numRef>
          </c:val>
        </c:ser>
        <c:ser>
          <c:idx val="1"/>
          <c:order val="1"/>
          <c:tx>
            <c:strRef>
              <c:f>Sheet1!$C$1</c:f>
              <c:strCache>
                <c:ptCount val="1"/>
                <c:pt idx="0">
                  <c:v>Kept, summoned to a hearing</c:v>
                </c:pt>
              </c:strCache>
            </c:strRef>
          </c:tx>
          <c:spPr>
            <a:solidFill>
              <a:srgbClr val="D4AC0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21.12</c:v>
                </c:pt>
                <c:pt idx="1">
                  <c:v>23.3</c:v>
                </c:pt>
                <c:pt idx="2">
                  <c:v>21.55</c:v>
                </c:pt>
                <c:pt idx="3">
                  <c:v>21.27</c:v>
                </c:pt>
                <c:pt idx="4">
                  <c:v>23.93</c:v>
                </c:pt>
              </c:numCache>
            </c:numRef>
          </c:val>
        </c:ser>
        <c:ser>
          <c:idx val="2"/>
          <c:order val="2"/>
          <c:tx>
            <c:strRef>
              <c:f>Sheet1!$D$1</c:f>
              <c:strCache>
                <c:ptCount val="1"/>
                <c:pt idx="0">
                  <c:v>Kept, not summoned</c:v>
                </c:pt>
              </c:strCache>
            </c:strRef>
          </c:tx>
          <c:spPr>
            <a:solidFill>
              <a:srgbClr val="1F618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39.2</c:v>
                </c:pt>
                <c:pt idx="1">
                  <c:v>35.3</c:v>
                </c:pt>
                <c:pt idx="2">
                  <c:v>30.9</c:v>
                </c:pt>
                <c:pt idx="3">
                  <c:v>39.2</c:v>
                </c:pt>
                <c:pt idx="4">
                  <c:v>41.4</c:v>
                </c:pt>
              </c:numCache>
            </c:numRef>
          </c:val>
        </c:ser>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Permanently 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44.9</c:v>
                </c:pt>
                <c:pt idx="1">
                  <c:v>66.8</c:v>
                </c:pt>
                <c:pt idx="2">
                  <c:v>81.4</c:v>
                </c:pt>
                <c:pt idx="3">
                  <c:v>61.4</c:v>
                </c:pt>
                <c:pt idx="4">
                  <c:v>59.2</c:v>
                </c:pt>
              </c:numCache>
            </c:numRef>
          </c:val>
        </c:ser>
        <c:ser>
          <c:idx val="1"/>
          <c:order val="1"/>
          <c:tx>
            <c:strRef>
              <c:f>Sheet1!$C$1</c:f>
              <c:strCache>
                <c:ptCount val="1"/>
                <c:pt idx="0">
                  <c:v>Untraceable or 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38.3</c:v>
                </c:pt>
                <c:pt idx="1">
                  <c:v>16.1</c:v>
                </c:pt>
                <c:pt idx="2">
                  <c:v>6.5</c:v>
                </c:pt>
                <c:pt idx="3">
                  <c:v>25.4</c:v>
                </c:pt>
                <c:pt idx="4">
                  <c:v>24.4</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10.9</c:v>
                </c:pt>
                <c:pt idx="1">
                  <c:v>9.4</c:v>
                </c:pt>
                <c:pt idx="2">
                  <c:v>7.2</c:v>
                </c:pt>
                <c:pt idx="3">
                  <c:v>8.6</c:v>
                </c:pt>
                <c:pt idx="4">
                  <c:v>8</c:v>
                </c:pt>
              </c:numCache>
            </c:numRef>
          </c:val>
        </c:ser>
        <c:ser>
          <c:idx val="3"/>
          <c:order val="3"/>
          <c:tx>
            <c:strRef>
              <c:f>Sheet1!$E$1</c:f>
              <c:strCache>
                <c:ptCount val="1"/>
                <c:pt idx="0">
                  <c:v>Enrolled elsewhere</c:v>
                </c:pt>
              </c:strCache>
            </c:strRef>
          </c:tx>
          <c:spPr>
            <a:solidFill>
              <a:srgbClr val="E0A52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Sheet1!$E$2:$E$6</c:f>
              <c:numCache>
                <c:formatCode>General</c:formatCode>
                <c:ptCount val="5"/>
                <c:pt idx="0">
                  <c:v>6</c:v>
                </c:pt>
                <c:pt idx="1">
                  <c:v>7.7</c:v>
                </c:pt>
                <c:pt idx="2">
                  <c:v>4.9</c:v>
                </c:pt>
                <c:pt idx="3">
                  <c:v>4.2</c:v>
                </c:pt>
                <c:pt idx="4">
                  <c:v>7.6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left off</c:v>
                </c:pt>
              </c:strCache>
            </c:strRef>
          </c:tx>
          <c:spPr>
            <a:solidFill>
              <a:srgbClr val="8B1E3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B1E3F"/>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8B1E3F"/>
              </a:solidFill>
              <a:effectLst/>
            </c:spPr>
          </c:dPt>
          <c:dPt>
            <c:idx val="4"/>
            <c:invertIfNegative val="0"/>
            <c:bubble3D val="0"/>
            <c:spPr>
              <a:solidFill>
                <a:srgbClr val="1F618D"/>
              </a:solidFill>
              <a:effectLst/>
            </c:spPr>
          </c:dPt>
          <c:dPt>
            <c:idx val="5"/>
            <c:invertIfNegative val="0"/>
            <c:bubble3D val="0"/>
            <c:spPr>
              <a:solidFill>
                <a:srgbClr val="8B1E3F"/>
              </a:solidFill>
              <a:effectLst/>
            </c:spPr>
          </c:dPt>
          <c:dPt>
            <c:idx val="6"/>
            <c:invertIfNegative val="0"/>
            <c:bubble3D val="0"/>
            <c:spPr>
              <a:solidFill>
                <a:srgbClr val="1F618D"/>
              </a:solidFill>
              <a:effectLst/>
            </c:spPr>
          </c:dPt>
          <c:dPt>
            <c:idx val="7"/>
            <c:invertIfNegative val="0"/>
            <c:bubble3D val="0"/>
            <c:spPr>
              <a:solidFill>
                <a:srgbClr val="8B1E3F"/>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8B1E3F"/>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cat>
            <c:multiLvlStrRef>
              <c:f>Sheet1!$A$2:$A$16</c:f>
              <c:multiLvlStrCache>
                <c:ptCount val="15"/>
                <c:lvl>
                  <c:pt idx="0">
                    <c:v>Bahadurpura</c:v>
                  </c:pt>
                  <c:pt idx="1">
                    <c:v>Karwan</c:v>
                  </c:pt>
                  <c:pt idx="2">
                    <c:v>Secunderabad</c:v>
                  </c:pt>
                  <c:pt idx="3">
                    <c:v>Chandrayangutta</c:v>
                  </c:pt>
                  <c:pt idx="4">
                    <c:v>Nampally</c:v>
                  </c:pt>
                  <c:pt idx="5">
                    <c:v>Charminar</c:v>
                  </c:pt>
                  <c:pt idx="6">
                    <c:v>Goshamahal</c:v>
                  </c:pt>
                  <c:pt idx="7">
                    <c:v>Yakutpura</c:v>
                  </c:pt>
                  <c:pt idx="8">
                    <c:v>Khairatabad</c:v>
                  </c:pt>
                  <c:pt idx="9">
                    <c:v>Amberpet</c:v>
                  </c:pt>
                  <c:pt idx="10">
                    <c:v>Secunderabad Cantonment</c:v>
                  </c:pt>
                  <c:pt idx="11">
                    <c:v>Jubilee Hills</c:v>
                  </c:pt>
                  <c:pt idx="12">
                    <c:v>Malakpet</c:v>
                  </c:pt>
                  <c:pt idx="13">
                    <c:v>Sanathnagar</c:v>
                  </c:pt>
                  <c:pt idx="14">
                    <c:v>Musheerabad</c:v>
                  </c:pt>
                </c:lvl>
              </c:multiLvlStrCache>
            </c:multiLvlStrRef>
          </c:cat>
          <c:val>
            <c:numRef>
              <c:f>Sheet1!$B$2:$B$16</c:f>
              <c:numCache>
                <c:formatCode>General</c:formatCode>
                <c:ptCount val="15"/>
                <c:pt idx="0">
                  <c:v>34.57</c:v>
                </c:pt>
                <c:pt idx="1">
                  <c:v>37</c:v>
                </c:pt>
                <c:pt idx="2">
                  <c:v>38.19</c:v>
                </c:pt>
                <c:pt idx="3">
                  <c:v>39.46</c:v>
                </c:pt>
                <c:pt idx="4">
                  <c:v>39.64</c:v>
                </c:pt>
                <c:pt idx="5">
                  <c:v>39.66</c:v>
                </c:pt>
                <c:pt idx="6">
                  <c:v>40.02</c:v>
                </c:pt>
                <c:pt idx="7">
                  <c:v>41.33</c:v>
                </c:pt>
                <c:pt idx="8">
                  <c:v>42.04</c:v>
                </c:pt>
                <c:pt idx="9">
                  <c:v>42.61</c:v>
                </c:pt>
                <c:pt idx="10">
                  <c:v>42.77</c:v>
                </c:pt>
                <c:pt idx="11">
                  <c:v>44.14</c:v>
                </c:pt>
                <c:pt idx="12">
                  <c:v>44.76</c:v>
                </c:pt>
                <c:pt idx="13">
                  <c:v>44.93</c:v>
                </c:pt>
                <c:pt idx="14">
                  <c:v>45.17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struck off</c:v>
                </c:pt>
              </c:strCache>
            </c:strRef>
          </c:tx>
          <c:spPr>
            <a:solidFill>
              <a:srgbClr val="8B1E3F"/>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20.9</c:v>
                </c:pt>
                <c:pt idx="1">
                  <c:v>30.6</c:v>
                </c:pt>
                <c:pt idx="2">
                  <c:v>40.5</c:v>
                </c:pt>
                <c:pt idx="3">
                  <c:v>41</c:v>
                </c:pt>
                <c:pt idx="4">
                  <c:v>41</c:v>
                </c:pt>
                <c:pt idx="5">
                  <c:v>46.6</c:v>
                </c:pt>
                <c:pt idx="6">
                  <c:v>57.2</c:v>
                </c:pt>
                <c:pt idx="7">
                  <c:v>74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Linked to 2002</c:v>
                </c:pt>
              </c:strCache>
            </c:strRef>
          </c:tx>
          <c:spPr>
            <a:solidFill>
              <a:srgbClr val="0E5E6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Sheet1!$B$2:$B$5</c:f>
              <c:numCache>
                <c:formatCode>General</c:formatCode>
                <c:ptCount val="4"/>
                <c:pt idx="0">
                  <c:v>26.16</c:v>
                </c:pt>
                <c:pt idx="1">
                  <c:v>29.2</c:v>
                </c:pt>
                <c:pt idx="2">
                  <c:v>24.75</c:v>
                </c:pt>
                <c:pt idx="3">
                  <c:v>21.68</c:v>
                </c:pt>
              </c:numCache>
            </c:numRef>
          </c:val>
        </c:ser>
        <c:ser>
          <c:idx val="1"/>
          <c:order val="1"/>
          <c:tx>
            <c:strRef>
              <c:f>Sheet1!$C$1</c:f>
              <c:strCache>
                <c:ptCount val="1"/>
                <c:pt idx="0">
                  <c:v>No 2002 link</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Sheet1!$C$2:$C$5</c:f>
              <c:numCache>
                <c:formatCode>General</c:formatCode>
                <c:ptCount val="4"/>
                <c:pt idx="0">
                  <c:v>53.08</c:v>
                </c:pt>
                <c:pt idx="1">
                  <c:v>52.23</c:v>
                </c:pt>
                <c:pt idx="2">
                  <c:v>51.73</c:v>
                </c:pt>
                <c:pt idx="3">
                  <c:v>49.56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Hindu-name electors</c:v>
                </c:pt>
              </c:strCache>
            </c:strRef>
          </c:tx>
          <c:spPr>
            <a:solidFill>
              <a:srgbClr val="E0A52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46.62</c:v>
                </c:pt>
                <c:pt idx="1">
                  <c:v>55.79</c:v>
                </c:pt>
                <c:pt idx="2">
                  <c:v>53.64</c:v>
                </c:pt>
                <c:pt idx="3">
                  <c:v>51.74</c:v>
                </c:pt>
                <c:pt idx="4">
                  <c:v>44.18</c:v>
                </c:pt>
              </c:numCache>
            </c:numRef>
          </c:val>
        </c:ser>
        <c:ser>
          <c:idx val="1"/>
          <c:order val="1"/>
          <c:tx>
            <c:strRef>
              <c:f>Sheet1!$C$1</c:f>
              <c:strCache>
                <c:ptCount val="1"/>
                <c:pt idx="0">
                  <c:v>Muslim-name electors</c:v>
                </c:pt>
              </c:strCache>
            </c:strRef>
          </c:tx>
          <c:spPr>
            <a:solidFill>
              <a:srgbClr val="1E8449"/>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36.1</c:v>
                </c:pt>
                <c:pt idx="1">
                  <c:v>34.51</c:v>
                </c:pt>
                <c:pt idx="2">
                  <c:v>38.16</c:v>
                </c:pt>
                <c:pt idx="3">
                  <c:v>36.07</c:v>
                </c:pt>
                <c:pt idx="4">
                  <c:v>33.36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38.14</c:v>
                </c:pt>
                <c:pt idx="1">
                  <c:v>40.31</c:v>
                </c:pt>
                <c:pt idx="2">
                  <c:v>45.08</c:v>
                </c:pt>
                <c:pt idx="3">
                  <c:v>40.01</c:v>
                </c:pt>
                <c:pt idx="4">
                  <c:v>35.79</c:v>
                </c:pt>
              </c:numCache>
            </c:numRef>
          </c:val>
        </c:ser>
        <c:ser>
          <c:idx val="1"/>
          <c:order val="1"/>
          <c:tx>
            <c:strRef>
              <c:f>Sheet1!$C$1</c:f>
              <c:strCache>
                <c:ptCount val="1"/>
                <c:pt idx="0">
                  <c:v>Men</c:v>
                </c:pt>
              </c:strCache>
            </c:strRef>
          </c:tx>
          <c:spPr>
            <a:solidFill>
              <a:srgbClr val="1F618D"/>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41.11</c:v>
                </c:pt>
                <c:pt idx="1">
                  <c:v>42.42</c:v>
                </c:pt>
                <c:pt idx="2">
                  <c:v>47.43</c:v>
                </c:pt>
                <c:pt idx="3">
                  <c:v>38.97</c:v>
                </c:pt>
                <c:pt idx="4">
                  <c:v>33.41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95A5A6"/>
              </a:solidFill>
              <a:effectLst/>
            </c:spPr>
          </c:dPt>
          <c:dPt>
            <c:idx val="5"/>
            <c:invertIfNegative val="0"/>
            <c:bubble3D val="0"/>
            <c:spPr>
              <a:solidFill>
                <a:srgbClr val="8B1E3F"/>
              </a:solidFill>
              <a:effectLst/>
            </c:spPr>
          </c:dPt>
          <c:dPt>
            <c:idx val="6"/>
            <c:invertIfNegative val="0"/>
            <c:bubble3D val="0"/>
            <c:spPr>
              <a:solidFill>
                <a:srgbClr val="8B1E3F"/>
              </a:solidFill>
              <a:effectLst/>
            </c:spPr>
          </c:dPt>
          <c:cat>
            <c:multiLvlStrRef>
              <c:f>Sheet1!$A$2:$A$8</c:f>
              <c:multiLvlStrCache>
                <c:ptCount val="7"/>
                <c:lvl>
                  <c:pt idx="0">
                    <c:v>10–20%</c:v>
                  </c:pt>
                  <c:pt idx="1">
                    <c:v>20–30%</c:v>
                  </c:pt>
                  <c:pt idx="2">
                    <c:v>30–40%</c:v>
                  </c:pt>
                  <c:pt idx="3">
                    <c:v>40–50%</c:v>
                  </c:pt>
                  <c:pt idx="4">
                    <c:v>50–60%</c:v>
                  </c:pt>
                  <c:pt idx="5">
                    <c:v>60–70%</c:v>
                  </c:pt>
                  <c:pt idx="6">
                    <c:v>70–80%</c:v>
                  </c:pt>
                </c:lvl>
              </c:multiLvlStrCache>
            </c:multiLvlStrRef>
          </c:cat>
          <c:val>
            <c:numRef>
              <c:f>Sheet1!$B$2:$B$8</c:f>
              <c:numCache>
                <c:formatCode>General</c:formatCode>
                <c:ptCount val="7"/>
                <c:pt idx="0">
                  <c:v>11</c:v>
                </c:pt>
                <c:pt idx="1">
                  <c:v>110</c:v>
                </c:pt>
                <c:pt idx="2">
                  <c:v>551</c:v>
                </c:pt>
                <c:pt idx="3">
                  <c:v>352</c:v>
                </c:pt>
                <c:pt idx="4">
                  <c:v>104</c:v>
                </c:pt>
                <c:pt idx="5">
                  <c:v>26</c:v>
                </c:pt>
                <c:pt idx="6">
                  <c:v>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Flags</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Sheet1!$A$2:$A$8</c:f>
              <c:multiLvlStrCache>
                <c:ptCount val="7"/>
                <c:lvl>
                  <c:pt idx="0">
                    <c:v>Grandparent less than 40 years older</c:v>
                  </c:pt>
                  <c:pt idx="1">
                    <c:v>Children born under 9 months apart</c:v>
                  </c:pt>
                  <c:pt idx="2">
                    <c:v>Parent less than 15 years older</c:v>
                  </c:pt>
                  <c:pt idx="3">
                    <c:v>Own name does not match</c:v>
                  </c:pt>
                  <c:pt idx="4">
                    <c:v>Six or more children recorded</c:v>
                  </c:pt>
                  <c:pt idx="5">
                    <c:v>Parent's name does not match</c:v>
                  </c:pt>
                  <c:pt idx="6">
                    <c:v>Not traced to the 2002 roll</c:v>
                  </c:pt>
                </c:lvl>
              </c:multiLvlStrCache>
            </c:multiLvlStrRef>
          </c:cat>
          <c:val>
            <c:numRef>
              <c:f>Sheet1!$B$2:$B$8</c:f>
              <c:numCache>
                <c:formatCode>General</c:formatCode>
                <c:ptCount val="7"/>
                <c:pt idx="0">
                  <c:v>16296</c:v>
                </c:pt>
                <c:pt idx="1">
                  <c:v>22783</c:v>
                </c:pt>
                <c:pt idx="2">
                  <c:v>38277</c:v>
                </c:pt>
                <c:pt idx="3">
                  <c:v>42933</c:v>
                </c:pt>
                <c:pt idx="4">
                  <c:v>51822</c:v>
                </c:pt>
                <c:pt idx="5">
                  <c:v>63180</c:v>
                </c:pt>
                <c:pt idx="6">
                  <c:v>108489</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Median cases per slot</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c:v>
                </c:pt>
                <c:pt idx="1">
                  <c:v>60</c:v>
                </c:pt>
                <c:pt idx="2">
                  <c:v>45</c:v>
                </c:pt>
                <c:pt idx="3">
                  <c:v>50</c:v>
                </c:pt>
                <c:pt idx="4">
                  <c:v>50</c:v>
                </c:pt>
              </c:numCache>
            </c:numRef>
          </c:val>
        </c:ser>
        <c:ser>
          <c:idx val="1"/>
          <c:order val="1"/>
          <c:tx>
            <c:strRef>
              <c:f>Sheet1!$C$1</c:f>
              <c:strCache>
                <c:ptCount val="1"/>
                <c:pt idx="0">
                  <c:v>Busiest single slot</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459</c:v>
                </c:pt>
                <c:pt idx="1">
                  <c:v>323</c:v>
                </c:pt>
                <c:pt idx="2">
                  <c:v>284</c:v>
                </c:pt>
                <c:pt idx="3">
                  <c:v>299</c:v>
                </c:pt>
                <c:pt idx="4">
                  <c:v>150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Cases listed per day, all five</a:t>
            </a:r>
          </a:p>
        </c:rich>
      </c:tx>
      <c:layout/>
      <c:overlay val="0"/>
    </c:title>
    <c:autoTitleDeleted val="0"/>
    <c:plotArea>
      <c:layout/>
      <c:lineChart>
        <c:varyColors val="0"/>
        <c:ser>
          <c:idx val="0"/>
          <c:order val="0"/>
          <c:tx>
            <c:strRef>
              <c:f>Sheet1!$B$1</c:f>
              <c:strCache>
                <c:ptCount val="1"/>
                <c:pt idx="0">
                  <c:v>Cases listed per day</c:v>
                </c:pt>
              </c:strCache>
            </c:strRef>
          </c:tx>
          <c:spPr>
            <a:solidFill>
              <a:srgbClr val="8B1E3F"/>
            </a:solidFill>
            <a:ln w="25400" cap="flat">
              <a:solidFill>
                <a:srgbClr val="8B1E3F"/>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none"/>
            <c:size val="6"/>
            <c:spPr>
              <a:solidFill>
                <a:srgbClr val="8B1E3F"/>
              </a:solidFill>
              <a:ln w="9525" cap="flat">
                <a:solidFill>
                  <a:srgbClr val="8B1E3F"/>
                </a:solidFill>
                <a:prstDash val="solid"/>
                <a:round/>
              </a:ln>
              <a:effectLst/>
            </c:spPr>
          </c:marker>
          <c:cat>
            <c:multiLvlStrRef>
              <c:f>Sheet1!$A$2:$A$24</c:f>
              <c:multiLvlStrCache>
                <c:ptCount val="23"/>
                <c:lvl>
                  <c:pt idx="0">
                    <c:v>28 Aug</c:v>
                  </c:pt>
                  <c:pt idx="1">
                    <c:v>29 Aug</c:v>
                  </c:pt>
                  <c:pt idx="2">
                    <c:v>30 Aug</c:v>
                  </c:pt>
                  <c:pt idx="3">
                    <c:v>31 Aug</c:v>
                  </c:pt>
                  <c:pt idx="4">
                    <c:v>01 Sep</c:v>
                  </c:pt>
                  <c:pt idx="5">
                    <c:v>02 Sep</c:v>
                  </c:pt>
                  <c:pt idx="6">
                    <c:v>03 Sep</c:v>
                  </c:pt>
                  <c:pt idx="7">
                    <c:v>04 Sep</c:v>
                  </c:pt>
                  <c:pt idx="8">
                    <c:v>05 Sep</c:v>
                  </c:pt>
                  <c:pt idx="9">
                    <c:v>06 Sep</c:v>
                  </c:pt>
                  <c:pt idx="10">
                    <c:v>07 Sep</c:v>
                  </c:pt>
                  <c:pt idx="11">
                    <c:v>08 Sep</c:v>
                  </c:pt>
                  <c:pt idx="12">
                    <c:v>09 Sep</c:v>
                  </c:pt>
                  <c:pt idx="13">
                    <c:v>10 Sep</c:v>
                  </c:pt>
                  <c:pt idx="14">
                    <c:v>11 Sep</c:v>
                  </c:pt>
                  <c:pt idx="15">
                    <c:v>15 Sep</c:v>
                  </c:pt>
                  <c:pt idx="16">
                    <c:v>16 Sep</c:v>
                  </c:pt>
                  <c:pt idx="17">
                    <c:v>17 Sep</c:v>
                  </c:pt>
                  <c:pt idx="18">
                    <c:v>18 Sep</c:v>
                  </c:pt>
                  <c:pt idx="19">
                    <c:v>19 Sep</c:v>
                  </c:pt>
                  <c:pt idx="20">
                    <c:v>21 Sep</c:v>
                  </c:pt>
                  <c:pt idx="21">
                    <c:v>22 Sep</c:v>
                  </c:pt>
                  <c:pt idx="22">
                    <c:v>23 Sep</c:v>
                  </c:pt>
                </c:lvl>
              </c:multiLvlStrCache>
            </c:multiLvlStrRef>
          </c:cat>
          <c:val>
            <c:numRef>
              <c:f>Sheet1!$B$2:$B$24</c:f>
              <c:numCache>
                <c:formatCode>General</c:formatCode>
                <c:ptCount val="23"/>
                <c:pt idx="0">
                  <c:v>6743</c:v>
                </c:pt>
                <c:pt idx="1">
                  <c:v>12130</c:v>
                </c:pt>
                <c:pt idx="2">
                  <c:v>7507</c:v>
                </c:pt>
                <c:pt idx="3">
                  <c:v>13781</c:v>
                </c:pt>
                <c:pt idx="4">
                  <c:v>13365</c:v>
                </c:pt>
                <c:pt idx="5">
                  <c:v>12512</c:v>
                </c:pt>
                <c:pt idx="6">
                  <c:v>11647</c:v>
                </c:pt>
                <c:pt idx="7">
                  <c:v>8381</c:v>
                </c:pt>
                <c:pt idx="8">
                  <c:v>18509</c:v>
                </c:pt>
                <c:pt idx="9">
                  <c:v>15568</c:v>
                </c:pt>
                <c:pt idx="10">
                  <c:v>20689</c:v>
                </c:pt>
                <c:pt idx="11">
                  <c:v>19716</c:v>
                </c:pt>
                <c:pt idx="12">
                  <c:v>18607</c:v>
                </c:pt>
                <c:pt idx="13">
                  <c:v>13381</c:v>
                </c:pt>
                <c:pt idx="14">
                  <c:v>14554</c:v>
                </c:pt>
                <c:pt idx="15">
                  <c:v>18172</c:v>
                </c:pt>
                <c:pt idx="16">
                  <c:v>17622</c:v>
                </c:pt>
                <c:pt idx="17">
                  <c:v>16008</c:v>
                </c:pt>
                <c:pt idx="18">
                  <c:v>13855</c:v>
                </c:pt>
                <c:pt idx="19">
                  <c:v>11494</c:v>
                </c:pt>
                <c:pt idx="20">
                  <c:v>7274</c:v>
                </c:pt>
                <c:pt idx="21">
                  <c:v>10252</c:v>
                </c:pt>
                <c:pt idx="22">
                  <c:v>10670</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lists cover every elector on the pre-revision rolls of the five constituencies, so each group has a true removal rate. These are the September 2026 lists and the final roll is due on 9 November, so names put back after hearings are not 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election has been held on the revised roll. The comparison is of size only, because the roll records nobody's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7 September the Commission extended the calendar, with claims to 7 October, hearings to 5 November and the final roll on 9 November. The schedules here are those in the September lists. The length of a slot is not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chart" Target="/ppt/charts/chart33.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9B8"/>
                </a:solidFill>
                <a:latin typeface="Calibri" pitchFamily="34" charset="0"/>
                <a:ea typeface="Calibri" pitchFamily="34" charset="-122"/>
                <a:cs typeface="Calibri" pitchFamily="34" charset="-120"/>
              </a:rPr>
              <a:t>SPECIAL INTENSIVE REVISION · HYDERABAD OLD CITY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2026 revision struck 6.6 lakh electors off five Old City rolls</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9B8"/>
                </a:solidFill>
                <a:latin typeface="Calibri" pitchFamily="34" charset="0"/>
                <a:ea typeface="Calibri" pitchFamily="34" charset="-122"/>
                <a:cs typeface="Calibri" pitchFamily="34" charset="-120"/>
              </a:rPr>
              <a:t>Charminar, Yakutpura, Malakpet, Chandrayangutta and Bahadurpura, polling part by polling part</a:t>
            </a:r>
            <a:endParaRPr lang="en-US" sz="1700" dirty="0"/>
          </a:p>
        </p:txBody>
      </p:sp>
      <p:sp>
        <p:nvSpPr>
          <p:cNvPr id="5" name="Shape 3"/>
          <p:cNvSpPr/>
          <p:nvPr/>
        </p:nvSpPr>
        <p:spPr>
          <a:xfrm>
            <a:off x="548640" y="3429000"/>
            <a:ext cx="2567864" cy="1737360"/>
          </a:xfrm>
          <a:prstGeom prst="roundRect">
            <a:avLst>
              <a:gd name="adj" fmla="val 4211"/>
            </a:avLst>
          </a:prstGeom>
          <a:solidFill>
            <a:srgbClr val="52101F"/>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6,62,063</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electors struck off the pre-revision rolls</a:t>
            </a:r>
            <a:endParaRPr lang="en-US" sz="1250" dirty="0"/>
          </a:p>
        </p:txBody>
      </p:sp>
      <p:sp>
        <p:nvSpPr>
          <p:cNvPr id="8" name="Shape 6"/>
          <p:cNvSpPr/>
          <p:nvPr/>
        </p:nvSpPr>
        <p:spPr>
          <a:xfrm>
            <a:off x="3390824" y="3429000"/>
            <a:ext cx="2567864" cy="1737360"/>
          </a:xfrm>
          <a:prstGeom prst="roundRect">
            <a:avLst>
              <a:gd name="adj" fmla="val 4211"/>
            </a:avLst>
          </a:prstGeom>
          <a:solidFill>
            <a:srgbClr val="52101F"/>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40.0%</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every elector on those rolls</a:t>
            </a:r>
            <a:endParaRPr lang="en-US" sz="1250" dirty="0"/>
          </a:p>
        </p:txBody>
      </p:sp>
      <p:sp>
        <p:nvSpPr>
          <p:cNvPr id="11" name="Shape 9"/>
          <p:cNvSpPr/>
          <p:nvPr/>
        </p:nvSpPr>
        <p:spPr>
          <a:xfrm>
            <a:off x="6233008" y="3429000"/>
            <a:ext cx="2567864" cy="1737360"/>
          </a:xfrm>
          <a:prstGeom prst="roundRect">
            <a:avLst>
              <a:gd name="adj" fmla="val 4211"/>
            </a:avLst>
          </a:prstGeom>
          <a:solidFill>
            <a:srgbClr val="52101F"/>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99.0%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the valid votes cast in 2023</a:t>
            </a:r>
            <a:endParaRPr lang="en-US" sz="1250" dirty="0"/>
          </a:p>
        </p:txBody>
      </p:sp>
      <p:sp>
        <p:nvSpPr>
          <p:cNvPr id="14" name="Shape 12"/>
          <p:cNvSpPr/>
          <p:nvPr/>
        </p:nvSpPr>
        <p:spPr>
          <a:xfrm>
            <a:off x="9075191" y="3429000"/>
            <a:ext cx="2567864" cy="1737360"/>
          </a:xfrm>
          <a:prstGeom prst="roundRect">
            <a:avLst>
              <a:gd name="adj" fmla="val 4211"/>
            </a:avLst>
          </a:prstGeom>
          <a:solidFill>
            <a:srgbClr val="52101F"/>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3,69,972</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kept but summoned to a hearing</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9B8"/>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8B1E3F"/>
          </a:solidFill>
          <a:ln/>
        </p:spPr>
      </p:sp>
      <p:sp>
        <p:nvSpPr>
          <p:cNvPr id="19" name="Shape 17"/>
          <p:cNvSpPr/>
          <p:nvPr/>
        </p:nvSpPr>
        <p:spPr>
          <a:xfrm>
            <a:off x="304792" y="6748272"/>
            <a:ext cx="304792" cy="109728"/>
          </a:xfrm>
          <a:prstGeom prst="rect">
            <a:avLst/>
          </a:prstGeom>
          <a:solidFill>
            <a:srgbClr val="0E5E6F"/>
          </a:solidFill>
          <a:ln/>
        </p:spPr>
      </p:sp>
      <p:sp>
        <p:nvSpPr>
          <p:cNvPr id="20" name="Shape 18"/>
          <p:cNvSpPr/>
          <p:nvPr/>
        </p:nvSpPr>
        <p:spPr>
          <a:xfrm>
            <a:off x="609585" y="6748272"/>
            <a:ext cx="304792" cy="109728"/>
          </a:xfrm>
          <a:prstGeom prst="rect">
            <a:avLst/>
          </a:prstGeom>
          <a:solidFill>
            <a:srgbClr val="E0A526"/>
          </a:solidFill>
          <a:ln/>
        </p:spPr>
      </p:sp>
      <p:sp>
        <p:nvSpPr>
          <p:cNvPr id="21" name="Shape 19"/>
          <p:cNvSpPr/>
          <p:nvPr/>
        </p:nvSpPr>
        <p:spPr>
          <a:xfrm>
            <a:off x="914377" y="6748272"/>
            <a:ext cx="304792" cy="109728"/>
          </a:xfrm>
          <a:prstGeom prst="rect">
            <a:avLst/>
          </a:prstGeom>
          <a:solidFill>
            <a:srgbClr val="0E5E6F"/>
          </a:solidFill>
          <a:ln/>
        </p:spPr>
      </p:sp>
      <p:sp>
        <p:nvSpPr>
          <p:cNvPr id="22" name="Shape 20"/>
          <p:cNvSpPr/>
          <p:nvPr/>
        </p:nvSpPr>
        <p:spPr>
          <a:xfrm>
            <a:off x="1219170" y="6748272"/>
            <a:ext cx="304792" cy="109728"/>
          </a:xfrm>
          <a:prstGeom prst="rect">
            <a:avLst/>
          </a:prstGeom>
          <a:solidFill>
            <a:srgbClr val="8B1E3F"/>
          </a:solidFill>
          <a:ln/>
        </p:spPr>
      </p:sp>
      <p:sp>
        <p:nvSpPr>
          <p:cNvPr id="23" name="Shape 21"/>
          <p:cNvSpPr/>
          <p:nvPr/>
        </p:nvSpPr>
        <p:spPr>
          <a:xfrm>
            <a:off x="1523962" y="6748272"/>
            <a:ext cx="304792" cy="109728"/>
          </a:xfrm>
          <a:prstGeom prst="rect">
            <a:avLst/>
          </a:prstGeom>
          <a:solidFill>
            <a:srgbClr val="0E5E6F"/>
          </a:solidFill>
          <a:ln/>
        </p:spPr>
      </p:sp>
      <p:sp>
        <p:nvSpPr>
          <p:cNvPr id="24" name="Shape 22"/>
          <p:cNvSpPr/>
          <p:nvPr/>
        </p:nvSpPr>
        <p:spPr>
          <a:xfrm>
            <a:off x="1828754" y="6748272"/>
            <a:ext cx="304792" cy="109728"/>
          </a:xfrm>
          <a:prstGeom prst="rect">
            <a:avLst/>
          </a:prstGeom>
          <a:solidFill>
            <a:srgbClr val="E0A526"/>
          </a:solidFill>
          <a:ln/>
        </p:spPr>
      </p:sp>
      <p:sp>
        <p:nvSpPr>
          <p:cNvPr id="25" name="Shape 23"/>
          <p:cNvSpPr/>
          <p:nvPr/>
        </p:nvSpPr>
        <p:spPr>
          <a:xfrm>
            <a:off x="2133547" y="6748272"/>
            <a:ext cx="304792" cy="109728"/>
          </a:xfrm>
          <a:prstGeom prst="rect">
            <a:avLst/>
          </a:prstGeom>
          <a:solidFill>
            <a:srgbClr val="0E5E6F"/>
          </a:solidFill>
          <a:ln/>
        </p:spPr>
      </p:sp>
      <p:sp>
        <p:nvSpPr>
          <p:cNvPr id="26" name="Shape 24"/>
          <p:cNvSpPr/>
          <p:nvPr/>
        </p:nvSpPr>
        <p:spPr>
          <a:xfrm>
            <a:off x="2438339" y="6748272"/>
            <a:ext cx="304792" cy="109728"/>
          </a:xfrm>
          <a:prstGeom prst="rect">
            <a:avLst/>
          </a:prstGeom>
          <a:solidFill>
            <a:srgbClr val="8B1E3F"/>
          </a:solidFill>
          <a:ln/>
        </p:spPr>
      </p:sp>
      <p:sp>
        <p:nvSpPr>
          <p:cNvPr id="27" name="Shape 25"/>
          <p:cNvSpPr/>
          <p:nvPr/>
        </p:nvSpPr>
        <p:spPr>
          <a:xfrm>
            <a:off x="2743131" y="6748272"/>
            <a:ext cx="304792" cy="109728"/>
          </a:xfrm>
          <a:prstGeom prst="rect">
            <a:avLst/>
          </a:prstGeom>
          <a:solidFill>
            <a:srgbClr val="0E5E6F"/>
          </a:solidFill>
          <a:ln/>
        </p:spPr>
      </p:sp>
      <p:sp>
        <p:nvSpPr>
          <p:cNvPr id="28" name="Shape 26"/>
          <p:cNvSpPr/>
          <p:nvPr/>
        </p:nvSpPr>
        <p:spPr>
          <a:xfrm>
            <a:off x="3047924" y="6748272"/>
            <a:ext cx="304792" cy="109728"/>
          </a:xfrm>
          <a:prstGeom prst="rect">
            <a:avLst/>
          </a:prstGeom>
          <a:solidFill>
            <a:srgbClr val="E0A526"/>
          </a:solidFill>
          <a:ln/>
        </p:spPr>
      </p:sp>
      <p:sp>
        <p:nvSpPr>
          <p:cNvPr id="29" name="Shape 27"/>
          <p:cNvSpPr/>
          <p:nvPr/>
        </p:nvSpPr>
        <p:spPr>
          <a:xfrm>
            <a:off x="3352716" y="6748272"/>
            <a:ext cx="304792" cy="109728"/>
          </a:xfrm>
          <a:prstGeom prst="rect">
            <a:avLst/>
          </a:prstGeom>
          <a:solidFill>
            <a:srgbClr val="0E5E6F"/>
          </a:solidFill>
          <a:ln/>
        </p:spPr>
      </p:sp>
      <p:sp>
        <p:nvSpPr>
          <p:cNvPr id="30" name="Shape 28"/>
          <p:cNvSpPr/>
          <p:nvPr/>
        </p:nvSpPr>
        <p:spPr>
          <a:xfrm>
            <a:off x="3657509" y="6748272"/>
            <a:ext cx="304792" cy="109728"/>
          </a:xfrm>
          <a:prstGeom prst="rect">
            <a:avLst/>
          </a:prstGeom>
          <a:solidFill>
            <a:srgbClr val="8B1E3F"/>
          </a:solidFill>
          <a:ln/>
        </p:spPr>
      </p:sp>
      <p:sp>
        <p:nvSpPr>
          <p:cNvPr id="31" name="Shape 29"/>
          <p:cNvSpPr/>
          <p:nvPr/>
        </p:nvSpPr>
        <p:spPr>
          <a:xfrm>
            <a:off x="3962301" y="6748272"/>
            <a:ext cx="304792" cy="109728"/>
          </a:xfrm>
          <a:prstGeom prst="rect">
            <a:avLst/>
          </a:prstGeom>
          <a:solidFill>
            <a:srgbClr val="0E5E6F"/>
          </a:solidFill>
          <a:ln/>
        </p:spPr>
      </p:sp>
      <p:sp>
        <p:nvSpPr>
          <p:cNvPr id="32" name="Shape 30"/>
          <p:cNvSpPr/>
          <p:nvPr/>
        </p:nvSpPr>
        <p:spPr>
          <a:xfrm>
            <a:off x="4267093" y="6748272"/>
            <a:ext cx="304792" cy="109728"/>
          </a:xfrm>
          <a:prstGeom prst="rect">
            <a:avLst/>
          </a:prstGeom>
          <a:solidFill>
            <a:srgbClr val="E0A526"/>
          </a:solidFill>
          <a:ln/>
        </p:spPr>
      </p:sp>
      <p:sp>
        <p:nvSpPr>
          <p:cNvPr id="33" name="Shape 31"/>
          <p:cNvSpPr/>
          <p:nvPr/>
        </p:nvSpPr>
        <p:spPr>
          <a:xfrm>
            <a:off x="4571886" y="6748272"/>
            <a:ext cx="304792" cy="109728"/>
          </a:xfrm>
          <a:prstGeom prst="rect">
            <a:avLst/>
          </a:prstGeom>
          <a:solidFill>
            <a:srgbClr val="0E5E6F"/>
          </a:solidFill>
          <a:ln/>
        </p:spPr>
      </p:sp>
      <p:sp>
        <p:nvSpPr>
          <p:cNvPr id="34" name="Shape 32"/>
          <p:cNvSpPr/>
          <p:nvPr/>
        </p:nvSpPr>
        <p:spPr>
          <a:xfrm>
            <a:off x="4876678" y="6748272"/>
            <a:ext cx="304792" cy="109728"/>
          </a:xfrm>
          <a:prstGeom prst="rect">
            <a:avLst/>
          </a:prstGeom>
          <a:solidFill>
            <a:srgbClr val="8B1E3F"/>
          </a:solidFill>
          <a:ln/>
        </p:spPr>
      </p:sp>
      <p:sp>
        <p:nvSpPr>
          <p:cNvPr id="35" name="Shape 33"/>
          <p:cNvSpPr/>
          <p:nvPr/>
        </p:nvSpPr>
        <p:spPr>
          <a:xfrm>
            <a:off x="5181470" y="6748272"/>
            <a:ext cx="304792" cy="109728"/>
          </a:xfrm>
          <a:prstGeom prst="rect">
            <a:avLst/>
          </a:prstGeom>
          <a:solidFill>
            <a:srgbClr val="0E5E6F"/>
          </a:solidFill>
          <a:ln/>
        </p:spPr>
      </p:sp>
      <p:sp>
        <p:nvSpPr>
          <p:cNvPr id="36" name="Shape 34"/>
          <p:cNvSpPr/>
          <p:nvPr/>
        </p:nvSpPr>
        <p:spPr>
          <a:xfrm>
            <a:off x="5486263" y="6748272"/>
            <a:ext cx="304792" cy="109728"/>
          </a:xfrm>
          <a:prstGeom prst="rect">
            <a:avLst/>
          </a:prstGeom>
          <a:solidFill>
            <a:srgbClr val="E0A526"/>
          </a:solidFill>
          <a:ln/>
        </p:spPr>
      </p:sp>
      <p:sp>
        <p:nvSpPr>
          <p:cNvPr id="37" name="Shape 35"/>
          <p:cNvSpPr/>
          <p:nvPr/>
        </p:nvSpPr>
        <p:spPr>
          <a:xfrm>
            <a:off x="5791055" y="6748272"/>
            <a:ext cx="304792" cy="109728"/>
          </a:xfrm>
          <a:prstGeom prst="rect">
            <a:avLst/>
          </a:prstGeom>
          <a:solidFill>
            <a:srgbClr val="0E5E6F"/>
          </a:solidFill>
          <a:ln/>
        </p:spPr>
      </p:sp>
      <p:sp>
        <p:nvSpPr>
          <p:cNvPr id="38" name="Shape 36"/>
          <p:cNvSpPr/>
          <p:nvPr/>
        </p:nvSpPr>
        <p:spPr>
          <a:xfrm>
            <a:off x="6095848" y="6748272"/>
            <a:ext cx="304792" cy="109728"/>
          </a:xfrm>
          <a:prstGeom prst="rect">
            <a:avLst/>
          </a:prstGeom>
          <a:solidFill>
            <a:srgbClr val="8B1E3F"/>
          </a:solidFill>
          <a:ln/>
        </p:spPr>
      </p:sp>
      <p:sp>
        <p:nvSpPr>
          <p:cNvPr id="39" name="Shape 37"/>
          <p:cNvSpPr/>
          <p:nvPr/>
        </p:nvSpPr>
        <p:spPr>
          <a:xfrm>
            <a:off x="6400640" y="6748272"/>
            <a:ext cx="304792" cy="109728"/>
          </a:xfrm>
          <a:prstGeom prst="rect">
            <a:avLst/>
          </a:prstGeom>
          <a:solidFill>
            <a:srgbClr val="0E5E6F"/>
          </a:solidFill>
          <a:ln/>
        </p:spPr>
      </p:sp>
      <p:sp>
        <p:nvSpPr>
          <p:cNvPr id="40" name="Shape 38"/>
          <p:cNvSpPr/>
          <p:nvPr/>
        </p:nvSpPr>
        <p:spPr>
          <a:xfrm>
            <a:off x="6705432" y="6748272"/>
            <a:ext cx="304792" cy="109728"/>
          </a:xfrm>
          <a:prstGeom prst="rect">
            <a:avLst/>
          </a:prstGeom>
          <a:solidFill>
            <a:srgbClr val="E0A526"/>
          </a:solidFill>
          <a:ln/>
        </p:spPr>
      </p:sp>
      <p:sp>
        <p:nvSpPr>
          <p:cNvPr id="41" name="Shape 39"/>
          <p:cNvSpPr/>
          <p:nvPr/>
        </p:nvSpPr>
        <p:spPr>
          <a:xfrm>
            <a:off x="7010225" y="6748272"/>
            <a:ext cx="304792" cy="109728"/>
          </a:xfrm>
          <a:prstGeom prst="rect">
            <a:avLst/>
          </a:prstGeom>
          <a:solidFill>
            <a:srgbClr val="0E5E6F"/>
          </a:solidFill>
          <a:ln/>
        </p:spPr>
      </p:sp>
      <p:sp>
        <p:nvSpPr>
          <p:cNvPr id="42" name="Shape 40"/>
          <p:cNvSpPr/>
          <p:nvPr/>
        </p:nvSpPr>
        <p:spPr>
          <a:xfrm>
            <a:off x="7315017" y="6748272"/>
            <a:ext cx="304792" cy="109728"/>
          </a:xfrm>
          <a:prstGeom prst="rect">
            <a:avLst/>
          </a:prstGeom>
          <a:solidFill>
            <a:srgbClr val="8B1E3F"/>
          </a:solidFill>
          <a:ln/>
        </p:spPr>
      </p:sp>
      <p:sp>
        <p:nvSpPr>
          <p:cNvPr id="43" name="Shape 41"/>
          <p:cNvSpPr/>
          <p:nvPr/>
        </p:nvSpPr>
        <p:spPr>
          <a:xfrm>
            <a:off x="7619809" y="6748272"/>
            <a:ext cx="304792" cy="109728"/>
          </a:xfrm>
          <a:prstGeom prst="rect">
            <a:avLst/>
          </a:prstGeom>
          <a:solidFill>
            <a:srgbClr val="0E5E6F"/>
          </a:solidFill>
          <a:ln/>
        </p:spPr>
      </p:sp>
      <p:sp>
        <p:nvSpPr>
          <p:cNvPr id="44" name="Shape 42"/>
          <p:cNvSpPr/>
          <p:nvPr/>
        </p:nvSpPr>
        <p:spPr>
          <a:xfrm>
            <a:off x="7924602" y="6748272"/>
            <a:ext cx="304792" cy="109728"/>
          </a:xfrm>
          <a:prstGeom prst="rect">
            <a:avLst/>
          </a:prstGeom>
          <a:solidFill>
            <a:srgbClr val="E0A526"/>
          </a:solidFill>
          <a:ln/>
        </p:spPr>
      </p:sp>
      <p:sp>
        <p:nvSpPr>
          <p:cNvPr id="45" name="Shape 43"/>
          <p:cNvSpPr/>
          <p:nvPr/>
        </p:nvSpPr>
        <p:spPr>
          <a:xfrm>
            <a:off x="8229394" y="6748272"/>
            <a:ext cx="304792" cy="109728"/>
          </a:xfrm>
          <a:prstGeom prst="rect">
            <a:avLst/>
          </a:prstGeom>
          <a:solidFill>
            <a:srgbClr val="0E5E6F"/>
          </a:solidFill>
          <a:ln/>
        </p:spPr>
      </p:sp>
      <p:sp>
        <p:nvSpPr>
          <p:cNvPr id="46" name="Shape 44"/>
          <p:cNvSpPr/>
          <p:nvPr/>
        </p:nvSpPr>
        <p:spPr>
          <a:xfrm>
            <a:off x="8534187" y="6748272"/>
            <a:ext cx="304792" cy="109728"/>
          </a:xfrm>
          <a:prstGeom prst="rect">
            <a:avLst/>
          </a:prstGeom>
          <a:solidFill>
            <a:srgbClr val="8B1E3F"/>
          </a:solidFill>
          <a:ln/>
        </p:spPr>
      </p:sp>
      <p:sp>
        <p:nvSpPr>
          <p:cNvPr id="47" name="Shape 45"/>
          <p:cNvSpPr/>
          <p:nvPr/>
        </p:nvSpPr>
        <p:spPr>
          <a:xfrm>
            <a:off x="8838979" y="6748272"/>
            <a:ext cx="304792" cy="109728"/>
          </a:xfrm>
          <a:prstGeom prst="rect">
            <a:avLst/>
          </a:prstGeom>
          <a:solidFill>
            <a:srgbClr val="0E5E6F"/>
          </a:solidFill>
          <a:ln/>
        </p:spPr>
      </p:sp>
      <p:sp>
        <p:nvSpPr>
          <p:cNvPr id="48" name="Shape 46"/>
          <p:cNvSpPr/>
          <p:nvPr/>
        </p:nvSpPr>
        <p:spPr>
          <a:xfrm>
            <a:off x="9143771" y="6748272"/>
            <a:ext cx="304792" cy="109728"/>
          </a:xfrm>
          <a:prstGeom prst="rect">
            <a:avLst/>
          </a:prstGeom>
          <a:solidFill>
            <a:srgbClr val="E0A526"/>
          </a:solidFill>
          <a:ln/>
        </p:spPr>
      </p:sp>
      <p:sp>
        <p:nvSpPr>
          <p:cNvPr id="49" name="Shape 47"/>
          <p:cNvSpPr/>
          <p:nvPr/>
        </p:nvSpPr>
        <p:spPr>
          <a:xfrm>
            <a:off x="9448564" y="6748272"/>
            <a:ext cx="304792" cy="109728"/>
          </a:xfrm>
          <a:prstGeom prst="rect">
            <a:avLst/>
          </a:prstGeom>
          <a:solidFill>
            <a:srgbClr val="0E5E6F"/>
          </a:solidFill>
          <a:ln/>
        </p:spPr>
      </p:sp>
      <p:sp>
        <p:nvSpPr>
          <p:cNvPr id="50" name="Shape 48"/>
          <p:cNvSpPr/>
          <p:nvPr/>
        </p:nvSpPr>
        <p:spPr>
          <a:xfrm>
            <a:off x="9753356" y="6748272"/>
            <a:ext cx="304792" cy="109728"/>
          </a:xfrm>
          <a:prstGeom prst="rect">
            <a:avLst/>
          </a:prstGeom>
          <a:solidFill>
            <a:srgbClr val="8B1E3F"/>
          </a:solidFill>
          <a:ln/>
        </p:spPr>
      </p:sp>
      <p:sp>
        <p:nvSpPr>
          <p:cNvPr id="51" name="Shape 49"/>
          <p:cNvSpPr/>
          <p:nvPr/>
        </p:nvSpPr>
        <p:spPr>
          <a:xfrm>
            <a:off x="10058149" y="6748272"/>
            <a:ext cx="304792" cy="109728"/>
          </a:xfrm>
          <a:prstGeom prst="rect">
            <a:avLst/>
          </a:prstGeom>
          <a:solidFill>
            <a:srgbClr val="0E5E6F"/>
          </a:solidFill>
          <a:ln/>
        </p:spPr>
      </p:sp>
      <p:sp>
        <p:nvSpPr>
          <p:cNvPr id="52" name="Shape 50"/>
          <p:cNvSpPr/>
          <p:nvPr/>
        </p:nvSpPr>
        <p:spPr>
          <a:xfrm>
            <a:off x="10362941" y="6748272"/>
            <a:ext cx="304792" cy="109728"/>
          </a:xfrm>
          <a:prstGeom prst="rect">
            <a:avLst/>
          </a:prstGeom>
          <a:solidFill>
            <a:srgbClr val="E0A526"/>
          </a:solidFill>
          <a:ln/>
        </p:spPr>
      </p:sp>
      <p:sp>
        <p:nvSpPr>
          <p:cNvPr id="53" name="Shape 51"/>
          <p:cNvSpPr/>
          <p:nvPr/>
        </p:nvSpPr>
        <p:spPr>
          <a:xfrm>
            <a:off x="10667733" y="6748272"/>
            <a:ext cx="304792" cy="109728"/>
          </a:xfrm>
          <a:prstGeom prst="rect">
            <a:avLst/>
          </a:prstGeom>
          <a:solidFill>
            <a:srgbClr val="0E5E6F"/>
          </a:solidFill>
          <a:ln/>
        </p:spPr>
      </p:sp>
      <p:sp>
        <p:nvSpPr>
          <p:cNvPr id="54" name="Shape 52"/>
          <p:cNvSpPr/>
          <p:nvPr/>
        </p:nvSpPr>
        <p:spPr>
          <a:xfrm>
            <a:off x="10972526" y="6748272"/>
            <a:ext cx="304792" cy="109728"/>
          </a:xfrm>
          <a:prstGeom prst="rect">
            <a:avLst/>
          </a:prstGeom>
          <a:solidFill>
            <a:srgbClr val="8B1E3F"/>
          </a:solidFill>
          <a:ln/>
        </p:spPr>
      </p:sp>
      <p:sp>
        <p:nvSpPr>
          <p:cNvPr id="55" name="Shape 53"/>
          <p:cNvSpPr/>
          <p:nvPr/>
        </p:nvSpPr>
        <p:spPr>
          <a:xfrm>
            <a:off x="11277318" y="6748272"/>
            <a:ext cx="304792" cy="109728"/>
          </a:xfrm>
          <a:prstGeom prst="rect">
            <a:avLst/>
          </a:prstGeom>
          <a:solidFill>
            <a:srgbClr val="0E5E6F"/>
          </a:solidFill>
          <a:ln/>
        </p:spPr>
      </p:sp>
      <p:sp>
        <p:nvSpPr>
          <p:cNvPr id="56" name="Shape 54"/>
          <p:cNvSpPr/>
          <p:nvPr/>
        </p:nvSpPr>
        <p:spPr>
          <a:xfrm>
            <a:off x="11582110" y="6748272"/>
            <a:ext cx="304792" cy="109728"/>
          </a:xfrm>
          <a:prstGeom prst="rect">
            <a:avLst/>
          </a:prstGeom>
          <a:solidFill>
            <a:srgbClr val="E0A526"/>
          </a:solidFill>
          <a:ln/>
        </p:spPr>
      </p:sp>
      <p:sp>
        <p:nvSpPr>
          <p:cNvPr id="57" name="Shape 55"/>
          <p:cNvSpPr/>
          <p:nvPr/>
        </p:nvSpPr>
        <p:spPr>
          <a:xfrm>
            <a:off x="11886903" y="6748272"/>
            <a:ext cx="304792" cy="109728"/>
          </a:xfrm>
          <a:prstGeom prst="rect">
            <a:avLst/>
          </a:prstGeom>
          <a:solidFill>
            <a:srgbClr val="0E5E6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1832"/>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8B1E3F"/>
          </a:solidFill>
          <a:ln/>
        </p:spPr>
      </p:sp>
      <p:sp>
        <p:nvSpPr>
          <p:cNvPr id="4" name="Shape 2"/>
          <p:cNvSpPr/>
          <p:nvPr/>
        </p:nvSpPr>
        <p:spPr>
          <a:xfrm>
            <a:off x="304792" y="6748272"/>
            <a:ext cx="304792" cy="109728"/>
          </a:xfrm>
          <a:prstGeom prst="rect">
            <a:avLst/>
          </a:prstGeom>
          <a:solidFill>
            <a:srgbClr val="0E5E6F"/>
          </a:solidFill>
          <a:ln/>
        </p:spPr>
      </p:sp>
      <p:sp>
        <p:nvSpPr>
          <p:cNvPr id="5" name="Shape 3"/>
          <p:cNvSpPr/>
          <p:nvPr/>
        </p:nvSpPr>
        <p:spPr>
          <a:xfrm>
            <a:off x="609585" y="6748272"/>
            <a:ext cx="304792" cy="109728"/>
          </a:xfrm>
          <a:prstGeom prst="rect">
            <a:avLst/>
          </a:prstGeom>
          <a:solidFill>
            <a:srgbClr val="E0A526"/>
          </a:solidFill>
          <a:ln/>
        </p:spPr>
      </p:sp>
      <p:sp>
        <p:nvSpPr>
          <p:cNvPr id="6" name="Shape 4"/>
          <p:cNvSpPr/>
          <p:nvPr/>
        </p:nvSpPr>
        <p:spPr>
          <a:xfrm>
            <a:off x="914377" y="6748272"/>
            <a:ext cx="304792" cy="109728"/>
          </a:xfrm>
          <a:prstGeom prst="rect">
            <a:avLst/>
          </a:prstGeom>
          <a:solidFill>
            <a:srgbClr val="0E5E6F"/>
          </a:solidFill>
          <a:ln/>
        </p:spPr>
      </p:sp>
      <p:sp>
        <p:nvSpPr>
          <p:cNvPr id="7" name="Shape 5"/>
          <p:cNvSpPr/>
          <p:nvPr/>
        </p:nvSpPr>
        <p:spPr>
          <a:xfrm>
            <a:off x="1219170" y="6748272"/>
            <a:ext cx="304792" cy="109728"/>
          </a:xfrm>
          <a:prstGeom prst="rect">
            <a:avLst/>
          </a:prstGeom>
          <a:solidFill>
            <a:srgbClr val="8B1E3F"/>
          </a:solidFill>
          <a:ln/>
        </p:spPr>
      </p:sp>
      <p:sp>
        <p:nvSpPr>
          <p:cNvPr id="8" name="Shape 6"/>
          <p:cNvSpPr/>
          <p:nvPr/>
        </p:nvSpPr>
        <p:spPr>
          <a:xfrm>
            <a:off x="1523962" y="6748272"/>
            <a:ext cx="304792" cy="109728"/>
          </a:xfrm>
          <a:prstGeom prst="rect">
            <a:avLst/>
          </a:prstGeom>
          <a:solidFill>
            <a:srgbClr val="0E5E6F"/>
          </a:solidFill>
          <a:ln/>
        </p:spPr>
      </p:sp>
      <p:sp>
        <p:nvSpPr>
          <p:cNvPr id="9" name="Shape 7"/>
          <p:cNvSpPr/>
          <p:nvPr/>
        </p:nvSpPr>
        <p:spPr>
          <a:xfrm>
            <a:off x="1828754" y="6748272"/>
            <a:ext cx="304792" cy="109728"/>
          </a:xfrm>
          <a:prstGeom prst="rect">
            <a:avLst/>
          </a:prstGeom>
          <a:solidFill>
            <a:srgbClr val="E0A526"/>
          </a:solidFill>
          <a:ln/>
        </p:spPr>
      </p:sp>
      <p:sp>
        <p:nvSpPr>
          <p:cNvPr id="10" name="Shape 8"/>
          <p:cNvSpPr/>
          <p:nvPr/>
        </p:nvSpPr>
        <p:spPr>
          <a:xfrm>
            <a:off x="2133547" y="6748272"/>
            <a:ext cx="304792" cy="109728"/>
          </a:xfrm>
          <a:prstGeom prst="rect">
            <a:avLst/>
          </a:prstGeom>
          <a:solidFill>
            <a:srgbClr val="0E5E6F"/>
          </a:solidFill>
          <a:ln/>
        </p:spPr>
      </p:sp>
      <p:sp>
        <p:nvSpPr>
          <p:cNvPr id="11" name="Shape 9"/>
          <p:cNvSpPr/>
          <p:nvPr/>
        </p:nvSpPr>
        <p:spPr>
          <a:xfrm>
            <a:off x="2438339" y="6748272"/>
            <a:ext cx="304792" cy="109728"/>
          </a:xfrm>
          <a:prstGeom prst="rect">
            <a:avLst/>
          </a:prstGeom>
          <a:solidFill>
            <a:srgbClr val="8B1E3F"/>
          </a:solidFill>
          <a:ln/>
        </p:spPr>
      </p:sp>
      <p:sp>
        <p:nvSpPr>
          <p:cNvPr id="12" name="Shape 10"/>
          <p:cNvSpPr/>
          <p:nvPr/>
        </p:nvSpPr>
        <p:spPr>
          <a:xfrm>
            <a:off x="2743131" y="6748272"/>
            <a:ext cx="304792" cy="109728"/>
          </a:xfrm>
          <a:prstGeom prst="rect">
            <a:avLst/>
          </a:prstGeom>
          <a:solidFill>
            <a:srgbClr val="0E5E6F"/>
          </a:solidFill>
          <a:ln/>
        </p:spPr>
      </p:sp>
      <p:sp>
        <p:nvSpPr>
          <p:cNvPr id="13" name="Shape 11"/>
          <p:cNvSpPr/>
          <p:nvPr/>
        </p:nvSpPr>
        <p:spPr>
          <a:xfrm>
            <a:off x="3047924" y="6748272"/>
            <a:ext cx="304792" cy="109728"/>
          </a:xfrm>
          <a:prstGeom prst="rect">
            <a:avLst/>
          </a:prstGeom>
          <a:solidFill>
            <a:srgbClr val="E0A526"/>
          </a:solidFill>
          <a:ln/>
        </p:spPr>
      </p:sp>
      <p:sp>
        <p:nvSpPr>
          <p:cNvPr id="14" name="Shape 12"/>
          <p:cNvSpPr/>
          <p:nvPr/>
        </p:nvSpPr>
        <p:spPr>
          <a:xfrm>
            <a:off x="3352716" y="6748272"/>
            <a:ext cx="304792" cy="109728"/>
          </a:xfrm>
          <a:prstGeom prst="rect">
            <a:avLst/>
          </a:prstGeom>
          <a:solidFill>
            <a:srgbClr val="0E5E6F"/>
          </a:solidFill>
          <a:ln/>
        </p:spPr>
      </p:sp>
      <p:sp>
        <p:nvSpPr>
          <p:cNvPr id="15" name="Shape 13"/>
          <p:cNvSpPr/>
          <p:nvPr/>
        </p:nvSpPr>
        <p:spPr>
          <a:xfrm>
            <a:off x="3657509" y="6748272"/>
            <a:ext cx="304792" cy="109728"/>
          </a:xfrm>
          <a:prstGeom prst="rect">
            <a:avLst/>
          </a:prstGeom>
          <a:solidFill>
            <a:srgbClr val="8B1E3F"/>
          </a:solidFill>
          <a:ln/>
        </p:spPr>
      </p:sp>
      <p:sp>
        <p:nvSpPr>
          <p:cNvPr id="16" name="Shape 14"/>
          <p:cNvSpPr/>
          <p:nvPr/>
        </p:nvSpPr>
        <p:spPr>
          <a:xfrm>
            <a:off x="3962301" y="6748272"/>
            <a:ext cx="304792" cy="109728"/>
          </a:xfrm>
          <a:prstGeom prst="rect">
            <a:avLst/>
          </a:prstGeom>
          <a:solidFill>
            <a:srgbClr val="0E5E6F"/>
          </a:solidFill>
          <a:ln/>
        </p:spPr>
      </p:sp>
      <p:sp>
        <p:nvSpPr>
          <p:cNvPr id="17" name="Shape 15"/>
          <p:cNvSpPr/>
          <p:nvPr/>
        </p:nvSpPr>
        <p:spPr>
          <a:xfrm>
            <a:off x="4267093" y="6748272"/>
            <a:ext cx="304792" cy="109728"/>
          </a:xfrm>
          <a:prstGeom prst="rect">
            <a:avLst/>
          </a:prstGeom>
          <a:solidFill>
            <a:srgbClr val="E0A526"/>
          </a:solidFill>
          <a:ln/>
        </p:spPr>
      </p:sp>
      <p:sp>
        <p:nvSpPr>
          <p:cNvPr id="18" name="Shape 16"/>
          <p:cNvSpPr/>
          <p:nvPr/>
        </p:nvSpPr>
        <p:spPr>
          <a:xfrm>
            <a:off x="4571886" y="6748272"/>
            <a:ext cx="304792" cy="109728"/>
          </a:xfrm>
          <a:prstGeom prst="rect">
            <a:avLst/>
          </a:prstGeom>
          <a:solidFill>
            <a:srgbClr val="0E5E6F"/>
          </a:solidFill>
          <a:ln/>
        </p:spPr>
      </p:sp>
      <p:sp>
        <p:nvSpPr>
          <p:cNvPr id="19" name="Shape 17"/>
          <p:cNvSpPr/>
          <p:nvPr/>
        </p:nvSpPr>
        <p:spPr>
          <a:xfrm>
            <a:off x="4876678" y="6748272"/>
            <a:ext cx="304792" cy="109728"/>
          </a:xfrm>
          <a:prstGeom prst="rect">
            <a:avLst/>
          </a:prstGeom>
          <a:solidFill>
            <a:srgbClr val="8B1E3F"/>
          </a:solidFill>
          <a:ln/>
        </p:spPr>
      </p:sp>
      <p:sp>
        <p:nvSpPr>
          <p:cNvPr id="20" name="Shape 18"/>
          <p:cNvSpPr/>
          <p:nvPr/>
        </p:nvSpPr>
        <p:spPr>
          <a:xfrm>
            <a:off x="5181470" y="6748272"/>
            <a:ext cx="304792" cy="109728"/>
          </a:xfrm>
          <a:prstGeom prst="rect">
            <a:avLst/>
          </a:prstGeom>
          <a:solidFill>
            <a:srgbClr val="0E5E6F"/>
          </a:solidFill>
          <a:ln/>
        </p:spPr>
      </p:sp>
      <p:sp>
        <p:nvSpPr>
          <p:cNvPr id="21" name="Shape 19"/>
          <p:cNvSpPr/>
          <p:nvPr/>
        </p:nvSpPr>
        <p:spPr>
          <a:xfrm>
            <a:off x="5486263" y="6748272"/>
            <a:ext cx="304792" cy="109728"/>
          </a:xfrm>
          <a:prstGeom prst="rect">
            <a:avLst/>
          </a:prstGeom>
          <a:solidFill>
            <a:srgbClr val="E0A526"/>
          </a:solidFill>
          <a:ln/>
        </p:spPr>
      </p:sp>
      <p:sp>
        <p:nvSpPr>
          <p:cNvPr id="22" name="Shape 20"/>
          <p:cNvSpPr/>
          <p:nvPr/>
        </p:nvSpPr>
        <p:spPr>
          <a:xfrm>
            <a:off x="5791055" y="6748272"/>
            <a:ext cx="304792" cy="109728"/>
          </a:xfrm>
          <a:prstGeom prst="rect">
            <a:avLst/>
          </a:prstGeom>
          <a:solidFill>
            <a:srgbClr val="0E5E6F"/>
          </a:solidFill>
          <a:ln/>
        </p:spPr>
      </p:sp>
      <p:sp>
        <p:nvSpPr>
          <p:cNvPr id="23" name="Shape 21"/>
          <p:cNvSpPr/>
          <p:nvPr/>
        </p:nvSpPr>
        <p:spPr>
          <a:xfrm>
            <a:off x="6095848" y="6748272"/>
            <a:ext cx="304792" cy="109728"/>
          </a:xfrm>
          <a:prstGeom prst="rect">
            <a:avLst/>
          </a:prstGeom>
          <a:solidFill>
            <a:srgbClr val="8B1E3F"/>
          </a:solidFill>
          <a:ln/>
        </p:spPr>
      </p:sp>
      <p:sp>
        <p:nvSpPr>
          <p:cNvPr id="24" name="Shape 22"/>
          <p:cNvSpPr/>
          <p:nvPr/>
        </p:nvSpPr>
        <p:spPr>
          <a:xfrm>
            <a:off x="6400640" y="6748272"/>
            <a:ext cx="304792" cy="109728"/>
          </a:xfrm>
          <a:prstGeom prst="rect">
            <a:avLst/>
          </a:prstGeom>
          <a:solidFill>
            <a:srgbClr val="0E5E6F"/>
          </a:solidFill>
          <a:ln/>
        </p:spPr>
      </p:sp>
      <p:sp>
        <p:nvSpPr>
          <p:cNvPr id="25" name="Shape 23"/>
          <p:cNvSpPr/>
          <p:nvPr/>
        </p:nvSpPr>
        <p:spPr>
          <a:xfrm>
            <a:off x="6705432" y="6748272"/>
            <a:ext cx="304792" cy="109728"/>
          </a:xfrm>
          <a:prstGeom prst="rect">
            <a:avLst/>
          </a:prstGeom>
          <a:solidFill>
            <a:srgbClr val="E0A526"/>
          </a:solidFill>
          <a:ln/>
        </p:spPr>
      </p:sp>
      <p:sp>
        <p:nvSpPr>
          <p:cNvPr id="26" name="Shape 24"/>
          <p:cNvSpPr/>
          <p:nvPr/>
        </p:nvSpPr>
        <p:spPr>
          <a:xfrm>
            <a:off x="7010225" y="6748272"/>
            <a:ext cx="304792" cy="109728"/>
          </a:xfrm>
          <a:prstGeom prst="rect">
            <a:avLst/>
          </a:prstGeom>
          <a:solidFill>
            <a:srgbClr val="0E5E6F"/>
          </a:solidFill>
          <a:ln/>
        </p:spPr>
      </p:sp>
      <p:sp>
        <p:nvSpPr>
          <p:cNvPr id="27" name="Shape 25"/>
          <p:cNvSpPr/>
          <p:nvPr/>
        </p:nvSpPr>
        <p:spPr>
          <a:xfrm>
            <a:off x="7315017" y="6748272"/>
            <a:ext cx="304792" cy="109728"/>
          </a:xfrm>
          <a:prstGeom prst="rect">
            <a:avLst/>
          </a:prstGeom>
          <a:solidFill>
            <a:srgbClr val="8B1E3F"/>
          </a:solidFill>
          <a:ln/>
        </p:spPr>
      </p:sp>
      <p:sp>
        <p:nvSpPr>
          <p:cNvPr id="28" name="Shape 26"/>
          <p:cNvSpPr/>
          <p:nvPr/>
        </p:nvSpPr>
        <p:spPr>
          <a:xfrm>
            <a:off x="7619809" y="6748272"/>
            <a:ext cx="304792" cy="109728"/>
          </a:xfrm>
          <a:prstGeom prst="rect">
            <a:avLst/>
          </a:prstGeom>
          <a:solidFill>
            <a:srgbClr val="0E5E6F"/>
          </a:solidFill>
          <a:ln/>
        </p:spPr>
      </p:sp>
      <p:sp>
        <p:nvSpPr>
          <p:cNvPr id="29" name="Shape 27"/>
          <p:cNvSpPr/>
          <p:nvPr/>
        </p:nvSpPr>
        <p:spPr>
          <a:xfrm>
            <a:off x="7924602" y="6748272"/>
            <a:ext cx="304792" cy="109728"/>
          </a:xfrm>
          <a:prstGeom prst="rect">
            <a:avLst/>
          </a:prstGeom>
          <a:solidFill>
            <a:srgbClr val="E0A526"/>
          </a:solidFill>
          <a:ln/>
        </p:spPr>
      </p:sp>
      <p:sp>
        <p:nvSpPr>
          <p:cNvPr id="30" name="Shape 28"/>
          <p:cNvSpPr/>
          <p:nvPr/>
        </p:nvSpPr>
        <p:spPr>
          <a:xfrm>
            <a:off x="8229394" y="6748272"/>
            <a:ext cx="304792" cy="109728"/>
          </a:xfrm>
          <a:prstGeom prst="rect">
            <a:avLst/>
          </a:prstGeom>
          <a:solidFill>
            <a:srgbClr val="0E5E6F"/>
          </a:solidFill>
          <a:ln/>
        </p:spPr>
      </p:sp>
      <p:sp>
        <p:nvSpPr>
          <p:cNvPr id="31" name="Shape 29"/>
          <p:cNvSpPr/>
          <p:nvPr/>
        </p:nvSpPr>
        <p:spPr>
          <a:xfrm>
            <a:off x="8534187" y="6748272"/>
            <a:ext cx="304792" cy="109728"/>
          </a:xfrm>
          <a:prstGeom prst="rect">
            <a:avLst/>
          </a:prstGeom>
          <a:solidFill>
            <a:srgbClr val="8B1E3F"/>
          </a:solidFill>
          <a:ln/>
        </p:spPr>
      </p:sp>
      <p:sp>
        <p:nvSpPr>
          <p:cNvPr id="32" name="Shape 30"/>
          <p:cNvSpPr/>
          <p:nvPr/>
        </p:nvSpPr>
        <p:spPr>
          <a:xfrm>
            <a:off x="8838979" y="6748272"/>
            <a:ext cx="304792" cy="109728"/>
          </a:xfrm>
          <a:prstGeom prst="rect">
            <a:avLst/>
          </a:prstGeom>
          <a:solidFill>
            <a:srgbClr val="0E5E6F"/>
          </a:solidFill>
          <a:ln/>
        </p:spPr>
      </p:sp>
      <p:sp>
        <p:nvSpPr>
          <p:cNvPr id="33" name="Shape 31"/>
          <p:cNvSpPr/>
          <p:nvPr/>
        </p:nvSpPr>
        <p:spPr>
          <a:xfrm>
            <a:off x="9143771" y="6748272"/>
            <a:ext cx="304792" cy="109728"/>
          </a:xfrm>
          <a:prstGeom prst="rect">
            <a:avLst/>
          </a:prstGeom>
          <a:solidFill>
            <a:srgbClr val="E0A526"/>
          </a:solidFill>
          <a:ln/>
        </p:spPr>
      </p:sp>
      <p:sp>
        <p:nvSpPr>
          <p:cNvPr id="34" name="Shape 32"/>
          <p:cNvSpPr/>
          <p:nvPr/>
        </p:nvSpPr>
        <p:spPr>
          <a:xfrm>
            <a:off x="9448564" y="6748272"/>
            <a:ext cx="304792" cy="109728"/>
          </a:xfrm>
          <a:prstGeom prst="rect">
            <a:avLst/>
          </a:prstGeom>
          <a:solidFill>
            <a:srgbClr val="0E5E6F"/>
          </a:solidFill>
          <a:ln/>
        </p:spPr>
      </p:sp>
      <p:sp>
        <p:nvSpPr>
          <p:cNvPr id="35" name="Shape 33"/>
          <p:cNvSpPr/>
          <p:nvPr/>
        </p:nvSpPr>
        <p:spPr>
          <a:xfrm>
            <a:off x="9753356" y="6748272"/>
            <a:ext cx="304792" cy="109728"/>
          </a:xfrm>
          <a:prstGeom prst="rect">
            <a:avLst/>
          </a:prstGeom>
          <a:solidFill>
            <a:srgbClr val="8B1E3F"/>
          </a:solidFill>
          <a:ln/>
        </p:spPr>
      </p:sp>
      <p:sp>
        <p:nvSpPr>
          <p:cNvPr id="36" name="Shape 34"/>
          <p:cNvSpPr/>
          <p:nvPr/>
        </p:nvSpPr>
        <p:spPr>
          <a:xfrm>
            <a:off x="10058149" y="6748272"/>
            <a:ext cx="304792" cy="109728"/>
          </a:xfrm>
          <a:prstGeom prst="rect">
            <a:avLst/>
          </a:prstGeom>
          <a:solidFill>
            <a:srgbClr val="0E5E6F"/>
          </a:solidFill>
          <a:ln/>
        </p:spPr>
      </p:sp>
      <p:sp>
        <p:nvSpPr>
          <p:cNvPr id="37" name="Shape 35"/>
          <p:cNvSpPr/>
          <p:nvPr/>
        </p:nvSpPr>
        <p:spPr>
          <a:xfrm>
            <a:off x="10362941" y="6748272"/>
            <a:ext cx="304792" cy="109728"/>
          </a:xfrm>
          <a:prstGeom prst="rect">
            <a:avLst/>
          </a:prstGeom>
          <a:solidFill>
            <a:srgbClr val="E0A526"/>
          </a:solidFill>
          <a:ln/>
        </p:spPr>
      </p:sp>
      <p:sp>
        <p:nvSpPr>
          <p:cNvPr id="38" name="Shape 36"/>
          <p:cNvSpPr/>
          <p:nvPr/>
        </p:nvSpPr>
        <p:spPr>
          <a:xfrm>
            <a:off x="10667733" y="6748272"/>
            <a:ext cx="304792" cy="109728"/>
          </a:xfrm>
          <a:prstGeom prst="rect">
            <a:avLst/>
          </a:prstGeom>
          <a:solidFill>
            <a:srgbClr val="0E5E6F"/>
          </a:solidFill>
          <a:ln/>
        </p:spPr>
      </p:sp>
      <p:sp>
        <p:nvSpPr>
          <p:cNvPr id="39" name="Shape 37"/>
          <p:cNvSpPr/>
          <p:nvPr/>
        </p:nvSpPr>
        <p:spPr>
          <a:xfrm>
            <a:off x="10972526" y="6748272"/>
            <a:ext cx="304792" cy="109728"/>
          </a:xfrm>
          <a:prstGeom prst="rect">
            <a:avLst/>
          </a:prstGeom>
          <a:solidFill>
            <a:srgbClr val="8B1E3F"/>
          </a:solidFill>
          <a:ln/>
        </p:spPr>
      </p:sp>
      <p:sp>
        <p:nvSpPr>
          <p:cNvPr id="40" name="Shape 38"/>
          <p:cNvSpPr/>
          <p:nvPr/>
        </p:nvSpPr>
        <p:spPr>
          <a:xfrm>
            <a:off x="11277318" y="6748272"/>
            <a:ext cx="304792" cy="109728"/>
          </a:xfrm>
          <a:prstGeom prst="rect">
            <a:avLst/>
          </a:prstGeom>
          <a:solidFill>
            <a:srgbClr val="0E5E6F"/>
          </a:solidFill>
          <a:ln/>
        </p:spPr>
      </p:sp>
      <p:sp>
        <p:nvSpPr>
          <p:cNvPr id="41" name="Shape 39"/>
          <p:cNvSpPr/>
          <p:nvPr/>
        </p:nvSpPr>
        <p:spPr>
          <a:xfrm>
            <a:off x="11582110" y="6748272"/>
            <a:ext cx="304792" cy="109728"/>
          </a:xfrm>
          <a:prstGeom prst="rect">
            <a:avLst/>
          </a:prstGeom>
          <a:solidFill>
            <a:srgbClr val="E0A526"/>
          </a:solidFill>
          <a:ln/>
        </p:spPr>
      </p:sp>
      <p:sp>
        <p:nvSpPr>
          <p:cNvPr id="42" name="Shape 40"/>
          <p:cNvSpPr/>
          <p:nvPr/>
        </p:nvSpPr>
        <p:spPr>
          <a:xfrm>
            <a:off x="11886903" y="6748272"/>
            <a:ext cx="304792" cy="109728"/>
          </a:xfrm>
          <a:prstGeom prst="rect">
            <a:avLst/>
          </a:prstGeom>
          <a:solidFill>
            <a:srgbClr val="0E5E6F"/>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Overview   3–5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Hyderabad and Telangana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Age, sex, religion, 2002   7–10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Polling parts   11–13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Hearings   14–15</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16–17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20–21</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40.0% of electors were struck off, and 22.3% more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happened to each elector on the five pre-revision rolls, % of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8366760" y="1920240"/>
            <a:ext cx="3276295" cy="1325880"/>
          </a:xfrm>
          <a:prstGeom prst="roundRect">
            <a:avLst>
              <a:gd name="adj" fmla="val 5517"/>
            </a:avLst>
          </a:prstGeom>
          <a:solidFill>
            <a:srgbClr val="F4F6F7"/>
          </a:solidFill>
          <a:ln/>
        </p:spPr>
      </p:sp>
      <p:sp>
        <p:nvSpPr>
          <p:cNvPr id="49" name="Text 46"/>
          <p:cNvSpPr txBox="1"/>
          <p:nvPr/>
        </p:nvSpPr>
        <p:spPr>
          <a:xfrm>
            <a:off x="8549640" y="202996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6,62,063</a:t>
            </a:r>
            <a:endParaRPr lang="en-US" sz="2800" dirty="0"/>
          </a:p>
        </p:txBody>
      </p:sp>
      <p:sp>
        <p:nvSpPr>
          <p:cNvPr id="50" name="Text 47"/>
          <p:cNvSpPr txBox="1"/>
          <p:nvPr/>
        </p:nvSpPr>
        <p:spPr>
          <a:xfrm>
            <a:off x="8549640" y="268467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struck off, out of 16,57,207</a:t>
            </a:r>
            <a:endParaRPr lang="en-US" sz="1200" dirty="0"/>
          </a:p>
        </p:txBody>
      </p:sp>
      <p:sp>
        <p:nvSpPr>
          <p:cNvPr id="51" name="Shape 48"/>
          <p:cNvSpPr/>
          <p:nvPr/>
        </p:nvSpPr>
        <p:spPr>
          <a:xfrm>
            <a:off x="8366760" y="3474720"/>
            <a:ext cx="3276295" cy="1325880"/>
          </a:xfrm>
          <a:prstGeom prst="roundRect">
            <a:avLst>
              <a:gd name="adj" fmla="val 5517"/>
            </a:avLst>
          </a:prstGeom>
          <a:solidFill>
            <a:srgbClr val="F4F6F7"/>
          </a:solidFill>
          <a:ln/>
        </p:spPr>
      </p:sp>
      <p:sp>
        <p:nvSpPr>
          <p:cNvPr id="52" name="Text 49"/>
          <p:cNvSpPr txBox="1"/>
          <p:nvPr/>
        </p:nvSpPr>
        <p:spPr>
          <a:xfrm>
            <a:off x="8549640" y="358444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3,69,972</a:t>
            </a:r>
            <a:endParaRPr lang="en-US" sz="2800" dirty="0"/>
          </a:p>
        </p:txBody>
      </p:sp>
      <p:sp>
        <p:nvSpPr>
          <p:cNvPr id="53" name="Text 50"/>
          <p:cNvSpPr txBox="1"/>
          <p:nvPr/>
        </p:nvSpPr>
        <p:spPr>
          <a:xfrm>
            <a:off x="8549640" y="423915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kept on the roll only if they attend a hearing</a:t>
            </a:r>
            <a:endParaRPr lang="en-US" sz="1200" dirty="0"/>
          </a:p>
        </p:txBody>
      </p:sp>
      <p:sp>
        <p:nvSpPr>
          <p:cNvPr id="54" name="Shape 51"/>
          <p:cNvSpPr/>
          <p:nvPr/>
        </p:nvSpPr>
        <p:spPr>
          <a:xfrm>
            <a:off x="8366760" y="5029200"/>
            <a:ext cx="3276295" cy="1325880"/>
          </a:xfrm>
          <a:prstGeom prst="roundRect">
            <a:avLst>
              <a:gd name="adj" fmla="val 5517"/>
            </a:avLst>
          </a:prstGeom>
          <a:solidFill>
            <a:srgbClr val="F4F6F7"/>
          </a:solidFill>
          <a:ln/>
        </p:spPr>
      </p:sp>
      <p:sp>
        <p:nvSpPr>
          <p:cNvPr id="55" name="Text 52"/>
          <p:cNvSpPr txBox="1"/>
          <p:nvPr/>
        </p:nvSpPr>
        <p:spPr>
          <a:xfrm>
            <a:off x="8549640" y="513892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45.1%</a:t>
            </a:r>
            <a:endParaRPr lang="en-US" sz="2800" dirty="0"/>
          </a:p>
        </p:txBody>
      </p:sp>
      <p:sp>
        <p:nvSpPr>
          <p:cNvPr id="56" name="Text 53"/>
          <p:cNvSpPr txBox="1"/>
          <p:nvPr/>
        </p:nvSpPr>
        <p:spPr>
          <a:xfrm>
            <a:off x="8549640" y="579363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Malakpet lost the most, Bahadurpura the least (34.6%)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In all five seats, more names were struck off than the 2023 winner received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struck off against the 2023 result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011680"/>
                <a:gridCol w="2743200"/>
                <a:gridCol w="1325880"/>
                <a:gridCol w="1097280"/>
                <a:gridCol w="1280160"/>
                <a:gridCol w="1005840"/>
                <a:gridCol w="16276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Won by (2023)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Winner's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Struck off</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of valid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Jaffer Hussain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46,153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1,54,982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Malakpet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Ahmed Bin Abdullah Balala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55,805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26,106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1,42,688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108.1%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Akbaruddin Owaisi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99,776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81,660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1,48,869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Mir Zulfeqar Ali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49,103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22,853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Mohammed Mubeen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89,451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1,21,350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Shape 45"/>
          <p:cNvSpPr/>
          <p:nvPr/>
        </p:nvSpPr>
        <p:spPr>
          <a:xfrm>
            <a:off x="548640" y="4023360"/>
            <a:ext cx="11094415" cy="1371600"/>
          </a:xfrm>
          <a:prstGeom prst="roundRect">
            <a:avLst>
              <a:gd name="adj" fmla="val 6667"/>
            </a:avLst>
          </a:prstGeom>
          <a:solidFill>
            <a:srgbClr val="F7ECEF"/>
          </a:solidFill>
          <a:ln/>
        </p:spPr>
      </p:sp>
      <p:sp>
        <p:nvSpPr>
          <p:cNvPr id="49" name="Text 46"/>
          <p:cNvSpPr txBox="1"/>
          <p:nvPr/>
        </p:nvSpPr>
        <p:spPr>
          <a:xfrm>
            <a:off x="777240" y="4187952"/>
            <a:ext cx="10637215" cy="104241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In Yakutpura and Malakpet the names struck off exceed every valid vote cast in 2023. Yakutpura was won by 878 votes and lost 1,54,982 names. Across the five, the names struck off equal 99.0% of the 2023 vote.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64% of removals were entered as "permanently shifted" and 21% as untraceable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names struck off, by the reason the officer recorded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8366760" y="2011680"/>
            <a:ext cx="32762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8.7% were entered as dead and 6.0% as enrolled elsewhere.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untraceable share runs from 6.5% to 38.3% by constituency.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Each reason is what the officer wrote down, and nobody checked it. An untraceable entry records only that the officer did not find the person.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HYDERABAD AND TELANGANA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The Old City seats lost 39.9% of their roll, Hyderabad's other ten seats 41.6%</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roll left off the state's draft of 17 August 2026; Old City seats in maroon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Hyderabad district: 41.0%. The rest of Telangana: 18.6%.</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removals are heavy across the whole capital region.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Below the district the state publishes totals only, with no split by reason.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74% of electors aged 80 and over were struck off, against 21% of those aged 18 to 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age band struck off,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pattern holds in every constituency: 70.1% to 76.6% of those aged 80 and over, 19.3% to 25.6% of those aged 18 to 24.</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57,526 were entered as dead, which explains part of the top of the range.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rate roughly doubles between 18 to 24 and 30 to 39, ages at which few people die.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Electors with no link to the 2002 roll were struck off 2.0 times as often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whether the elector maps to the 2002 intensive revision roll. Malakpet's list carries no link.</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Linked electors: 25.3% struck off. No link: 51.6%.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the gap is 21 to 28 points, and runs the same way in 1,024 of 1,098 parts.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2002 link is the revision's own test. Anyone who moved to the city after 2002, or whose family name is spelt differently on the old roll, starts behind.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52.0% of Hindu-name electors were struck off, and 35.3% of Muslim-name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religion estimated from names,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Hindu-name electors were struck off 9.6 to 24.5 points more often, in 728 of 823 parts large enough to compare.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lists give religion and age separately, so part of this gap may be an age gap.</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Religion is guessed from names, because the roll does not record it.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Women and men were struck off at similar rates, 39.9% and 40.5%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sex,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part the gaps are under 2.5 points either way.</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Bihar, women were 55.5% of the removed. The Old City shows no such gap.</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 removal rates ran from 13% to 80%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Polling parts with at least 100 electors, by the share struck off; Malakpet has no part numbers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85216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675120" y="1920240"/>
          <a:ext cx="4967935" cy="914400"/>
        </p:xfrm>
        <a:graphic>
          <a:graphicData uri="http://schemas.openxmlformats.org/drawingml/2006/table">
            <a:tbl>
              <a:tblPr/>
              <a:tblGrid>
                <a:gridCol w="2011680"/>
                <a:gridCol w="1005840"/>
                <a:gridCol w="1005840"/>
                <a:gridCol w="9418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Lowest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Median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Highest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38.4%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39.1%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57.2%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Parts with more Muslim-name electors lost fewer names, in every constituency</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 across parts within each constituency, with the part's removal rate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48840"/>
                <a:gridCol w="1600200"/>
                <a:gridCol w="1600200"/>
                <a:gridCol w="16002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Constituency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Muslim-name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aged 80+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untraceable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Charminar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-0.52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Yakutpura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-0.62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Chandrayangutta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Bahadurpura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negative figure means parts with more of that group lost fewer names.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share of elderly electors and the share entered as untraceable barely move with a part's 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Parts with at least 100 electors, and for the untraceable share, parts with at least 20 removals.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30 polling parts lost more than 60% of their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fifteen heaviest parts with 100 or more electors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94560"/>
                <a:gridCol w="822960"/>
                <a:gridCol w="3840480"/>
                <a:gridCol w="1371600"/>
                <a:gridCol w="1371600"/>
                <a:gridCol w="1490472"/>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Constituency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Part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Locality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Electors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 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Dood Bowli</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Banu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1,381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731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70.6%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 Huts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1,198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Nagarjuna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1,521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Vinay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695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1,209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873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563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1,404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3,69,972 electors kept on the draft roll were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summoned under each of the Commission's seven rules,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31.6% of flags were for not being traced to the last intensive revision, in 2002; mismatched names came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One elector can carry more than one rule, so the flags add up to more than the people summoned.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22.3% of everyone on the five rolls was summoned.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The busiest hearing slot listed 459 cases; the median slot in Charminar listed 38</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7,164 hearing slots, 28 August to 12 October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6400800" y="1920240"/>
          <a:ext cx="5242255" cy="43434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moves, religion, the 2002 roll and 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Were most of those struck off not people who had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largest recorded reason is "permanently shifted", 64.2% of removals, and the Old City has a large moving population. But 20.8% were entered as untraceable or absent, 8.7% as dead and 6.0% as enrolled elsewhere. Each is what the officer wrote down, and nobody checked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Was the revision aimed at Muslim electors?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lists do not show that. Inside the same polling part, Hindu-name electors were struck off more often than Muslim-name electors. The lists do show who bore the removals, the old and those who could not be traced to the 2002 roll.</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does the 2002 roll matter so much?</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revision asks each elector to show a link to the 2002 intensive revision, through their own name or a parent's. Where the lists record it, electors with no link were struck off 21 to 28 points more often than linked electors in the same part.</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are the old struck off so often?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74.0% of electors aged 80 and over were struck off, against 20.9% of those aged 18 to 24. Some of that is death. The rest falls on electors least able to answer a visit, attend a hearing or produce papers.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hearings, results, reliability and coverage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Could the hearings be held properly?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3,69,972 electors kept on the draft roll were summoned. The busiest single slot listed 459 cases, in Charminar, where the median slot listed 38. The lists do not record how long a slot was.</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Did this change an election result?</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election has been held on the revised roll. Every one of the five constituencies lost more names than its 2023 winning margin, and in Yakutpura and Malakpet the names struck off outnumber every valid vote cast in 2023.</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For four constituencies the counts agree exactly with an independent count of the same lists, as do the recorded reasons and women's share. The Malakpet list used here is incomplete: 1,42,688 names against 1,47,799 in the published list, with no part numbers or 2002 link.</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only five constituencies?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These are the five Old City seats whose full lists were available elector by elector. The figures describe these five and no others.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554480"/>
            <a:ext cx="5440680" cy="2103120"/>
          </a:xfrm>
          <a:prstGeom prst="roundRect">
            <a:avLst>
              <a:gd name="adj" fmla="val 4348"/>
            </a:avLst>
          </a:prstGeom>
          <a:solidFill>
            <a:srgbClr val="F7ECEF"/>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electors were struck off, from which parts, and who they were by age, sex, religion estimated from names, and link to the 2002 roll. Because the lists hold every elector, each group has a true removal rate.</a:t>
            </a:r>
            <a:endParaRPr lang="en-US" sz="1500" dirty="0"/>
          </a:p>
        </p:txBody>
      </p:sp>
      <p:sp>
        <p:nvSpPr>
          <p:cNvPr id="48" name="Shape 46"/>
          <p:cNvSpPr/>
          <p:nvPr/>
        </p:nvSpPr>
        <p:spPr>
          <a:xfrm>
            <a:off x="6199632" y="1554480"/>
            <a:ext cx="5440680" cy="2103120"/>
          </a:xfrm>
          <a:prstGeom prst="roundRect">
            <a:avLst>
              <a:gd name="adj" fmla="val 4348"/>
            </a:avLst>
          </a:prstGeom>
          <a:solidFill>
            <a:srgbClr val="F7ECEF"/>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any single removal was right. A household that moved out is rightly marked "shifted", and the files cannot tell it apart from an elector who was at home when the officer missed them. Religion and age are given separately and never together.</a:t>
            </a:r>
            <a:endParaRPr lang="en-US" sz="1500" dirty="0"/>
          </a:p>
        </p:txBody>
      </p:sp>
      <p:sp>
        <p:nvSpPr>
          <p:cNvPr id="50" name="Text 48"/>
          <p:cNvSpPr txBox="1"/>
          <p:nvPr/>
        </p:nvSpPr>
        <p:spPr>
          <a:xfrm>
            <a:off x="548640" y="393192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These are the September lists. The final roll is due on 9 November, so restorations after hearings are not in these counts. Malakpet's list is read by polling-station name (60 stations) and 7,891 electors on its roll appear in none of the three outcomes.</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Record and publish the basis for every removal entered as "untraceable or absent", 1,37,825 names in all, including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removals of electors with no link to the 2002 roll were decided.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Schedule hearings so that each case can be heard, rather than listing hundreds of cases in one slot.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the removals in the 30 parts that lost more than 60% of their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restorations after hearings, part by part, so the final count can be set against these lists.</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Where the figures come from and how the rates are defined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source is the September 2026 SIR lists for the five constituencies, compiled for these five seats only. They record the outcome for every elector on the roll before the revision, whether struck off (with the officer's reason), kept but summoned to a hearing (with the rule), or kept.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removal rate is the electors on the absent-shifted-dead list divided by the electors on the roll before the revision, for each group. The Bihar lists hold only the removed, so the Bihar deck gives shares of removals.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within-part difference is one group's rate minus another's inside each polling part, pooled and weighted by the smaller group in each part. Parts with fewer than 20 of either group are left out. This holds the neighbourhood and the officer constant.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 correlations: Spearman rank correlations across parts with at least 100 electors, within each constituency.</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2023 results are the declared Assembly results. Only counts are published, never a name, EPIC number or address.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The dashboard, the part explorer for every polling part, and the full report with a chapter for each constituency, are published online alongside this deck.</a:t>
            </a:r>
            <a:endParaRPr lang="en-US" sz="1700" dirty="0"/>
          </a:p>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8B1E3F"/>
          </a:solidFill>
          <a:ln/>
        </p:spPr>
      </p:sp>
      <p:sp>
        <p:nvSpPr>
          <p:cNvPr id="5" name="Shape 3"/>
          <p:cNvSpPr/>
          <p:nvPr/>
        </p:nvSpPr>
        <p:spPr>
          <a:xfrm>
            <a:off x="304792" y="6748272"/>
            <a:ext cx="304792" cy="109728"/>
          </a:xfrm>
          <a:prstGeom prst="rect">
            <a:avLst/>
          </a:prstGeom>
          <a:solidFill>
            <a:srgbClr val="0E5E6F"/>
          </a:solidFill>
          <a:ln/>
        </p:spPr>
      </p:sp>
      <p:sp>
        <p:nvSpPr>
          <p:cNvPr id="6" name="Shape 4"/>
          <p:cNvSpPr/>
          <p:nvPr/>
        </p:nvSpPr>
        <p:spPr>
          <a:xfrm>
            <a:off x="609585" y="6748272"/>
            <a:ext cx="304792" cy="109728"/>
          </a:xfrm>
          <a:prstGeom prst="rect">
            <a:avLst/>
          </a:prstGeom>
          <a:solidFill>
            <a:srgbClr val="E0A526"/>
          </a:solidFill>
          <a:ln/>
        </p:spPr>
      </p:sp>
      <p:sp>
        <p:nvSpPr>
          <p:cNvPr id="7" name="Shape 5"/>
          <p:cNvSpPr/>
          <p:nvPr/>
        </p:nvSpPr>
        <p:spPr>
          <a:xfrm>
            <a:off x="914377" y="6748272"/>
            <a:ext cx="304792" cy="109728"/>
          </a:xfrm>
          <a:prstGeom prst="rect">
            <a:avLst/>
          </a:prstGeom>
          <a:solidFill>
            <a:srgbClr val="0E5E6F"/>
          </a:solidFill>
          <a:ln/>
        </p:spPr>
      </p:sp>
      <p:sp>
        <p:nvSpPr>
          <p:cNvPr id="8" name="Shape 6"/>
          <p:cNvSpPr/>
          <p:nvPr/>
        </p:nvSpPr>
        <p:spPr>
          <a:xfrm>
            <a:off x="1219170" y="6748272"/>
            <a:ext cx="304792" cy="109728"/>
          </a:xfrm>
          <a:prstGeom prst="rect">
            <a:avLst/>
          </a:prstGeom>
          <a:solidFill>
            <a:srgbClr val="8B1E3F"/>
          </a:solidFill>
          <a:ln/>
        </p:spPr>
      </p:sp>
      <p:sp>
        <p:nvSpPr>
          <p:cNvPr id="9" name="Shape 7"/>
          <p:cNvSpPr/>
          <p:nvPr/>
        </p:nvSpPr>
        <p:spPr>
          <a:xfrm>
            <a:off x="1523962" y="6748272"/>
            <a:ext cx="304792" cy="109728"/>
          </a:xfrm>
          <a:prstGeom prst="rect">
            <a:avLst/>
          </a:prstGeom>
          <a:solidFill>
            <a:srgbClr val="0E5E6F"/>
          </a:solidFill>
          <a:ln/>
        </p:spPr>
      </p:sp>
      <p:sp>
        <p:nvSpPr>
          <p:cNvPr id="10" name="Shape 8"/>
          <p:cNvSpPr/>
          <p:nvPr/>
        </p:nvSpPr>
        <p:spPr>
          <a:xfrm>
            <a:off x="1828754" y="6748272"/>
            <a:ext cx="304792" cy="109728"/>
          </a:xfrm>
          <a:prstGeom prst="rect">
            <a:avLst/>
          </a:prstGeom>
          <a:solidFill>
            <a:srgbClr val="E0A526"/>
          </a:solidFill>
          <a:ln/>
        </p:spPr>
      </p:sp>
      <p:sp>
        <p:nvSpPr>
          <p:cNvPr id="11" name="Shape 9"/>
          <p:cNvSpPr/>
          <p:nvPr/>
        </p:nvSpPr>
        <p:spPr>
          <a:xfrm>
            <a:off x="2133547" y="6748272"/>
            <a:ext cx="304792" cy="109728"/>
          </a:xfrm>
          <a:prstGeom prst="rect">
            <a:avLst/>
          </a:prstGeom>
          <a:solidFill>
            <a:srgbClr val="0E5E6F"/>
          </a:solidFill>
          <a:ln/>
        </p:spPr>
      </p:sp>
      <p:sp>
        <p:nvSpPr>
          <p:cNvPr id="12" name="Shape 10"/>
          <p:cNvSpPr/>
          <p:nvPr/>
        </p:nvSpPr>
        <p:spPr>
          <a:xfrm>
            <a:off x="2438339" y="6748272"/>
            <a:ext cx="304792" cy="109728"/>
          </a:xfrm>
          <a:prstGeom prst="rect">
            <a:avLst/>
          </a:prstGeom>
          <a:solidFill>
            <a:srgbClr val="8B1E3F"/>
          </a:solidFill>
          <a:ln/>
        </p:spPr>
      </p:sp>
      <p:sp>
        <p:nvSpPr>
          <p:cNvPr id="13" name="Shape 11"/>
          <p:cNvSpPr/>
          <p:nvPr/>
        </p:nvSpPr>
        <p:spPr>
          <a:xfrm>
            <a:off x="2743131" y="6748272"/>
            <a:ext cx="304792" cy="109728"/>
          </a:xfrm>
          <a:prstGeom prst="rect">
            <a:avLst/>
          </a:prstGeom>
          <a:solidFill>
            <a:srgbClr val="0E5E6F"/>
          </a:solidFill>
          <a:ln/>
        </p:spPr>
      </p:sp>
      <p:sp>
        <p:nvSpPr>
          <p:cNvPr id="14" name="Shape 12"/>
          <p:cNvSpPr/>
          <p:nvPr/>
        </p:nvSpPr>
        <p:spPr>
          <a:xfrm>
            <a:off x="3047924" y="6748272"/>
            <a:ext cx="304792" cy="109728"/>
          </a:xfrm>
          <a:prstGeom prst="rect">
            <a:avLst/>
          </a:prstGeom>
          <a:solidFill>
            <a:srgbClr val="E0A526"/>
          </a:solidFill>
          <a:ln/>
        </p:spPr>
      </p:sp>
      <p:sp>
        <p:nvSpPr>
          <p:cNvPr id="15" name="Shape 13"/>
          <p:cNvSpPr/>
          <p:nvPr/>
        </p:nvSpPr>
        <p:spPr>
          <a:xfrm>
            <a:off x="3352716" y="6748272"/>
            <a:ext cx="304792" cy="109728"/>
          </a:xfrm>
          <a:prstGeom prst="rect">
            <a:avLst/>
          </a:prstGeom>
          <a:solidFill>
            <a:srgbClr val="0E5E6F"/>
          </a:solidFill>
          <a:ln/>
        </p:spPr>
      </p:sp>
      <p:sp>
        <p:nvSpPr>
          <p:cNvPr id="16" name="Shape 14"/>
          <p:cNvSpPr/>
          <p:nvPr/>
        </p:nvSpPr>
        <p:spPr>
          <a:xfrm>
            <a:off x="3657509" y="6748272"/>
            <a:ext cx="304792" cy="109728"/>
          </a:xfrm>
          <a:prstGeom prst="rect">
            <a:avLst/>
          </a:prstGeom>
          <a:solidFill>
            <a:srgbClr val="8B1E3F"/>
          </a:solidFill>
          <a:ln/>
        </p:spPr>
      </p:sp>
      <p:sp>
        <p:nvSpPr>
          <p:cNvPr id="17" name="Shape 15"/>
          <p:cNvSpPr/>
          <p:nvPr/>
        </p:nvSpPr>
        <p:spPr>
          <a:xfrm>
            <a:off x="3962301" y="6748272"/>
            <a:ext cx="304792" cy="109728"/>
          </a:xfrm>
          <a:prstGeom prst="rect">
            <a:avLst/>
          </a:prstGeom>
          <a:solidFill>
            <a:srgbClr val="0E5E6F"/>
          </a:solidFill>
          <a:ln/>
        </p:spPr>
      </p:sp>
      <p:sp>
        <p:nvSpPr>
          <p:cNvPr id="18" name="Shape 16"/>
          <p:cNvSpPr/>
          <p:nvPr/>
        </p:nvSpPr>
        <p:spPr>
          <a:xfrm>
            <a:off x="4267093" y="6748272"/>
            <a:ext cx="304792" cy="109728"/>
          </a:xfrm>
          <a:prstGeom prst="rect">
            <a:avLst/>
          </a:prstGeom>
          <a:solidFill>
            <a:srgbClr val="E0A526"/>
          </a:solidFill>
          <a:ln/>
        </p:spPr>
      </p:sp>
      <p:sp>
        <p:nvSpPr>
          <p:cNvPr id="19" name="Shape 17"/>
          <p:cNvSpPr/>
          <p:nvPr/>
        </p:nvSpPr>
        <p:spPr>
          <a:xfrm>
            <a:off x="4571886" y="6748272"/>
            <a:ext cx="304792" cy="109728"/>
          </a:xfrm>
          <a:prstGeom prst="rect">
            <a:avLst/>
          </a:prstGeom>
          <a:solidFill>
            <a:srgbClr val="0E5E6F"/>
          </a:solidFill>
          <a:ln/>
        </p:spPr>
      </p:sp>
      <p:sp>
        <p:nvSpPr>
          <p:cNvPr id="20" name="Shape 18"/>
          <p:cNvSpPr/>
          <p:nvPr/>
        </p:nvSpPr>
        <p:spPr>
          <a:xfrm>
            <a:off x="4876678" y="6748272"/>
            <a:ext cx="304792" cy="109728"/>
          </a:xfrm>
          <a:prstGeom prst="rect">
            <a:avLst/>
          </a:prstGeom>
          <a:solidFill>
            <a:srgbClr val="8B1E3F"/>
          </a:solidFill>
          <a:ln/>
        </p:spPr>
      </p:sp>
      <p:sp>
        <p:nvSpPr>
          <p:cNvPr id="21" name="Shape 19"/>
          <p:cNvSpPr/>
          <p:nvPr/>
        </p:nvSpPr>
        <p:spPr>
          <a:xfrm>
            <a:off x="5181470" y="6748272"/>
            <a:ext cx="304792" cy="109728"/>
          </a:xfrm>
          <a:prstGeom prst="rect">
            <a:avLst/>
          </a:prstGeom>
          <a:solidFill>
            <a:srgbClr val="0E5E6F"/>
          </a:solidFill>
          <a:ln/>
        </p:spPr>
      </p:sp>
      <p:sp>
        <p:nvSpPr>
          <p:cNvPr id="22" name="Shape 20"/>
          <p:cNvSpPr/>
          <p:nvPr/>
        </p:nvSpPr>
        <p:spPr>
          <a:xfrm>
            <a:off x="5486263" y="6748272"/>
            <a:ext cx="304792" cy="109728"/>
          </a:xfrm>
          <a:prstGeom prst="rect">
            <a:avLst/>
          </a:prstGeom>
          <a:solidFill>
            <a:srgbClr val="E0A526"/>
          </a:solidFill>
          <a:ln/>
        </p:spPr>
      </p:sp>
      <p:sp>
        <p:nvSpPr>
          <p:cNvPr id="23" name="Shape 21"/>
          <p:cNvSpPr/>
          <p:nvPr/>
        </p:nvSpPr>
        <p:spPr>
          <a:xfrm>
            <a:off x="5791055" y="6748272"/>
            <a:ext cx="304792" cy="109728"/>
          </a:xfrm>
          <a:prstGeom prst="rect">
            <a:avLst/>
          </a:prstGeom>
          <a:solidFill>
            <a:srgbClr val="0E5E6F"/>
          </a:solidFill>
          <a:ln/>
        </p:spPr>
      </p:sp>
      <p:sp>
        <p:nvSpPr>
          <p:cNvPr id="24" name="Shape 22"/>
          <p:cNvSpPr/>
          <p:nvPr/>
        </p:nvSpPr>
        <p:spPr>
          <a:xfrm>
            <a:off x="6095848" y="6748272"/>
            <a:ext cx="304792" cy="109728"/>
          </a:xfrm>
          <a:prstGeom prst="rect">
            <a:avLst/>
          </a:prstGeom>
          <a:solidFill>
            <a:srgbClr val="8B1E3F"/>
          </a:solidFill>
          <a:ln/>
        </p:spPr>
      </p:sp>
      <p:sp>
        <p:nvSpPr>
          <p:cNvPr id="25" name="Shape 23"/>
          <p:cNvSpPr/>
          <p:nvPr/>
        </p:nvSpPr>
        <p:spPr>
          <a:xfrm>
            <a:off x="6400640" y="6748272"/>
            <a:ext cx="304792" cy="109728"/>
          </a:xfrm>
          <a:prstGeom prst="rect">
            <a:avLst/>
          </a:prstGeom>
          <a:solidFill>
            <a:srgbClr val="0E5E6F"/>
          </a:solidFill>
          <a:ln/>
        </p:spPr>
      </p:sp>
      <p:sp>
        <p:nvSpPr>
          <p:cNvPr id="26" name="Shape 24"/>
          <p:cNvSpPr/>
          <p:nvPr/>
        </p:nvSpPr>
        <p:spPr>
          <a:xfrm>
            <a:off x="6705432" y="6748272"/>
            <a:ext cx="304792" cy="109728"/>
          </a:xfrm>
          <a:prstGeom prst="rect">
            <a:avLst/>
          </a:prstGeom>
          <a:solidFill>
            <a:srgbClr val="E0A526"/>
          </a:solidFill>
          <a:ln/>
        </p:spPr>
      </p:sp>
      <p:sp>
        <p:nvSpPr>
          <p:cNvPr id="27" name="Shape 25"/>
          <p:cNvSpPr/>
          <p:nvPr/>
        </p:nvSpPr>
        <p:spPr>
          <a:xfrm>
            <a:off x="7010225" y="6748272"/>
            <a:ext cx="304792" cy="109728"/>
          </a:xfrm>
          <a:prstGeom prst="rect">
            <a:avLst/>
          </a:prstGeom>
          <a:solidFill>
            <a:srgbClr val="0E5E6F"/>
          </a:solidFill>
          <a:ln/>
        </p:spPr>
      </p:sp>
      <p:sp>
        <p:nvSpPr>
          <p:cNvPr id="28" name="Shape 26"/>
          <p:cNvSpPr/>
          <p:nvPr/>
        </p:nvSpPr>
        <p:spPr>
          <a:xfrm>
            <a:off x="7315017" y="6748272"/>
            <a:ext cx="304792" cy="109728"/>
          </a:xfrm>
          <a:prstGeom prst="rect">
            <a:avLst/>
          </a:prstGeom>
          <a:solidFill>
            <a:srgbClr val="8B1E3F"/>
          </a:solidFill>
          <a:ln/>
        </p:spPr>
      </p:sp>
      <p:sp>
        <p:nvSpPr>
          <p:cNvPr id="29" name="Shape 27"/>
          <p:cNvSpPr/>
          <p:nvPr/>
        </p:nvSpPr>
        <p:spPr>
          <a:xfrm>
            <a:off x="7619809" y="6748272"/>
            <a:ext cx="304792" cy="109728"/>
          </a:xfrm>
          <a:prstGeom prst="rect">
            <a:avLst/>
          </a:prstGeom>
          <a:solidFill>
            <a:srgbClr val="0E5E6F"/>
          </a:solidFill>
          <a:ln/>
        </p:spPr>
      </p:sp>
      <p:sp>
        <p:nvSpPr>
          <p:cNvPr id="30" name="Shape 28"/>
          <p:cNvSpPr/>
          <p:nvPr/>
        </p:nvSpPr>
        <p:spPr>
          <a:xfrm>
            <a:off x="7924602" y="6748272"/>
            <a:ext cx="304792" cy="109728"/>
          </a:xfrm>
          <a:prstGeom prst="rect">
            <a:avLst/>
          </a:prstGeom>
          <a:solidFill>
            <a:srgbClr val="E0A526"/>
          </a:solidFill>
          <a:ln/>
        </p:spPr>
      </p:sp>
      <p:sp>
        <p:nvSpPr>
          <p:cNvPr id="31" name="Shape 29"/>
          <p:cNvSpPr/>
          <p:nvPr/>
        </p:nvSpPr>
        <p:spPr>
          <a:xfrm>
            <a:off x="8229394" y="6748272"/>
            <a:ext cx="304792" cy="109728"/>
          </a:xfrm>
          <a:prstGeom prst="rect">
            <a:avLst/>
          </a:prstGeom>
          <a:solidFill>
            <a:srgbClr val="0E5E6F"/>
          </a:solidFill>
          <a:ln/>
        </p:spPr>
      </p:sp>
      <p:sp>
        <p:nvSpPr>
          <p:cNvPr id="32" name="Shape 30"/>
          <p:cNvSpPr/>
          <p:nvPr/>
        </p:nvSpPr>
        <p:spPr>
          <a:xfrm>
            <a:off x="8534187" y="6748272"/>
            <a:ext cx="304792" cy="109728"/>
          </a:xfrm>
          <a:prstGeom prst="rect">
            <a:avLst/>
          </a:prstGeom>
          <a:solidFill>
            <a:srgbClr val="8B1E3F"/>
          </a:solidFill>
          <a:ln/>
        </p:spPr>
      </p:sp>
      <p:sp>
        <p:nvSpPr>
          <p:cNvPr id="33" name="Shape 31"/>
          <p:cNvSpPr/>
          <p:nvPr/>
        </p:nvSpPr>
        <p:spPr>
          <a:xfrm>
            <a:off x="8838979" y="6748272"/>
            <a:ext cx="304792" cy="109728"/>
          </a:xfrm>
          <a:prstGeom prst="rect">
            <a:avLst/>
          </a:prstGeom>
          <a:solidFill>
            <a:srgbClr val="0E5E6F"/>
          </a:solidFill>
          <a:ln/>
        </p:spPr>
      </p:sp>
      <p:sp>
        <p:nvSpPr>
          <p:cNvPr id="34" name="Shape 32"/>
          <p:cNvSpPr/>
          <p:nvPr/>
        </p:nvSpPr>
        <p:spPr>
          <a:xfrm>
            <a:off x="9143771" y="6748272"/>
            <a:ext cx="304792" cy="109728"/>
          </a:xfrm>
          <a:prstGeom prst="rect">
            <a:avLst/>
          </a:prstGeom>
          <a:solidFill>
            <a:srgbClr val="E0A526"/>
          </a:solidFill>
          <a:ln/>
        </p:spPr>
      </p:sp>
      <p:sp>
        <p:nvSpPr>
          <p:cNvPr id="35" name="Shape 33"/>
          <p:cNvSpPr/>
          <p:nvPr/>
        </p:nvSpPr>
        <p:spPr>
          <a:xfrm>
            <a:off x="9448564" y="6748272"/>
            <a:ext cx="304792" cy="109728"/>
          </a:xfrm>
          <a:prstGeom prst="rect">
            <a:avLst/>
          </a:prstGeom>
          <a:solidFill>
            <a:srgbClr val="0E5E6F"/>
          </a:solidFill>
          <a:ln/>
        </p:spPr>
      </p:sp>
      <p:sp>
        <p:nvSpPr>
          <p:cNvPr id="36" name="Shape 34"/>
          <p:cNvSpPr/>
          <p:nvPr/>
        </p:nvSpPr>
        <p:spPr>
          <a:xfrm>
            <a:off x="9753356" y="6748272"/>
            <a:ext cx="304792" cy="109728"/>
          </a:xfrm>
          <a:prstGeom prst="rect">
            <a:avLst/>
          </a:prstGeom>
          <a:solidFill>
            <a:srgbClr val="8B1E3F"/>
          </a:solidFill>
          <a:ln/>
        </p:spPr>
      </p:sp>
      <p:sp>
        <p:nvSpPr>
          <p:cNvPr id="37" name="Shape 35"/>
          <p:cNvSpPr/>
          <p:nvPr/>
        </p:nvSpPr>
        <p:spPr>
          <a:xfrm>
            <a:off x="10058149" y="6748272"/>
            <a:ext cx="304792" cy="109728"/>
          </a:xfrm>
          <a:prstGeom prst="rect">
            <a:avLst/>
          </a:prstGeom>
          <a:solidFill>
            <a:srgbClr val="0E5E6F"/>
          </a:solidFill>
          <a:ln/>
        </p:spPr>
      </p:sp>
      <p:sp>
        <p:nvSpPr>
          <p:cNvPr id="38" name="Shape 36"/>
          <p:cNvSpPr/>
          <p:nvPr/>
        </p:nvSpPr>
        <p:spPr>
          <a:xfrm>
            <a:off x="10362941" y="6748272"/>
            <a:ext cx="304792" cy="109728"/>
          </a:xfrm>
          <a:prstGeom prst="rect">
            <a:avLst/>
          </a:prstGeom>
          <a:solidFill>
            <a:srgbClr val="E0A526"/>
          </a:solidFill>
          <a:ln/>
        </p:spPr>
      </p:sp>
      <p:sp>
        <p:nvSpPr>
          <p:cNvPr id="39" name="Shape 37"/>
          <p:cNvSpPr/>
          <p:nvPr/>
        </p:nvSpPr>
        <p:spPr>
          <a:xfrm>
            <a:off x="10667733" y="6748272"/>
            <a:ext cx="304792" cy="109728"/>
          </a:xfrm>
          <a:prstGeom prst="rect">
            <a:avLst/>
          </a:prstGeom>
          <a:solidFill>
            <a:srgbClr val="0E5E6F"/>
          </a:solidFill>
          <a:ln/>
        </p:spPr>
      </p:sp>
      <p:sp>
        <p:nvSpPr>
          <p:cNvPr id="40" name="Shape 38"/>
          <p:cNvSpPr/>
          <p:nvPr/>
        </p:nvSpPr>
        <p:spPr>
          <a:xfrm>
            <a:off x="10972526" y="6748272"/>
            <a:ext cx="304792" cy="109728"/>
          </a:xfrm>
          <a:prstGeom prst="rect">
            <a:avLst/>
          </a:prstGeom>
          <a:solidFill>
            <a:srgbClr val="8B1E3F"/>
          </a:solidFill>
          <a:ln/>
        </p:spPr>
      </p:sp>
      <p:sp>
        <p:nvSpPr>
          <p:cNvPr id="41" name="Shape 39"/>
          <p:cNvSpPr/>
          <p:nvPr/>
        </p:nvSpPr>
        <p:spPr>
          <a:xfrm>
            <a:off x="11277318" y="6748272"/>
            <a:ext cx="304792" cy="109728"/>
          </a:xfrm>
          <a:prstGeom prst="rect">
            <a:avLst/>
          </a:prstGeom>
          <a:solidFill>
            <a:srgbClr val="0E5E6F"/>
          </a:solidFill>
          <a:ln/>
        </p:spPr>
      </p:sp>
      <p:sp>
        <p:nvSpPr>
          <p:cNvPr id="42" name="Shape 40"/>
          <p:cNvSpPr/>
          <p:nvPr/>
        </p:nvSpPr>
        <p:spPr>
          <a:xfrm>
            <a:off x="11582110" y="6748272"/>
            <a:ext cx="304792" cy="109728"/>
          </a:xfrm>
          <a:prstGeom prst="rect">
            <a:avLst/>
          </a:prstGeom>
          <a:solidFill>
            <a:srgbClr val="E0A526"/>
          </a:solidFill>
          <a:ln/>
        </p:spPr>
      </p:sp>
      <p:sp>
        <p:nvSpPr>
          <p:cNvPr id="43" name="Shape 41"/>
          <p:cNvSpPr/>
          <p:nvPr/>
        </p:nvSpPr>
        <p:spPr>
          <a:xfrm>
            <a:off x="11886903" y="6748272"/>
            <a:ext cx="304792" cy="109728"/>
          </a:xfrm>
          <a:prstGeom prst="rect">
            <a:avLst/>
          </a:prstGeom>
          <a:solidFill>
            <a:srgbClr val="0E5E6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Hyderabad Old City SIR 2026</dc:title>
  <dc:subject>PptxGenJS Presentation</dc:subject>
  <dc:creator>Varna Sri Raman</dc:creator>
  <cp:lastModifiedBy>Varna Sri Raman</cp:lastModifiedBy>
  <cp:revision>1</cp:revision>
  <dcterms:created xsi:type="dcterms:W3CDTF">2026-09-30T15:39:41Z</dcterms:created>
  <dcterms:modified xsi:type="dcterms:W3CDTF">2026-09-30T15:39:41Z</dcterms:modified>
</cp:coreProperties>
</file>