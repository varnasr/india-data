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9.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untouched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Heaviest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 struck off, by name-estimated religion</a:t>
            </a:r>
          </a:p>
        </c:rich>
      </c:tx>
      <c:layout/>
      <c:overlay val="0"/>
    </c:title>
    <c:autoTitleDeleted val="0"/>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five Old City constituencies, so each group has a true removal rate. These are the September 2026 lists; the final roll is due on 9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comparison is one of scale. The roll records no one's vote, so none of this says whom the removed would have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being traceable to the last intensive revision was the commonest reason to be summoned, 31.6% of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2026</a:t>
            </a:r>
            <a:endParaRPr lang="en-US" sz="1300" dirty="0"/>
          </a:p>
        </p:txBody>
      </p:sp>
      <p:sp>
        <p:nvSpPr>
          <p:cNvPr id="3" name="Text 1"/>
          <p:cNvSpPr txBox="1"/>
          <p:nvPr/>
        </p:nvSpPr>
        <p:spPr>
          <a:xfrm>
            <a:off x="548640" y="105156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Hyderabad Old City: four in ten struck off</a:t>
            </a:r>
            <a:endParaRPr lang="en-US" sz="4400" dirty="0"/>
          </a:p>
        </p:txBody>
      </p:sp>
      <p:sp>
        <p:nvSpPr>
          <p:cNvPr id="4" name="Text 2"/>
          <p:cNvSpPr txBox="1"/>
          <p:nvPr/>
        </p:nvSpPr>
        <p:spPr>
          <a:xfrm>
            <a:off x="548640" y="2240280"/>
            <a:ext cx="10180015" cy="731520"/>
          </a:xfrm>
          <a:prstGeom prst="rect">
            <a:avLst/>
          </a:prstGeom>
          <a:noFill/>
          <a:ln/>
        </p:spPr>
        <p:txBody>
          <a:bodyPr wrap="square" lIns="0" tIns="0" rIns="0" bIns="0" rtlCol="0" anchor="t"/>
          <a:lstStyle/>
          <a:p>
            <a:pPr indent="0" marL="0">
              <a:buNone/>
            </a:pPr>
            <a:r>
              <a:rPr lang="en-US" sz="18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8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434840"/>
            <a:ext cx="2202104" cy="640080"/>
          </a:xfrm>
          <a:prstGeom prst="rect">
            <a:avLst/>
          </a:prstGeom>
          <a:noFill/>
          <a:ln/>
        </p:spPr>
        <p:txBody>
          <a:bodyPr wrap="square" lIns="0" tIns="0" rIns="0" bIns="0" rtlCol="0" anchor="t"/>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Four in ten electors struck off</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412480" y="1737360"/>
            <a:ext cx="3246120" cy="1417320"/>
          </a:xfrm>
          <a:prstGeom prst="roundRect">
            <a:avLst>
              <a:gd name="adj" fmla="val 5161"/>
            </a:avLst>
          </a:prstGeom>
          <a:solidFill>
            <a:srgbClr val="F4F6F7"/>
          </a:solidFill>
          <a:ln/>
        </p:spPr>
      </p:sp>
      <p:sp>
        <p:nvSpPr>
          <p:cNvPr id="6" name="Text 3"/>
          <p:cNvSpPr txBox="1"/>
          <p:nvPr/>
        </p:nvSpPr>
        <p:spPr>
          <a:xfrm>
            <a:off x="8595360" y="18745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6,62,063</a:t>
            </a:r>
            <a:endParaRPr lang="en-US" sz="3000" dirty="0"/>
          </a:p>
        </p:txBody>
      </p:sp>
      <p:sp>
        <p:nvSpPr>
          <p:cNvPr id="7" name="Text 4"/>
          <p:cNvSpPr txBox="1"/>
          <p:nvPr/>
        </p:nvSpPr>
        <p:spPr>
          <a:xfrm>
            <a:off x="8595360" y="25831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struck off, 40.0% of 16,57,207</a:t>
            </a:r>
            <a:endParaRPr lang="en-US" sz="1250" dirty="0"/>
          </a:p>
        </p:txBody>
      </p:sp>
      <p:sp>
        <p:nvSpPr>
          <p:cNvPr id="8" name="Shape 5"/>
          <p:cNvSpPr/>
          <p:nvPr/>
        </p:nvSpPr>
        <p:spPr>
          <a:xfrm>
            <a:off x="8412480" y="3337560"/>
            <a:ext cx="3246120" cy="1417320"/>
          </a:xfrm>
          <a:prstGeom prst="roundRect">
            <a:avLst>
              <a:gd name="adj" fmla="val 5161"/>
            </a:avLst>
          </a:prstGeom>
          <a:solidFill>
            <a:srgbClr val="F4F6F7"/>
          </a:solidFill>
          <a:ln/>
        </p:spPr>
      </p:sp>
      <p:sp>
        <p:nvSpPr>
          <p:cNvPr id="9" name="Text 6"/>
          <p:cNvSpPr txBox="1"/>
          <p:nvPr/>
        </p:nvSpPr>
        <p:spPr>
          <a:xfrm>
            <a:off x="8595360" y="3474720"/>
            <a:ext cx="2880360" cy="70866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10" name="Text 7"/>
          <p:cNvSpPr txBox="1"/>
          <p:nvPr/>
        </p:nvSpPr>
        <p:spPr>
          <a:xfrm>
            <a:off x="8595360" y="4183380"/>
            <a:ext cx="288036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kept on the roll only if they attend a hearing</a:t>
            </a:r>
            <a:endParaRPr lang="en-US" sz="1250" dirty="0"/>
          </a:p>
        </p:txBody>
      </p:sp>
      <p:sp>
        <p:nvSpPr>
          <p:cNvPr id="11" name="Shape 8"/>
          <p:cNvSpPr/>
          <p:nvPr/>
        </p:nvSpPr>
        <p:spPr>
          <a:xfrm>
            <a:off x="8412480" y="4937760"/>
            <a:ext cx="3246120" cy="1371600"/>
          </a:xfrm>
          <a:prstGeom prst="roundRect">
            <a:avLst>
              <a:gd name="adj" fmla="val 5333"/>
            </a:avLst>
          </a:prstGeom>
          <a:solidFill>
            <a:srgbClr val="F4F6F7"/>
          </a:solidFill>
          <a:ln/>
        </p:spPr>
      </p:sp>
      <p:sp>
        <p:nvSpPr>
          <p:cNvPr id="12" name="Text 9"/>
          <p:cNvSpPr txBox="1"/>
          <p:nvPr/>
        </p:nvSpPr>
        <p:spPr>
          <a:xfrm>
            <a:off x="8595360" y="5074920"/>
            <a:ext cx="2880360" cy="685800"/>
          </a:xfrm>
          <a:prstGeom prst="rect">
            <a:avLst/>
          </a:prstGeom>
          <a:noFill/>
          <a:ln/>
        </p:spPr>
        <p:txBody>
          <a:bodyPr wrap="square" lIns="0" tIns="0" rIns="0" bIns="0" rtlCol="0" anchor="b">
            <a:normAutofit/>
          </a:bodyPr>
          <a:lstStyle/>
          <a:p>
            <a:pPr indent="0" marL="0">
              <a:buNone/>
            </a:pPr>
            <a:r>
              <a:rPr lang="en-US" sz="2600" b="1" dirty="0">
                <a:solidFill>
                  <a:srgbClr val="8B1E3F"/>
                </a:solidFill>
                <a:latin typeface="Cambria" pitchFamily="34" charset="0"/>
                <a:ea typeface="Cambria" pitchFamily="34" charset="-122"/>
                <a:cs typeface="Cambria" pitchFamily="34" charset="-120"/>
              </a:rPr>
              <a:t>45.1%</a:t>
            </a:r>
            <a:endParaRPr lang="en-US" sz="2600" dirty="0"/>
          </a:p>
        </p:txBody>
      </p:sp>
      <p:sp>
        <p:nvSpPr>
          <p:cNvPr id="13" name="Text 10"/>
          <p:cNvSpPr txBox="1"/>
          <p:nvPr/>
        </p:nvSpPr>
        <p:spPr>
          <a:xfrm>
            <a:off x="8595360" y="5760720"/>
            <a:ext cx="288036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Malakpet lost the most; Bahadurpura the least, 34.6%</a:t>
            </a:r>
            <a:endParaRPr lang="en-US" sz="1250" dirty="0"/>
          </a:p>
        </p:txBody>
      </p:sp>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More names struck off than the winner received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struck off against the 2023 winning margin and the valid votes cast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103120"/>
                <a:gridCol w="3017520"/>
                <a:gridCol w="1188720"/>
                <a:gridCol w="1371600"/>
                <a:gridCol w="1097280"/>
                <a:gridCol w="1554480"/>
                <a:gridCol w="1399032"/>
              </a:tblGrid>
              <a:tr h="27432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Valid votes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1,40,434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1,53,760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98,103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1,44,404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977640"/>
            <a:ext cx="11094415" cy="1554480"/>
          </a:xfrm>
          <a:prstGeom prst="roundRect">
            <a:avLst>
              <a:gd name="adj" fmla="val 5882"/>
            </a:avLst>
          </a:prstGeom>
          <a:solidFill>
            <a:srgbClr val="F7ECEF"/>
          </a:solidFill>
          <a:ln/>
        </p:spPr>
      </p:sp>
      <p:sp>
        <p:nvSpPr>
          <p:cNvPr id="6" name="Text 3"/>
          <p:cNvSpPr txBox="1"/>
          <p:nvPr/>
        </p:nvSpPr>
        <p:spPr>
          <a:xfrm>
            <a:off x="822960" y="4160520"/>
            <a:ext cx="10545775" cy="11887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Every constituency lost more names than its 2023 winner polled, let alone the margin. In Yakutpura and Malakpet the names struck off exceed every valid vote cast. Yakutpura was won by 878 votes and lost 1,54,982 names. Across the five, the names struck off equal 99.0% of the 2023 vote.</a:t>
            </a:r>
            <a:endParaRPr lang="en-US" sz="1500" dirty="0"/>
          </a:p>
        </p:txBody>
      </p:sp>
      <p:sp>
        <p:nvSpPr>
          <p:cNvPr id="7" name="Text 4"/>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8" name="Text 5"/>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9" name="Shape 6"/>
          <p:cNvSpPr/>
          <p:nvPr/>
        </p:nvSpPr>
        <p:spPr>
          <a:xfrm>
            <a:off x="0" y="6748272"/>
            <a:ext cx="304792" cy="109728"/>
          </a:xfrm>
          <a:prstGeom prst="rect">
            <a:avLst/>
          </a:prstGeom>
          <a:solidFill>
            <a:srgbClr val="8B1E3F"/>
          </a:solidFill>
          <a:ln/>
        </p:spPr>
      </p:sp>
      <p:sp>
        <p:nvSpPr>
          <p:cNvPr id="10" name="Shape 7"/>
          <p:cNvSpPr/>
          <p:nvPr/>
        </p:nvSpPr>
        <p:spPr>
          <a:xfrm>
            <a:off x="304792" y="6748272"/>
            <a:ext cx="304792" cy="109728"/>
          </a:xfrm>
          <a:prstGeom prst="rect">
            <a:avLst/>
          </a:prstGeom>
          <a:solidFill>
            <a:srgbClr val="0E5E6F"/>
          </a:solidFill>
          <a:ln/>
        </p:spPr>
      </p:sp>
      <p:sp>
        <p:nvSpPr>
          <p:cNvPr id="11" name="Shape 8"/>
          <p:cNvSpPr/>
          <p:nvPr/>
        </p:nvSpPr>
        <p:spPr>
          <a:xfrm>
            <a:off x="609585" y="6748272"/>
            <a:ext cx="304792" cy="109728"/>
          </a:xfrm>
          <a:prstGeom prst="rect">
            <a:avLst/>
          </a:prstGeom>
          <a:solidFill>
            <a:srgbClr val="E0A526"/>
          </a:solidFill>
          <a:ln/>
        </p:spPr>
      </p:sp>
      <p:sp>
        <p:nvSpPr>
          <p:cNvPr id="12" name="Shape 9"/>
          <p:cNvSpPr/>
          <p:nvPr/>
        </p:nvSpPr>
        <p:spPr>
          <a:xfrm>
            <a:off x="914377" y="6748272"/>
            <a:ext cx="304792" cy="109728"/>
          </a:xfrm>
          <a:prstGeom prst="rect">
            <a:avLst/>
          </a:prstGeom>
          <a:solidFill>
            <a:srgbClr val="0E5E6F"/>
          </a:solidFill>
          <a:ln/>
        </p:spPr>
      </p:sp>
      <p:sp>
        <p:nvSpPr>
          <p:cNvPr id="13" name="Shape 10"/>
          <p:cNvSpPr/>
          <p:nvPr/>
        </p:nvSpPr>
        <p:spPr>
          <a:xfrm>
            <a:off x="1219170" y="6748272"/>
            <a:ext cx="304792" cy="109728"/>
          </a:xfrm>
          <a:prstGeom prst="rect">
            <a:avLst/>
          </a:prstGeom>
          <a:solidFill>
            <a:srgbClr val="8B1E3F"/>
          </a:solidFill>
          <a:ln/>
        </p:spPr>
      </p:sp>
      <p:sp>
        <p:nvSpPr>
          <p:cNvPr id="14" name="Shape 11"/>
          <p:cNvSpPr/>
          <p:nvPr/>
        </p:nvSpPr>
        <p:spPr>
          <a:xfrm>
            <a:off x="1523962" y="6748272"/>
            <a:ext cx="304792" cy="109728"/>
          </a:xfrm>
          <a:prstGeom prst="rect">
            <a:avLst/>
          </a:prstGeom>
          <a:solidFill>
            <a:srgbClr val="0E5E6F"/>
          </a:solidFill>
          <a:ln/>
        </p:spPr>
      </p:sp>
      <p:sp>
        <p:nvSpPr>
          <p:cNvPr id="15" name="Shape 12"/>
          <p:cNvSpPr/>
          <p:nvPr/>
        </p:nvSpPr>
        <p:spPr>
          <a:xfrm>
            <a:off x="1828754" y="6748272"/>
            <a:ext cx="304792" cy="109728"/>
          </a:xfrm>
          <a:prstGeom prst="rect">
            <a:avLst/>
          </a:prstGeom>
          <a:solidFill>
            <a:srgbClr val="E0A526"/>
          </a:solidFill>
          <a:ln/>
        </p:spPr>
      </p:sp>
      <p:sp>
        <p:nvSpPr>
          <p:cNvPr id="16" name="Shape 13"/>
          <p:cNvSpPr/>
          <p:nvPr/>
        </p:nvSpPr>
        <p:spPr>
          <a:xfrm>
            <a:off x="2133547" y="6748272"/>
            <a:ext cx="304792" cy="109728"/>
          </a:xfrm>
          <a:prstGeom prst="rect">
            <a:avLst/>
          </a:prstGeom>
          <a:solidFill>
            <a:srgbClr val="0E5E6F"/>
          </a:solidFill>
          <a:ln/>
        </p:spPr>
      </p:sp>
      <p:sp>
        <p:nvSpPr>
          <p:cNvPr id="17" name="Shape 14"/>
          <p:cNvSpPr/>
          <p:nvPr/>
        </p:nvSpPr>
        <p:spPr>
          <a:xfrm>
            <a:off x="2438339" y="6748272"/>
            <a:ext cx="304792" cy="109728"/>
          </a:xfrm>
          <a:prstGeom prst="rect">
            <a:avLst/>
          </a:prstGeom>
          <a:solidFill>
            <a:srgbClr val="8B1E3F"/>
          </a:solidFill>
          <a:ln/>
        </p:spPr>
      </p:sp>
      <p:sp>
        <p:nvSpPr>
          <p:cNvPr id="18" name="Shape 15"/>
          <p:cNvSpPr/>
          <p:nvPr/>
        </p:nvSpPr>
        <p:spPr>
          <a:xfrm>
            <a:off x="2743131" y="6748272"/>
            <a:ext cx="304792" cy="109728"/>
          </a:xfrm>
          <a:prstGeom prst="rect">
            <a:avLst/>
          </a:prstGeom>
          <a:solidFill>
            <a:srgbClr val="0E5E6F"/>
          </a:solidFill>
          <a:ln/>
        </p:spPr>
      </p:sp>
      <p:sp>
        <p:nvSpPr>
          <p:cNvPr id="19" name="Shape 16"/>
          <p:cNvSpPr/>
          <p:nvPr/>
        </p:nvSpPr>
        <p:spPr>
          <a:xfrm>
            <a:off x="3047924" y="6748272"/>
            <a:ext cx="304792" cy="109728"/>
          </a:xfrm>
          <a:prstGeom prst="rect">
            <a:avLst/>
          </a:prstGeom>
          <a:solidFill>
            <a:srgbClr val="E0A526"/>
          </a:solidFill>
          <a:ln/>
        </p:spPr>
      </p:sp>
      <p:sp>
        <p:nvSpPr>
          <p:cNvPr id="20" name="Shape 17"/>
          <p:cNvSpPr/>
          <p:nvPr/>
        </p:nvSpPr>
        <p:spPr>
          <a:xfrm>
            <a:off x="3352716" y="6748272"/>
            <a:ext cx="304792" cy="109728"/>
          </a:xfrm>
          <a:prstGeom prst="rect">
            <a:avLst/>
          </a:prstGeom>
          <a:solidFill>
            <a:srgbClr val="0E5E6F"/>
          </a:solidFill>
          <a:ln/>
        </p:spPr>
      </p:sp>
      <p:sp>
        <p:nvSpPr>
          <p:cNvPr id="21" name="Shape 18"/>
          <p:cNvSpPr/>
          <p:nvPr/>
        </p:nvSpPr>
        <p:spPr>
          <a:xfrm>
            <a:off x="3657509" y="6748272"/>
            <a:ext cx="304792" cy="109728"/>
          </a:xfrm>
          <a:prstGeom prst="rect">
            <a:avLst/>
          </a:prstGeom>
          <a:solidFill>
            <a:srgbClr val="8B1E3F"/>
          </a:solidFill>
          <a:ln/>
        </p:spPr>
      </p:sp>
      <p:sp>
        <p:nvSpPr>
          <p:cNvPr id="22" name="Shape 19"/>
          <p:cNvSpPr/>
          <p:nvPr/>
        </p:nvSpPr>
        <p:spPr>
          <a:xfrm>
            <a:off x="3962301" y="6748272"/>
            <a:ext cx="304792" cy="109728"/>
          </a:xfrm>
          <a:prstGeom prst="rect">
            <a:avLst/>
          </a:prstGeom>
          <a:solidFill>
            <a:srgbClr val="0E5E6F"/>
          </a:solidFill>
          <a:ln/>
        </p:spPr>
      </p:sp>
      <p:sp>
        <p:nvSpPr>
          <p:cNvPr id="23" name="Shape 20"/>
          <p:cNvSpPr/>
          <p:nvPr/>
        </p:nvSpPr>
        <p:spPr>
          <a:xfrm>
            <a:off x="4267093" y="6748272"/>
            <a:ext cx="304792" cy="109728"/>
          </a:xfrm>
          <a:prstGeom prst="rect">
            <a:avLst/>
          </a:prstGeom>
          <a:solidFill>
            <a:srgbClr val="E0A526"/>
          </a:solidFill>
          <a:ln/>
        </p:spPr>
      </p:sp>
      <p:sp>
        <p:nvSpPr>
          <p:cNvPr id="24" name="Shape 21"/>
          <p:cNvSpPr/>
          <p:nvPr/>
        </p:nvSpPr>
        <p:spPr>
          <a:xfrm>
            <a:off x="4571886" y="6748272"/>
            <a:ext cx="304792" cy="109728"/>
          </a:xfrm>
          <a:prstGeom prst="rect">
            <a:avLst/>
          </a:prstGeom>
          <a:solidFill>
            <a:srgbClr val="0E5E6F"/>
          </a:solidFill>
          <a:ln/>
        </p:spPr>
      </p:sp>
      <p:sp>
        <p:nvSpPr>
          <p:cNvPr id="25" name="Shape 22"/>
          <p:cNvSpPr/>
          <p:nvPr/>
        </p:nvSpPr>
        <p:spPr>
          <a:xfrm>
            <a:off x="4876678" y="6748272"/>
            <a:ext cx="304792" cy="109728"/>
          </a:xfrm>
          <a:prstGeom prst="rect">
            <a:avLst/>
          </a:prstGeom>
          <a:solidFill>
            <a:srgbClr val="8B1E3F"/>
          </a:solidFill>
          <a:ln/>
        </p:spPr>
      </p:sp>
      <p:sp>
        <p:nvSpPr>
          <p:cNvPr id="26" name="Shape 23"/>
          <p:cNvSpPr/>
          <p:nvPr/>
        </p:nvSpPr>
        <p:spPr>
          <a:xfrm>
            <a:off x="5181470" y="6748272"/>
            <a:ext cx="304792" cy="109728"/>
          </a:xfrm>
          <a:prstGeom prst="rect">
            <a:avLst/>
          </a:prstGeom>
          <a:solidFill>
            <a:srgbClr val="0E5E6F"/>
          </a:solidFill>
          <a:ln/>
        </p:spPr>
      </p:sp>
      <p:sp>
        <p:nvSpPr>
          <p:cNvPr id="27" name="Shape 24"/>
          <p:cNvSpPr/>
          <p:nvPr/>
        </p:nvSpPr>
        <p:spPr>
          <a:xfrm>
            <a:off x="5486263" y="6748272"/>
            <a:ext cx="304792" cy="109728"/>
          </a:xfrm>
          <a:prstGeom prst="rect">
            <a:avLst/>
          </a:prstGeom>
          <a:solidFill>
            <a:srgbClr val="E0A526"/>
          </a:solidFill>
          <a:ln/>
        </p:spPr>
      </p:sp>
      <p:sp>
        <p:nvSpPr>
          <p:cNvPr id="28" name="Shape 25"/>
          <p:cNvSpPr/>
          <p:nvPr/>
        </p:nvSpPr>
        <p:spPr>
          <a:xfrm>
            <a:off x="5791055" y="6748272"/>
            <a:ext cx="304792" cy="109728"/>
          </a:xfrm>
          <a:prstGeom prst="rect">
            <a:avLst/>
          </a:prstGeom>
          <a:solidFill>
            <a:srgbClr val="0E5E6F"/>
          </a:solidFill>
          <a:ln/>
        </p:spPr>
      </p:sp>
      <p:sp>
        <p:nvSpPr>
          <p:cNvPr id="29" name="Shape 26"/>
          <p:cNvSpPr/>
          <p:nvPr/>
        </p:nvSpPr>
        <p:spPr>
          <a:xfrm>
            <a:off x="6095848" y="6748272"/>
            <a:ext cx="304792" cy="109728"/>
          </a:xfrm>
          <a:prstGeom prst="rect">
            <a:avLst/>
          </a:prstGeom>
          <a:solidFill>
            <a:srgbClr val="8B1E3F"/>
          </a:solidFill>
          <a:ln/>
        </p:spPr>
      </p:sp>
      <p:sp>
        <p:nvSpPr>
          <p:cNvPr id="30" name="Shape 27"/>
          <p:cNvSpPr/>
          <p:nvPr/>
        </p:nvSpPr>
        <p:spPr>
          <a:xfrm>
            <a:off x="6400640" y="6748272"/>
            <a:ext cx="304792" cy="109728"/>
          </a:xfrm>
          <a:prstGeom prst="rect">
            <a:avLst/>
          </a:prstGeom>
          <a:solidFill>
            <a:srgbClr val="0E5E6F"/>
          </a:solidFill>
          <a:ln/>
        </p:spPr>
      </p:sp>
      <p:sp>
        <p:nvSpPr>
          <p:cNvPr id="31" name="Shape 28"/>
          <p:cNvSpPr/>
          <p:nvPr/>
        </p:nvSpPr>
        <p:spPr>
          <a:xfrm>
            <a:off x="6705432" y="6748272"/>
            <a:ext cx="304792" cy="109728"/>
          </a:xfrm>
          <a:prstGeom prst="rect">
            <a:avLst/>
          </a:prstGeom>
          <a:solidFill>
            <a:srgbClr val="E0A526"/>
          </a:solidFill>
          <a:ln/>
        </p:spPr>
      </p:sp>
      <p:sp>
        <p:nvSpPr>
          <p:cNvPr id="32" name="Shape 29"/>
          <p:cNvSpPr/>
          <p:nvPr/>
        </p:nvSpPr>
        <p:spPr>
          <a:xfrm>
            <a:off x="7010225" y="6748272"/>
            <a:ext cx="304792" cy="109728"/>
          </a:xfrm>
          <a:prstGeom prst="rect">
            <a:avLst/>
          </a:prstGeom>
          <a:solidFill>
            <a:srgbClr val="0E5E6F"/>
          </a:solidFill>
          <a:ln/>
        </p:spPr>
      </p:sp>
      <p:sp>
        <p:nvSpPr>
          <p:cNvPr id="33" name="Shape 30"/>
          <p:cNvSpPr/>
          <p:nvPr/>
        </p:nvSpPr>
        <p:spPr>
          <a:xfrm>
            <a:off x="7315017" y="6748272"/>
            <a:ext cx="304792" cy="109728"/>
          </a:xfrm>
          <a:prstGeom prst="rect">
            <a:avLst/>
          </a:prstGeom>
          <a:solidFill>
            <a:srgbClr val="8B1E3F"/>
          </a:solidFill>
          <a:ln/>
        </p:spPr>
      </p:sp>
      <p:sp>
        <p:nvSpPr>
          <p:cNvPr id="34" name="Shape 31"/>
          <p:cNvSpPr/>
          <p:nvPr/>
        </p:nvSpPr>
        <p:spPr>
          <a:xfrm>
            <a:off x="7619809" y="6748272"/>
            <a:ext cx="304792" cy="109728"/>
          </a:xfrm>
          <a:prstGeom prst="rect">
            <a:avLst/>
          </a:prstGeom>
          <a:solidFill>
            <a:srgbClr val="0E5E6F"/>
          </a:solidFill>
          <a:ln/>
        </p:spPr>
      </p:sp>
      <p:sp>
        <p:nvSpPr>
          <p:cNvPr id="35" name="Shape 32"/>
          <p:cNvSpPr/>
          <p:nvPr/>
        </p:nvSpPr>
        <p:spPr>
          <a:xfrm>
            <a:off x="7924602" y="6748272"/>
            <a:ext cx="304792" cy="109728"/>
          </a:xfrm>
          <a:prstGeom prst="rect">
            <a:avLst/>
          </a:prstGeom>
          <a:solidFill>
            <a:srgbClr val="E0A526"/>
          </a:solidFill>
          <a:ln/>
        </p:spPr>
      </p:sp>
      <p:sp>
        <p:nvSpPr>
          <p:cNvPr id="36" name="Shape 33"/>
          <p:cNvSpPr/>
          <p:nvPr/>
        </p:nvSpPr>
        <p:spPr>
          <a:xfrm>
            <a:off x="8229394" y="6748272"/>
            <a:ext cx="304792" cy="109728"/>
          </a:xfrm>
          <a:prstGeom prst="rect">
            <a:avLst/>
          </a:prstGeom>
          <a:solidFill>
            <a:srgbClr val="0E5E6F"/>
          </a:solidFill>
          <a:ln/>
        </p:spPr>
      </p:sp>
      <p:sp>
        <p:nvSpPr>
          <p:cNvPr id="37" name="Shape 34"/>
          <p:cNvSpPr/>
          <p:nvPr/>
        </p:nvSpPr>
        <p:spPr>
          <a:xfrm>
            <a:off x="8534187" y="6748272"/>
            <a:ext cx="304792" cy="109728"/>
          </a:xfrm>
          <a:prstGeom prst="rect">
            <a:avLst/>
          </a:prstGeom>
          <a:solidFill>
            <a:srgbClr val="8B1E3F"/>
          </a:solidFill>
          <a:ln/>
        </p:spPr>
      </p:sp>
      <p:sp>
        <p:nvSpPr>
          <p:cNvPr id="38" name="Shape 35"/>
          <p:cNvSpPr/>
          <p:nvPr/>
        </p:nvSpPr>
        <p:spPr>
          <a:xfrm>
            <a:off x="8838979" y="6748272"/>
            <a:ext cx="304792" cy="109728"/>
          </a:xfrm>
          <a:prstGeom prst="rect">
            <a:avLst/>
          </a:prstGeom>
          <a:solidFill>
            <a:srgbClr val="0E5E6F"/>
          </a:solidFill>
          <a:ln/>
        </p:spPr>
      </p:sp>
      <p:sp>
        <p:nvSpPr>
          <p:cNvPr id="39" name="Shape 36"/>
          <p:cNvSpPr/>
          <p:nvPr/>
        </p:nvSpPr>
        <p:spPr>
          <a:xfrm>
            <a:off x="9143771" y="6748272"/>
            <a:ext cx="304792" cy="109728"/>
          </a:xfrm>
          <a:prstGeom prst="rect">
            <a:avLst/>
          </a:prstGeom>
          <a:solidFill>
            <a:srgbClr val="E0A526"/>
          </a:solidFill>
          <a:ln/>
        </p:spPr>
      </p:sp>
      <p:sp>
        <p:nvSpPr>
          <p:cNvPr id="40" name="Shape 37"/>
          <p:cNvSpPr/>
          <p:nvPr/>
        </p:nvSpPr>
        <p:spPr>
          <a:xfrm>
            <a:off x="9448564" y="6748272"/>
            <a:ext cx="304792" cy="109728"/>
          </a:xfrm>
          <a:prstGeom prst="rect">
            <a:avLst/>
          </a:prstGeom>
          <a:solidFill>
            <a:srgbClr val="0E5E6F"/>
          </a:solidFill>
          <a:ln/>
        </p:spPr>
      </p:sp>
      <p:sp>
        <p:nvSpPr>
          <p:cNvPr id="41" name="Shape 38"/>
          <p:cNvSpPr/>
          <p:nvPr/>
        </p:nvSpPr>
        <p:spPr>
          <a:xfrm>
            <a:off x="9753356" y="6748272"/>
            <a:ext cx="304792" cy="109728"/>
          </a:xfrm>
          <a:prstGeom prst="rect">
            <a:avLst/>
          </a:prstGeom>
          <a:solidFill>
            <a:srgbClr val="8B1E3F"/>
          </a:solidFill>
          <a:ln/>
        </p:spPr>
      </p:sp>
      <p:sp>
        <p:nvSpPr>
          <p:cNvPr id="42" name="Shape 39"/>
          <p:cNvSpPr/>
          <p:nvPr/>
        </p:nvSpPr>
        <p:spPr>
          <a:xfrm>
            <a:off x="10058149" y="6748272"/>
            <a:ext cx="304792" cy="109728"/>
          </a:xfrm>
          <a:prstGeom prst="rect">
            <a:avLst/>
          </a:prstGeom>
          <a:solidFill>
            <a:srgbClr val="0E5E6F"/>
          </a:solidFill>
          <a:ln/>
        </p:spPr>
      </p:sp>
      <p:sp>
        <p:nvSpPr>
          <p:cNvPr id="43" name="Shape 40"/>
          <p:cNvSpPr/>
          <p:nvPr/>
        </p:nvSpPr>
        <p:spPr>
          <a:xfrm>
            <a:off x="10362941" y="6748272"/>
            <a:ext cx="304792" cy="109728"/>
          </a:xfrm>
          <a:prstGeom prst="rect">
            <a:avLst/>
          </a:prstGeom>
          <a:solidFill>
            <a:srgbClr val="E0A526"/>
          </a:solidFill>
          <a:ln/>
        </p:spPr>
      </p:sp>
      <p:sp>
        <p:nvSpPr>
          <p:cNvPr id="44" name="Shape 41"/>
          <p:cNvSpPr/>
          <p:nvPr/>
        </p:nvSpPr>
        <p:spPr>
          <a:xfrm>
            <a:off x="10667733" y="6748272"/>
            <a:ext cx="304792" cy="109728"/>
          </a:xfrm>
          <a:prstGeom prst="rect">
            <a:avLst/>
          </a:prstGeom>
          <a:solidFill>
            <a:srgbClr val="0E5E6F"/>
          </a:solidFill>
          <a:ln/>
        </p:spPr>
      </p:sp>
      <p:sp>
        <p:nvSpPr>
          <p:cNvPr id="45" name="Shape 42"/>
          <p:cNvSpPr/>
          <p:nvPr/>
        </p:nvSpPr>
        <p:spPr>
          <a:xfrm>
            <a:off x="10972526" y="6748272"/>
            <a:ext cx="304792" cy="109728"/>
          </a:xfrm>
          <a:prstGeom prst="rect">
            <a:avLst/>
          </a:prstGeom>
          <a:solidFill>
            <a:srgbClr val="8B1E3F"/>
          </a:solidFill>
          <a:ln/>
        </p:spPr>
      </p:sp>
      <p:sp>
        <p:nvSpPr>
          <p:cNvPr id="46" name="Shape 43"/>
          <p:cNvSpPr/>
          <p:nvPr/>
        </p:nvSpPr>
        <p:spPr>
          <a:xfrm>
            <a:off x="11277318" y="6748272"/>
            <a:ext cx="304792" cy="109728"/>
          </a:xfrm>
          <a:prstGeom prst="rect">
            <a:avLst/>
          </a:prstGeom>
          <a:solidFill>
            <a:srgbClr val="0E5E6F"/>
          </a:solidFill>
          <a:ln/>
        </p:spPr>
      </p:sp>
      <p:sp>
        <p:nvSpPr>
          <p:cNvPr id="47" name="Shape 44"/>
          <p:cNvSpPr/>
          <p:nvPr/>
        </p:nvSpPr>
        <p:spPr>
          <a:xfrm>
            <a:off x="11582110" y="6748272"/>
            <a:ext cx="304792" cy="109728"/>
          </a:xfrm>
          <a:prstGeom prst="rect">
            <a:avLst/>
          </a:prstGeom>
          <a:solidFill>
            <a:srgbClr val="E0A526"/>
          </a:solidFill>
          <a:ln/>
        </p:spPr>
      </p:sp>
      <p:sp>
        <p:nvSpPr>
          <p:cNvPr id="48" name="Shape 45"/>
          <p:cNvSpPr/>
          <p:nvPr/>
        </p:nvSpPr>
        <p:spPr>
          <a:xfrm>
            <a:off x="11886903" y="6748272"/>
            <a:ext cx="304792" cy="109728"/>
          </a:xfrm>
          <a:prstGeom prst="rect">
            <a:avLst/>
          </a:prstGeom>
          <a:solidFill>
            <a:srgbClr val="0E5E6F"/>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oldest were struck off most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74.0% of electors aged 80 and over were struck off, against 20.9% of those aged 18 to 24.</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57,526 were entered as dead, which explains part of the rise at the top.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rate roughly doubles between 18 to 24 and 30 to 39, ages at which almost nobody dies. Death is not the whole of it.</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No link to 2002 doubled the risk</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struck off, by link to the 2002 intensive revision roll</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Linked electors: 25.3% struck off. No link: 51.6%.</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polling part the gap is 21 to 28 points, in 1,024 of 1,098 parts.</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Anyone who moved to the city after 2002, or whose family name is spelt differently on the old roll, starts at a disadvantage.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Malakpet's list carries no linkage.</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The reasons officers entered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Share of names struck off, by the reason recorded against each</a:t>
            </a:r>
            <a:endParaRPr lang="en-US" sz="1500" dirty="0"/>
          </a:p>
        </p:txBody>
      </p:sp>
      <p:graphicFrame>
        <p:nvGraphicFramePr>
          <p:cNvPr id="4" name="Chart 0" descr=""/>
          <p:cNvGraphicFramePr/>
          <p:nvPr/>
        </p:nvGraphicFramePr>
        <p:xfrm>
          <a:off x="548640" y="155448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320040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64.2% "permanently shifted", 20.8% "untraceable or absent", 8.7% dead, 6.0% enrolled elsewhere.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untraceable share runs from 6.5% to 38.3%.</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Each is an officer's entry, not a finding. The untraceable entries are where verification should begin.</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Hearings: 459 cases in one slot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Electors kept on the draft roll but summoned to prove eligibility</a:t>
            </a:r>
            <a:endParaRPr lang="en-US" sz="1500" dirty="0"/>
          </a:p>
        </p:txBody>
      </p:sp>
      <p:sp>
        <p:nvSpPr>
          <p:cNvPr id="4" name="Shape 2"/>
          <p:cNvSpPr/>
          <p:nvPr/>
        </p:nvSpPr>
        <p:spPr>
          <a:xfrm>
            <a:off x="548640" y="1691640"/>
            <a:ext cx="3566160" cy="1463040"/>
          </a:xfrm>
          <a:prstGeom prst="roundRect">
            <a:avLst>
              <a:gd name="adj" fmla="val 5000"/>
            </a:avLst>
          </a:prstGeom>
          <a:solidFill>
            <a:srgbClr val="F4F6F7"/>
          </a:solidFill>
          <a:ln/>
        </p:spPr>
      </p:sp>
      <p:sp>
        <p:nvSpPr>
          <p:cNvPr id="5" name="Text 3"/>
          <p:cNvSpPr txBox="1"/>
          <p:nvPr/>
        </p:nvSpPr>
        <p:spPr>
          <a:xfrm>
            <a:off x="731520" y="182880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3,69,972</a:t>
            </a:r>
            <a:endParaRPr lang="en-US" sz="3000" dirty="0"/>
          </a:p>
        </p:txBody>
      </p:sp>
      <p:sp>
        <p:nvSpPr>
          <p:cNvPr id="6" name="Text 4"/>
          <p:cNvSpPr txBox="1"/>
          <p:nvPr/>
        </p:nvSpPr>
        <p:spPr>
          <a:xfrm>
            <a:off x="731520" y="256032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electors summoned, 22.3% of the rolls</a:t>
            </a:r>
            <a:endParaRPr lang="en-US" sz="1250" dirty="0"/>
          </a:p>
        </p:txBody>
      </p:sp>
      <p:sp>
        <p:nvSpPr>
          <p:cNvPr id="7" name="Shape 5"/>
          <p:cNvSpPr/>
          <p:nvPr/>
        </p:nvSpPr>
        <p:spPr>
          <a:xfrm>
            <a:off x="548640" y="3337560"/>
            <a:ext cx="3566160" cy="1463040"/>
          </a:xfrm>
          <a:prstGeom prst="roundRect">
            <a:avLst>
              <a:gd name="adj" fmla="val 5000"/>
            </a:avLst>
          </a:prstGeom>
          <a:solidFill>
            <a:srgbClr val="F4F6F7"/>
          </a:solidFill>
          <a:ln/>
        </p:spPr>
      </p:sp>
      <p:sp>
        <p:nvSpPr>
          <p:cNvPr id="8" name="Text 6"/>
          <p:cNvSpPr txBox="1"/>
          <p:nvPr/>
        </p:nvSpPr>
        <p:spPr>
          <a:xfrm>
            <a:off x="731520" y="3474720"/>
            <a:ext cx="3200400" cy="731520"/>
          </a:xfrm>
          <a:prstGeom prst="rect">
            <a:avLst/>
          </a:prstGeom>
          <a:noFill/>
          <a:ln/>
        </p:spPr>
        <p:txBody>
          <a:bodyPr wrap="square" lIns="0" tIns="0" rIns="0" bIns="0" rtlCol="0" anchor="b">
            <a:normAutofit/>
          </a:bodyPr>
          <a:lstStyle/>
          <a:p>
            <a:pPr indent="0" marL="0">
              <a:buNone/>
            </a:pPr>
            <a:r>
              <a:rPr lang="en-US" sz="3000" b="1" dirty="0">
                <a:solidFill>
                  <a:srgbClr val="8B1E3F"/>
                </a:solidFill>
                <a:latin typeface="Cambria" pitchFamily="34" charset="0"/>
                <a:ea typeface="Cambria" pitchFamily="34" charset="-122"/>
                <a:cs typeface="Cambria" pitchFamily="34" charset="-120"/>
              </a:rPr>
              <a:t>7,164</a:t>
            </a:r>
            <a:endParaRPr lang="en-US" sz="3000" dirty="0"/>
          </a:p>
        </p:txBody>
      </p:sp>
      <p:sp>
        <p:nvSpPr>
          <p:cNvPr id="9" name="Text 7"/>
          <p:cNvSpPr txBox="1"/>
          <p:nvPr/>
        </p:nvSpPr>
        <p:spPr>
          <a:xfrm>
            <a:off x="731520" y="420624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hearing slots, 28 August to 12 October</a:t>
            </a:r>
            <a:endParaRPr lang="en-US" sz="1250" dirty="0"/>
          </a:p>
        </p:txBody>
      </p:sp>
      <p:sp>
        <p:nvSpPr>
          <p:cNvPr id="10" name="Shape 8"/>
          <p:cNvSpPr/>
          <p:nvPr/>
        </p:nvSpPr>
        <p:spPr>
          <a:xfrm>
            <a:off x="548640" y="4983480"/>
            <a:ext cx="3566160" cy="1371600"/>
          </a:xfrm>
          <a:prstGeom prst="roundRect">
            <a:avLst>
              <a:gd name="adj" fmla="val 5333"/>
            </a:avLst>
          </a:prstGeom>
          <a:solidFill>
            <a:srgbClr val="F4F6F7"/>
          </a:solidFill>
          <a:ln/>
        </p:spPr>
      </p:sp>
      <p:sp>
        <p:nvSpPr>
          <p:cNvPr id="11" name="Text 9"/>
          <p:cNvSpPr txBox="1"/>
          <p:nvPr/>
        </p:nvSpPr>
        <p:spPr>
          <a:xfrm>
            <a:off x="731520" y="5120640"/>
            <a:ext cx="3200400" cy="685800"/>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459</a:t>
            </a:r>
            <a:endParaRPr lang="en-US" sz="2800" dirty="0"/>
          </a:p>
        </p:txBody>
      </p:sp>
      <p:sp>
        <p:nvSpPr>
          <p:cNvPr id="12" name="Text 10"/>
          <p:cNvSpPr txBox="1"/>
          <p:nvPr/>
        </p:nvSpPr>
        <p:spPr>
          <a:xfrm>
            <a:off x="731520" y="5806440"/>
            <a:ext cx="320040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cases in the heaviest single slot, in Charminar (median 38)</a:t>
            </a:r>
            <a:endParaRPr lang="en-US" sz="1250" dirty="0"/>
          </a:p>
        </p:txBody>
      </p:sp>
      <p:graphicFrame>
        <p:nvGraphicFramePr>
          <p:cNvPr id="13" name="Chart 0" descr=""/>
          <p:cNvGraphicFramePr/>
          <p:nvPr/>
        </p:nvGraphicFramePr>
        <p:xfrm>
          <a:off x="4480560" y="1600200"/>
          <a:ext cx="7132320" cy="47091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16" name="Shape 13"/>
          <p:cNvSpPr/>
          <p:nvPr/>
        </p:nvSpPr>
        <p:spPr>
          <a:xfrm>
            <a:off x="0" y="6748272"/>
            <a:ext cx="304792" cy="109728"/>
          </a:xfrm>
          <a:prstGeom prst="rect">
            <a:avLst/>
          </a:prstGeom>
          <a:solidFill>
            <a:srgbClr val="8B1E3F"/>
          </a:solidFill>
          <a:ln/>
        </p:spPr>
      </p:sp>
      <p:sp>
        <p:nvSpPr>
          <p:cNvPr id="17" name="Shape 14"/>
          <p:cNvSpPr/>
          <p:nvPr/>
        </p:nvSpPr>
        <p:spPr>
          <a:xfrm>
            <a:off x="304792" y="6748272"/>
            <a:ext cx="304792" cy="109728"/>
          </a:xfrm>
          <a:prstGeom prst="rect">
            <a:avLst/>
          </a:prstGeom>
          <a:solidFill>
            <a:srgbClr val="0E5E6F"/>
          </a:solidFill>
          <a:ln/>
        </p:spPr>
      </p:sp>
      <p:sp>
        <p:nvSpPr>
          <p:cNvPr id="18" name="Shape 15"/>
          <p:cNvSpPr/>
          <p:nvPr/>
        </p:nvSpPr>
        <p:spPr>
          <a:xfrm>
            <a:off x="609585" y="6748272"/>
            <a:ext cx="304792" cy="109728"/>
          </a:xfrm>
          <a:prstGeom prst="rect">
            <a:avLst/>
          </a:prstGeom>
          <a:solidFill>
            <a:srgbClr val="E0A526"/>
          </a:solidFill>
          <a:ln/>
        </p:spPr>
      </p:sp>
      <p:sp>
        <p:nvSpPr>
          <p:cNvPr id="19" name="Shape 16"/>
          <p:cNvSpPr/>
          <p:nvPr/>
        </p:nvSpPr>
        <p:spPr>
          <a:xfrm>
            <a:off x="914377" y="6748272"/>
            <a:ext cx="304792" cy="109728"/>
          </a:xfrm>
          <a:prstGeom prst="rect">
            <a:avLst/>
          </a:prstGeom>
          <a:solidFill>
            <a:srgbClr val="0E5E6F"/>
          </a:solidFill>
          <a:ln/>
        </p:spPr>
      </p:sp>
      <p:sp>
        <p:nvSpPr>
          <p:cNvPr id="20" name="Shape 17"/>
          <p:cNvSpPr/>
          <p:nvPr/>
        </p:nvSpPr>
        <p:spPr>
          <a:xfrm>
            <a:off x="1219170" y="6748272"/>
            <a:ext cx="304792" cy="109728"/>
          </a:xfrm>
          <a:prstGeom prst="rect">
            <a:avLst/>
          </a:prstGeom>
          <a:solidFill>
            <a:srgbClr val="8B1E3F"/>
          </a:solidFill>
          <a:ln/>
        </p:spPr>
      </p:sp>
      <p:sp>
        <p:nvSpPr>
          <p:cNvPr id="21" name="Shape 18"/>
          <p:cNvSpPr/>
          <p:nvPr/>
        </p:nvSpPr>
        <p:spPr>
          <a:xfrm>
            <a:off x="1523962" y="6748272"/>
            <a:ext cx="304792" cy="109728"/>
          </a:xfrm>
          <a:prstGeom prst="rect">
            <a:avLst/>
          </a:prstGeom>
          <a:solidFill>
            <a:srgbClr val="0E5E6F"/>
          </a:solidFill>
          <a:ln/>
        </p:spPr>
      </p:sp>
      <p:sp>
        <p:nvSpPr>
          <p:cNvPr id="22" name="Shape 19"/>
          <p:cNvSpPr/>
          <p:nvPr/>
        </p:nvSpPr>
        <p:spPr>
          <a:xfrm>
            <a:off x="1828754" y="6748272"/>
            <a:ext cx="304792" cy="109728"/>
          </a:xfrm>
          <a:prstGeom prst="rect">
            <a:avLst/>
          </a:prstGeom>
          <a:solidFill>
            <a:srgbClr val="E0A526"/>
          </a:solidFill>
          <a:ln/>
        </p:spPr>
      </p:sp>
      <p:sp>
        <p:nvSpPr>
          <p:cNvPr id="23" name="Shape 20"/>
          <p:cNvSpPr/>
          <p:nvPr/>
        </p:nvSpPr>
        <p:spPr>
          <a:xfrm>
            <a:off x="2133547" y="6748272"/>
            <a:ext cx="304792" cy="109728"/>
          </a:xfrm>
          <a:prstGeom prst="rect">
            <a:avLst/>
          </a:prstGeom>
          <a:solidFill>
            <a:srgbClr val="0E5E6F"/>
          </a:solidFill>
          <a:ln/>
        </p:spPr>
      </p:sp>
      <p:sp>
        <p:nvSpPr>
          <p:cNvPr id="24" name="Shape 21"/>
          <p:cNvSpPr/>
          <p:nvPr/>
        </p:nvSpPr>
        <p:spPr>
          <a:xfrm>
            <a:off x="2438339" y="6748272"/>
            <a:ext cx="304792" cy="109728"/>
          </a:xfrm>
          <a:prstGeom prst="rect">
            <a:avLst/>
          </a:prstGeom>
          <a:solidFill>
            <a:srgbClr val="8B1E3F"/>
          </a:solidFill>
          <a:ln/>
        </p:spPr>
      </p:sp>
      <p:sp>
        <p:nvSpPr>
          <p:cNvPr id="25" name="Shape 22"/>
          <p:cNvSpPr/>
          <p:nvPr/>
        </p:nvSpPr>
        <p:spPr>
          <a:xfrm>
            <a:off x="2743131" y="6748272"/>
            <a:ext cx="304792" cy="109728"/>
          </a:xfrm>
          <a:prstGeom prst="rect">
            <a:avLst/>
          </a:prstGeom>
          <a:solidFill>
            <a:srgbClr val="0E5E6F"/>
          </a:solidFill>
          <a:ln/>
        </p:spPr>
      </p:sp>
      <p:sp>
        <p:nvSpPr>
          <p:cNvPr id="26" name="Shape 23"/>
          <p:cNvSpPr/>
          <p:nvPr/>
        </p:nvSpPr>
        <p:spPr>
          <a:xfrm>
            <a:off x="3047924" y="6748272"/>
            <a:ext cx="304792" cy="109728"/>
          </a:xfrm>
          <a:prstGeom prst="rect">
            <a:avLst/>
          </a:prstGeom>
          <a:solidFill>
            <a:srgbClr val="E0A526"/>
          </a:solidFill>
          <a:ln/>
        </p:spPr>
      </p:sp>
      <p:sp>
        <p:nvSpPr>
          <p:cNvPr id="27" name="Shape 24"/>
          <p:cNvSpPr/>
          <p:nvPr/>
        </p:nvSpPr>
        <p:spPr>
          <a:xfrm>
            <a:off x="3352716" y="6748272"/>
            <a:ext cx="304792" cy="109728"/>
          </a:xfrm>
          <a:prstGeom prst="rect">
            <a:avLst/>
          </a:prstGeom>
          <a:solidFill>
            <a:srgbClr val="0E5E6F"/>
          </a:solidFill>
          <a:ln/>
        </p:spPr>
      </p:sp>
      <p:sp>
        <p:nvSpPr>
          <p:cNvPr id="28" name="Shape 25"/>
          <p:cNvSpPr/>
          <p:nvPr/>
        </p:nvSpPr>
        <p:spPr>
          <a:xfrm>
            <a:off x="3657509" y="6748272"/>
            <a:ext cx="304792" cy="109728"/>
          </a:xfrm>
          <a:prstGeom prst="rect">
            <a:avLst/>
          </a:prstGeom>
          <a:solidFill>
            <a:srgbClr val="8B1E3F"/>
          </a:solidFill>
          <a:ln/>
        </p:spPr>
      </p:sp>
      <p:sp>
        <p:nvSpPr>
          <p:cNvPr id="29" name="Shape 26"/>
          <p:cNvSpPr/>
          <p:nvPr/>
        </p:nvSpPr>
        <p:spPr>
          <a:xfrm>
            <a:off x="3962301" y="6748272"/>
            <a:ext cx="304792" cy="109728"/>
          </a:xfrm>
          <a:prstGeom prst="rect">
            <a:avLst/>
          </a:prstGeom>
          <a:solidFill>
            <a:srgbClr val="0E5E6F"/>
          </a:solidFill>
          <a:ln/>
        </p:spPr>
      </p:sp>
      <p:sp>
        <p:nvSpPr>
          <p:cNvPr id="30" name="Shape 27"/>
          <p:cNvSpPr/>
          <p:nvPr/>
        </p:nvSpPr>
        <p:spPr>
          <a:xfrm>
            <a:off x="4267093" y="6748272"/>
            <a:ext cx="304792" cy="109728"/>
          </a:xfrm>
          <a:prstGeom prst="rect">
            <a:avLst/>
          </a:prstGeom>
          <a:solidFill>
            <a:srgbClr val="E0A526"/>
          </a:solidFill>
          <a:ln/>
        </p:spPr>
      </p:sp>
      <p:sp>
        <p:nvSpPr>
          <p:cNvPr id="31" name="Shape 28"/>
          <p:cNvSpPr/>
          <p:nvPr/>
        </p:nvSpPr>
        <p:spPr>
          <a:xfrm>
            <a:off x="4571886" y="6748272"/>
            <a:ext cx="304792" cy="109728"/>
          </a:xfrm>
          <a:prstGeom prst="rect">
            <a:avLst/>
          </a:prstGeom>
          <a:solidFill>
            <a:srgbClr val="0E5E6F"/>
          </a:solidFill>
          <a:ln/>
        </p:spPr>
      </p:sp>
      <p:sp>
        <p:nvSpPr>
          <p:cNvPr id="32" name="Shape 29"/>
          <p:cNvSpPr/>
          <p:nvPr/>
        </p:nvSpPr>
        <p:spPr>
          <a:xfrm>
            <a:off x="4876678" y="6748272"/>
            <a:ext cx="304792" cy="109728"/>
          </a:xfrm>
          <a:prstGeom prst="rect">
            <a:avLst/>
          </a:prstGeom>
          <a:solidFill>
            <a:srgbClr val="8B1E3F"/>
          </a:solidFill>
          <a:ln/>
        </p:spPr>
      </p:sp>
      <p:sp>
        <p:nvSpPr>
          <p:cNvPr id="33" name="Shape 30"/>
          <p:cNvSpPr/>
          <p:nvPr/>
        </p:nvSpPr>
        <p:spPr>
          <a:xfrm>
            <a:off x="5181470" y="6748272"/>
            <a:ext cx="304792" cy="109728"/>
          </a:xfrm>
          <a:prstGeom prst="rect">
            <a:avLst/>
          </a:prstGeom>
          <a:solidFill>
            <a:srgbClr val="0E5E6F"/>
          </a:solidFill>
          <a:ln/>
        </p:spPr>
      </p:sp>
      <p:sp>
        <p:nvSpPr>
          <p:cNvPr id="34" name="Shape 31"/>
          <p:cNvSpPr/>
          <p:nvPr/>
        </p:nvSpPr>
        <p:spPr>
          <a:xfrm>
            <a:off x="5486263" y="6748272"/>
            <a:ext cx="304792" cy="109728"/>
          </a:xfrm>
          <a:prstGeom prst="rect">
            <a:avLst/>
          </a:prstGeom>
          <a:solidFill>
            <a:srgbClr val="E0A526"/>
          </a:solidFill>
          <a:ln/>
        </p:spPr>
      </p:sp>
      <p:sp>
        <p:nvSpPr>
          <p:cNvPr id="35" name="Shape 32"/>
          <p:cNvSpPr/>
          <p:nvPr/>
        </p:nvSpPr>
        <p:spPr>
          <a:xfrm>
            <a:off x="5791055" y="6748272"/>
            <a:ext cx="304792" cy="109728"/>
          </a:xfrm>
          <a:prstGeom prst="rect">
            <a:avLst/>
          </a:prstGeom>
          <a:solidFill>
            <a:srgbClr val="0E5E6F"/>
          </a:solidFill>
          <a:ln/>
        </p:spPr>
      </p:sp>
      <p:sp>
        <p:nvSpPr>
          <p:cNvPr id="36" name="Shape 33"/>
          <p:cNvSpPr/>
          <p:nvPr/>
        </p:nvSpPr>
        <p:spPr>
          <a:xfrm>
            <a:off x="6095848" y="6748272"/>
            <a:ext cx="304792" cy="109728"/>
          </a:xfrm>
          <a:prstGeom prst="rect">
            <a:avLst/>
          </a:prstGeom>
          <a:solidFill>
            <a:srgbClr val="8B1E3F"/>
          </a:solidFill>
          <a:ln/>
        </p:spPr>
      </p:sp>
      <p:sp>
        <p:nvSpPr>
          <p:cNvPr id="37" name="Shape 34"/>
          <p:cNvSpPr/>
          <p:nvPr/>
        </p:nvSpPr>
        <p:spPr>
          <a:xfrm>
            <a:off x="6400640" y="6748272"/>
            <a:ext cx="304792" cy="109728"/>
          </a:xfrm>
          <a:prstGeom prst="rect">
            <a:avLst/>
          </a:prstGeom>
          <a:solidFill>
            <a:srgbClr val="0E5E6F"/>
          </a:solidFill>
          <a:ln/>
        </p:spPr>
      </p:sp>
      <p:sp>
        <p:nvSpPr>
          <p:cNvPr id="38" name="Shape 35"/>
          <p:cNvSpPr/>
          <p:nvPr/>
        </p:nvSpPr>
        <p:spPr>
          <a:xfrm>
            <a:off x="6705432" y="6748272"/>
            <a:ext cx="304792" cy="109728"/>
          </a:xfrm>
          <a:prstGeom prst="rect">
            <a:avLst/>
          </a:prstGeom>
          <a:solidFill>
            <a:srgbClr val="E0A526"/>
          </a:solidFill>
          <a:ln/>
        </p:spPr>
      </p:sp>
      <p:sp>
        <p:nvSpPr>
          <p:cNvPr id="39" name="Shape 36"/>
          <p:cNvSpPr/>
          <p:nvPr/>
        </p:nvSpPr>
        <p:spPr>
          <a:xfrm>
            <a:off x="7010225" y="6748272"/>
            <a:ext cx="304792" cy="109728"/>
          </a:xfrm>
          <a:prstGeom prst="rect">
            <a:avLst/>
          </a:prstGeom>
          <a:solidFill>
            <a:srgbClr val="0E5E6F"/>
          </a:solidFill>
          <a:ln/>
        </p:spPr>
      </p:sp>
      <p:sp>
        <p:nvSpPr>
          <p:cNvPr id="40" name="Shape 37"/>
          <p:cNvSpPr/>
          <p:nvPr/>
        </p:nvSpPr>
        <p:spPr>
          <a:xfrm>
            <a:off x="7315017" y="6748272"/>
            <a:ext cx="304792" cy="109728"/>
          </a:xfrm>
          <a:prstGeom prst="rect">
            <a:avLst/>
          </a:prstGeom>
          <a:solidFill>
            <a:srgbClr val="8B1E3F"/>
          </a:solidFill>
          <a:ln/>
        </p:spPr>
      </p:sp>
      <p:sp>
        <p:nvSpPr>
          <p:cNvPr id="41" name="Shape 38"/>
          <p:cNvSpPr/>
          <p:nvPr/>
        </p:nvSpPr>
        <p:spPr>
          <a:xfrm>
            <a:off x="7619809" y="6748272"/>
            <a:ext cx="304792" cy="109728"/>
          </a:xfrm>
          <a:prstGeom prst="rect">
            <a:avLst/>
          </a:prstGeom>
          <a:solidFill>
            <a:srgbClr val="0E5E6F"/>
          </a:solidFill>
          <a:ln/>
        </p:spPr>
      </p:sp>
      <p:sp>
        <p:nvSpPr>
          <p:cNvPr id="42" name="Shape 39"/>
          <p:cNvSpPr/>
          <p:nvPr/>
        </p:nvSpPr>
        <p:spPr>
          <a:xfrm>
            <a:off x="7924602" y="6748272"/>
            <a:ext cx="304792" cy="109728"/>
          </a:xfrm>
          <a:prstGeom prst="rect">
            <a:avLst/>
          </a:prstGeom>
          <a:solidFill>
            <a:srgbClr val="E0A526"/>
          </a:solidFill>
          <a:ln/>
        </p:spPr>
      </p:sp>
      <p:sp>
        <p:nvSpPr>
          <p:cNvPr id="43" name="Shape 40"/>
          <p:cNvSpPr/>
          <p:nvPr/>
        </p:nvSpPr>
        <p:spPr>
          <a:xfrm>
            <a:off x="8229394" y="6748272"/>
            <a:ext cx="304792" cy="109728"/>
          </a:xfrm>
          <a:prstGeom prst="rect">
            <a:avLst/>
          </a:prstGeom>
          <a:solidFill>
            <a:srgbClr val="0E5E6F"/>
          </a:solidFill>
          <a:ln/>
        </p:spPr>
      </p:sp>
      <p:sp>
        <p:nvSpPr>
          <p:cNvPr id="44" name="Shape 41"/>
          <p:cNvSpPr/>
          <p:nvPr/>
        </p:nvSpPr>
        <p:spPr>
          <a:xfrm>
            <a:off x="8534187" y="6748272"/>
            <a:ext cx="304792" cy="109728"/>
          </a:xfrm>
          <a:prstGeom prst="rect">
            <a:avLst/>
          </a:prstGeom>
          <a:solidFill>
            <a:srgbClr val="8B1E3F"/>
          </a:solidFill>
          <a:ln/>
        </p:spPr>
      </p:sp>
      <p:sp>
        <p:nvSpPr>
          <p:cNvPr id="45" name="Shape 42"/>
          <p:cNvSpPr/>
          <p:nvPr/>
        </p:nvSpPr>
        <p:spPr>
          <a:xfrm>
            <a:off x="8838979" y="6748272"/>
            <a:ext cx="304792" cy="109728"/>
          </a:xfrm>
          <a:prstGeom prst="rect">
            <a:avLst/>
          </a:prstGeom>
          <a:solidFill>
            <a:srgbClr val="0E5E6F"/>
          </a:solidFill>
          <a:ln/>
        </p:spPr>
      </p:sp>
      <p:sp>
        <p:nvSpPr>
          <p:cNvPr id="46" name="Shape 43"/>
          <p:cNvSpPr/>
          <p:nvPr/>
        </p:nvSpPr>
        <p:spPr>
          <a:xfrm>
            <a:off x="9143771" y="6748272"/>
            <a:ext cx="304792" cy="109728"/>
          </a:xfrm>
          <a:prstGeom prst="rect">
            <a:avLst/>
          </a:prstGeom>
          <a:solidFill>
            <a:srgbClr val="E0A526"/>
          </a:solidFill>
          <a:ln/>
        </p:spPr>
      </p:sp>
      <p:sp>
        <p:nvSpPr>
          <p:cNvPr id="47" name="Shape 44"/>
          <p:cNvSpPr/>
          <p:nvPr/>
        </p:nvSpPr>
        <p:spPr>
          <a:xfrm>
            <a:off x="9448564" y="6748272"/>
            <a:ext cx="304792" cy="109728"/>
          </a:xfrm>
          <a:prstGeom prst="rect">
            <a:avLst/>
          </a:prstGeom>
          <a:solidFill>
            <a:srgbClr val="0E5E6F"/>
          </a:solidFill>
          <a:ln/>
        </p:spPr>
      </p:sp>
      <p:sp>
        <p:nvSpPr>
          <p:cNvPr id="48" name="Shape 45"/>
          <p:cNvSpPr/>
          <p:nvPr/>
        </p:nvSpPr>
        <p:spPr>
          <a:xfrm>
            <a:off x="9753356" y="6748272"/>
            <a:ext cx="304792" cy="109728"/>
          </a:xfrm>
          <a:prstGeom prst="rect">
            <a:avLst/>
          </a:prstGeom>
          <a:solidFill>
            <a:srgbClr val="8B1E3F"/>
          </a:solidFill>
          <a:ln/>
        </p:spPr>
      </p:sp>
      <p:sp>
        <p:nvSpPr>
          <p:cNvPr id="49" name="Shape 46"/>
          <p:cNvSpPr/>
          <p:nvPr/>
        </p:nvSpPr>
        <p:spPr>
          <a:xfrm>
            <a:off x="10058149" y="6748272"/>
            <a:ext cx="304792" cy="109728"/>
          </a:xfrm>
          <a:prstGeom prst="rect">
            <a:avLst/>
          </a:prstGeom>
          <a:solidFill>
            <a:srgbClr val="0E5E6F"/>
          </a:solidFill>
          <a:ln/>
        </p:spPr>
      </p:sp>
      <p:sp>
        <p:nvSpPr>
          <p:cNvPr id="50" name="Shape 47"/>
          <p:cNvSpPr/>
          <p:nvPr/>
        </p:nvSpPr>
        <p:spPr>
          <a:xfrm>
            <a:off x="10362941" y="6748272"/>
            <a:ext cx="304792" cy="109728"/>
          </a:xfrm>
          <a:prstGeom prst="rect">
            <a:avLst/>
          </a:prstGeom>
          <a:solidFill>
            <a:srgbClr val="E0A526"/>
          </a:solidFill>
          <a:ln/>
        </p:spPr>
      </p:sp>
      <p:sp>
        <p:nvSpPr>
          <p:cNvPr id="51" name="Shape 48"/>
          <p:cNvSpPr/>
          <p:nvPr/>
        </p:nvSpPr>
        <p:spPr>
          <a:xfrm>
            <a:off x="10667733" y="6748272"/>
            <a:ext cx="304792" cy="109728"/>
          </a:xfrm>
          <a:prstGeom prst="rect">
            <a:avLst/>
          </a:prstGeom>
          <a:solidFill>
            <a:srgbClr val="0E5E6F"/>
          </a:solidFill>
          <a:ln/>
        </p:spPr>
      </p:sp>
      <p:sp>
        <p:nvSpPr>
          <p:cNvPr id="52" name="Shape 49"/>
          <p:cNvSpPr/>
          <p:nvPr/>
        </p:nvSpPr>
        <p:spPr>
          <a:xfrm>
            <a:off x="10972526" y="6748272"/>
            <a:ext cx="304792" cy="109728"/>
          </a:xfrm>
          <a:prstGeom prst="rect">
            <a:avLst/>
          </a:prstGeom>
          <a:solidFill>
            <a:srgbClr val="8B1E3F"/>
          </a:solidFill>
          <a:ln/>
        </p:spPr>
      </p:sp>
      <p:sp>
        <p:nvSpPr>
          <p:cNvPr id="53" name="Shape 50"/>
          <p:cNvSpPr/>
          <p:nvPr/>
        </p:nvSpPr>
        <p:spPr>
          <a:xfrm>
            <a:off x="11277318" y="6748272"/>
            <a:ext cx="304792" cy="109728"/>
          </a:xfrm>
          <a:prstGeom prst="rect">
            <a:avLst/>
          </a:prstGeom>
          <a:solidFill>
            <a:srgbClr val="0E5E6F"/>
          </a:solidFill>
          <a:ln/>
        </p:spPr>
      </p:sp>
      <p:sp>
        <p:nvSpPr>
          <p:cNvPr id="54" name="Shape 51"/>
          <p:cNvSpPr/>
          <p:nvPr/>
        </p:nvSpPr>
        <p:spPr>
          <a:xfrm>
            <a:off x="11582110" y="6748272"/>
            <a:ext cx="304792" cy="109728"/>
          </a:xfrm>
          <a:prstGeom prst="rect">
            <a:avLst/>
          </a:prstGeom>
          <a:solidFill>
            <a:srgbClr val="E0A526"/>
          </a:solidFill>
          <a:ln/>
        </p:spPr>
      </p:sp>
      <p:sp>
        <p:nvSpPr>
          <p:cNvPr id="55" name="Shape 52"/>
          <p:cNvSpPr/>
          <p:nvPr/>
        </p:nvSpPr>
        <p:spPr>
          <a:xfrm>
            <a:off x="11886903" y="6748272"/>
            <a:ext cx="304792" cy="109728"/>
          </a:xfrm>
          <a:prstGeom prst="rect">
            <a:avLst/>
          </a:prstGeom>
          <a:solidFill>
            <a:srgbClr val="0E5E6F"/>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Religion and sex</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True rates: the lists hold every elector, not only the removed</a:t>
            </a:r>
            <a:endParaRPr lang="en-US" sz="1500" dirty="0"/>
          </a:p>
        </p:txBody>
      </p:sp>
      <p:graphicFrame>
        <p:nvGraphicFramePr>
          <p:cNvPr id="4" name="Chart 0" descr=""/>
          <p:cNvGraphicFramePr/>
          <p:nvPr/>
        </p:nvGraphicFramePr>
        <p:xfrm>
          <a:off x="548640" y="155448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83080"/>
            <a:ext cx="356616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52.0% of Hindu-name electors and 35.3% of Muslim-name electors were struck off.</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Inside the same part the gap holds in 728 of 823 parts. Religion and age are given separately, so part of it may be an age gap.</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Women 39.9%, men 40.5%: no gap by sex, unlike Bihar.</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0" y="6748272"/>
            <a:ext cx="304792" cy="109728"/>
          </a:xfrm>
          <a:prstGeom prst="rect">
            <a:avLst/>
          </a:prstGeom>
          <a:solidFill>
            <a:srgbClr val="8B1E3F"/>
          </a:solidFill>
          <a:ln/>
        </p:spPr>
      </p:sp>
      <p:sp>
        <p:nvSpPr>
          <p:cNvPr id="9" name="Shape 6"/>
          <p:cNvSpPr/>
          <p:nvPr/>
        </p:nvSpPr>
        <p:spPr>
          <a:xfrm>
            <a:off x="304792" y="6748272"/>
            <a:ext cx="304792" cy="109728"/>
          </a:xfrm>
          <a:prstGeom prst="rect">
            <a:avLst/>
          </a:prstGeom>
          <a:solidFill>
            <a:srgbClr val="0E5E6F"/>
          </a:solidFill>
          <a:ln/>
        </p:spPr>
      </p:sp>
      <p:sp>
        <p:nvSpPr>
          <p:cNvPr id="10" name="Shape 7"/>
          <p:cNvSpPr/>
          <p:nvPr/>
        </p:nvSpPr>
        <p:spPr>
          <a:xfrm>
            <a:off x="609585" y="6748272"/>
            <a:ext cx="304792" cy="109728"/>
          </a:xfrm>
          <a:prstGeom prst="rect">
            <a:avLst/>
          </a:prstGeom>
          <a:solidFill>
            <a:srgbClr val="E0A526"/>
          </a:solidFill>
          <a:ln/>
        </p:spPr>
      </p:sp>
      <p:sp>
        <p:nvSpPr>
          <p:cNvPr id="11" name="Shape 8"/>
          <p:cNvSpPr/>
          <p:nvPr/>
        </p:nvSpPr>
        <p:spPr>
          <a:xfrm>
            <a:off x="914377" y="6748272"/>
            <a:ext cx="304792" cy="109728"/>
          </a:xfrm>
          <a:prstGeom prst="rect">
            <a:avLst/>
          </a:prstGeom>
          <a:solidFill>
            <a:srgbClr val="0E5E6F"/>
          </a:solidFill>
          <a:ln/>
        </p:spPr>
      </p:sp>
      <p:sp>
        <p:nvSpPr>
          <p:cNvPr id="12" name="Shape 9"/>
          <p:cNvSpPr/>
          <p:nvPr/>
        </p:nvSpPr>
        <p:spPr>
          <a:xfrm>
            <a:off x="1219170" y="6748272"/>
            <a:ext cx="304792" cy="109728"/>
          </a:xfrm>
          <a:prstGeom prst="rect">
            <a:avLst/>
          </a:prstGeom>
          <a:solidFill>
            <a:srgbClr val="8B1E3F"/>
          </a:solidFill>
          <a:ln/>
        </p:spPr>
      </p:sp>
      <p:sp>
        <p:nvSpPr>
          <p:cNvPr id="13" name="Shape 10"/>
          <p:cNvSpPr/>
          <p:nvPr/>
        </p:nvSpPr>
        <p:spPr>
          <a:xfrm>
            <a:off x="1523962" y="6748272"/>
            <a:ext cx="304792" cy="109728"/>
          </a:xfrm>
          <a:prstGeom prst="rect">
            <a:avLst/>
          </a:prstGeom>
          <a:solidFill>
            <a:srgbClr val="0E5E6F"/>
          </a:solidFill>
          <a:ln/>
        </p:spPr>
      </p:sp>
      <p:sp>
        <p:nvSpPr>
          <p:cNvPr id="14" name="Shape 11"/>
          <p:cNvSpPr/>
          <p:nvPr/>
        </p:nvSpPr>
        <p:spPr>
          <a:xfrm>
            <a:off x="1828754" y="6748272"/>
            <a:ext cx="304792" cy="109728"/>
          </a:xfrm>
          <a:prstGeom prst="rect">
            <a:avLst/>
          </a:prstGeom>
          <a:solidFill>
            <a:srgbClr val="E0A526"/>
          </a:solidFill>
          <a:ln/>
        </p:spPr>
      </p:sp>
      <p:sp>
        <p:nvSpPr>
          <p:cNvPr id="15" name="Shape 12"/>
          <p:cNvSpPr/>
          <p:nvPr/>
        </p:nvSpPr>
        <p:spPr>
          <a:xfrm>
            <a:off x="2133547" y="6748272"/>
            <a:ext cx="304792" cy="109728"/>
          </a:xfrm>
          <a:prstGeom prst="rect">
            <a:avLst/>
          </a:prstGeom>
          <a:solidFill>
            <a:srgbClr val="0E5E6F"/>
          </a:solidFill>
          <a:ln/>
        </p:spPr>
      </p:sp>
      <p:sp>
        <p:nvSpPr>
          <p:cNvPr id="16" name="Shape 13"/>
          <p:cNvSpPr/>
          <p:nvPr/>
        </p:nvSpPr>
        <p:spPr>
          <a:xfrm>
            <a:off x="2438339" y="6748272"/>
            <a:ext cx="304792" cy="109728"/>
          </a:xfrm>
          <a:prstGeom prst="rect">
            <a:avLst/>
          </a:prstGeom>
          <a:solidFill>
            <a:srgbClr val="8B1E3F"/>
          </a:solidFill>
          <a:ln/>
        </p:spPr>
      </p:sp>
      <p:sp>
        <p:nvSpPr>
          <p:cNvPr id="17" name="Shape 14"/>
          <p:cNvSpPr/>
          <p:nvPr/>
        </p:nvSpPr>
        <p:spPr>
          <a:xfrm>
            <a:off x="2743131" y="6748272"/>
            <a:ext cx="304792" cy="109728"/>
          </a:xfrm>
          <a:prstGeom prst="rect">
            <a:avLst/>
          </a:prstGeom>
          <a:solidFill>
            <a:srgbClr val="0E5E6F"/>
          </a:solidFill>
          <a:ln/>
        </p:spPr>
      </p:sp>
      <p:sp>
        <p:nvSpPr>
          <p:cNvPr id="18" name="Shape 15"/>
          <p:cNvSpPr/>
          <p:nvPr/>
        </p:nvSpPr>
        <p:spPr>
          <a:xfrm>
            <a:off x="3047924" y="6748272"/>
            <a:ext cx="304792" cy="109728"/>
          </a:xfrm>
          <a:prstGeom prst="rect">
            <a:avLst/>
          </a:prstGeom>
          <a:solidFill>
            <a:srgbClr val="E0A526"/>
          </a:solidFill>
          <a:ln/>
        </p:spPr>
      </p:sp>
      <p:sp>
        <p:nvSpPr>
          <p:cNvPr id="19" name="Shape 16"/>
          <p:cNvSpPr/>
          <p:nvPr/>
        </p:nvSpPr>
        <p:spPr>
          <a:xfrm>
            <a:off x="3352716" y="6748272"/>
            <a:ext cx="304792" cy="109728"/>
          </a:xfrm>
          <a:prstGeom prst="rect">
            <a:avLst/>
          </a:prstGeom>
          <a:solidFill>
            <a:srgbClr val="0E5E6F"/>
          </a:solidFill>
          <a:ln/>
        </p:spPr>
      </p:sp>
      <p:sp>
        <p:nvSpPr>
          <p:cNvPr id="20" name="Shape 17"/>
          <p:cNvSpPr/>
          <p:nvPr/>
        </p:nvSpPr>
        <p:spPr>
          <a:xfrm>
            <a:off x="3657509" y="6748272"/>
            <a:ext cx="304792" cy="109728"/>
          </a:xfrm>
          <a:prstGeom prst="rect">
            <a:avLst/>
          </a:prstGeom>
          <a:solidFill>
            <a:srgbClr val="8B1E3F"/>
          </a:solidFill>
          <a:ln/>
        </p:spPr>
      </p:sp>
      <p:sp>
        <p:nvSpPr>
          <p:cNvPr id="21" name="Shape 18"/>
          <p:cNvSpPr/>
          <p:nvPr/>
        </p:nvSpPr>
        <p:spPr>
          <a:xfrm>
            <a:off x="3962301" y="6748272"/>
            <a:ext cx="304792" cy="109728"/>
          </a:xfrm>
          <a:prstGeom prst="rect">
            <a:avLst/>
          </a:prstGeom>
          <a:solidFill>
            <a:srgbClr val="0E5E6F"/>
          </a:solidFill>
          <a:ln/>
        </p:spPr>
      </p:sp>
      <p:sp>
        <p:nvSpPr>
          <p:cNvPr id="22" name="Shape 19"/>
          <p:cNvSpPr/>
          <p:nvPr/>
        </p:nvSpPr>
        <p:spPr>
          <a:xfrm>
            <a:off x="4267093" y="6748272"/>
            <a:ext cx="304792" cy="109728"/>
          </a:xfrm>
          <a:prstGeom prst="rect">
            <a:avLst/>
          </a:prstGeom>
          <a:solidFill>
            <a:srgbClr val="E0A526"/>
          </a:solidFill>
          <a:ln/>
        </p:spPr>
      </p:sp>
      <p:sp>
        <p:nvSpPr>
          <p:cNvPr id="23" name="Shape 20"/>
          <p:cNvSpPr/>
          <p:nvPr/>
        </p:nvSpPr>
        <p:spPr>
          <a:xfrm>
            <a:off x="4571886" y="6748272"/>
            <a:ext cx="304792" cy="109728"/>
          </a:xfrm>
          <a:prstGeom prst="rect">
            <a:avLst/>
          </a:prstGeom>
          <a:solidFill>
            <a:srgbClr val="0E5E6F"/>
          </a:solidFill>
          <a:ln/>
        </p:spPr>
      </p:sp>
      <p:sp>
        <p:nvSpPr>
          <p:cNvPr id="24" name="Shape 21"/>
          <p:cNvSpPr/>
          <p:nvPr/>
        </p:nvSpPr>
        <p:spPr>
          <a:xfrm>
            <a:off x="4876678" y="6748272"/>
            <a:ext cx="304792" cy="109728"/>
          </a:xfrm>
          <a:prstGeom prst="rect">
            <a:avLst/>
          </a:prstGeom>
          <a:solidFill>
            <a:srgbClr val="8B1E3F"/>
          </a:solidFill>
          <a:ln/>
        </p:spPr>
      </p:sp>
      <p:sp>
        <p:nvSpPr>
          <p:cNvPr id="25" name="Shape 22"/>
          <p:cNvSpPr/>
          <p:nvPr/>
        </p:nvSpPr>
        <p:spPr>
          <a:xfrm>
            <a:off x="5181470" y="6748272"/>
            <a:ext cx="304792" cy="109728"/>
          </a:xfrm>
          <a:prstGeom prst="rect">
            <a:avLst/>
          </a:prstGeom>
          <a:solidFill>
            <a:srgbClr val="0E5E6F"/>
          </a:solidFill>
          <a:ln/>
        </p:spPr>
      </p:sp>
      <p:sp>
        <p:nvSpPr>
          <p:cNvPr id="26" name="Shape 23"/>
          <p:cNvSpPr/>
          <p:nvPr/>
        </p:nvSpPr>
        <p:spPr>
          <a:xfrm>
            <a:off x="5486263" y="6748272"/>
            <a:ext cx="304792" cy="109728"/>
          </a:xfrm>
          <a:prstGeom prst="rect">
            <a:avLst/>
          </a:prstGeom>
          <a:solidFill>
            <a:srgbClr val="E0A526"/>
          </a:solidFill>
          <a:ln/>
        </p:spPr>
      </p:sp>
      <p:sp>
        <p:nvSpPr>
          <p:cNvPr id="27" name="Shape 24"/>
          <p:cNvSpPr/>
          <p:nvPr/>
        </p:nvSpPr>
        <p:spPr>
          <a:xfrm>
            <a:off x="5791055" y="6748272"/>
            <a:ext cx="304792" cy="109728"/>
          </a:xfrm>
          <a:prstGeom prst="rect">
            <a:avLst/>
          </a:prstGeom>
          <a:solidFill>
            <a:srgbClr val="0E5E6F"/>
          </a:solidFill>
          <a:ln/>
        </p:spPr>
      </p:sp>
      <p:sp>
        <p:nvSpPr>
          <p:cNvPr id="28" name="Shape 25"/>
          <p:cNvSpPr/>
          <p:nvPr/>
        </p:nvSpPr>
        <p:spPr>
          <a:xfrm>
            <a:off x="6095848" y="6748272"/>
            <a:ext cx="304792" cy="109728"/>
          </a:xfrm>
          <a:prstGeom prst="rect">
            <a:avLst/>
          </a:prstGeom>
          <a:solidFill>
            <a:srgbClr val="8B1E3F"/>
          </a:solidFill>
          <a:ln/>
        </p:spPr>
      </p:sp>
      <p:sp>
        <p:nvSpPr>
          <p:cNvPr id="29" name="Shape 26"/>
          <p:cNvSpPr/>
          <p:nvPr/>
        </p:nvSpPr>
        <p:spPr>
          <a:xfrm>
            <a:off x="6400640" y="6748272"/>
            <a:ext cx="304792" cy="109728"/>
          </a:xfrm>
          <a:prstGeom prst="rect">
            <a:avLst/>
          </a:prstGeom>
          <a:solidFill>
            <a:srgbClr val="0E5E6F"/>
          </a:solidFill>
          <a:ln/>
        </p:spPr>
      </p:sp>
      <p:sp>
        <p:nvSpPr>
          <p:cNvPr id="30" name="Shape 27"/>
          <p:cNvSpPr/>
          <p:nvPr/>
        </p:nvSpPr>
        <p:spPr>
          <a:xfrm>
            <a:off x="6705432" y="6748272"/>
            <a:ext cx="304792" cy="109728"/>
          </a:xfrm>
          <a:prstGeom prst="rect">
            <a:avLst/>
          </a:prstGeom>
          <a:solidFill>
            <a:srgbClr val="E0A526"/>
          </a:solidFill>
          <a:ln/>
        </p:spPr>
      </p:sp>
      <p:sp>
        <p:nvSpPr>
          <p:cNvPr id="31" name="Shape 28"/>
          <p:cNvSpPr/>
          <p:nvPr/>
        </p:nvSpPr>
        <p:spPr>
          <a:xfrm>
            <a:off x="7010225" y="6748272"/>
            <a:ext cx="304792" cy="109728"/>
          </a:xfrm>
          <a:prstGeom prst="rect">
            <a:avLst/>
          </a:prstGeom>
          <a:solidFill>
            <a:srgbClr val="0E5E6F"/>
          </a:solidFill>
          <a:ln/>
        </p:spPr>
      </p:sp>
      <p:sp>
        <p:nvSpPr>
          <p:cNvPr id="32" name="Shape 29"/>
          <p:cNvSpPr/>
          <p:nvPr/>
        </p:nvSpPr>
        <p:spPr>
          <a:xfrm>
            <a:off x="7315017" y="6748272"/>
            <a:ext cx="304792" cy="109728"/>
          </a:xfrm>
          <a:prstGeom prst="rect">
            <a:avLst/>
          </a:prstGeom>
          <a:solidFill>
            <a:srgbClr val="8B1E3F"/>
          </a:solidFill>
          <a:ln/>
        </p:spPr>
      </p:sp>
      <p:sp>
        <p:nvSpPr>
          <p:cNvPr id="33" name="Shape 30"/>
          <p:cNvSpPr/>
          <p:nvPr/>
        </p:nvSpPr>
        <p:spPr>
          <a:xfrm>
            <a:off x="7619809" y="6748272"/>
            <a:ext cx="304792" cy="109728"/>
          </a:xfrm>
          <a:prstGeom prst="rect">
            <a:avLst/>
          </a:prstGeom>
          <a:solidFill>
            <a:srgbClr val="0E5E6F"/>
          </a:solidFill>
          <a:ln/>
        </p:spPr>
      </p:sp>
      <p:sp>
        <p:nvSpPr>
          <p:cNvPr id="34" name="Shape 31"/>
          <p:cNvSpPr/>
          <p:nvPr/>
        </p:nvSpPr>
        <p:spPr>
          <a:xfrm>
            <a:off x="7924602" y="6748272"/>
            <a:ext cx="304792" cy="109728"/>
          </a:xfrm>
          <a:prstGeom prst="rect">
            <a:avLst/>
          </a:prstGeom>
          <a:solidFill>
            <a:srgbClr val="E0A526"/>
          </a:solidFill>
          <a:ln/>
        </p:spPr>
      </p:sp>
      <p:sp>
        <p:nvSpPr>
          <p:cNvPr id="35" name="Shape 32"/>
          <p:cNvSpPr/>
          <p:nvPr/>
        </p:nvSpPr>
        <p:spPr>
          <a:xfrm>
            <a:off x="8229394" y="6748272"/>
            <a:ext cx="304792" cy="109728"/>
          </a:xfrm>
          <a:prstGeom prst="rect">
            <a:avLst/>
          </a:prstGeom>
          <a:solidFill>
            <a:srgbClr val="0E5E6F"/>
          </a:solidFill>
          <a:ln/>
        </p:spPr>
      </p:sp>
      <p:sp>
        <p:nvSpPr>
          <p:cNvPr id="36" name="Shape 33"/>
          <p:cNvSpPr/>
          <p:nvPr/>
        </p:nvSpPr>
        <p:spPr>
          <a:xfrm>
            <a:off x="8534187" y="6748272"/>
            <a:ext cx="304792" cy="109728"/>
          </a:xfrm>
          <a:prstGeom prst="rect">
            <a:avLst/>
          </a:prstGeom>
          <a:solidFill>
            <a:srgbClr val="8B1E3F"/>
          </a:solidFill>
          <a:ln/>
        </p:spPr>
      </p:sp>
      <p:sp>
        <p:nvSpPr>
          <p:cNvPr id="37" name="Shape 34"/>
          <p:cNvSpPr/>
          <p:nvPr/>
        </p:nvSpPr>
        <p:spPr>
          <a:xfrm>
            <a:off x="8838979" y="6748272"/>
            <a:ext cx="304792" cy="109728"/>
          </a:xfrm>
          <a:prstGeom prst="rect">
            <a:avLst/>
          </a:prstGeom>
          <a:solidFill>
            <a:srgbClr val="0E5E6F"/>
          </a:solidFill>
          <a:ln/>
        </p:spPr>
      </p:sp>
      <p:sp>
        <p:nvSpPr>
          <p:cNvPr id="38" name="Shape 35"/>
          <p:cNvSpPr/>
          <p:nvPr/>
        </p:nvSpPr>
        <p:spPr>
          <a:xfrm>
            <a:off x="9143771" y="6748272"/>
            <a:ext cx="304792" cy="109728"/>
          </a:xfrm>
          <a:prstGeom prst="rect">
            <a:avLst/>
          </a:prstGeom>
          <a:solidFill>
            <a:srgbClr val="E0A526"/>
          </a:solidFill>
          <a:ln/>
        </p:spPr>
      </p:sp>
      <p:sp>
        <p:nvSpPr>
          <p:cNvPr id="39" name="Shape 36"/>
          <p:cNvSpPr/>
          <p:nvPr/>
        </p:nvSpPr>
        <p:spPr>
          <a:xfrm>
            <a:off x="9448564" y="6748272"/>
            <a:ext cx="304792" cy="109728"/>
          </a:xfrm>
          <a:prstGeom prst="rect">
            <a:avLst/>
          </a:prstGeom>
          <a:solidFill>
            <a:srgbClr val="0E5E6F"/>
          </a:solidFill>
          <a:ln/>
        </p:spPr>
      </p:sp>
      <p:sp>
        <p:nvSpPr>
          <p:cNvPr id="40" name="Shape 37"/>
          <p:cNvSpPr/>
          <p:nvPr/>
        </p:nvSpPr>
        <p:spPr>
          <a:xfrm>
            <a:off x="9753356" y="6748272"/>
            <a:ext cx="304792" cy="109728"/>
          </a:xfrm>
          <a:prstGeom prst="rect">
            <a:avLst/>
          </a:prstGeom>
          <a:solidFill>
            <a:srgbClr val="8B1E3F"/>
          </a:solidFill>
          <a:ln/>
        </p:spPr>
      </p:sp>
      <p:sp>
        <p:nvSpPr>
          <p:cNvPr id="41" name="Shape 38"/>
          <p:cNvSpPr/>
          <p:nvPr/>
        </p:nvSpPr>
        <p:spPr>
          <a:xfrm>
            <a:off x="10058149" y="6748272"/>
            <a:ext cx="304792" cy="109728"/>
          </a:xfrm>
          <a:prstGeom prst="rect">
            <a:avLst/>
          </a:prstGeom>
          <a:solidFill>
            <a:srgbClr val="0E5E6F"/>
          </a:solidFill>
          <a:ln/>
        </p:spPr>
      </p:sp>
      <p:sp>
        <p:nvSpPr>
          <p:cNvPr id="42" name="Shape 39"/>
          <p:cNvSpPr/>
          <p:nvPr/>
        </p:nvSpPr>
        <p:spPr>
          <a:xfrm>
            <a:off x="10362941" y="6748272"/>
            <a:ext cx="304792" cy="109728"/>
          </a:xfrm>
          <a:prstGeom prst="rect">
            <a:avLst/>
          </a:prstGeom>
          <a:solidFill>
            <a:srgbClr val="E0A526"/>
          </a:solidFill>
          <a:ln/>
        </p:spPr>
      </p:sp>
      <p:sp>
        <p:nvSpPr>
          <p:cNvPr id="43" name="Shape 40"/>
          <p:cNvSpPr/>
          <p:nvPr/>
        </p:nvSpPr>
        <p:spPr>
          <a:xfrm>
            <a:off x="10667733" y="6748272"/>
            <a:ext cx="304792" cy="109728"/>
          </a:xfrm>
          <a:prstGeom prst="rect">
            <a:avLst/>
          </a:prstGeom>
          <a:solidFill>
            <a:srgbClr val="0E5E6F"/>
          </a:solidFill>
          <a:ln/>
        </p:spPr>
      </p:sp>
      <p:sp>
        <p:nvSpPr>
          <p:cNvPr id="44" name="Shape 41"/>
          <p:cNvSpPr/>
          <p:nvPr/>
        </p:nvSpPr>
        <p:spPr>
          <a:xfrm>
            <a:off x="10972526" y="6748272"/>
            <a:ext cx="304792" cy="109728"/>
          </a:xfrm>
          <a:prstGeom prst="rect">
            <a:avLst/>
          </a:prstGeom>
          <a:solidFill>
            <a:srgbClr val="8B1E3F"/>
          </a:solidFill>
          <a:ln/>
        </p:spPr>
      </p:sp>
      <p:sp>
        <p:nvSpPr>
          <p:cNvPr id="45" name="Shape 42"/>
          <p:cNvSpPr/>
          <p:nvPr/>
        </p:nvSpPr>
        <p:spPr>
          <a:xfrm>
            <a:off x="11277318" y="6748272"/>
            <a:ext cx="304792" cy="109728"/>
          </a:xfrm>
          <a:prstGeom prst="rect">
            <a:avLst/>
          </a:prstGeom>
          <a:solidFill>
            <a:srgbClr val="0E5E6F"/>
          </a:solidFill>
          <a:ln/>
        </p:spPr>
      </p:sp>
      <p:sp>
        <p:nvSpPr>
          <p:cNvPr id="46" name="Shape 43"/>
          <p:cNvSpPr/>
          <p:nvPr/>
        </p:nvSpPr>
        <p:spPr>
          <a:xfrm>
            <a:off x="11582110" y="6748272"/>
            <a:ext cx="304792" cy="109728"/>
          </a:xfrm>
          <a:prstGeom prst="rect">
            <a:avLst/>
          </a:prstGeom>
          <a:solidFill>
            <a:srgbClr val="E0A526"/>
          </a:solidFill>
          <a:ln/>
        </p:spPr>
      </p:sp>
      <p:sp>
        <p:nvSpPr>
          <p:cNvPr id="47" name="Shape 44"/>
          <p:cNvSpPr/>
          <p:nvPr/>
        </p:nvSpPr>
        <p:spPr>
          <a:xfrm>
            <a:off x="11886903" y="6748272"/>
            <a:ext cx="304792" cy="109728"/>
          </a:xfrm>
          <a:prstGeom prst="rect">
            <a:avLst/>
          </a:prstGeom>
          <a:solidFill>
            <a:srgbClr val="0E5E6F"/>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30 polling parts lost more than 60% of their roll</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fifteen heaviest parts with 100 or more electors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914400"/>
                <a:gridCol w="3657600"/>
                <a:gridCol w="1463040"/>
                <a:gridCol w="1463040"/>
                <a:gridCol w="1216152"/>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0" y="6748272"/>
            <a:ext cx="304792" cy="109728"/>
          </a:xfrm>
          <a:prstGeom prst="rect">
            <a:avLst/>
          </a:prstGeom>
          <a:solidFill>
            <a:srgbClr val="8B1E3F"/>
          </a:solidFill>
          <a:ln/>
        </p:spPr>
      </p:sp>
      <p:sp>
        <p:nvSpPr>
          <p:cNvPr id="8" name="Shape 5"/>
          <p:cNvSpPr/>
          <p:nvPr/>
        </p:nvSpPr>
        <p:spPr>
          <a:xfrm>
            <a:off x="304792" y="6748272"/>
            <a:ext cx="304792" cy="109728"/>
          </a:xfrm>
          <a:prstGeom prst="rect">
            <a:avLst/>
          </a:prstGeom>
          <a:solidFill>
            <a:srgbClr val="0E5E6F"/>
          </a:solidFill>
          <a:ln/>
        </p:spPr>
      </p:sp>
      <p:sp>
        <p:nvSpPr>
          <p:cNvPr id="9" name="Shape 6"/>
          <p:cNvSpPr/>
          <p:nvPr/>
        </p:nvSpPr>
        <p:spPr>
          <a:xfrm>
            <a:off x="609585" y="6748272"/>
            <a:ext cx="304792" cy="109728"/>
          </a:xfrm>
          <a:prstGeom prst="rect">
            <a:avLst/>
          </a:prstGeom>
          <a:solidFill>
            <a:srgbClr val="E0A526"/>
          </a:solidFill>
          <a:ln/>
        </p:spPr>
      </p:sp>
      <p:sp>
        <p:nvSpPr>
          <p:cNvPr id="10" name="Shape 7"/>
          <p:cNvSpPr/>
          <p:nvPr/>
        </p:nvSpPr>
        <p:spPr>
          <a:xfrm>
            <a:off x="914377" y="6748272"/>
            <a:ext cx="304792" cy="109728"/>
          </a:xfrm>
          <a:prstGeom prst="rect">
            <a:avLst/>
          </a:prstGeom>
          <a:solidFill>
            <a:srgbClr val="0E5E6F"/>
          </a:solidFill>
          <a:ln/>
        </p:spPr>
      </p:sp>
      <p:sp>
        <p:nvSpPr>
          <p:cNvPr id="11" name="Shape 8"/>
          <p:cNvSpPr/>
          <p:nvPr/>
        </p:nvSpPr>
        <p:spPr>
          <a:xfrm>
            <a:off x="1219170" y="6748272"/>
            <a:ext cx="304792" cy="109728"/>
          </a:xfrm>
          <a:prstGeom prst="rect">
            <a:avLst/>
          </a:prstGeom>
          <a:solidFill>
            <a:srgbClr val="8B1E3F"/>
          </a:solidFill>
          <a:ln/>
        </p:spPr>
      </p:sp>
      <p:sp>
        <p:nvSpPr>
          <p:cNvPr id="12" name="Shape 9"/>
          <p:cNvSpPr/>
          <p:nvPr/>
        </p:nvSpPr>
        <p:spPr>
          <a:xfrm>
            <a:off x="1523962" y="6748272"/>
            <a:ext cx="304792" cy="109728"/>
          </a:xfrm>
          <a:prstGeom prst="rect">
            <a:avLst/>
          </a:prstGeom>
          <a:solidFill>
            <a:srgbClr val="0E5E6F"/>
          </a:solidFill>
          <a:ln/>
        </p:spPr>
      </p:sp>
      <p:sp>
        <p:nvSpPr>
          <p:cNvPr id="13" name="Shape 10"/>
          <p:cNvSpPr/>
          <p:nvPr/>
        </p:nvSpPr>
        <p:spPr>
          <a:xfrm>
            <a:off x="1828754" y="6748272"/>
            <a:ext cx="304792" cy="109728"/>
          </a:xfrm>
          <a:prstGeom prst="rect">
            <a:avLst/>
          </a:prstGeom>
          <a:solidFill>
            <a:srgbClr val="E0A526"/>
          </a:solidFill>
          <a:ln/>
        </p:spPr>
      </p:sp>
      <p:sp>
        <p:nvSpPr>
          <p:cNvPr id="14" name="Shape 11"/>
          <p:cNvSpPr/>
          <p:nvPr/>
        </p:nvSpPr>
        <p:spPr>
          <a:xfrm>
            <a:off x="2133547" y="6748272"/>
            <a:ext cx="304792" cy="109728"/>
          </a:xfrm>
          <a:prstGeom prst="rect">
            <a:avLst/>
          </a:prstGeom>
          <a:solidFill>
            <a:srgbClr val="0E5E6F"/>
          </a:solidFill>
          <a:ln/>
        </p:spPr>
      </p:sp>
      <p:sp>
        <p:nvSpPr>
          <p:cNvPr id="15" name="Shape 12"/>
          <p:cNvSpPr/>
          <p:nvPr/>
        </p:nvSpPr>
        <p:spPr>
          <a:xfrm>
            <a:off x="2438339" y="6748272"/>
            <a:ext cx="304792" cy="109728"/>
          </a:xfrm>
          <a:prstGeom prst="rect">
            <a:avLst/>
          </a:prstGeom>
          <a:solidFill>
            <a:srgbClr val="8B1E3F"/>
          </a:solidFill>
          <a:ln/>
        </p:spPr>
      </p:sp>
      <p:sp>
        <p:nvSpPr>
          <p:cNvPr id="16" name="Shape 13"/>
          <p:cNvSpPr/>
          <p:nvPr/>
        </p:nvSpPr>
        <p:spPr>
          <a:xfrm>
            <a:off x="2743131" y="6748272"/>
            <a:ext cx="304792" cy="109728"/>
          </a:xfrm>
          <a:prstGeom prst="rect">
            <a:avLst/>
          </a:prstGeom>
          <a:solidFill>
            <a:srgbClr val="0E5E6F"/>
          </a:solidFill>
          <a:ln/>
        </p:spPr>
      </p:sp>
      <p:sp>
        <p:nvSpPr>
          <p:cNvPr id="17" name="Shape 14"/>
          <p:cNvSpPr/>
          <p:nvPr/>
        </p:nvSpPr>
        <p:spPr>
          <a:xfrm>
            <a:off x="3047924" y="6748272"/>
            <a:ext cx="304792" cy="109728"/>
          </a:xfrm>
          <a:prstGeom prst="rect">
            <a:avLst/>
          </a:prstGeom>
          <a:solidFill>
            <a:srgbClr val="E0A526"/>
          </a:solidFill>
          <a:ln/>
        </p:spPr>
      </p:sp>
      <p:sp>
        <p:nvSpPr>
          <p:cNvPr id="18" name="Shape 15"/>
          <p:cNvSpPr/>
          <p:nvPr/>
        </p:nvSpPr>
        <p:spPr>
          <a:xfrm>
            <a:off x="3352716" y="6748272"/>
            <a:ext cx="304792" cy="109728"/>
          </a:xfrm>
          <a:prstGeom prst="rect">
            <a:avLst/>
          </a:prstGeom>
          <a:solidFill>
            <a:srgbClr val="0E5E6F"/>
          </a:solidFill>
          <a:ln/>
        </p:spPr>
      </p:sp>
      <p:sp>
        <p:nvSpPr>
          <p:cNvPr id="19" name="Shape 16"/>
          <p:cNvSpPr/>
          <p:nvPr/>
        </p:nvSpPr>
        <p:spPr>
          <a:xfrm>
            <a:off x="3657509" y="6748272"/>
            <a:ext cx="304792" cy="109728"/>
          </a:xfrm>
          <a:prstGeom prst="rect">
            <a:avLst/>
          </a:prstGeom>
          <a:solidFill>
            <a:srgbClr val="8B1E3F"/>
          </a:solidFill>
          <a:ln/>
        </p:spPr>
      </p:sp>
      <p:sp>
        <p:nvSpPr>
          <p:cNvPr id="20" name="Shape 17"/>
          <p:cNvSpPr/>
          <p:nvPr/>
        </p:nvSpPr>
        <p:spPr>
          <a:xfrm>
            <a:off x="3962301" y="6748272"/>
            <a:ext cx="304792" cy="109728"/>
          </a:xfrm>
          <a:prstGeom prst="rect">
            <a:avLst/>
          </a:prstGeom>
          <a:solidFill>
            <a:srgbClr val="0E5E6F"/>
          </a:solidFill>
          <a:ln/>
        </p:spPr>
      </p:sp>
      <p:sp>
        <p:nvSpPr>
          <p:cNvPr id="21" name="Shape 18"/>
          <p:cNvSpPr/>
          <p:nvPr/>
        </p:nvSpPr>
        <p:spPr>
          <a:xfrm>
            <a:off x="4267093" y="6748272"/>
            <a:ext cx="304792" cy="109728"/>
          </a:xfrm>
          <a:prstGeom prst="rect">
            <a:avLst/>
          </a:prstGeom>
          <a:solidFill>
            <a:srgbClr val="E0A526"/>
          </a:solidFill>
          <a:ln/>
        </p:spPr>
      </p:sp>
      <p:sp>
        <p:nvSpPr>
          <p:cNvPr id="22" name="Shape 19"/>
          <p:cNvSpPr/>
          <p:nvPr/>
        </p:nvSpPr>
        <p:spPr>
          <a:xfrm>
            <a:off x="4571886" y="6748272"/>
            <a:ext cx="304792" cy="109728"/>
          </a:xfrm>
          <a:prstGeom prst="rect">
            <a:avLst/>
          </a:prstGeom>
          <a:solidFill>
            <a:srgbClr val="0E5E6F"/>
          </a:solidFill>
          <a:ln/>
        </p:spPr>
      </p:sp>
      <p:sp>
        <p:nvSpPr>
          <p:cNvPr id="23" name="Shape 20"/>
          <p:cNvSpPr/>
          <p:nvPr/>
        </p:nvSpPr>
        <p:spPr>
          <a:xfrm>
            <a:off x="4876678" y="6748272"/>
            <a:ext cx="304792" cy="109728"/>
          </a:xfrm>
          <a:prstGeom prst="rect">
            <a:avLst/>
          </a:prstGeom>
          <a:solidFill>
            <a:srgbClr val="8B1E3F"/>
          </a:solidFill>
          <a:ln/>
        </p:spPr>
      </p:sp>
      <p:sp>
        <p:nvSpPr>
          <p:cNvPr id="24" name="Shape 21"/>
          <p:cNvSpPr/>
          <p:nvPr/>
        </p:nvSpPr>
        <p:spPr>
          <a:xfrm>
            <a:off x="5181470" y="6748272"/>
            <a:ext cx="304792" cy="109728"/>
          </a:xfrm>
          <a:prstGeom prst="rect">
            <a:avLst/>
          </a:prstGeom>
          <a:solidFill>
            <a:srgbClr val="0E5E6F"/>
          </a:solidFill>
          <a:ln/>
        </p:spPr>
      </p:sp>
      <p:sp>
        <p:nvSpPr>
          <p:cNvPr id="25" name="Shape 22"/>
          <p:cNvSpPr/>
          <p:nvPr/>
        </p:nvSpPr>
        <p:spPr>
          <a:xfrm>
            <a:off x="5486263" y="6748272"/>
            <a:ext cx="304792" cy="109728"/>
          </a:xfrm>
          <a:prstGeom prst="rect">
            <a:avLst/>
          </a:prstGeom>
          <a:solidFill>
            <a:srgbClr val="E0A526"/>
          </a:solidFill>
          <a:ln/>
        </p:spPr>
      </p:sp>
      <p:sp>
        <p:nvSpPr>
          <p:cNvPr id="26" name="Shape 23"/>
          <p:cNvSpPr/>
          <p:nvPr/>
        </p:nvSpPr>
        <p:spPr>
          <a:xfrm>
            <a:off x="5791055" y="6748272"/>
            <a:ext cx="304792" cy="109728"/>
          </a:xfrm>
          <a:prstGeom prst="rect">
            <a:avLst/>
          </a:prstGeom>
          <a:solidFill>
            <a:srgbClr val="0E5E6F"/>
          </a:solidFill>
          <a:ln/>
        </p:spPr>
      </p:sp>
      <p:sp>
        <p:nvSpPr>
          <p:cNvPr id="27" name="Shape 24"/>
          <p:cNvSpPr/>
          <p:nvPr/>
        </p:nvSpPr>
        <p:spPr>
          <a:xfrm>
            <a:off x="6095848" y="6748272"/>
            <a:ext cx="304792" cy="109728"/>
          </a:xfrm>
          <a:prstGeom prst="rect">
            <a:avLst/>
          </a:prstGeom>
          <a:solidFill>
            <a:srgbClr val="8B1E3F"/>
          </a:solidFill>
          <a:ln/>
        </p:spPr>
      </p:sp>
      <p:sp>
        <p:nvSpPr>
          <p:cNvPr id="28" name="Shape 25"/>
          <p:cNvSpPr/>
          <p:nvPr/>
        </p:nvSpPr>
        <p:spPr>
          <a:xfrm>
            <a:off x="6400640" y="6748272"/>
            <a:ext cx="304792" cy="109728"/>
          </a:xfrm>
          <a:prstGeom prst="rect">
            <a:avLst/>
          </a:prstGeom>
          <a:solidFill>
            <a:srgbClr val="0E5E6F"/>
          </a:solidFill>
          <a:ln/>
        </p:spPr>
      </p:sp>
      <p:sp>
        <p:nvSpPr>
          <p:cNvPr id="29" name="Shape 26"/>
          <p:cNvSpPr/>
          <p:nvPr/>
        </p:nvSpPr>
        <p:spPr>
          <a:xfrm>
            <a:off x="6705432" y="6748272"/>
            <a:ext cx="304792" cy="109728"/>
          </a:xfrm>
          <a:prstGeom prst="rect">
            <a:avLst/>
          </a:prstGeom>
          <a:solidFill>
            <a:srgbClr val="E0A526"/>
          </a:solidFill>
          <a:ln/>
        </p:spPr>
      </p:sp>
      <p:sp>
        <p:nvSpPr>
          <p:cNvPr id="30" name="Shape 27"/>
          <p:cNvSpPr/>
          <p:nvPr/>
        </p:nvSpPr>
        <p:spPr>
          <a:xfrm>
            <a:off x="7010225" y="6748272"/>
            <a:ext cx="304792" cy="109728"/>
          </a:xfrm>
          <a:prstGeom prst="rect">
            <a:avLst/>
          </a:prstGeom>
          <a:solidFill>
            <a:srgbClr val="0E5E6F"/>
          </a:solidFill>
          <a:ln/>
        </p:spPr>
      </p:sp>
      <p:sp>
        <p:nvSpPr>
          <p:cNvPr id="31" name="Shape 28"/>
          <p:cNvSpPr/>
          <p:nvPr/>
        </p:nvSpPr>
        <p:spPr>
          <a:xfrm>
            <a:off x="7315017" y="6748272"/>
            <a:ext cx="304792" cy="109728"/>
          </a:xfrm>
          <a:prstGeom prst="rect">
            <a:avLst/>
          </a:prstGeom>
          <a:solidFill>
            <a:srgbClr val="8B1E3F"/>
          </a:solidFill>
          <a:ln/>
        </p:spPr>
      </p:sp>
      <p:sp>
        <p:nvSpPr>
          <p:cNvPr id="32" name="Shape 29"/>
          <p:cNvSpPr/>
          <p:nvPr/>
        </p:nvSpPr>
        <p:spPr>
          <a:xfrm>
            <a:off x="7619809" y="6748272"/>
            <a:ext cx="304792" cy="109728"/>
          </a:xfrm>
          <a:prstGeom prst="rect">
            <a:avLst/>
          </a:prstGeom>
          <a:solidFill>
            <a:srgbClr val="0E5E6F"/>
          </a:solidFill>
          <a:ln/>
        </p:spPr>
      </p:sp>
      <p:sp>
        <p:nvSpPr>
          <p:cNvPr id="33" name="Shape 30"/>
          <p:cNvSpPr/>
          <p:nvPr/>
        </p:nvSpPr>
        <p:spPr>
          <a:xfrm>
            <a:off x="7924602" y="6748272"/>
            <a:ext cx="304792" cy="109728"/>
          </a:xfrm>
          <a:prstGeom prst="rect">
            <a:avLst/>
          </a:prstGeom>
          <a:solidFill>
            <a:srgbClr val="E0A526"/>
          </a:solidFill>
          <a:ln/>
        </p:spPr>
      </p:sp>
      <p:sp>
        <p:nvSpPr>
          <p:cNvPr id="34" name="Shape 31"/>
          <p:cNvSpPr/>
          <p:nvPr/>
        </p:nvSpPr>
        <p:spPr>
          <a:xfrm>
            <a:off x="8229394" y="6748272"/>
            <a:ext cx="304792" cy="109728"/>
          </a:xfrm>
          <a:prstGeom prst="rect">
            <a:avLst/>
          </a:prstGeom>
          <a:solidFill>
            <a:srgbClr val="0E5E6F"/>
          </a:solidFill>
          <a:ln/>
        </p:spPr>
      </p:sp>
      <p:sp>
        <p:nvSpPr>
          <p:cNvPr id="35" name="Shape 32"/>
          <p:cNvSpPr/>
          <p:nvPr/>
        </p:nvSpPr>
        <p:spPr>
          <a:xfrm>
            <a:off x="8534187" y="6748272"/>
            <a:ext cx="304792" cy="109728"/>
          </a:xfrm>
          <a:prstGeom prst="rect">
            <a:avLst/>
          </a:prstGeom>
          <a:solidFill>
            <a:srgbClr val="8B1E3F"/>
          </a:solidFill>
          <a:ln/>
        </p:spPr>
      </p:sp>
      <p:sp>
        <p:nvSpPr>
          <p:cNvPr id="36" name="Shape 33"/>
          <p:cNvSpPr/>
          <p:nvPr/>
        </p:nvSpPr>
        <p:spPr>
          <a:xfrm>
            <a:off x="8838979" y="6748272"/>
            <a:ext cx="304792" cy="109728"/>
          </a:xfrm>
          <a:prstGeom prst="rect">
            <a:avLst/>
          </a:prstGeom>
          <a:solidFill>
            <a:srgbClr val="0E5E6F"/>
          </a:solidFill>
          <a:ln/>
        </p:spPr>
      </p:sp>
      <p:sp>
        <p:nvSpPr>
          <p:cNvPr id="37" name="Shape 34"/>
          <p:cNvSpPr/>
          <p:nvPr/>
        </p:nvSpPr>
        <p:spPr>
          <a:xfrm>
            <a:off x="9143771" y="6748272"/>
            <a:ext cx="304792" cy="109728"/>
          </a:xfrm>
          <a:prstGeom prst="rect">
            <a:avLst/>
          </a:prstGeom>
          <a:solidFill>
            <a:srgbClr val="E0A526"/>
          </a:solidFill>
          <a:ln/>
        </p:spPr>
      </p:sp>
      <p:sp>
        <p:nvSpPr>
          <p:cNvPr id="38" name="Shape 35"/>
          <p:cNvSpPr/>
          <p:nvPr/>
        </p:nvSpPr>
        <p:spPr>
          <a:xfrm>
            <a:off x="9448564" y="6748272"/>
            <a:ext cx="304792" cy="109728"/>
          </a:xfrm>
          <a:prstGeom prst="rect">
            <a:avLst/>
          </a:prstGeom>
          <a:solidFill>
            <a:srgbClr val="0E5E6F"/>
          </a:solidFill>
          <a:ln/>
        </p:spPr>
      </p:sp>
      <p:sp>
        <p:nvSpPr>
          <p:cNvPr id="39" name="Shape 36"/>
          <p:cNvSpPr/>
          <p:nvPr/>
        </p:nvSpPr>
        <p:spPr>
          <a:xfrm>
            <a:off x="9753356" y="6748272"/>
            <a:ext cx="304792" cy="109728"/>
          </a:xfrm>
          <a:prstGeom prst="rect">
            <a:avLst/>
          </a:prstGeom>
          <a:solidFill>
            <a:srgbClr val="8B1E3F"/>
          </a:solidFill>
          <a:ln/>
        </p:spPr>
      </p:sp>
      <p:sp>
        <p:nvSpPr>
          <p:cNvPr id="40" name="Shape 37"/>
          <p:cNvSpPr/>
          <p:nvPr/>
        </p:nvSpPr>
        <p:spPr>
          <a:xfrm>
            <a:off x="10058149" y="6748272"/>
            <a:ext cx="304792" cy="109728"/>
          </a:xfrm>
          <a:prstGeom prst="rect">
            <a:avLst/>
          </a:prstGeom>
          <a:solidFill>
            <a:srgbClr val="0E5E6F"/>
          </a:solidFill>
          <a:ln/>
        </p:spPr>
      </p:sp>
      <p:sp>
        <p:nvSpPr>
          <p:cNvPr id="41" name="Shape 38"/>
          <p:cNvSpPr/>
          <p:nvPr/>
        </p:nvSpPr>
        <p:spPr>
          <a:xfrm>
            <a:off x="10362941" y="6748272"/>
            <a:ext cx="304792" cy="109728"/>
          </a:xfrm>
          <a:prstGeom prst="rect">
            <a:avLst/>
          </a:prstGeom>
          <a:solidFill>
            <a:srgbClr val="E0A526"/>
          </a:solidFill>
          <a:ln/>
        </p:spPr>
      </p:sp>
      <p:sp>
        <p:nvSpPr>
          <p:cNvPr id="42" name="Shape 39"/>
          <p:cNvSpPr/>
          <p:nvPr/>
        </p:nvSpPr>
        <p:spPr>
          <a:xfrm>
            <a:off x="10667733" y="6748272"/>
            <a:ext cx="304792" cy="109728"/>
          </a:xfrm>
          <a:prstGeom prst="rect">
            <a:avLst/>
          </a:prstGeom>
          <a:solidFill>
            <a:srgbClr val="0E5E6F"/>
          </a:solidFill>
          <a:ln/>
        </p:spPr>
      </p:sp>
      <p:sp>
        <p:nvSpPr>
          <p:cNvPr id="43" name="Shape 40"/>
          <p:cNvSpPr/>
          <p:nvPr/>
        </p:nvSpPr>
        <p:spPr>
          <a:xfrm>
            <a:off x="10972526" y="6748272"/>
            <a:ext cx="304792" cy="109728"/>
          </a:xfrm>
          <a:prstGeom prst="rect">
            <a:avLst/>
          </a:prstGeom>
          <a:solidFill>
            <a:srgbClr val="8B1E3F"/>
          </a:solidFill>
          <a:ln/>
        </p:spPr>
      </p:sp>
      <p:sp>
        <p:nvSpPr>
          <p:cNvPr id="44" name="Shape 41"/>
          <p:cNvSpPr/>
          <p:nvPr/>
        </p:nvSpPr>
        <p:spPr>
          <a:xfrm>
            <a:off x="11277318" y="6748272"/>
            <a:ext cx="304792" cy="109728"/>
          </a:xfrm>
          <a:prstGeom prst="rect">
            <a:avLst/>
          </a:prstGeom>
          <a:solidFill>
            <a:srgbClr val="0E5E6F"/>
          </a:solidFill>
          <a:ln/>
        </p:spPr>
      </p:sp>
      <p:sp>
        <p:nvSpPr>
          <p:cNvPr id="45" name="Shape 42"/>
          <p:cNvSpPr/>
          <p:nvPr/>
        </p:nvSpPr>
        <p:spPr>
          <a:xfrm>
            <a:off x="11582110" y="6748272"/>
            <a:ext cx="304792" cy="109728"/>
          </a:xfrm>
          <a:prstGeom prst="rect">
            <a:avLst/>
          </a:prstGeom>
          <a:solidFill>
            <a:srgbClr val="E0A526"/>
          </a:solidFill>
          <a:ln/>
        </p:spPr>
      </p:sp>
      <p:sp>
        <p:nvSpPr>
          <p:cNvPr id="46"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the lists show, and what they do not</a:t>
            </a:r>
            <a:endParaRPr lang="en-US" sz="3000" dirty="0"/>
          </a:p>
        </p:txBody>
      </p:sp>
      <p:sp>
        <p:nvSpPr>
          <p:cNvPr id="3" name="Shape 1"/>
          <p:cNvSpPr/>
          <p:nvPr/>
        </p:nvSpPr>
        <p:spPr>
          <a:xfrm>
            <a:off x="548640" y="1371600"/>
            <a:ext cx="5394960" cy="2011680"/>
          </a:xfrm>
          <a:prstGeom prst="roundRect">
            <a:avLst>
              <a:gd name="adj" fmla="val 4545"/>
            </a:avLst>
          </a:prstGeom>
          <a:solidFill>
            <a:srgbClr val="F7ECEF"/>
          </a:solidFill>
          <a:ln/>
        </p:spPr>
      </p:sp>
      <p:sp>
        <p:nvSpPr>
          <p:cNvPr id="4" name="Text 2"/>
          <p:cNvSpPr txBox="1"/>
          <p:nvPr/>
        </p:nvSpPr>
        <p:spPr>
          <a:xfrm>
            <a:off x="822960"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 and 2002 linkage.</a:t>
            </a:r>
            <a:endParaRPr lang="en-US" sz="1500" dirty="0"/>
          </a:p>
        </p:txBody>
      </p:sp>
      <p:sp>
        <p:nvSpPr>
          <p:cNvPr id="5" name="Shape 3"/>
          <p:cNvSpPr/>
          <p:nvPr/>
        </p:nvSpPr>
        <p:spPr>
          <a:xfrm>
            <a:off x="6245352" y="1371600"/>
            <a:ext cx="5394960" cy="2011680"/>
          </a:xfrm>
          <a:prstGeom prst="roundRect">
            <a:avLst>
              <a:gd name="adj" fmla="val 4545"/>
            </a:avLst>
          </a:prstGeom>
          <a:solidFill>
            <a:srgbClr val="F7ECEF"/>
          </a:solidFill>
          <a:ln/>
        </p:spPr>
      </p:sp>
      <p:sp>
        <p:nvSpPr>
          <p:cNvPr id="6" name="Text 4"/>
          <p:cNvSpPr txBox="1"/>
          <p:nvPr/>
        </p:nvSpPr>
        <p:spPr>
          <a:xfrm>
            <a:off x="6519672" y="1554480"/>
            <a:ext cx="4846320" cy="164592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Whether any individual removal was right. A household that moved out is a correct "shifted" deletion; the files cannot tell it from an elector who was at home and missed.</a:t>
            </a:r>
            <a:endParaRPr lang="en-US" sz="1500" dirty="0"/>
          </a:p>
        </p:txBody>
      </p:sp>
      <p:sp>
        <p:nvSpPr>
          <p:cNvPr id="7" name="Text 5"/>
          <p:cNvSpPr txBox="1"/>
          <p:nvPr/>
        </p:nvSpPr>
        <p:spPr>
          <a:xfrm>
            <a:off x="548640" y="3749040"/>
            <a:ext cx="11094415" cy="2377440"/>
          </a:xfrm>
          <a:prstGeom prst="rect">
            <a:avLst/>
          </a:prstGeom>
          <a:noFill/>
          <a:ln/>
        </p:spPr>
        <p:txBody>
          <a:bodyPr wrap="square" lIns="0" tIns="0" rIns="0" bIns="0" rtlCol="0" anchor="t"/>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The Malakpet list used here is incomplete: 1,42,688 names against the 1,47,799 counted in the published list, with no part numbers and no 2002 link. For the other four constituencies the counts agree exactly with an independent count of the same lists. These are the September lists; restorations after hearings are not in them.</a:t>
            </a:r>
            <a:endParaRPr lang="en-US" sz="1700" dirty="0"/>
          </a:p>
        </p:txBody>
      </p:sp>
      <p:sp>
        <p:nvSpPr>
          <p:cNvPr id="8" name="Text 6"/>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9" name="Text 7"/>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10" name="Shape 8"/>
          <p:cNvSpPr/>
          <p:nvPr/>
        </p:nvSpPr>
        <p:spPr>
          <a:xfrm>
            <a:off x="0" y="6748272"/>
            <a:ext cx="304792" cy="109728"/>
          </a:xfrm>
          <a:prstGeom prst="rect">
            <a:avLst/>
          </a:prstGeom>
          <a:solidFill>
            <a:srgbClr val="8B1E3F"/>
          </a:solidFill>
          <a:ln/>
        </p:spPr>
      </p:sp>
      <p:sp>
        <p:nvSpPr>
          <p:cNvPr id="11" name="Shape 9"/>
          <p:cNvSpPr/>
          <p:nvPr/>
        </p:nvSpPr>
        <p:spPr>
          <a:xfrm>
            <a:off x="304792" y="6748272"/>
            <a:ext cx="304792" cy="109728"/>
          </a:xfrm>
          <a:prstGeom prst="rect">
            <a:avLst/>
          </a:prstGeom>
          <a:solidFill>
            <a:srgbClr val="0E5E6F"/>
          </a:solidFill>
          <a:ln/>
        </p:spPr>
      </p:sp>
      <p:sp>
        <p:nvSpPr>
          <p:cNvPr id="12" name="Shape 10"/>
          <p:cNvSpPr/>
          <p:nvPr/>
        </p:nvSpPr>
        <p:spPr>
          <a:xfrm>
            <a:off x="609585" y="6748272"/>
            <a:ext cx="304792" cy="109728"/>
          </a:xfrm>
          <a:prstGeom prst="rect">
            <a:avLst/>
          </a:prstGeom>
          <a:solidFill>
            <a:srgbClr val="E0A526"/>
          </a:solidFill>
          <a:ln/>
        </p:spPr>
      </p:sp>
      <p:sp>
        <p:nvSpPr>
          <p:cNvPr id="13" name="Shape 11"/>
          <p:cNvSpPr/>
          <p:nvPr/>
        </p:nvSpPr>
        <p:spPr>
          <a:xfrm>
            <a:off x="914377" y="6748272"/>
            <a:ext cx="304792" cy="109728"/>
          </a:xfrm>
          <a:prstGeom prst="rect">
            <a:avLst/>
          </a:prstGeom>
          <a:solidFill>
            <a:srgbClr val="0E5E6F"/>
          </a:solidFill>
          <a:ln/>
        </p:spPr>
      </p:sp>
      <p:sp>
        <p:nvSpPr>
          <p:cNvPr id="14" name="Shape 12"/>
          <p:cNvSpPr/>
          <p:nvPr/>
        </p:nvSpPr>
        <p:spPr>
          <a:xfrm>
            <a:off x="1219170" y="6748272"/>
            <a:ext cx="304792" cy="109728"/>
          </a:xfrm>
          <a:prstGeom prst="rect">
            <a:avLst/>
          </a:prstGeom>
          <a:solidFill>
            <a:srgbClr val="8B1E3F"/>
          </a:solidFill>
          <a:ln/>
        </p:spPr>
      </p:sp>
      <p:sp>
        <p:nvSpPr>
          <p:cNvPr id="15" name="Shape 13"/>
          <p:cNvSpPr/>
          <p:nvPr/>
        </p:nvSpPr>
        <p:spPr>
          <a:xfrm>
            <a:off x="1523962" y="6748272"/>
            <a:ext cx="304792" cy="109728"/>
          </a:xfrm>
          <a:prstGeom prst="rect">
            <a:avLst/>
          </a:prstGeom>
          <a:solidFill>
            <a:srgbClr val="0E5E6F"/>
          </a:solidFill>
          <a:ln/>
        </p:spPr>
      </p:sp>
      <p:sp>
        <p:nvSpPr>
          <p:cNvPr id="16" name="Shape 14"/>
          <p:cNvSpPr/>
          <p:nvPr/>
        </p:nvSpPr>
        <p:spPr>
          <a:xfrm>
            <a:off x="1828754" y="6748272"/>
            <a:ext cx="304792" cy="109728"/>
          </a:xfrm>
          <a:prstGeom prst="rect">
            <a:avLst/>
          </a:prstGeom>
          <a:solidFill>
            <a:srgbClr val="E0A526"/>
          </a:solidFill>
          <a:ln/>
        </p:spPr>
      </p:sp>
      <p:sp>
        <p:nvSpPr>
          <p:cNvPr id="17" name="Shape 15"/>
          <p:cNvSpPr/>
          <p:nvPr/>
        </p:nvSpPr>
        <p:spPr>
          <a:xfrm>
            <a:off x="2133547" y="6748272"/>
            <a:ext cx="304792" cy="109728"/>
          </a:xfrm>
          <a:prstGeom prst="rect">
            <a:avLst/>
          </a:prstGeom>
          <a:solidFill>
            <a:srgbClr val="0E5E6F"/>
          </a:solidFill>
          <a:ln/>
        </p:spPr>
      </p:sp>
      <p:sp>
        <p:nvSpPr>
          <p:cNvPr id="18" name="Shape 16"/>
          <p:cNvSpPr/>
          <p:nvPr/>
        </p:nvSpPr>
        <p:spPr>
          <a:xfrm>
            <a:off x="2438339" y="6748272"/>
            <a:ext cx="304792" cy="109728"/>
          </a:xfrm>
          <a:prstGeom prst="rect">
            <a:avLst/>
          </a:prstGeom>
          <a:solidFill>
            <a:srgbClr val="8B1E3F"/>
          </a:solidFill>
          <a:ln/>
        </p:spPr>
      </p:sp>
      <p:sp>
        <p:nvSpPr>
          <p:cNvPr id="19" name="Shape 17"/>
          <p:cNvSpPr/>
          <p:nvPr/>
        </p:nvSpPr>
        <p:spPr>
          <a:xfrm>
            <a:off x="2743131" y="6748272"/>
            <a:ext cx="304792" cy="109728"/>
          </a:xfrm>
          <a:prstGeom prst="rect">
            <a:avLst/>
          </a:prstGeom>
          <a:solidFill>
            <a:srgbClr val="0E5E6F"/>
          </a:solidFill>
          <a:ln/>
        </p:spPr>
      </p:sp>
      <p:sp>
        <p:nvSpPr>
          <p:cNvPr id="20" name="Shape 18"/>
          <p:cNvSpPr/>
          <p:nvPr/>
        </p:nvSpPr>
        <p:spPr>
          <a:xfrm>
            <a:off x="3047924" y="6748272"/>
            <a:ext cx="304792" cy="109728"/>
          </a:xfrm>
          <a:prstGeom prst="rect">
            <a:avLst/>
          </a:prstGeom>
          <a:solidFill>
            <a:srgbClr val="E0A526"/>
          </a:solidFill>
          <a:ln/>
        </p:spPr>
      </p:sp>
      <p:sp>
        <p:nvSpPr>
          <p:cNvPr id="21" name="Shape 19"/>
          <p:cNvSpPr/>
          <p:nvPr/>
        </p:nvSpPr>
        <p:spPr>
          <a:xfrm>
            <a:off x="3352716" y="6748272"/>
            <a:ext cx="304792" cy="109728"/>
          </a:xfrm>
          <a:prstGeom prst="rect">
            <a:avLst/>
          </a:prstGeom>
          <a:solidFill>
            <a:srgbClr val="0E5E6F"/>
          </a:solidFill>
          <a:ln/>
        </p:spPr>
      </p:sp>
      <p:sp>
        <p:nvSpPr>
          <p:cNvPr id="22" name="Shape 20"/>
          <p:cNvSpPr/>
          <p:nvPr/>
        </p:nvSpPr>
        <p:spPr>
          <a:xfrm>
            <a:off x="3657509" y="6748272"/>
            <a:ext cx="304792" cy="109728"/>
          </a:xfrm>
          <a:prstGeom prst="rect">
            <a:avLst/>
          </a:prstGeom>
          <a:solidFill>
            <a:srgbClr val="8B1E3F"/>
          </a:solidFill>
          <a:ln/>
        </p:spPr>
      </p:sp>
      <p:sp>
        <p:nvSpPr>
          <p:cNvPr id="23" name="Shape 21"/>
          <p:cNvSpPr/>
          <p:nvPr/>
        </p:nvSpPr>
        <p:spPr>
          <a:xfrm>
            <a:off x="3962301" y="6748272"/>
            <a:ext cx="304792" cy="109728"/>
          </a:xfrm>
          <a:prstGeom prst="rect">
            <a:avLst/>
          </a:prstGeom>
          <a:solidFill>
            <a:srgbClr val="0E5E6F"/>
          </a:solidFill>
          <a:ln/>
        </p:spPr>
      </p:sp>
      <p:sp>
        <p:nvSpPr>
          <p:cNvPr id="24" name="Shape 22"/>
          <p:cNvSpPr/>
          <p:nvPr/>
        </p:nvSpPr>
        <p:spPr>
          <a:xfrm>
            <a:off x="4267093" y="6748272"/>
            <a:ext cx="304792" cy="109728"/>
          </a:xfrm>
          <a:prstGeom prst="rect">
            <a:avLst/>
          </a:prstGeom>
          <a:solidFill>
            <a:srgbClr val="E0A526"/>
          </a:solidFill>
          <a:ln/>
        </p:spPr>
      </p:sp>
      <p:sp>
        <p:nvSpPr>
          <p:cNvPr id="25" name="Shape 23"/>
          <p:cNvSpPr/>
          <p:nvPr/>
        </p:nvSpPr>
        <p:spPr>
          <a:xfrm>
            <a:off x="4571886" y="6748272"/>
            <a:ext cx="304792" cy="109728"/>
          </a:xfrm>
          <a:prstGeom prst="rect">
            <a:avLst/>
          </a:prstGeom>
          <a:solidFill>
            <a:srgbClr val="0E5E6F"/>
          </a:solidFill>
          <a:ln/>
        </p:spPr>
      </p:sp>
      <p:sp>
        <p:nvSpPr>
          <p:cNvPr id="26" name="Shape 24"/>
          <p:cNvSpPr/>
          <p:nvPr/>
        </p:nvSpPr>
        <p:spPr>
          <a:xfrm>
            <a:off x="4876678" y="6748272"/>
            <a:ext cx="304792" cy="109728"/>
          </a:xfrm>
          <a:prstGeom prst="rect">
            <a:avLst/>
          </a:prstGeom>
          <a:solidFill>
            <a:srgbClr val="8B1E3F"/>
          </a:solidFill>
          <a:ln/>
        </p:spPr>
      </p:sp>
      <p:sp>
        <p:nvSpPr>
          <p:cNvPr id="27" name="Shape 25"/>
          <p:cNvSpPr/>
          <p:nvPr/>
        </p:nvSpPr>
        <p:spPr>
          <a:xfrm>
            <a:off x="5181470" y="6748272"/>
            <a:ext cx="304792" cy="109728"/>
          </a:xfrm>
          <a:prstGeom prst="rect">
            <a:avLst/>
          </a:prstGeom>
          <a:solidFill>
            <a:srgbClr val="0E5E6F"/>
          </a:solidFill>
          <a:ln/>
        </p:spPr>
      </p:sp>
      <p:sp>
        <p:nvSpPr>
          <p:cNvPr id="28" name="Shape 26"/>
          <p:cNvSpPr/>
          <p:nvPr/>
        </p:nvSpPr>
        <p:spPr>
          <a:xfrm>
            <a:off x="5486263" y="6748272"/>
            <a:ext cx="304792" cy="109728"/>
          </a:xfrm>
          <a:prstGeom prst="rect">
            <a:avLst/>
          </a:prstGeom>
          <a:solidFill>
            <a:srgbClr val="E0A526"/>
          </a:solidFill>
          <a:ln/>
        </p:spPr>
      </p:sp>
      <p:sp>
        <p:nvSpPr>
          <p:cNvPr id="29" name="Shape 27"/>
          <p:cNvSpPr/>
          <p:nvPr/>
        </p:nvSpPr>
        <p:spPr>
          <a:xfrm>
            <a:off x="5791055" y="6748272"/>
            <a:ext cx="304792" cy="109728"/>
          </a:xfrm>
          <a:prstGeom prst="rect">
            <a:avLst/>
          </a:prstGeom>
          <a:solidFill>
            <a:srgbClr val="0E5E6F"/>
          </a:solidFill>
          <a:ln/>
        </p:spPr>
      </p:sp>
      <p:sp>
        <p:nvSpPr>
          <p:cNvPr id="30" name="Shape 28"/>
          <p:cNvSpPr/>
          <p:nvPr/>
        </p:nvSpPr>
        <p:spPr>
          <a:xfrm>
            <a:off x="6095848" y="6748272"/>
            <a:ext cx="304792" cy="109728"/>
          </a:xfrm>
          <a:prstGeom prst="rect">
            <a:avLst/>
          </a:prstGeom>
          <a:solidFill>
            <a:srgbClr val="8B1E3F"/>
          </a:solidFill>
          <a:ln/>
        </p:spPr>
      </p:sp>
      <p:sp>
        <p:nvSpPr>
          <p:cNvPr id="31" name="Shape 29"/>
          <p:cNvSpPr/>
          <p:nvPr/>
        </p:nvSpPr>
        <p:spPr>
          <a:xfrm>
            <a:off x="6400640" y="6748272"/>
            <a:ext cx="304792" cy="109728"/>
          </a:xfrm>
          <a:prstGeom prst="rect">
            <a:avLst/>
          </a:prstGeom>
          <a:solidFill>
            <a:srgbClr val="0E5E6F"/>
          </a:solidFill>
          <a:ln/>
        </p:spPr>
      </p:sp>
      <p:sp>
        <p:nvSpPr>
          <p:cNvPr id="32" name="Shape 30"/>
          <p:cNvSpPr/>
          <p:nvPr/>
        </p:nvSpPr>
        <p:spPr>
          <a:xfrm>
            <a:off x="6705432" y="6748272"/>
            <a:ext cx="304792" cy="109728"/>
          </a:xfrm>
          <a:prstGeom prst="rect">
            <a:avLst/>
          </a:prstGeom>
          <a:solidFill>
            <a:srgbClr val="E0A526"/>
          </a:solidFill>
          <a:ln/>
        </p:spPr>
      </p:sp>
      <p:sp>
        <p:nvSpPr>
          <p:cNvPr id="33" name="Shape 31"/>
          <p:cNvSpPr/>
          <p:nvPr/>
        </p:nvSpPr>
        <p:spPr>
          <a:xfrm>
            <a:off x="7010225" y="6748272"/>
            <a:ext cx="304792" cy="109728"/>
          </a:xfrm>
          <a:prstGeom prst="rect">
            <a:avLst/>
          </a:prstGeom>
          <a:solidFill>
            <a:srgbClr val="0E5E6F"/>
          </a:solidFill>
          <a:ln/>
        </p:spPr>
      </p:sp>
      <p:sp>
        <p:nvSpPr>
          <p:cNvPr id="34" name="Shape 32"/>
          <p:cNvSpPr/>
          <p:nvPr/>
        </p:nvSpPr>
        <p:spPr>
          <a:xfrm>
            <a:off x="7315017" y="6748272"/>
            <a:ext cx="304792" cy="109728"/>
          </a:xfrm>
          <a:prstGeom prst="rect">
            <a:avLst/>
          </a:prstGeom>
          <a:solidFill>
            <a:srgbClr val="8B1E3F"/>
          </a:solidFill>
          <a:ln/>
        </p:spPr>
      </p:sp>
      <p:sp>
        <p:nvSpPr>
          <p:cNvPr id="35" name="Shape 33"/>
          <p:cNvSpPr/>
          <p:nvPr/>
        </p:nvSpPr>
        <p:spPr>
          <a:xfrm>
            <a:off x="7619809" y="6748272"/>
            <a:ext cx="304792" cy="109728"/>
          </a:xfrm>
          <a:prstGeom prst="rect">
            <a:avLst/>
          </a:prstGeom>
          <a:solidFill>
            <a:srgbClr val="0E5E6F"/>
          </a:solidFill>
          <a:ln/>
        </p:spPr>
      </p:sp>
      <p:sp>
        <p:nvSpPr>
          <p:cNvPr id="36" name="Shape 34"/>
          <p:cNvSpPr/>
          <p:nvPr/>
        </p:nvSpPr>
        <p:spPr>
          <a:xfrm>
            <a:off x="7924602" y="6748272"/>
            <a:ext cx="304792" cy="109728"/>
          </a:xfrm>
          <a:prstGeom prst="rect">
            <a:avLst/>
          </a:prstGeom>
          <a:solidFill>
            <a:srgbClr val="E0A526"/>
          </a:solidFill>
          <a:ln/>
        </p:spPr>
      </p:sp>
      <p:sp>
        <p:nvSpPr>
          <p:cNvPr id="37" name="Shape 35"/>
          <p:cNvSpPr/>
          <p:nvPr/>
        </p:nvSpPr>
        <p:spPr>
          <a:xfrm>
            <a:off x="8229394" y="6748272"/>
            <a:ext cx="304792" cy="109728"/>
          </a:xfrm>
          <a:prstGeom prst="rect">
            <a:avLst/>
          </a:prstGeom>
          <a:solidFill>
            <a:srgbClr val="0E5E6F"/>
          </a:solidFill>
          <a:ln/>
        </p:spPr>
      </p:sp>
      <p:sp>
        <p:nvSpPr>
          <p:cNvPr id="38" name="Shape 36"/>
          <p:cNvSpPr/>
          <p:nvPr/>
        </p:nvSpPr>
        <p:spPr>
          <a:xfrm>
            <a:off x="8534187" y="6748272"/>
            <a:ext cx="304792" cy="109728"/>
          </a:xfrm>
          <a:prstGeom prst="rect">
            <a:avLst/>
          </a:prstGeom>
          <a:solidFill>
            <a:srgbClr val="8B1E3F"/>
          </a:solidFill>
          <a:ln/>
        </p:spPr>
      </p:sp>
      <p:sp>
        <p:nvSpPr>
          <p:cNvPr id="39" name="Shape 37"/>
          <p:cNvSpPr/>
          <p:nvPr/>
        </p:nvSpPr>
        <p:spPr>
          <a:xfrm>
            <a:off x="8838979" y="6748272"/>
            <a:ext cx="304792" cy="109728"/>
          </a:xfrm>
          <a:prstGeom prst="rect">
            <a:avLst/>
          </a:prstGeom>
          <a:solidFill>
            <a:srgbClr val="0E5E6F"/>
          </a:solidFill>
          <a:ln/>
        </p:spPr>
      </p:sp>
      <p:sp>
        <p:nvSpPr>
          <p:cNvPr id="40" name="Shape 38"/>
          <p:cNvSpPr/>
          <p:nvPr/>
        </p:nvSpPr>
        <p:spPr>
          <a:xfrm>
            <a:off x="9143771" y="6748272"/>
            <a:ext cx="304792" cy="109728"/>
          </a:xfrm>
          <a:prstGeom prst="rect">
            <a:avLst/>
          </a:prstGeom>
          <a:solidFill>
            <a:srgbClr val="E0A526"/>
          </a:solidFill>
          <a:ln/>
        </p:spPr>
      </p:sp>
      <p:sp>
        <p:nvSpPr>
          <p:cNvPr id="41" name="Shape 39"/>
          <p:cNvSpPr/>
          <p:nvPr/>
        </p:nvSpPr>
        <p:spPr>
          <a:xfrm>
            <a:off x="9448564" y="6748272"/>
            <a:ext cx="304792" cy="109728"/>
          </a:xfrm>
          <a:prstGeom prst="rect">
            <a:avLst/>
          </a:prstGeom>
          <a:solidFill>
            <a:srgbClr val="0E5E6F"/>
          </a:solidFill>
          <a:ln/>
        </p:spPr>
      </p:sp>
      <p:sp>
        <p:nvSpPr>
          <p:cNvPr id="42" name="Shape 40"/>
          <p:cNvSpPr/>
          <p:nvPr/>
        </p:nvSpPr>
        <p:spPr>
          <a:xfrm>
            <a:off x="9753356" y="6748272"/>
            <a:ext cx="304792" cy="109728"/>
          </a:xfrm>
          <a:prstGeom prst="rect">
            <a:avLst/>
          </a:prstGeom>
          <a:solidFill>
            <a:srgbClr val="8B1E3F"/>
          </a:solidFill>
          <a:ln/>
        </p:spPr>
      </p:sp>
      <p:sp>
        <p:nvSpPr>
          <p:cNvPr id="43" name="Shape 41"/>
          <p:cNvSpPr/>
          <p:nvPr/>
        </p:nvSpPr>
        <p:spPr>
          <a:xfrm>
            <a:off x="10058149" y="6748272"/>
            <a:ext cx="304792" cy="109728"/>
          </a:xfrm>
          <a:prstGeom prst="rect">
            <a:avLst/>
          </a:prstGeom>
          <a:solidFill>
            <a:srgbClr val="0E5E6F"/>
          </a:solidFill>
          <a:ln/>
        </p:spPr>
      </p:sp>
      <p:sp>
        <p:nvSpPr>
          <p:cNvPr id="44" name="Shape 42"/>
          <p:cNvSpPr/>
          <p:nvPr/>
        </p:nvSpPr>
        <p:spPr>
          <a:xfrm>
            <a:off x="10362941" y="6748272"/>
            <a:ext cx="304792" cy="109728"/>
          </a:xfrm>
          <a:prstGeom prst="rect">
            <a:avLst/>
          </a:prstGeom>
          <a:solidFill>
            <a:srgbClr val="E0A526"/>
          </a:solidFill>
          <a:ln/>
        </p:spPr>
      </p:sp>
      <p:sp>
        <p:nvSpPr>
          <p:cNvPr id="45" name="Shape 43"/>
          <p:cNvSpPr/>
          <p:nvPr/>
        </p:nvSpPr>
        <p:spPr>
          <a:xfrm>
            <a:off x="10667733" y="6748272"/>
            <a:ext cx="304792" cy="109728"/>
          </a:xfrm>
          <a:prstGeom prst="rect">
            <a:avLst/>
          </a:prstGeom>
          <a:solidFill>
            <a:srgbClr val="0E5E6F"/>
          </a:solidFill>
          <a:ln/>
        </p:spPr>
      </p:sp>
      <p:sp>
        <p:nvSpPr>
          <p:cNvPr id="46" name="Shape 44"/>
          <p:cNvSpPr/>
          <p:nvPr/>
        </p:nvSpPr>
        <p:spPr>
          <a:xfrm>
            <a:off x="10972526" y="6748272"/>
            <a:ext cx="304792" cy="109728"/>
          </a:xfrm>
          <a:prstGeom prst="rect">
            <a:avLst/>
          </a:prstGeom>
          <a:solidFill>
            <a:srgbClr val="8B1E3F"/>
          </a:solidFill>
          <a:ln/>
        </p:spPr>
      </p:sp>
      <p:sp>
        <p:nvSpPr>
          <p:cNvPr id="47" name="Shape 45"/>
          <p:cNvSpPr/>
          <p:nvPr/>
        </p:nvSpPr>
        <p:spPr>
          <a:xfrm>
            <a:off x="11277318" y="6748272"/>
            <a:ext cx="304792" cy="109728"/>
          </a:xfrm>
          <a:prstGeom prst="rect">
            <a:avLst/>
          </a:prstGeom>
          <a:solidFill>
            <a:srgbClr val="0E5E6F"/>
          </a:solidFill>
          <a:ln/>
        </p:spPr>
      </p:sp>
      <p:sp>
        <p:nvSpPr>
          <p:cNvPr id="48" name="Shape 46"/>
          <p:cNvSpPr/>
          <p:nvPr/>
        </p:nvSpPr>
        <p:spPr>
          <a:xfrm>
            <a:off x="11582110" y="6748272"/>
            <a:ext cx="304792" cy="109728"/>
          </a:xfrm>
          <a:prstGeom prst="rect">
            <a:avLst/>
          </a:prstGeom>
          <a:solidFill>
            <a:srgbClr val="E0A526"/>
          </a:solidFill>
          <a:ln/>
        </p:spPr>
      </p:sp>
      <p:sp>
        <p:nvSpPr>
          <p:cNvPr id="49" name="Shape 47"/>
          <p:cNvSpPr/>
          <p:nvPr/>
        </p:nvSpPr>
        <p:spPr>
          <a:xfrm>
            <a:off x="11886903" y="6748272"/>
            <a:ext cx="304792" cy="109728"/>
          </a:xfrm>
          <a:prstGeom prst="rect">
            <a:avLst/>
          </a:prstGeom>
          <a:solidFill>
            <a:srgbClr val="0E5E6F"/>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6E1832"/>
                </a:solidFill>
                <a:latin typeface="Cambria" pitchFamily="34" charset="0"/>
                <a:ea typeface="Cambria" pitchFamily="34" charset="-122"/>
                <a:cs typeface="Cambria" pitchFamily="34" charset="-120"/>
              </a:rPr>
              <a:t>What verification needs, before the final roll</a:t>
            </a:r>
            <a:endParaRPr lang="en-US" sz="3000" dirty="0"/>
          </a:p>
        </p:txBody>
      </p:sp>
      <p:sp>
        <p:nvSpPr>
          <p:cNvPr id="3" name="Text 1"/>
          <p:cNvSpPr txBox="1"/>
          <p:nvPr/>
        </p:nvSpPr>
        <p:spPr>
          <a:xfrm>
            <a:off x="548640" y="1371600"/>
            <a:ext cx="11094415" cy="47548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Verify every removal entered as "untraceable or absent", 1,37,825 names, by a visit with notice and a record of the attempt.</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Review every removal of an elector with no link to the 2002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Hearing schedules that give each elector a real hearing: no slot of several hundred cases.</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Ground checks in the 30 parts that lost more than 60% of their roll.</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a:t>
            </a:r>
            <a:endParaRPr lang="en-US" sz="18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Every part, every constituency, online</a:t>
            </a:r>
            <a:endParaRPr lang="en-US" sz="36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and the full report, with a chapter for each constituency, are published on the same website as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2026-09-29T19:12:27Z</dcterms:created>
  <dcterms:modified xsi:type="dcterms:W3CDTF">2026-09-29T19:12:27Z</dcterms:modified>
</cp:coreProperties>
</file>