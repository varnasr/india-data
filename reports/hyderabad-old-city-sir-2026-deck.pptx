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9.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0.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39.66</c:v>
                </c:pt>
                <c:pt idx="1">
                  <c:v>41.33</c:v>
                </c:pt>
                <c:pt idx="2">
                  <c:v>45.09</c:v>
                </c:pt>
                <c:pt idx="3">
                  <c:v>39.46</c:v>
                </c:pt>
                <c:pt idx="4">
                  <c:v>34.57</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c:v>
                </c:pt>
                <c:pt idx="1">
                  <c:v>23.3</c:v>
                </c:pt>
                <c:pt idx="2">
                  <c:v>21.55</c:v>
                </c:pt>
                <c:pt idx="3">
                  <c:v>21.27</c:v>
                </c:pt>
                <c:pt idx="4">
                  <c:v>23.93</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26.16</c:v>
                </c:pt>
                <c:pt idx="1">
                  <c:v>29.2</c:v>
                </c:pt>
                <c:pt idx="2">
                  <c:v>24.75</c:v>
                </c:pt>
                <c:pt idx="3">
                  <c:v>21.68</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c:v>
                </c:pt>
                <c:pt idx="1">
                  <c:v>52.23</c:v>
                </c:pt>
                <c:pt idx="2">
                  <c:v>51.73</c:v>
                </c:pt>
                <c:pt idx="3">
                  <c:v>49.56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46.62</c:v>
                </c:pt>
                <c:pt idx="1">
                  <c:v>55.79</c:v>
                </c:pt>
                <c:pt idx="2">
                  <c:v>53.64</c:v>
                </c:pt>
                <c:pt idx="3">
                  <c:v>51.74</c:v>
                </c:pt>
                <c:pt idx="4">
                  <c:v>44.18</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c:v>
                </c:pt>
                <c:pt idx="1">
                  <c:v>34.51</c:v>
                </c:pt>
                <c:pt idx="2">
                  <c:v>38.16</c:v>
                </c:pt>
                <c:pt idx="3">
                  <c:v>36.07</c:v>
                </c:pt>
                <c:pt idx="4">
                  <c:v>33.36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c:v>
                </c:pt>
                <c:pt idx="1">
                  <c:v>40.31</c:v>
                </c:pt>
                <c:pt idx="2">
                  <c:v>45.08</c:v>
                </c:pt>
                <c:pt idx="3">
                  <c:v>40.01</c:v>
                </c:pt>
                <c:pt idx="4">
                  <c:v>35.79</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c:v>
                </c:pt>
                <c:pt idx="1">
                  <c:v>42.42</c:v>
                </c:pt>
                <c:pt idx="2">
                  <c:v>47.43</c:v>
                </c:pt>
                <c:pt idx="3">
                  <c:v>38.97</c:v>
                </c:pt>
                <c:pt idx="4">
                  <c:v>33.41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Median cases per slot</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lists cover every elector on the pre-revision rolls of the five constituencies, so each group has a true removal rate. These are the September 2026 lists; the final roll is due on 9 November, so restorations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election has been held on the revised roll. The comparison is one of size; the roll records no one's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Commission extended the calendar on 7 September: claims to 7 October, hearings to 5 November, final roll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struck 6.6 lakh electors off five Old City rolls</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pre-revision rolls</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6–9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10–12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13–14</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15–16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and next steps   17–18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19–20</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struck off,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pre-revision rolls,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struck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struck off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struck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struck off exceed every valid vote cast in 2023. Yakutpura was won by 878 votes and lost 1,54,982 names. Across the five, the names struck off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removals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struck off,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an officer's entry, not a finding. Untraceable entries rest on someone not being found, and are where checking should start.</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struck off,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70.1% to 76.6% of those aged 80 and over, 19.3% to 25.6%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struck off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whether the elector maps to the 2002 intensive revision roll.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Linked electors: 25.3% struck off. No link: 51.6%.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2002 link is the revision's own test. Anyone who moved to the city after 2002, or whose family name is spelt differently on the old roll, starts behind.</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struck off,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religion estimated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struck off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estimated from names; the roll records none.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struck off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Bihar, women were 55.5% of the removed. The Old City shows no such gap.</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removal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struck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Median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6675120" y="3749040"/>
            <a:ext cx="4967935" cy="1097280"/>
          </a:xfrm>
          <a:prstGeom prst="rect">
            <a:avLst/>
          </a:prstGeom>
          <a:noFill/>
          <a:ln/>
        </p:spPr>
        <p:txBody>
          <a:bodyPr wrap="square" lIns="0" tIns="0" rIns="0" bIns="0" rtlCol="0" anchor="t">
            <a:normAutofit/>
          </a:bodyPr>
          <a:lstStyle/>
          <a:p>
            <a:pPr indent="0" marL="0">
              <a:spcAft>
                <a:spcPts val="800"/>
              </a:spcAft>
              <a:buNone/>
            </a:pPr>
            <a:r>
              <a:rPr lang="en-US" sz="1400" dirty="0">
                <a:solidFill>
                  <a:srgbClr val="4D5B69"/>
                </a:solidFill>
                <a:latin typeface="Calibri" pitchFamily="34" charset="0"/>
                <a:ea typeface="Calibri" pitchFamily="34" charset="-122"/>
                <a:cs typeface="Calibri" pitchFamily="34" charset="-120"/>
              </a:rPr>
              <a:t>A part far above the rest of its constituency is where checking on the ground should start.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removal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Negative: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the untraceable share uses parts with at least 20 removals.</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the median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struck off not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removals, and the Old City has a large moving population. But 20.8% were entered as untraceable or absent, 8.7% as dead and 6.0% as enrolled elsewhere. Each is an officer's entry, not a finding.</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struck off more often than Muslim-name electors. What the lists show is who carried the burden: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struck off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struck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struck off,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median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struck off outnumber every valid vote cast in 2023.</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1,42,688 names against 1,47,799 in the published list, with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 AND NEXT STEPS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estimated from names, and link to the 2002 roll. Because the lists hold every elector, each group has a true removal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removal was right. A household that moved out is a correct "shifted" deletion; the files cannot tell it from an elector who was at home and missed. Religion and age are given separately,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 AND NEXT STEPS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checking needs 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Verify every removal entered as "untraceable or absent", 1,37,825 names, by a visit with notice and a record of the attempt.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Review every removal of an elector with no link to the 2002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Hearing schedules that give each elector time to be heard, instead of slots listing hundreds of cases.</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Ground checks in the 30 parts that lost more than 60% of their roll, and in parts far above their constituency's median.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Source: the September 2026 SIR lists for the five constituencies, which record the outcome for every elector on the pre-revision roll: struck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 rate: electors on the absent-shifted-dead list divided by electors on the pre-revision roll, for each group. In Bihar the lists hold only the removed, so the Bihar deck gives shares of removals instead.</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Within-part difference: one group's rate minus another's inside each polling part, pooled with each part weighted by its smaller group; parts with fewer than 20 of either are left out. This holds the locality and the officer fixed.</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Spearman rank correlations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2023 results: the declared Assembly results. Only counts are published: no name, EPIC number or address.</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Varna Sri Raman</dc:creator>
  <cp:lastModifiedBy>Varna Sri Raman</cp:lastModifiedBy>
  <cp:revision>1</cp:revision>
  <dcterms:created xsi:type="dcterms:W3CDTF">2026-09-30T07:49:23Z</dcterms:created>
  <dcterms:modified xsi:type="dcterms:W3CDTF">2026-09-30T07:49:23Z</dcterms:modified>
</cp:coreProperties>
</file>