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5.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4.xml" ContentType="application/vnd.openxmlformats-officedocument.drawingml.chart+xml"/>
  <Override PartName="/ppt/charts/chart3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Struck off</c:v>
                </c:pt>
              </c:strCache>
            </c:strRef>
          </c:tx>
          <c:spPr>
            <a:solidFill>
              <a:srgbClr val="C0392B"/>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Sheet1!$B$2:$B$6</c:f>
              <c:numCache>
                <c:formatCode>General</c:formatCode>
                <c:ptCount val="5"/>
                <c:pt idx="0">
                  <c:v>39.66</c:v>
                </c:pt>
                <c:pt idx="1">
                  <c:v>41.33</c:v>
                </c:pt>
                <c:pt idx="2">
                  <c:v>45.09</c:v>
                </c:pt>
                <c:pt idx="3">
                  <c:v>39.46</c:v>
                </c:pt>
                <c:pt idx="4">
                  <c:v>34.57</c:v>
                </c:pt>
              </c:numCache>
            </c:numRef>
          </c:val>
        </c:ser>
        <c:ser>
          <c:idx val="1"/>
          <c:order val="1"/>
          <c:tx>
            <c:strRef>
              <c:f>Sheet1!$C$1</c:f>
              <c:strCache>
                <c:ptCount val="1"/>
                <c:pt idx="0">
                  <c:v>Kept, summoned to a hearing</c:v>
                </c:pt>
              </c:strCache>
            </c:strRef>
          </c:tx>
          <c:spPr>
            <a:solidFill>
              <a:srgbClr val="D4AC0D"/>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Sheet1!$C$2:$C$6</c:f>
              <c:numCache>
                <c:formatCode>General</c:formatCode>
                <c:ptCount val="5"/>
                <c:pt idx="0">
                  <c:v>21.12</c:v>
                </c:pt>
                <c:pt idx="1">
                  <c:v>23.3</c:v>
                </c:pt>
                <c:pt idx="2">
                  <c:v>21.55</c:v>
                </c:pt>
                <c:pt idx="3">
                  <c:v>21.27</c:v>
                </c:pt>
                <c:pt idx="4">
                  <c:v>23.93</c:v>
                </c:pt>
              </c:numCache>
            </c:numRef>
          </c:val>
        </c:ser>
        <c:ser>
          <c:idx val="2"/>
          <c:order val="2"/>
          <c:tx>
            <c:strRef>
              <c:f>Sheet1!$D$1</c:f>
              <c:strCache>
                <c:ptCount val="1"/>
                <c:pt idx="0">
                  <c:v>Kept, not summoned</c:v>
                </c:pt>
              </c:strCache>
            </c:strRef>
          </c:tx>
          <c:spPr>
            <a:solidFill>
              <a:srgbClr val="1F618D"/>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Sheet1!$D$2:$D$6</c:f>
              <c:numCache>
                <c:formatCode>General</c:formatCode>
                <c:ptCount val="5"/>
                <c:pt idx="0">
                  <c:v>39.2</c:v>
                </c:pt>
                <c:pt idx="1">
                  <c:v>35.3</c:v>
                </c:pt>
                <c:pt idx="2">
                  <c:v>30.9</c:v>
                </c:pt>
                <c:pt idx="3">
                  <c:v>39.2</c:v>
                </c:pt>
                <c:pt idx="4">
                  <c:v>41.4</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ax val="100"/>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Permanently shifted</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Sheet1!$B$2:$B$6</c:f>
              <c:numCache>
                <c:formatCode>General</c:formatCode>
                <c:ptCount val="5"/>
                <c:pt idx="0">
                  <c:v>44.9</c:v>
                </c:pt>
                <c:pt idx="1">
                  <c:v>66.8</c:v>
                </c:pt>
                <c:pt idx="2">
                  <c:v>81.4</c:v>
                </c:pt>
                <c:pt idx="3">
                  <c:v>61.4</c:v>
                </c:pt>
                <c:pt idx="4">
                  <c:v>59.2</c:v>
                </c:pt>
              </c:numCache>
            </c:numRef>
          </c:val>
        </c:ser>
        <c:ser>
          <c:idx val="1"/>
          <c:order val="1"/>
          <c:tx>
            <c:strRef>
              <c:f>Sheet1!$C$1</c:f>
              <c:strCache>
                <c:ptCount val="1"/>
                <c:pt idx="0">
                  <c:v>Untraceable or absent</c:v>
                </c:pt>
              </c:strCache>
            </c:strRef>
          </c:tx>
          <c:spPr>
            <a:solidFill>
              <a:srgbClr val="C0392B"/>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Sheet1!$C$2:$C$6</c:f>
              <c:numCache>
                <c:formatCode>General</c:formatCode>
                <c:ptCount val="5"/>
                <c:pt idx="0">
                  <c:v>38.3</c:v>
                </c:pt>
                <c:pt idx="1">
                  <c:v>16.1</c:v>
                </c:pt>
                <c:pt idx="2">
                  <c:v>6.5</c:v>
                </c:pt>
                <c:pt idx="3">
                  <c:v>25.4</c:v>
                </c:pt>
                <c:pt idx="4">
                  <c:v>24.4</c:v>
                </c:pt>
              </c:numCache>
            </c:numRef>
          </c:val>
        </c:ser>
        <c:ser>
          <c:idx val="2"/>
          <c:order val="2"/>
          <c:tx>
            <c:strRef>
              <c:f>Sheet1!$D$1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Sheet1!$D$2:$D$6</c:f>
              <c:numCache>
                <c:formatCode>General</c:formatCode>
                <c:ptCount val="5"/>
                <c:pt idx="0">
                  <c:v>10.9</c:v>
                </c:pt>
                <c:pt idx="1">
                  <c:v>9.4</c:v>
                </c:pt>
                <c:pt idx="2">
                  <c:v>7.2</c:v>
                </c:pt>
                <c:pt idx="3">
                  <c:v>8.6</c:v>
                </c:pt>
                <c:pt idx="4">
                  <c:v>8</c:v>
                </c:pt>
              </c:numCache>
            </c:numRef>
          </c:val>
        </c:ser>
        <c:ser>
          <c:idx val="3"/>
          <c:order val="3"/>
          <c:tx>
            <c:strRef>
              <c:f>Sheet1!$E$1</c:f>
              <c:strCache>
                <c:ptCount val="1"/>
                <c:pt idx="0">
                  <c:v>Enrolled elsewhere</c:v>
                </c:pt>
              </c:strCache>
            </c:strRef>
          </c:tx>
          <c:spPr>
            <a:solidFill>
              <a:srgbClr val="E0A52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Sheet1!$E$2:$E$6</c:f>
              <c:numCache>
                <c:formatCode>General</c:formatCode>
                <c:ptCount val="5"/>
                <c:pt idx="0">
                  <c:v>6</c:v>
                </c:pt>
                <c:pt idx="1">
                  <c:v>7.7</c:v>
                </c:pt>
                <c:pt idx="2">
                  <c:v>4.9</c:v>
                </c:pt>
                <c:pt idx="3">
                  <c:v>4.2</c:v>
                </c:pt>
                <c:pt idx="4">
                  <c:v>7.6</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left off</c:v>
                </c:pt>
              </c:strCache>
            </c:strRef>
          </c:tx>
          <c:spPr>
            <a:solidFill>
              <a:srgbClr val="8B1E3F"/>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8B1E3F"/>
              </a:solidFill>
              <a:effectLst/>
            </c:spPr>
          </c:dPt>
          <c:dPt>
            <c:idx val="1"/>
            <c:invertIfNegative val="0"/>
            <c:bubble3D val="0"/>
            <c:spPr>
              <a:solidFill>
                <a:srgbClr val="1F618D"/>
              </a:solidFill>
              <a:effectLst/>
            </c:spPr>
          </c:dPt>
          <c:dPt>
            <c:idx val="2"/>
            <c:invertIfNegative val="0"/>
            <c:bubble3D val="0"/>
            <c:spPr>
              <a:solidFill>
                <a:srgbClr val="1F618D"/>
              </a:solidFill>
              <a:effectLst/>
            </c:spPr>
          </c:dPt>
          <c:dPt>
            <c:idx val="3"/>
            <c:invertIfNegative val="0"/>
            <c:bubble3D val="0"/>
            <c:spPr>
              <a:solidFill>
                <a:srgbClr val="8B1E3F"/>
              </a:solidFill>
              <a:effectLst/>
            </c:spPr>
          </c:dPt>
          <c:dPt>
            <c:idx val="4"/>
            <c:invertIfNegative val="0"/>
            <c:bubble3D val="0"/>
            <c:spPr>
              <a:solidFill>
                <a:srgbClr val="1F618D"/>
              </a:solidFill>
              <a:effectLst/>
            </c:spPr>
          </c:dPt>
          <c:dPt>
            <c:idx val="5"/>
            <c:invertIfNegative val="0"/>
            <c:bubble3D val="0"/>
            <c:spPr>
              <a:solidFill>
                <a:srgbClr val="8B1E3F"/>
              </a:solidFill>
              <a:effectLst/>
            </c:spPr>
          </c:dPt>
          <c:dPt>
            <c:idx val="6"/>
            <c:invertIfNegative val="0"/>
            <c:bubble3D val="0"/>
            <c:spPr>
              <a:solidFill>
                <a:srgbClr val="1F618D"/>
              </a:solidFill>
              <a:effectLst/>
            </c:spPr>
          </c:dPt>
          <c:dPt>
            <c:idx val="7"/>
            <c:invertIfNegative val="0"/>
            <c:bubble3D val="0"/>
            <c:spPr>
              <a:solidFill>
                <a:srgbClr val="8B1E3F"/>
              </a:solidFill>
              <a:effectLst/>
            </c:spPr>
          </c:dPt>
          <c:dPt>
            <c:idx val="8"/>
            <c:invertIfNegative val="0"/>
            <c:bubble3D val="0"/>
            <c:spPr>
              <a:solidFill>
                <a:srgbClr val="1F618D"/>
              </a:solidFill>
              <a:effectLst/>
            </c:spPr>
          </c:dPt>
          <c:dPt>
            <c:idx val="9"/>
            <c:invertIfNegative val="0"/>
            <c:bubble3D val="0"/>
            <c:spPr>
              <a:solidFill>
                <a:srgbClr val="1F618D"/>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8B1E3F"/>
              </a:solidFill>
              <a:effectLst/>
            </c:spPr>
          </c:dPt>
          <c:dPt>
            <c:idx val="13"/>
            <c:invertIfNegative val="0"/>
            <c:bubble3D val="0"/>
            <c:spPr>
              <a:solidFill>
                <a:srgbClr val="1F618D"/>
              </a:solidFill>
              <a:effectLst/>
            </c:spPr>
          </c:dPt>
          <c:dPt>
            <c:idx val="14"/>
            <c:invertIfNegative val="0"/>
            <c:bubble3D val="0"/>
            <c:spPr>
              <a:solidFill>
                <a:srgbClr val="1F618D"/>
              </a:solidFill>
              <a:effectLst/>
            </c:spPr>
          </c:dPt>
          <c:cat>
            <c:multiLvlStrRef>
              <c:f>Sheet1!$A$2:$A$16</c:f>
              <c:multiLvlStrCache>
                <c:ptCount val="15"/>
                <c:lvl>
                  <c:pt idx="0">
                    <c:v>Bahadurpura</c:v>
                  </c:pt>
                  <c:pt idx="1">
                    <c:v>Karwan</c:v>
                  </c:pt>
                  <c:pt idx="2">
                    <c:v>Secunderabad</c:v>
                  </c:pt>
                  <c:pt idx="3">
                    <c:v>Chandrayangutta</c:v>
                  </c:pt>
                  <c:pt idx="4">
                    <c:v>Nampally</c:v>
                  </c:pt>
                  <c:pt idx="5">
                    <c:v>Charminar</c:v>
                  </c:pt>
                  <c:pt idx="6">
                    <c:v>Goshamahal</c:v>
                  </c:pt>
                  <c:pt idx="7">
                    <c:v>Yakutpura</c:v>
                  </c:pt>
                  <c:pt idx="8">
                    <c:v>Khairatabad</c:v>
                  </c:pt>
                  <c:pt idx="9">
                    <c:v>Amberpet</c:v>
                  </c:pt>
                  <c:pt idx="10">
                    <c:v>Secunderabad Cantonment</c:v>
                  </c:pt>
                  <c:pt idx="11">
                    <c:v>Jubilee Hills</c:v>
                  </c:pt>
                  <c:pt idx="12">
                    <c:v>Malakpet</c:v>
                  </c:pt>
                  <c:pt idx="13">
                    <c:v>Sanathnagar</c:v>
                  </c:pt>
                  <c:pt idx="14">
                    <c:v>Musheerabad</c:v>
                  </c:pt>
                </c:lvl>
              </c:multiLvlStrCache>
            </c:multiLvlStrRef>
          </c:cat>
          <c:val>
            <c:numRef>
              <c:f>Sheet1!$B$2:$B$16</c:f>
              <c:numCache>
                <c:formatCode>General</c:formatCode>
                <c:ptCount val="15"/>
                <c:pt idx="0">
                  <c:v>34.57</c:v>
                </c:pt>
                <c:pt idx="1">
                  <c:v>37</c:v>
                </c:pt>
                <c:pt idx="2">
                  <c:v>38.19</c:v>
                </c:pt>
                <c:pt idx="3">
                  <c:v>39.46</c:v>
                </c:pt>
                <c:pt idx="4">
                  <c:v>39.64</c:v>
                </c:pt>
                <c:pt idx="5">
                  <c:v>39.66</c:v>
                </c:pt>
                <c:pt idx="6">
                  <c:v>40.02</c:v>
                </c:pt>
                <c:pt idx="7">
                  <c:v>41.33</c:v>
                </c:pt>
                <c:pt idx="8">
                  <c:v>42.04</c:v>
                </c:pt>
                <c:pt idx="9">
                  <c:v>42.61</c:v>
                </c:pt>
                <c:pt idx="10">
                  <c:v>42.77</c:v>
                </c:pt>
                <c:pt idx="11">
                  <c:v>44.14</c:v>
                </c:pt>
                <c:pt idx="12">
                  <c:v>44.76</c:v>
                </c:pt>
                <c:pt idx="13">
                  <c:v>44.93</c:v>
                </c:pt>
                <c:pt idx="14">
                  <c:v>45.17</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struck off</c:v>
                </c:pt>
              </c:strCache>
            </c:strRef>
          </c:tx>
          <c:spPr>
            <a:solidFill>
              <a:srgbClr val="8B1E3F"/>
            </a:solidFill>
            <a:effectLst/>
          </c:spPr>
          <c:invertIfNegative val="0"/>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18-24</c:v>
                  </c:pt>
                  <c:pt idx="1">
                    <c:v>25-29</c:v>
                  </c:pt>
                  <c:pt idx="2">
                    <c:v>30-39</c:v>
                  </c:pt>
                  <c:pt idx="3">
                    <c:v>40-49</c:v>
                  </c:pt>
                  <c:pt idx="4">
                    <c:v>50-59</c:v>
                  </c:pt>
                  <c:pt idx="5">
                    <c:v>60-69</c:v>
                  </c:pt>
                  <c:pt idx="6">
                    <c:v>70-79</c:v>
                  </c:pt>
                  <c:pt idx="7">
                    <c:v>80+</c:v>
                  </c:pt>
                </c:lvl>
              </c:multiLvlStrCache>
            </c:multiLvlStrRef>
          </c:cat>
          <c:val>
            <c:numRef>
              <c:f>Sheet1!$B$2:$B$9</c:f>
              <c:numCache>
                <c:formatCode>General</c:formatCode>
                <c:ptCount val="8"/>
                <c:pt idx="0">
                  <c:v>20.9</c:v>
                </c:pt>
                <c:pt idx="1">
                  <c:v>30.6</c:v>
                </c:pt>
                <c:pt idx="2">
                  <c:v>40.5</c:v>
                </c:pt>
                <c:pt idx="3">
                  <c:v>41</c:v>
                </c:pt>
                <c:pt idx="4">
                  <c:v>41</c:v>
                </c:pt>
                <c:pt idx="5">
                  <c:v>46.6</c:v>
                </c:pt>
                <c:pt idx="6">
                  <c:v>57.2</c:v>
                </c:pt>
                <c:pt idx="7">
                  <c:v>74</c:v>
                </c:pt>
              </c:numCache>
            </c:numRef>
          </c:val>
        </c:ser>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Linked to 2002</c:v>
                </c:pt>
              </c:strCache>
            </c:strRef>
          </c:tx>
          <c:spPr>
            <a:solidFill>
              <a:srgbClr val="0E5E6F"/>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Charminar</c:v>
                  </c:pt>
                  <c:pt idx="1">
                    <c:v>Yakutpura</c:v>
                  </c:pt>
                  <c:pt idx="2">
                    <c:v>Chandrayangutta</c:v>
                  </c:pt>
                  <c:pt idx="3">
                    <c:v>Bahadurpura</c:v>
                  </c:pt>
                </c:lvl>
              </c:multiLvlStrCache>
            </c:multiLvlStrRef>
          </c:cat>
          <c:val>
            <c:numRef>
              <c:f>Sheet1!$B$2:$B$5</c:f>
              <c:numCache>
                <c:formatCode>General</c:formatCode>
                <c:ptCount val="4"/>
                <c:pt idx="0">
                  <c:v>26.16</c:v>
                </c:pt>
                <c:pt idx="1">
                  <c:v>29.2</c:v>
                </c:pt>
                <c:pt idx="2">
                  <c:v>24.75</c:v>
                </c:pt>
                <c:pt idx="3">
                  <c:v>21.68</c:v>
                </c:pt>
              </c:numCache>
            </c:numRef>
          </c:val>
        </c:ser>
        <c:ser>
          <c:idx val="1"/>
          <c:order val="1"/>
          <c:tx>
            <c:strRef>
              <c:f>Sheet1!$C$1</c:f>
              <c:strCache>
                <c:ptCount val="1"/>
                <c:pt idx="0">
                  <c:v>No 2002 link</c:v>
                </c:pt>
              </c:strCache>
            </c:strRef>
          </c:tx>
          <c:spPr>
            <a:solidFill>
              <a:srgbClr val="C0392B"/>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Charminar</c:v>
                  </c:pt>
                  <c:pt idx="1">
                    <c:v>Yakutpura</c:v>
                  </c:pt>
                  <c:pt idx="2">
                    <c:v>Chandrayangutta</c:v>
                  </c:pt>
                  <c:pt idx="3">
                    <c:v>Bahadurpura</c:v>
                  </c:pt>
                </c:lvl>
              </c:multiLvlStrCache>
            </c:multiLvlStrRef>
          </c:cat>
          <c:val>
            <c:numRef>
              <c:f>Sheet1!$C$2:$C$5</c:f>
              <c:numCache>
                <c:formatCode>General</c:formatCode>
                <c:ptCount val="4"/>
                <c:pt idx="0">
                  <c:v>53.08</c:v>
                </c:pt>
                <c:pt idx="1">
                  <c:v>52.23</c:v>
                </c:pt>
                <c:pt idx="2">
                  <c:v>51.73</c:v>
                </c:pt>
                <c:pt idx="3">
                  <c:v>49.56</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Hindu-name electors</c:v>
                </c:pt>
              </c:strCache>
            </c:strRef>
          </c:tx>
          <c:spPr>
            <a:solidFill>
              <a:srgbClr val="E0A526"/>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Sheet1!$B$2:$B$6</c:f>
              <c:numCache>
                <c:formatCode>General</c:formatCode>
                <c:ptCount val="5"/>
                <c:pt idx="0">
                  <c:v>46.62</c:v>
                </c:pt>
                <c:pt idx="1">
                  <c:v>55.79</c:v>
                </c:pt>
                <c:pt idx="2">
                  <c:v>53.64</c:v>
                </c:pt>
                <c:pt idx="3">
                  <c:v>51.74</c:v>
                </c:pt>
                <c:pt idx="4">
                  <c:v>44.18</c:v>
                </c:pt>
              </c:numCache>
            </c:numRef>
          </c:val>
        </c:ser>
        <c:ser>
          <c:idx val="1"/>
          <c:order val="1"/>
          <c:tx>
            <c:strRef>
              <c:f>Sheet1!$C$1</c:f>
              <c:strCache>
                <c:ptCount val="1"/>
                <c:pt idx="0">
                  <c:v>Muslim-name electors</c:v>
                </c:pt>
              </c:strCache>
            </c:strRef>
          </c:tx>
          <c:spPr>
            <a:solidFill>
              <a:srgbClr val="1E8449"/>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Sheet1!$C$2:$C$6</c:f>
              <c:numCache>
                <c:formatCode>General</c:formatCode>
                <c:ptCount val="5"/>
                <c:pt idx="0">
                  <c:v>36.1</c:v>
                </c:pt>
                <c:pt idx="1">
                  <c:v>34.51</c:v>
                </c:pt>
                <c:pt idx="2">
                  <c:v>38.16</c:v>
                </c:pt>
                <c:pt idx="3">
                  <c:v>36.07</c:v>
                </c:pt>
                <c:pt idx="4">
                  <c:v>33.36</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Women</c:v>
                </c:pt>
              </c:strCache>
            </c:strRef>
          </c:tx>
          <c:spPr>
            <a:solidFill>
              <a:srgbClr val="AF3B6E"/>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Sheet1!$B$2:$B$6</c:f>
              <c:numCache>
                <c:formatCode>General</c:formatCode>
                <c:ptCount val="5"/>
                <c:pt idx="0">
                  <c:v>38.14</c:v>
                </c:pt>
                <c:pt idx="1">
                  <c:v>40.31</c:v>
                </c:pt>
                <c:pt idx="2">
                  <c:v>45.08</c:v>
                </c:pt>
                <c:pt idx="3">
                  <c:v>40.01</c:v>
                </c:pt>
                <c:pt idx="4">
                  <c:v>35.79</c:v>
                </c:pt>
              </c:numCache>
            </c:numRef>
          </c:val>
        </c:ser>
        <c:ser>
          <c:idx val="1"/>
          <c:order val="1"/>
          <c:tx>
            <c:strRef>
              <c:f>Sheet1!$C$1</c:f>
              <c:strCache>
                <c:ptCount val="1"/>
                <c:pt idx="0">
                  <c:v>Men</c:v>
                </c:pt>
              </c:strCache>
            </c:strRef>
          </c:tx>
          <c:spPr>
            <a:solidFill>
              <a:srgbClr val="1F618D"/>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Sheet1!$C$2:$C$6</c:f>
              <c:numCache>
                <c:formatCode>General</c:formatCode>
                <c:ptCount val="5"/>
                <c:pt idx="0">
                  <c:v>41.11</c:v>
                </c:pt>
                <c:pt idx="1">
                  <c:v>42.42</c:v>
                </c:pt>
                <c:pt idx="2">
                  <c:v>47.43</c:v>
                </c:pt>
                <c:pt idx="3">
                  <c:v>38.97</c:v>
                </c:pt>
                <c:pt idx="4">
                  <c:v>33.41</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95A5A6"/>
              </a:solidFill>
              <a:effectLst/>
            </c:spPr>
          </c:dPt>
          <c:dPt>
            <c:idx val="2"/>
            <c:invertIfNegative val="0"/>
            <c:bubble3D val="0"/>
            <c:spPr>
              <a:solidFill>
                <a:srgbClr val="95A5A6"/>
              </a:solidFill>
              <a:effectLst/>
            </c:spPr>
          </c:dPt>
          <c:dPt>
            <c:idx val="3"/>
            <c:invertIfNegative val="0"/>
            <c:bubble3D val="0"/>
            <c:spPr>
              <a:solidFill>
                <a:srgbClr val="95A5A6"/>
              </a:solidFill>
              <a:effectLst/>
            </c:spPr>
          </c:dPt>
          <c:dPt>
            <c:idx val="4"/>
            <c:invertIfNegative val="0"/>
            <c:bubble3D val="0"/>
            <c:spPr>
              <a:solidFill>
                <a:srgbClr val="95A5A6"/>
              </a:solidFill>
              <a:effectLst/>
            </c:spPr>
          </c:dPt>
          <c:dPt>
            <c:idx val="5"/>
            <c:invertIfNegative val="0"/>
            <c:bubble3D val="0"/>
            <c:spPr>
              <a:solidFill>
                <a:srgbClr val="8B1E3F"/>
              </a:solidFill>
              <a:effectLst/>
            </c:spPr>
          </c:dPt>
          <c:dPt>
            <c:idx val="6"/>
            <c:invertIfNegative val="0"/>
            <c:bubble3D val="0"/>
            <c:spPr>
              <a:solidFill>
                <a:srgbClr val="8B1E3F"/>
              </a:solidFill>
              <a:effectLst/>
            </c:spPr>
          </c:dPt>
          <c:cat>
            <c:multiLvlStrRef>
              <c:f>Sheet1!$A$2:$A$8</c:f>
              <c:multiLvlStrCache>
                <c:ptCount val="7"/>
                <c:lvl>
                  <c:pt idx="0">
                    <c:v>10–20%</c:v>
                  </c:pt>
                  <c:pt idx="1">
                    <c:v>20–30%</c:v>
                  </c:pt>
                  <c:pt idx="2">
                    <c:v>30–40%</c:v>
                  </c:pt>
                  <c:pt idx="3">
                    <c:v>40–50%</c:v>
                  </c:pt>
                  <c:pt idx="4">
                    <c:v>50–60%</c:v>
                  </c:pt>
                  <c:pt idx="5">
                    <c:v>60–70%</c:v>
                  </c:pt>
                  <c:pt idx="6">
                    <c:v>70–80%</c:v>
                  </c:pt>
                </c:lvl>
              </c:multiLvlStrCache>
            </c:multiLvlStrRef>
          </c:cat>
          <c:val>
            <c:numRef>
              <c:f>Sheet1!$B$2:$B$8</c:f>
              <c:numCache>
                <c:formatCode>General</c:formatCode>
                <c:ptCount val="7"/>
                <c:pt idx="0">
                  <c:v>11</c:v>
                </c:pt>
                <c:pt idx="1">
                  <c:v>110</c:v>
                </c:pt>
                <c:pt idx="2">
                  <c:v>551</c:v>
                </c:pt>
                <c:pt idx="3">
                  <c:v>352</c:v>
                </c:pt>
                <c:pt idx="4">
                  <c:v>104</c:v>
                </c:pt>
                <c:pt idx="5">
                  <c:v>26</c:v>
                </c:pt>
                <c:pt idx="6">
                  <c:v>4</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Flags</c:v>
                </c:pt>
              </c:strCache>
            </c:strRef>
          </c:tx>
          <c:spPr>
            <a:solidFill>
              <a:srgbClr val="8B1E3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Grandparent less than 40 years older</c:v>
                  </c:pt>
                  <c:pt idx="1">
                    <c:v>Children born under 9 months apart</c:v>
                  </c:pt>
                  <c:pt idx="2">
                    <c:v>Parent less than 15 years older</c:v>
                  </c:pt>
                  <c:pt idx="3">
                    <c:v>Own name does not match</c:v>
                  </c:pt>
                  <c:pt idx="4">
                    <c:v>Six or more children recorded</c:v>
                  </c:pt>
                  <c:pt idx="5">
                    <c:v>Parent's name does not match</c:v>
                  </c:pt>
                  <c:pt idx="6">
                    <c:v>Not traced to the 2002 roll</c:v>
                  </c:pt>
                </c:lvl>
              </c:multiLvlStrCache>
            </c:multiLvlStrRef>
          </c:cat>
          <c:val>
            <c:numRef>
              <c:f>Sheet1!$B$2:$B$8</c:f>
              <c:numCache>
                <c:formatCode>General</c:formatCode>
                <c:ptCount val="7"/>
                <c:pt idx="0">
                  <c:v>16296</c:v>
                </c:pt>
                <c:pt idx="1">
                  <c:v>22783</c:v>
                </c:pt>
                <c:pt idx="2">
                  <c:v>38277</c:v>
                </c:pt>
                <c:pt idx="3">
                  <c:v>42933</c:v>
                </c:pt>
                <c:pt idx="4">
                  <c:v>51822</c:v>
                </c:pt>
                <c:pt idx="5">
                  <c:v>63180</c:v>
                </c:pt>
                <c:pt idx="6">
                  <c:v>108489</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Cases in the typical slot (median)</c:v>
                </c:pt>
              </c:strCache>
            </c:strRef>
          </c:tx>
          <c:spPr>
            <a:solidFill>
              <a:srgbClr val="0E5E6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Sheet1!$B$2:$B$6</c:f>
              <c:numCache>
                <c:formatCode>General</c:formatCode>
                <c:ptCount val="5"/>
                <c:pt idx="0">
                  <c:v>38</c:v>
                </c:pt>
                <c:pt idx="1">
                  <c:v>60</c:v>
                </c:pt>
                <c:pt idx="2">
                  <c:v>45</c:v>
                </c:pt>
                <c:pt idx="3">
                  <c:v>50</c:v>
                </c:pt>
                <c:pt idx="4">
                  <c:v>50</c:v>
                </c:pt>
              </c:numCache>
            </c:numRef>
          </c:val>
        </c:ser>
        <c:ser>
          <c:idx val="1"/>
          <c:order val="1"/>
          <c:tx>
            <c:strRef>
              <c:f>Sheet1!$C$1</c:f>
              <c:strCache>
                <c:ptCount val="1"/>
                <c:pt idx="0">
                  <c:v>Busiest single slot</c:v>
                </c:pt>
              </c:strCache>
            </c:strRef>
          </c:tx>
          <c:spPr>
            <a:solidFill>
              <a:srgbClr val="8B1E3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Charminar</c:v>
                  </c:pt>
                  <c:pt idx="1">
                    <c:v>Yakutpura</c:v>
                  </c:pt>
                  <c:pt idx="2">
                    <c:v>Malakpet</c:v>
                  </c:pt>
                  <c:pt idx="3">
                    <c:v>Chandrayangutta</c:v>
                  </c:pt>
                  <c:pt idx="4">
                    <c:v>Bahadurpura</c:v>
                  </c:pt>
                </c:lvl>
              </c:multiLvlStrCache>
            </c:multiLvlStrRef>
          </c:cat>
          <c:val>
            <c:numRef>
              <c:f>Sheet1!$C$2:$C$6</c:f>
              <c:numCache>
                <c:formatCode>General</c:formatCode>
                <c:ptCount val="5"/>
                <c:pt idx="0">
                  <c:v>459</c:v>
                </c:pt>
                <c:pt idx="1">
                  <c:v>323</c:v>
                </c:pt>
                <c:pt idx="2">
                  <c:v>284</c:v>
                </c:pt>
                <c:pt idx="3">
                  <c:v>299</c:v>
                </c:pt>
                <c:pt idx="4">
                  <c:v>150</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833"/>
                </a:solidFill>
                <a:latin typeface="Calibri"/>
              </a:defRPr>
            </a:pPr>
            <a:r>
              <a:rPr sz="1200" b="0" i="0" u="none" strike="noStrike">
                <a:solidFill>
                  <a:srgbClr val="1C2833"/>
                </a:solidFill>
                <a:latin typeface="Calibri"/>
              </a:rPr>
              <a:t>Cases listed per day, all five</a:t>
            </a:r>
          </a:p>
        </c:rich>
      </c:tx>
      <c:layout/>
      <c:overlay val="0"/>
    </c:title>
    <c:autoTitleDeleted val="0"/>
    <c:plotArea>
      <c:layout/>
      <c:lineChart>
        <c:varyColors val="0"/>
        <c:ser>
          <c:idx val="0"/>
          <c:order val="0"/>
          <c:tx>
            <c:strRef>
              <c:f>Sheet1!$B$1</c:f>
              <c:strCache>
                <c:ptCount val="1"/>
                <c:pt idx="0">
                  <c:v>Cases listed per day</c:v>
                </c:pt>
              </c:strCache>
            </c:strRef>
          </c:tx>
          <c:spPr>
            <a:solidFill>
              <a:srgbClr val="8B1E3F"/>
            </a:solidFill>
            <a:ln w="25400" cap="flat">
              <a:solidFill>
                <a:srgbClr val="8B1E3F"/>
              </a:solidFill>
              <a:prstDash val="solid"/>
              <a:round/>
            </a:ln>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marker>
            <c:symbol val="none"/>
            <c:size val="6"/>
            <c:spPr>
              <a:solidFill>
                <a:srgbClr val="8B1E3F"/>
              </a:solidFill>
              <a:ln w="9525" cap="flat">
                <a:solidFill>
                  <a:srgbClr val="8B1E3F"/>
                </a:solidFill>
                <a:prstDash val="solid"/>
                <a:round/>
              </a:ln>
              <a:effectLst/>
            </c:spPr>
          </c:marker>
          <c:cat>
            <c:multiLvlStrRef>
              <c:f>Sheet1!$A$2:$A$24</c:f>
              <c:multiLvlStrCache>
                <c:ptCount val="23"/>
                <c:lvl>
                  <c:pt idx="0">
                    <c:v>28 Aug</c:v>
                  </c:pt>
                  <c:pt idx="1">
                    <c:v>29 Aug</c:v>
                  </c:pt>
                  <c:pt idx="2">
                    <c:v>30 Aug</c:v>
                  </c:pt>
                  <c:pt idx="3">
                    <c:v>31 Aug</c:v>
                  </c:pt>
                  <c:pt idx="4">
                    <c:v>01 Sep</c:v>
                  </c:pt>
                  <c:pt idx="5">
                    <c:v>02 Sep</c:v>
                  </c:pt>
                  <c:pt idx="6">
                    <c:v>03 Sep</c:v>
                  </c:pt>
                  <c:pt idx="7">
                    <c:v>04 Sep</c:v>
                  </c:pt>
                  <c:pt idx="8">
                    <c:v>05 Sep</c:v>
                  </c:pt>
                  <c:pt idx="9">
                    <c:v>06 Sep</c:v>
                  </c:pt>
                  <c:pt idx="10">
                    <c:v>07 Sep</c:v>
                  </c:pt>
                  <c:pt idx="11">
                    <c:v>08 Sep</c:v>
                  </c:pt>
                  <c:pt idx="12">
                    <c:v>09 Sep</c:v>
                  </c:pt>
                  <c:pt idx="13">
                    <c:v>10 Sep</c:v>
                  </c:pt>
                  <c:pt idx="14">
                    <c:v>11 Sep</c:v>
                  </c:pt>
                  <c:pt idx="15">
                    <c:v>15 Sep</c:v>
                  </c:pt>
                  <c:pt idx="16">
                    <c:v>16 Sep</c:v>
                  </c:pt>
                  <c:pt idx="17">
                    <c:v>17 Sep</c:v>
                  </c:pt>
                  <c:pt idx="18">
                    <c:v>18 Sep</c:v>
                  </c:pt>
                  <c:pt idx="19">
                    <c:v>19 Sep</c:v>
                  </c:pt>
                  <c:pt idx="20">
                    <c:v>21 Sep</c:v>
                  </c:pt>
                  <c:pt idx="21">
                    <c:v>22 Sep</c:v>
                  </c:pt>
                  <c:pt idx="22">
                    <c:v>23 Sep</c:v>
                  </c:pt>
                </c:lvl>
              </c:multiLvlStrCache>
            </c:multiLvlStrRef>
          </c:cat>
          <c:val>
            <c:numRef>
              <c:f>Sheet1!$B$2:$B$24</c:f>
              <c:numCache>
                <c:formatCode>General</c:formatCode>
                <c:ptCount val="23"/>
                <c:pt idx="0">
                  <c:v>6743</c:v>
                </c:pt>
                <c:pt idx="1">
                  <c:v>12130</c:v>
                </c:pt>
                <c:pt idx="2">
                  <c:v>7507</c:v>
                </c:pt>
                <c:pt idx="3">
                  <c:v>13781</c:v>
                </c:pt>
                <c:pt idx="4">
                  <c:v>13365</c:v>
                </c:pt>
                <c:pt idx="5">
                  <c:v>12512</c:v>
                </c:pt>
                <c:pt idx="6">
                  <c:v>11647</c:v>
                </c:pt>
                <c:pt idx="7">
                  <c:v>8381</c:v>
                </c:pt>
                <c:pt idx="8">
                  <c:v>18509</c:v>
                </c:pt>
                <c:pt idx="9">
                  <c:v>15568</c:v>
                </c:pt>
                <c:pt idx="10">
                  <c:v>20689</c:v>
                </c:pt>
                <c:pt idx="11">
                  <c:v>19716</c:v>
                </c:pt>
                <c:pt idx="12">
                  <c:v>18607</c:v>
                </c:pt>
                <c:pt idx="13">
                  <c:v>13381</c:v>
                </c:pt>
                <c:pt idx="14">
                  <c:v>14554</c:v>
                </c:pt>
                <c:pt idx="15">
                  <c:v>18172</c:v>
                </c:pt>
                <c:pt idx="16">
                  <c:v>17622</c:v>
                </c:pt>
                <c:pt idx="17">
                  <c:v>16008</c:v>
                </c:pt>
                <c:pt idx="18">
                  <c:v>13855</c:v>
                </c:pt>
                <c:pt idx="19">
                  <c:v>11494</c:v>
                </c:pt>
                <c:pt idx="20">
                  <c:v>7274</c:v>
                </c:pt>
                <c:pt idx="21">
                  <c:v>10252</c:v>
                </c:pt>
                <c:pt idx="22">
                  <c:v>10670</c:v>
                </c:pt>
              </c:numCache>
            </c:numRef>
          </c:val>
          <c:smooth val="0"/>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Intensive Revision (SIR) is the Election Commission's house-to-house recheck of the electoral roll. The lists cover every elector on the rolls of the five constituencies before the revision, so each group has a true removal rate, the share of its own members struck off. These are the September 2026 lists. The final roll is due on 9 November, so names put back after hearings are not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winning margin is the winner's votes less the runner-up's. No election has been held on the revised roll. The comparison is of size only, because the roll records nobody's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polling part is the section of the roll served by one polling station. A rank correlation runs from -1 to 1 and measures how far two orderings of the parts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7 September the Commission extended the calendar, with claims to 7 October, hearings to 5 November and the final roll on 9 November. The schedules here are those in the September lists. The length of a slot is not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chart" Target="/ppt/charts/chart35.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E1832"/>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F2D9B8"/>
                </a:solidFill>
                <a:latin typeface="Calibri" pitchFamily="34" charset="0"/>
                <a:ea typeface="Calibri" pitchFamily="34" charset="-122"/>
                <a:cs typeface="Calibri" pitchFamily="34" charset="-120"/>
              </a:rPr>
              <a:t>SPECIAL INTENSIVE REVISION · HYDERABAD OLD CITY 2026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The 2026 revision struck 6.6 lakh electors off five Old City rolls</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F2D9B8"/>
                </a:solidFill>
                <a:latin typeface="Calibri" pitchFamily="34" charset="0"/>
                <a:ea typeface="Calibri" pitchFamily="34" charset="-122"/>
                <a:cs typeface="Calibri" pitchFamily="34" charset="-120"/>
              </a:rPr>
              <a:t>Charminar, Yakutpura, Malakpet, Chandrayangutta and Bahadurpura, polling part by polling part</a:t>
            </a:r>
            <a:endParaRPr lang="en-US" sz="1700" dirty="0"/>
          </a:p>
        </p:txBody>
      </p:sp>
      <p:sp>
        <p:nvSpPr>
          <p:cNvPr id="5" name="Shape 3"/>
          <p:cNvSpPr/>
          <p:nvPr/>
        </p:nvSpPr>
        <p:spPr>
          <a:xfrm>
            <a:off x="548640" y="3429000"/>
            <a:ext cx="2567864" cy="1737360"/>
          </a:xfrm>
          <a:prstGeom prst="roundRect">
            <a:avLst>
              <a:gd name="adj" fmla="val 4211"/>
            </a:avLst>
          </a:prstGeom>
          <a:solidFill>
            <a:srgbClr val="52101F"/>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6,62,063</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9B8"/>
                </a:solidFill>
                <a:latin typeface="Calibri" pitchFamily="34" charset="0"/>
                <a:ea typeface="Calibri" pitchFamily="34" charset="-122"/>
                <a:cs typeface="Calibri" pitchFamily="34" charset="-120"/>
              </a:rPr>
              <a:t>electors struck off the rolls before the revision</a:t>
            </a:r>
            <a:endParaRPr lang="en-US" sz="1250" dirty="0"/>
          </a:p>
        </p:txBody>
      </p:sp>
      <p:sp>
        <p:nvSpPr>
          <p:cNvPr id="8" name="Shape 6"/>
          <p:cNvSpPr/>
          <p:nvPr/>
        </p:nvSpPr>
        <p:spPr>
          <a:xfrm>
            <a:off x="3390824" y="3429000"/>
            <a:ext cx="2567864" cy="1737360"/>
          </a:xfrm>
          <a:prstGeom prst="roundRect">
            <a:avLst>
              <a:gd name="adj" fmla="val 4211"/>
            </a:avLst>
          </a:prstGeom>
          <a:solidFill>
            <a:srgbClr val="52101F"/>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40.0%</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9B8"/>
                </a:solidFill>
                <a:latin typeface="Calibri" pitchFamily="34" charset="0"/>
                <a:ea typeface="Calibri" pitchFamily="34" charset="-122"/>
                <a:cs typeface="Calibri" pitchFamily="34" charset="-120"/>
              </a:rPr>
              <a:t>of every elector on those rolls</a:t>
            </a:r>
            <a:endParaRPr lang="en-US" sz="1250" dirty="0"/>
          </a:p>
        </p:txBody>
      </p:sp>
      <p:sp>
        <p:nvSpPr>
          <p:cNvPr id="11" name="Shape 9"/>
          <p:cNvSpPr/>
          <p:nvPr/>
        </p:nvSpPr>
        <p:spPr>
          <a:xfrm>
            <a:off x="6233008" y="3429000"/>
            <a:ext cx="2567864" cy="1737360"/>
          </a:xfrm>
          <a:prstGeom prst="roundRect">
            <a:avLst>
              <a:gd name="adj" fmla="val 4211"/>
            </a:avLst>
          </a:prstGeom>
          <a:solidFill>
            <a:srgbClr val="52101F"/>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99.0%</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9B8"/>
                </a:solidFill>
                <a:latin typeface="Calibri" pitchFamily="34" charset="0"/>
                <a:ea typeface="Calibri" pitchFamily="34" charset="-122"/>
                <a:cs typeface="Calibri" pitchFamily="34" charset="-120"/>
              </a:rPr>
              <a:t>of the valid votes cast in 2023</a:t>
            </a:r>
            <a:endParaRPr lang="en-US" sz="1250" dirty="0"/>
          </a:p>
        </p:txBody>
      </p:sp>
      <p:sp>
        <p:nvSpPr>
          <p:cNvPr id="14" name="Shape 12"/>
          <p:cNvSpPr/>
          <p:nvPr/>
        </p:nvSpPr>
        <p:spPr>
          <a:xfrm>
            <a:off x="9075191" y="3429000"/>
            <a:ext cx="2567864" cy="1737360"/>
          </a:xfrm>
          <a:prstGeom prst="roundRect">
            <a:avLst>
              <a:gd name="adj" fmla="val 4211"/>
            </a:avLst>
          </a:prstGeom>
          <a:solidFill>
            <a:srgbClr val="52101F"/>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3,69,972</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9B8"/>
                </a:solidFill>
                <a:latin typeface="Calibri" pitchFamily="34" charset="0"/>
                <a:ea typeface="Calibri" pitchFamily="34" charset="-122"/>
                <a:cs typeface="Calibri" pitchFamily="34" charset="-120"/>
              </a:rPr>
              <a:t>kept but summoned to a hearing</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F2D9B8"/>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8B1E3F"/>
          </a:solidFill>
          <a:ln/>
        </p:spPr>
      </p:sp>
      <p:sp>
        <p:nvSpPr>
          <p:cNvPr id="19" name="Shape 17"/>
          <p:cNvSpPr/>
          <p:nvPr/>
        </p:nvSpPr>
        <p:spPr>
          <a:xfrm>
            <a:off x="304792" y="6748272"/>
            <a:ext cx="304792" cy="109728"/>
          </a:xfrm>
          <a:prstGeom prst="rect">
            <a:avLst/>
          </a:prstGeom>
          <a:solidFill>
            <a:srgbClr val="0E5E6F"/>
          </a:solidFill>
          <a:ln/>
        </p:spPr>
      </p:sp>
      <p:sp>
        <p:nvSpPr>
          <p:cNvPr id="20" name="Shape 18"/>
          <p:cNvSpPr/>
          <p:nvPr/>
        </p:nvSpPr>
        <p:spPr>
          <a:xfrm>
            <a:off x="609585" y="6748272"/>
            <a:ext cx="304792" cy="109728"/>
          </a:xfrm>
          <a:prstGeom prst="rect">
            <a:avLst/>
          </a:prstGeom>
          <a:solidFill>
            <a:srgbClr val="E0A526"/>
          </a:solidFill>
          <a:ln/>
        </p:spPr>
      </p:sp>
      <p:sp>
        <p:nvSpPr>
          <p:cNvPr id="21" name="Shape 19"/>
          <p:cNvSpPr/>
          <p:nvPr/>
        </p:nvSpPr>
        <p:spPr>
          <a:xfrm>
            <a:off x="914377" y="6748272"/>
            <a:ext cx="304792" cy="109728"/>
          </a:xfrm>
          <a:prstGeom prst="rect">
            <a:avLst/>
          </a:prstGeom>
          <a:solidFill>
            <a:srgbClr val="0E5E6F"/>
          </a:solidFill>
          <a:ln/>
        </p:spPr>
      </p:sp>
      <p:sp>
        <p:nvSpPr>
          <p:cNvPr id="22" name="Shape 20"/>
          <p:cNvSpPr/>
          <p:nvPr/>
        </p:nvSpPr>
        <p:spPr>
          <a:xfrm>
            <a:off x="1219170" y="6748272"/>
            <a:ext cx="304792" cy="109728"/>
          </a:xfrm>
          <a:prstGeom prst="rect">
            <a:avLst/>
          </a:prstGeom>
          <a:solidFill>
            <a:srgbClr val="8B1E3F"/>
          </a:solidFill>
          <a:ln/>
        </p:spPr>
      </p:sp>
      <p:sp>
        <p:nvSpPr>
          <p:cNvPr id="23" name="Shape 21"/>
          <p:cNvSpPr/>
          <p:nvPr/>
        </p:nvSpPr>
        <p:spPr>
          <a:xfrm>
            <a:off x="1523962" y="6748272"/>
            <a:ext cx="304792" cy="109728"/>
          </a:xfrm>
          <a:prstGeom prst="rect">
            <a:avLst/>
          </a:prstGeom>
          <a:solidFill>
            <a:srgbClr val="0E5E6F"/>
          </a:solidFill>
          <a:ln/>
        </p:spPr>
      </p:sp>
      <p:sp>
        <p:nvSpPr>
          <p:cNvPr id="24" name="Shape 22"/>
          <p:cNvSpPr/>
          <p:nvPr/>
        </p:nvSpPr>
        <p:spPr>
          <a:xfrm>
            <a:off x="1828754" y="6748272"/>
            <a:ext cx="304792" cy="109728"/>
          </a:xfrm>
          <a:prstGeom prst="rect">
            <a:avLst/>
          </a:prstGeom>
          <a:solidFill>
            <a:srgbClr val="E0A526"/>
          </a:solidFill>
          <a:ln/>
        </p:spPr>
      </p:sp>
      <p:sp>
        <p:nvSpPr>
          <p:cNvPr id="25" name="Shape 23"/>
          <p:cNvSpPr/>
          <p:nvPr/>
        </p:nvSpPr>
        <p:spPr>
          <a:xfrm>
            <a:off x="2133547" y="6748272"/>
            <a:ext cx="304792" cy="109728"/>
          </a:xfrm>
          <a:prstGeom prst="rect">
            <a:avLst/>
          </a:prstGeom>
          <a:solidFill>
            <a:srgbClr val="0E5E6F"/>
          </a:solidFill>
          <a:ln/>
        </p:spPr>
      </p:sp>
      <p:sp>
        <p:nvSpPr>
          <p:cNvPr id="26" name="Shape 24"/>
          <p:cNvSpPr/>
          <p:nvPr/>
        </p:nvSpPr>
        <p:spPr>
          <a:xfrm>
            <a:off x="2438339" y="6748272"/>
            <a:ext cx="304792" cy="109728"/>
          </a:xfrm>
          <a:prstGeom prst="rect">
            <a:avLst/>
          </a:prstGeom>
          <a:solidFill>
            <a:srgbClr val="8B1E3F"/>
          </a:solidFill>
          <a:ln/>
        </p:spPr>
      </p:sp>
      <p:sp>
        <p:nvSpPr>
          <p:cNvPr id="27" name="Shape 25"/>
          <p:cNvSpPr/>
          <p:nvPr/>
        </p:nvSpPr>
        <p:spPr>
          <a:xfrm>
            <a:off x="2743131" y="6748272"/>
            <a:ext cx="304792" cy="109728"/>
          </a:xfrm>
          <a:prstGeom prst="rect">
            <a:avLst/>
          </a:prstGeom>
          <a:solidFill>
            <a:srgbClr val="0E5E6F"/>
          </a:solidFill>
          <a:ln/>
        </p:spPr>
      </p:sp>
      <p:sp>
        <p:nvSpPr>
          <p:cNvPr id="28" name="Shape 26"/>
          <p:cNvSpPr/>
          <p:nvPr/>
        </p:nvSpPr>
        <p:spPr>
          <a:xfrm>
            <a:off x="3047924" y="6748272"/>
            <a:ext cx="304792" cy="109728"/>
          </a:xfrm>
          <a:prstGeom prst="rect">
            <a:avLst/>
          </a:prstGeom>
          <a:solidFill>
            <a:srgbClr val="E0A526"/>
          </a:solidFill>
          <a:ln/>
        </p:spPr>
      </p:sp>
      <p:sp>
        <p:nvSpPr>
          <p:cNvPr id="29" name="Shape 27"/>
          <p:cNvSpPr/>
          <p:nvPr/>
        </p:nvSpPr>
        <p:spPr>
          <a:xfrm>
            <a:off x="3352716" y="6748272"/>
            <a:ext cx="304792" cy="109728"/>
          </a:xfrm>
          <a:prstGeom prst="rect">
            <a:avLst/>
          </a:prstGeom>
          <a:solidFill>
            <a:srgbClr val="0E5E6F"/>
          </a:solidFill>
          <a:ln/>
        </p:spPr>
      </p:sp>
      <p:sp>
        <p:nvSpPr>
          <p:cNvPr id="30" name="Shape 28"/>
          <p:cNvSpPr/>
          <p:nvPr/>
        </p:nvSpPr>
        <p:spPr>
          <a:xfrm>
            <a:off x="3657509" y="6748272"/>
            <a:ext cx="304792" cy="109728"/>
          </a:xfrm>
          <a:prstGeom prst="rect">
            <a:avLst/>
          </a:prstGeom>
          <a:solidFill>
            <a:srgbClr val="8B1E3F"/>
          </a:solidFill>
          <a:ln/>
        </p:spPr>
      </p:sp>
      <p:sp>
        <p:nvSpPr>
          <p:cNvPr id="31" name="Shape 29"/>
          <p:cNvSpPr/>
          <p:nvPr/>
        </p:nvSpPr>
        <p:spPr>
          <a:xfrm>
            <a:off x="3962301" y="6748272"/>
            <a:ext cx="304792" cy="109728"/>
          </a:xfrm>
          <a:prstGeom prst="rect">
            <a:avLst/>
          </a:prstGeom>
          <a:solidFill>
            <a:srgbClr val="0E5E6F"/>
          </a:solidFill>
          <a:ln/>
        </p:spPr>
      </p:sp>
      <p:sp>
        <p:nvSpPr>
          <p:cNvPr id="32" name="Shape 30"/>
          <p:cNvSpPr/>
          <p:nvPr/>
        </p:nvSpPr>
        <p:spPr>
          <a:xfrm>
            <a:off x="4267093" y="6748272"/>
            <a:ext cx="304792" cy="109728"/>
          </a:xfrm>
          <a:prstGeom prst="rect">
            <a:avLst/>
          </a:prstGeom>
          <a:solidFill>
            <a:srgbClr val="E0A526"/>
          </a:solidFill>
          <a:ln/>
        </p:spPr>
      </p:sp>
      <p:sp>
        <p:nvSpPr>
          <p:cNvPr id="33" name="Shape 31"/>
          <p:cNvSpPr/>
          <p:nvPr/>
        </p:nvSpPr>
        <p:spPr>
          <a:xfrm>
            <a:off x="4571886" y="6748272"/>
            <a:ext cx="304792" cy="109728"/>
          </a:xfrm>
          <a:prstGeom prst="rect">
            <a:avLst/>
          </a:prstGeom>
          <a:solidFill>
            <a:srgbClr val="0E5E6F"/>
          </a:solidFill>
          <a:ln/>
        </p:spPr>
      </p:sp>
      <p:sp>
        <p:nvSpPr>
          <p:cNvPr id="34" name="Shape 32"/>
          <p:cNvSpPr/>
          <p:nvPr/>
        </p:nvSpPr>
        <p:spPr>
          <a:xfrm>
            <a:off x="4876678" y="6748272"/>
            <a:ext cx="304792" cy="109728"/>
          </a:xfrm>
          <a:prstGeom prst="rect">
            <a:avLst/>
          </a:prstGeom>
          <a:solidFill>
            <a:srgbClr val="8B1E3F"/>
          </a:solidFill>
          <a:ln/>
        </p:spPr>
      </p:sp>
      <p:sp>
        <p:nvSpPr>
          <p:cNvPr id="35" name="Shape 33"/>
          <p:cNvSpPr/>
          <p:nvPr/>
        </p:nvSpPr>
        <p:spPr>
          <a:xfrm>
            <a:off x="5181470" y="6748272"/>
            <a:ext cx="304792" cy="109728"/>
          </a:xfrm>
          <a:prstGeom prst="rect">
            <a:avLst/>
          </a:prstGeom>
          <a:solidFill>
            <a:srgbClr val="0E5E6F"/>
          </a:solidFill>
          <a:ln/>
        </p:spPr>
      </p:sp>
      <p:sp>
        <p:nvSpPr>
          <p:cNvPr id="36" name="Shape 34"/>
          <p:cNvSpPr/>
          <p:nvPr/>
        </p:nvSpPr>
        <p:spPr>
          <a:xfrm>
            <a:off x="5486263" y="6748272"/>
            <a:ext cx="304792" cy="109728"/>
          </a:xfrm>
          <a:prstGeom prst="rect">
            <a:avLst/>
          </a:prstGeom>
          <a:solidFill>
            <a:srgbClr val="E0A526"/>
          </a:solidFill>
          <a:ln/>
        </p:spPr>
      </p:sp>
      <p:sp>
        <p:nvSpPr>
          <p:cNvPr id="37" name="Shape 35"/>
          <p:cNvSpPr/>
          <p:nvPr/>
        </p:nvSpPr>
        <p:spPr>
          <a:xfrm>
            <a:off x="5791055" y="6748272"/>
            <a:ext cx="304792" cy="109728"/>
          </a:xfrm>
          <a:prstGeom prst="rect">
            <a:avLst/>
          </a:prstGeom>
          <a:solidFill>
            <a:srgbClr val="0E5E6F"/>
          </a:solidFill>
          <a:ln/>
        </p:spPr>
      </p:sp>
      <p:sp>
        <p:nvSpPr>
          <p:cNvPr id="38" name="Shape 36"/>
          <p:cNvSpPr/>
          <p:nvPr/>
        </p:nvSpPr>
        <p:spPr>
          <a:xfrm>
            <a:off x="6095848" y="6748272"/>
            <a:ext cx="304792" cy="109728"/>
          </a:xfrm>
          <a:prstGeom prst="rect">
            <a:avLst/>
          </a:prstGeom>
          <a:solidFill>
            <a:srgbClr val="8B1E3F"/>
          </a:solidFill>
          <a:ln/>
        </p:spPr>
      </p:sp>
      <p:sp>
        <p:nvSpPr>
          <p:cNvPr id="39" name="Shape 37"/>
          <p:cNvSpPr/>
          <p:nvPr/>
        </p:nvSpPr>
        <p:spPr>
          <a:xfrm>
            <a:off x="6400640" y="6748272"/>
            <a:ext cx="304792" cy="109728"/>
          </a:xfrm>
          <a:prstGeom prst="rect">
            <a:avLst/>
          </a:prstGeom>
          <a:solidFill>
            <a:srgbClr val="0E5E6F"/>
          </a:solidFill>
          <a:ln/>
        </p:spPr>
      </p:sp>
      <p:sp>
        <p:nvSpPr>
          <p:cNvPr id="40" name="Shape 38"/>
          <p:cNvSpPr/>
          <p:nvPr/>
        </p:nvSpPr>
        <p:spPr>
          <a:xfrm>
            <a:off x="6705432" y="6748272"/>
            <a:ext cx="304792" cy="109728"/>
          </a:xfrm>
          <a:prstGeom prst="rect">
            <a:avLst/>
          </a:prstGeom>
          <a:solidFill>
            <a:srgbClr val="E0A526"/>
          </a:solidFill>
          <a:ln/>
        </p:spPr>
      </p:sp>
      <p:sp>
        <p:nvSpPr>
          <p:cNvPr id="41" name="Shape 39"/>
          <p:cNvSpPr/>
          <p:nvPr/>
        </p:nvSpPr>
        <p:spPr>
          <a:xfrm>
            <a:off x="7010225" y="6748272"/>
            <a:ext cx="304792" cy="109728"/>
          </a:xfrm>
          <a:prstGeom prst="rect">
            <a:avLst/>
          </a:prstGeom>
          <a:solidFill>
            <a:srgbClr val="0E5E6F"/>
          </a:solidFill>
          <a:ln/>
        </p:spPr>
      </p:sp>
      <p:sp>
        <p:nvSpPr>
          <p:cNvPr id="42" name="Shape 40"/>
          <p:cNvSpPr/>
          <p:nvPr/>
        </p:nvSpPr>
        <p:spPr>
          <a:xfrm>
            <a:off x="7315017" y="6748272"/>
            <a:ext cx="304792" cy="109728"/>
          </a:xfrm>
          <a:prstGeom prst="rect">
            <a:avLst/>
          </a:prstGeom>
          <a:solidFill>
            <a:srgbClr val="8B1E3F"/>
          </a:solidFill>
          <a:ln/>
        </p:spPr>
      </p:sp>
      <p:sp>
        <p:nvSpPr>
          <p:cNvPr id="43" name="Shape 41"/>
          <p:cNvSpPr/>
          <p:nvPr/>
        </p:nvSpPr>
        <p:spPr>
          <a:xfrm>
            <a:off x="7619809" y="6748272"/>
            <a:ext cx="304792" cy="109728"/>
          </a:xfrm>
          <a:prstGeom prst="rect">
            <a:avLst/>
          </a:prstGeom>
          <a:solidFill>
            <a:srgbClr val="0E5E6F"/>
          </a:solidFill>
          <a:ln/>
        </p:spPr>
      </p:sp>
      <p:sp>
        <p:nvSpPr>
          <p:cNvPr id="44" name="Shape 42"/>
          <p:cNvSpPr/>
          <p:nvPr/>
        </p:nvSpPr>
        <p:spPr>
          <a:xfrm>
            <a:off x="7924602" y="6748272"/>
            <a:ext cx="304792" cy="109728"/>
          </a:xfrm>
          <a:prstGeom prst="rect">
            <a:avLst/>
          </a:prstGeom>
          <a:solidFill>
            <a:srgbClr val="E0A526"/>
          </a:solidFill>
          <a:ln/>
        </p:spPr>
      </p:sp>
      <p:sp>
        <p:nvSpPr>
          <p:cNvPr id="45" name="Shape 43"/>
          <p:cNvSpPr/>
          <p:nvPr/>
        </p:nvSpPr>
        <p:spPr>
          <a:xfrm>
            <a:off x="8229394" y="6748272"/>
            <a:ext cx="304792" cy="109728"/>
          </a:xfrm>
          <a:prstGeom prst="rect">
            <a:avLst/>
          </a:prstGeom>
          <a:solidFill>
            <a:srgbClr val="0E5E6F"/>
          </a:solidFill>
          <a:ln/>
        </p:spPr>
      </p:sp>
      <p:sp>
        <p:nvSpPr>
          <p:cNvPr id="46" name="Shape 44"/>
          <p:cNvSpPr/>
          <p:nvPr/>
        </p:nvSpPr>
        <p:spPr>
          <a:xfrm>
            <a:off x="8534187" y="6748272"/>
            <a:ext cx="304792" cy="109728"/>
          </a:xfrm>
          <a:prstGeom prst="rect">
            <a:avLst/>
          </a:prstGeom>
          <a:solidFill>
            <a:srgbClr val="8B1E3F"/>
          </a:solidFill>
          <a:ln/>
        </p:spPr>
      </p:sp>
      <p:sp>
        <p:nvSpPr>
          <p:cNvPr id="47" name="Shape 45"/>
          <p:cNvSpPr/>
          <p:nvPr/>
        </p:nvSpPr>
        <p:spPr>
          <a:xfrm>
            <a:off x="8838979" y="6748272"/>
            <a:ext cx="304792" cy="109728"/>
          </a:xfrm>
          <a:prstGeom prst="rect">
            <a:avLst/>
          </a:prstGeom>
          <a:solidFill>
            <a:srgbClr val="0E5E6F"/>
          </a:solidFill>
          <a:ln/>
        </p:spPr>
      </p:sp>
      <p:sp>
        <p:nvSpPr>
          <p:cNvPr id="48" name="Shape 46"/>
          <p:cNvSpPr/>
          <p:nvPr/>
        </p:nvSpPr>
        <p:spPr>
          <a:xfrm>
            <a:off x="9143771" y="6748272"/>
            <a:ext cx="304792" cy="109728"/>
          </a:xfrm>
          <a:prstGeom prst="rect">
            <a:avLst/>
          </a:prstGeom>
          <a:solidFill>
            <a:srgbClr val="E0A526"/>
          </a:solidFill>
          <a:ln/>
        </p:spPr>
      </p:sp>
      <p:sp>
        <p:nvSpPr>
          <p:cNvPr id="49" name="Shape 47"/>
          <p:cNvSpPr/>
          <p:nvPr/>
        </p:nvSpPr>
        <p:spPr>
          <a:xfrm>
            <a:off x="9448564" y="6748272"/>
            <a:ext cx="304792" cy="109728"/>
          </a:xfrm>
          <a:prstGeom prst="rect">
            <a:avLst/>
          </a:prstGeom>
          <a:solidFill>
            <a:srgbClr val="0E5E6F"/>
          </a:solidFill>
          <a:ln/>
        </p:spPr>
      </p:sp>
      <p:sp>
        <p:nvSpPr>
          <p:cNvPr id="50" name="Shape 48"/>
          <p:cNvSpPr/>
          <p:nvPr/>
        </p:nvSpPr>
        <p:spPr>
          <a:xfrm>
            <a:off x="9753356" y="6748272"/>
            <a:ext cx="304792" cy="109728"/>
          </a:xfrm>
          <a:prstGeom prst="rect">
            <a:avLst/>
          </a:prstGeom>
          <a:solidFill>
            <a:srgbClr val="8B1E3F"/>
          </a:solidFill>
          <a:ln/>
        </p:spPr>
      </p:sp>
      <p:sp>
        <p:nvSpPr>
          <p:cNvPr id="51" name="Shape 49"/>
          <p:cNvSpPr/>
          <p:nvPr/>
        </p:nvSpPr>
        <p:spPr>
          <a:xfrm>
            <a:off x="10058149" y="6748272"/>
            <a:ext cx="304792" cy="109728"/>
          </a:xfrm>
          <a:prstGeom prst="rect">
            <a:avLst/>
          </a:prstGeom>
          <a:solidFill>
            <a:srgbClr val="0E5E6F"/>
          </a:solidFill>
          <a:ln/>
        </p:spPr>
      </p:sp>
      <p:sp>
        <p:nvSpPr>
          <p:cNvPr id="52" name="Shape 50"/>
          <p:cNvSpPr/>
          <p:nvPr/>
        </p:nvSpPr>
        <p:spPr>
          <a:xfrm>
            <a:off x="10362941" y="6748272"/>
            <a:ext cx="304792" cy="109728"/>
          </a:xfrm>
          <a:prstGeom prst="rect">
            <a:avLst/>
          </a:prstGeom>
          <a:solidFill>
            <a:srgbClr val="E0A526"/>
          </a:solidFill>
          <a:ln/>
        </p:spPr>
      </p:sp>
      <p:sp>
        <p:nvSpPr>
          <p:cNvPr id="53" name="Shape 51"/>
          <p:cNvSpPr/>
          <p:nvPr/>
        </p:nvSpPr>
        <p:spPr>
          <a:xfrm>
            <a:off x="10667733" y="6748272"/>
            <a:ext cx="304792" cy="109728"/>
          </a:xfrm>
          <a:prstGeom prst="rect">
            <a:avLst/>
          </a:prstGeom>
          <a:solidFill>
            <a:srgbClr val="0E5E6F"/>
          </a:solidFill>
          <a:ln/>
        </p:spPr>
      </p:sp>
      <p:sp>
        <p:nvSpPr>
          <p:cNvPr id="54" name="Shape 52"/>
          <p:cNvSpPr/>
          <p:nvPr/>
        </p:nvSpPr>
        <p:spPr>
          <a:xfrm>
            <a:off x="10972526" y="6748272"/>
            <a:ext cx="304792" cy="109728"/>
          </a:xfrm>
          <a:prstGeom prst="rect">
            <a:avLst/>
          </a:prstGeom>
          <a:solidFill>
            <a:srgbClr val="8B1E3F"/>
          </a:solidFill>
          <a:ln/>
        </p:spPr>
      </p:sp>
      <p:sp>
        <p:nvSpPr>
          <p:cNvPr id="55" name="Shape 53"/>
          <p:cNvSpPr/>
          <p:nvPr/>
        </p:nvSpPr>
        <p:spPr>
          <a:xfrm>
            <a:off x="11277318" y="6748272"/>
            <a:ext cx="304792" cy="109728"/>
          </a:xfrm>
          <a:prstGeom prst="rect">
            <a:avLst/>
          </a:prstGeom>
          <a:solidFill>
            <a:srgbClr val="0E5E6F"/>
          </a:solidFill>
          <a:ln/>
        </p:spPr>
      </p:sp>
      <p:sp>
        <p:nvSpPr>
          <p:cNvPr id="56" name="Shape 54"/>
          <p:cNvSpPr/>
          <p:nvPr/>
        </p:nvSpPr>
        <p:spPr>
          <a:xfrm>
            <a:off x="11582110" y="6748272"/>
            <a:ext cx="304792" cy="109728"/>
          </a:xfrm>
          <a:prstGeom prst="rect">
            <a:avLst/>
          </a:prstGeom>
          <a:solidFill>
            <a:srgbClr val="E0A526"/>
          </a:solidFill>
          <a:ln/>
        </p:spPr>
      </p:sp>
      <p:sp>
        <p:nvSpPr>
          <p:cNvPr id="57" name="Shape 55"/>
          <p:cNvSpPr/>
          <p:nvPr/>
        </p:nvSpPr>
        <p:spPr>
          <a:xfrm>
            <a:off x="11886903" y="6748272"/>
            <a:ext cx="304792" cy="109728"/>
          </a:xfrm>
          <a:prstGeom prst="rect">
            <a:avLst/>
          </a:prstGeom>
          <a:solidFill>
            <a:srgbClr val="0E5E6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6E1832"/>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8B1E3F"/>
          </a:solidFill>
          <a:ln/>
        </p:spPr>
      </p:sp>
      <p:sp>
        <p:nvSpPr>
          <p:cNvPr id="4" name="Shape 2"/>
          <p:cNvSpPr/>
          <p:nvPr/>
        </p:nvSpPr>
        <p:spPr>
          <a:xfrm>
            <a:off x="304792" y="6748272"/>
            <a:ext cx="304792" cy="109728"/>
          </a:xfrm>
          <a:prstGeom prst="rect">
            <a:avLst/>
          </a:prstGeom>
          <a:solidFill>
            <a:srgbClr val="0E5E6F"/>
          </a:solidFill>
          <a:ln/>
        </p:spPr>
      </p:sp>
      <p:sp>
        <p:nvSpPr>
          <p:cNvPr id="5" name="Shape 3"/>
          <p:cNvSpPr/>
          <p:nvPr/>
        </p:nvSpPr>
        <p:spPr>
          <a:xfrm>
            <a:off x="609585" y="6748272"/>
            <a:ext cx="304792" cy="109728"/>
          </a:xfrm>
          <a:prstGeom prst="rect">
            <a:avLst/>
          </a:prstGeom>
          <a:solidFill>
            <a:srgbClr val="E0A526"/>
          </a:solidFill>
          <a:ln/>
        </p:spPr>
      </p:sp>
      <p:sp>
        <p:nvSpPr>
          <p:cNvPr id="6" name="Shape 4"/>
          <p:cNvSpPr/>
          <p:nvPr/>
        </p:nvSpPr>
        <p:spPr>
          <a:xfrm>
            <a:off x="914377" y="6748272"/>
            <a:ext cx="304792" cy="109728"/>
          </a:xfrm>
          <a:prstGeom prst="rect">
            <a:avLst/>
          </a:prstGeom>
          <a:solidFill>
            <a:srgbClr val="0E5E6F"/>
          </a:solidFill>
          <a:ln/>
        </p:spPr>
      </p:sp>
      <p:sp>
        <p:nvSpPr>
          <p:cNvPr id="7" name="Shape 5"/>
          <p:cNvSpPr/>
          <p:nvPr/>
        </p:nvSpPr>
        <p:spPr>
          <a:xfrm>
            <a:off x="1219170" y="6748272"/>
            <a:ext cx="304792" cy="109728"/>
          </a:xfrm>
          <a:prstGeom prst="rect">
            <a:avLst/>
          </a:prstGeom>
          <a:solidFill>
            <a:srgbClr val="8B1E3F"/>
          </a:solidFill>
          <a:ln/>
        </p:spPr>
      </p:sp>
      <p:sp>
        <p:nvSpPr>
          <p:cNvPr id="8" name="Shape 6"/>
          <p:cNvSpPr/>
          <p:nvPr/>
        </p:nvSpPr>
        <p:spPr>
          <a:xfrm>
            <a:off x="1523962" y="6748272"/>
            <a:ext cx="304792" cy="109728"/>
          </a:xfrm>
          <a:prstGeom prst="rect">
            <a:avLst/>
          </a:prstGeom>
          <a:solidFill>
            <a:srgbClr val="0E5E6F"/>
          </a:solidFill>
          <a:ln/>
        </p:spPr>
      </p:sp>
      <p:sp>
        <p:nvSpPr>
          <p:cNvPr id="9" name="Shape 7"/>
          <p:cNvSpPr/>
          <p:nvPr/>
        </p:nvSpPr>
        <p:spPr>
          <a:xfrm>
            <a:off x="1828754" y="6748272"/>
            <a:ext cx="304792" cy="109728"/>
          </a:xfrm>
          <a:prstGeom prst="rect">
            <a:avLst/>
          </a:prstGeom>
          <a:solidFill>
            <a:srgbClr val="E0A526"/>
          </a:solidFill>
          <a:ln/>
        </p:spPr>
      </p:sp>
      <p:sp>
        <p:nvSpPr>
          <p:cNvPr id="10" name="Shape 8"/>
          <p:cNvSpPr/>
          <p:nvPr/>
        </p:nvSpPr>
        <p:spPr>
          <a:xfrm>
            <a:off x="2133547" y="6748272"/>
            <a:ext cx="304792" cy="109728"/>
          </a:xfrm>
          <a:prstGeom prst="rect">
            <a:avLst/>
          </a:prstGeom>
          <a:solidFill>
            <a:srgbClr val="0E5E6F"/>
          </a:solidFill>
          <a:ln/>
        </p:spPr>
      </p:sp>
      <p:sp>
        <p:nvSpPr>
          <p:cNvPr id="11" name="Shape 9"/>
          <p:cNvSpPr/>
          <p:nvPr/>
        </p:nvSpPr>
        <p:spPr>
          <a:xfrm>
            <a:off x="2438339" y="6748272"/>
            <a:ext cx="304792" cy="109728"/>
          </a:xfrm>
          <a:prstGeom prst="rect">
            <a:avLst/>
          </a:prstGeom>
          <a:solidFill>
            <a:srgbClr val="8B1E3F"/>
          </a:solidFill>
          <a:ln/>
        </p:spPr>
      </p:sp>
      <p:sp>
        <p:nvSpPr>
          <p:cNvPr id="12" name="Shape 10"/>
          <p:cNvSpPr/>
          <p:nvPr/>
        </p:nvSpPr>
        <p:spPr>
          <a:xfrm>
            <a:off x="2743131" y="6748272"/>
            <a:ext cx="304792" cy="109728"/>
          </a:xfrm>
          <a:prstGeom prst="rect">
            <a:avLst/>
          </a:prstGeom>
          <a:solidFill>
            <a:srgbClr val="0E5E6F"/>
          </a:solidFill>
          <a:ln/>
        </p:spPr>
      </p:sp>
      <p:sp>
        <p:nvSpPr>
          <p:cNvPr id="13" name="Shape 11"/>
          <p:cNvSpPr/>
          <p:nvPr/>
        </p:nvSpPr>
        <p:spPr>
          <a:xfrm>
            <a:off x="3047924" y="6748272"/>
            <a:ext cx="304792" cy="109728"/>
          </a:xfrm>
          <a:prstGeom prst="rect">
            <a:avLst/>
          </a:prstGeom>
          <a:solidFill>
            <a:srgbClr val="E0A526"/>
          </a:solidFill>
          <a:ln/>
        </p:spPr>
      </p:sp>
      <p:sp>
        <p:nvSpPr>
          <p:cNvPr id="14" name="Shape 12"/>
          <p:cNvSpPr/>
          <p:nvPr/>
        </p:nvSpPr>
        <p:spPr>
          <a:xfrm>
            <a:off x="3352716" y="6748272"/>
            <a:ext cx="304792" cy="109728"/>
          </a:xfrm>
          <a:prstGeom prst="rect">
            <a:avLst/>
          </a:prstGeom>
          <a:solidFill>
            <a:srgbClr val="0E5E6F"/>
          </a:solidFill>
          <a:ln/>
        </p:spPr>
      </p:sp>
      <p:sp>
        <p:nvSpPr>
          <p:cNvPr id="15" name="Shape 13"/>
          <p:cNvSpPr/>
          <p:nvPr/>
        </p:nvSpPr>
        <p:spPr>
          <a:xfrm>
            <a:off x="3657509" y="6748272"/>
            <a:ext cx="304792" cy="109728"/>
          </a:xfrm>
          <a:prstGeom prst="rect">
            <a:avLst/>
          </a:prstGeom>
          <a:solidFill>
            <a:srgbClr val="8B1E3F"/>
          </a:solidFill>
          <a:ln/>
        </p:spPr>
      </p:sp>
      <p:sp>
        <p:nvSpPr>
          <p:cNvPr id="16" name="Shape 14"/>
          <p:cNvSpPr/>
          <p:nvPr/>
        </p:nvSpPr>
        <p:spPr>
          <a:xfrm>
            <a:off x="3962301" y="6748272"/>
            <a:ext cx="304792" cy="109728"/>
          </a:xfrm>
          <a:prstGeom prst="rect">
            <a:avLst/>
          </a:prstGeom>
          <a:solidFill>
            <a:srgbClr val="0E5E6F"/>
          </a:solidFill>
          <a:ln/>
        </p:spPr>
      </p:sp>
      <p:sp>
        <p:nvSpPr>
          <p:cNvPr id="17" name="Shape 15"/>
          <p:cNvSpPr/>
          <p:nvPr/>
        </p:nvSpPr>
        <p:spPr>
          <a:xfrm>
            <a:off x="4267093" y="6748272"/>
            <a:ext cx="304792" cy="109728"/>
          </a:xfrm>
          <a:prstGeom prst="rect">
            <a:avLst/>
          </a:prstGeom>
          <a:solidFill>
            <a:srgbClr val="E0A526"/>
          </a:solidFill>
          <a:ln/>
        </p:spPr>
      </p:sp>
      <p:sp>
        <p:nvSpPr>
          <p:cNvPr id="18" name="Shape 16"/>
          <p:cNvSpPr/>
          <p:nvPr/>
        </p:nvSpPr>
        <p:spPr>
          <a:xfrm>
            <a:off x="4571886" y="6748272"/>
            <a:ext cx="304792" cy="109728"/>
          </a:xfrm>
          <a:prstGeom prst="rect">
            <a:avLst/>
          </a:prstGeom>
          <a:solidFill>
            <a:srgbClr val="0E5E6F"/>
          </a:solidFill>
          <a:ln/>
        </p:spPr>
      </p:sp>
      <p:sp>
        <p:nvSpPr>
          <p:cNvPr id="19" name="Shape 17"/>
          <p:cNvSpPr/>
          <p:nvPr/>
        </p:nvSpPr>
        <p:spPr>
          <a:xfrm>
            <a:off x="4876678" y="6748272"/>
            <a:ext cx="304792" cy="109728"/>
          </a:xfrm>
          <a:prstGeom prst="rect">
            <a:avLst/>
          </a:prstGeom>
          <a:solidFill>
            <a:srgbClr val="8B1E3F"/>
          </a:solidFill>
          <a:ln/>
        </p:spPr>
      </p:sp>
      <p:sp>
        <p:nvSpPr>
          <p:cNvPr id="20" name="Shape 18"/>
          <p:cNvSpPr/>
          <p:nvPr/>
        </p:nvSpPr>
        <p:spPr>
          <a:xfrm>
            <a:off x="5181470" y="6748272"/>
            <a:ext cx="304792" cy="109728"/>
          </a:xfrm>
          <a:prstGeom prst="rect">
            <a:avLst/>
          </a:prstGeom>
          <a:solidFill>
            <a:srgbClr val="0E5E6F"/>
          </a:solidFill>
          <a:ln/>
        </p:spPr>
      </p:sp>
      <p:sp>
        <p:nvSpPr>
          <p:cNvPr id="21" name="Shape 19"/>
          <p:cNvSpPr/>
          <p:nvPr/>
        </p:nvSpPr>
        <p:spPr>
          <a:xfrm>
            <a:off x="5486263" y="6748272"/>
            <a:ext cx="304792" cy="109728"/>
          </a:xfrm>
          <a:prstGeom prst="rect">
            <a:avLst/>
          </a:prstGeom>
          <a:solidFill>
            <a:srgbClr val="E0A526"/>
          </a:solidFill>
          <a:ln/>
        </p:spPr>
      </p:sp>
      <p:sp>
        <p:nvSpPr>
          <p:cNvPr id="22" name="Shape 20"/>
          <p:cNvSpPr/>
          <p:nvPr/>
        </p:nvSpPr>
        <p:spPr>
          <a:xfrm>
            <a:off x="5791055" y="6748272"/>
            <a:ext cx="304792" cy="109728"/>
          </a:xfrm>
          <a:prstGeom prst="rect">
            <a:avLst/>
          </a:prstGeom>
          <a:solidFill>
            <a:srgbClr val="0E5E6F"/>
          </a:solidFill>
          <a:ln/>
        </p:spPr>
      </p:sp>
      <p:sp>
        <p:nvSpPr>
          <p:cNvPr id="23" name="Shape 21"/>
          <p:cNvSpPr/>
          <p:nvPr/>
        </p:nvSpPr>
        <p:spPr>
          <a:xfrm>
            <a:off x="6095848" y="6748272"/>
            <a:ext cx="304792" cy="109728"/>
          </a:xfrm>
          <a:prstGeom prst="rect">
            <a:avLst/>
          </a:prstGeom>
          <a:solidFill>
            <a:srgbClr val="8B1E3F"/>
          </a:solidFill>
          <a:ln/>
        </p:spPr>
      </p:sp>
      <p:sp>
        <p:nvSpPr>
          <p:cNvPr id="24" name="Shape 22"/>
          <p:cNvSpPr/>
          <p:nvPr/>
        </p:nvSpPr>
        <p:spPr>
          <a:xfrm>
            <a:off x="6400640" y="6748272"/>
            <a:ext cx="304792" cy="109728"/>
          </a:xfrm>
          <a:prstGeom prst="rect">
            <a:avLst/>
          </a:prstGeom>
          <a:solidFill>
            <a:srgbClr val="0E5E6F"/>
          </a:solidFill>
          <a:ln/>
        </p:spPr>
      </p:sp>
      <p:sp>
        <p:nvSpPr>
          <p:cNvPr id="25" name="Shape 23"/>
          <p:cNvSpPr/>
          <p:nvPr/>
        </p:nvSpPr>
        <p:spPr>
          <a:xfrm>
            <a:off x="6705432" y="6748272"/>
            <a:ext cx="304792" cy="109728"/>
          </a:xfrm>
          <a:prstGeom prst="rect">
            <a:avLst/>
          </a:prstGeom>
          <a:solidFill>
            <a:srgbClr val="E0A526"/>
          </a:solidFill>
          <a:ln/>
        </p:spPr>
      </p:sp>
      <p:sp>
        <p:nvSpPr>
          <p:cNvPr id="26" name="Shape 24"/>
          <p:cNvSpPr/>
          <p:nvPr/>
        </p:nvSpPr>
        <p:spPr>
          <a:xfrm>
            <a:off x="7010225" y="6748272"/>
            <a:ext cx="304792" cy="109728"/>
          </a:xfrm>
          <a:prstGeom prst="rect">
            <a:avLst/>
          </a:prstGeom>
          <a:solidFill>
            <a:srgbClr val="0E5E6F"/>
          </a:solidFill>
          <a:ln/>
        </p:spPr>
      </p:sp>
      <p:sp>
        <p:nvSpPr>
          <p:cNvPr id="27" name="Shape 25"/>
          <p:cNvSpPr/>
          <p:nvPr/>
        </p:nvSpPr>
        <p:spPr>
          <a:xfrm>
            <a:off x="7315017" y="6748272"/>
            <a:ext cx="304792" cy="109728"/>
          </a:xfrm>
          <a:prstGeom prst="rect">
            <a:avLst/>
          </a:prstGeom>
          <a:solidFill>
            <a:srgbClr val="8B1E3F"/>
          </a:solidFill>
          <a:ln/>
        </p:spPr>
      </p:sp>
      <p:sp>
        <p:nvSpPr>
          <p:cNvPr id="28" name="Shape 26"/>
          <p:cNvSpPr/>
          <p:nvPr/>
        </p:nvSpPr>
        <p:spPr>
          <a:xfrm>
            <a:off x="7619809" y="6748272"/>
            <a:ext cx="304792" cy="109728"/>
          </a:xfrm>
          <a:prstGeom prst="rect">
            <a:avLst/>
          </a:prstGeom>
          <a:solidFill>
            <a:srgbClr val="0E5E6F"/>
          </a:solidFill>
          <a:ln/>
        </p:spPr>
      </p:sp>
      <p:sp>
        <p:nvSpPr>
          <p:cNvPr id="29" name="Shape 27"/>
          <p:cNvSpPr/>
          <p:nvPr/>
        </p:nvSpPr>
        <p:spPr>
          <a:xfrm>
            <a:off x="7924602" y="6748272"/>
            <a:ext cx="304792" cy="109728"/>
          </a:xfrm>
          <a:prstGeom prst="rect">
            <a:avLst/>
          </a:prstGeom>
          <a:solidFill>
            <a:srgbClr val="E0A526"/>
          </a:solidFill>
          <a:ln/>
        </p:spPr>
      </p:sp>
      <p:sp>
        <p:nvSpPr>
          <p:cNvPr id="30" name="Shape 28"/>
          <p:cNvSpPr/>
          <p:nvPr/>
        </p:nvSpPr>
        <p:spPr>
          <a:xfrm>
            <a:off x="8229394" y="6748272"/>
            <a:ext cx="304792" cy="109728"/>
          </a:xfrm>
          <a:prstGeom prst="rect">
            <a:avLst/>
          </a:prstGeom>
          <a:solidFill>
            <a:srgbClr val="0E5E6F"/>
          </a:solidFill>
          <a:ln/>
        </p:spPr>
      </p:sp>
      <p:sp>
        <p:nvSpPr>
          <p:cNvPr id="31" name="Shape 29"/>
          <p:cNvSpPr/>
          <p:nvPr/>
        </p:nvSpPr>
        <p:spPr>
          <a:xfrm>
            <a:off x="8534187" y="6748272"/>
            <a:ext cx="304792" cy="109728"/>
          </a:xfrm>
          <a:prstGeom prst="rect">
            <a:avLst/>
          </a:prstGeom>
          <a:solidFill>
            <a:srgbClr val="8B1E3F"/>
          </a:solidFill>
          <a:ln/>
        </p:spPr>
      </p:sp>
      <p:sp>
        <p:nvSpPr>
          <p:cNvPr id="32" name="Shape 30"/>
          <p:cNvSpPr/>
          <p:nvPr/>
        </p:nvSpPr>
        <p:spPr>
          <a:xfrm>
            <a:off x="8838979" y="6748272"/>
            <a:ext cx="304792" cy="109728"/>
          </a:xfrm>
          <a:prstGeom prst="rect">
            <a:avLst/>
          </a:prstGeom>
          <a:solidFill>
            <a:srgbClr val="0E5E6F"/>
          </a:solidFill>
          <a:ln/>
        </p:spPr>
      </p:sp>
      <p:sp>
        <p:nvSpPr>
          <p:cNvPr id="33" name="Shape 31"/>
          <p:cNvSpPr/>
          <p:nvPr/>
        </p:nvSpPr>
        <p:spPr>
          <a:xfrm>
            <a:off x="9143771" y="6748272"/>
            <a:ext cx="304792" cy="109728"/>
          </a:xfrm>
          <a:prstGeom prst="rect">
            <a:avLst/>
          </a:prstGeom>
          <a:solidFill>
            <a:srgbClr val="E0A526"/>
          </a:solidFill>
          <a:ln/>
        </p:spPr>
      </p:sp>
      <p:sp>
        <p:nvSpPr>
          <p:cNvPr id="34" name="Shape 32"/>
          <p:cNvSpPr/>
          <p:nvPr/>
        </p:nvSpPr>
        <p:spPr>
          <a:xfrm>
            <a:off x="9448564" y="6748272"/>
            <a:ext cx="304792" cy="109728"/>
          </a:xfrm>
          <a:prstGeom prst="rect">
            <a:avLst/>
          </a:prstGeom>
          <a:solidFill>
            <a:srgbClr val="0E5E6F"/>
          </a:solidFill>
          <a:ln/>
        </p:spPr>
      </p:sp>
      <p:sp>
        <p:nvSpPr>
          <p:cNvPr id="35" name="Shape 33"/>
          <p:cNvSpPr/>
          <p:nvPr/>
        </p:nvSpPr>
        <p:spPr>
          <a:xfrm>
            <a:off x="9753356" y="6748272"/>
            <a:ext cx="304792" cy="109728"/>
          </a:xfrm>
          <a:prstGeom prst="rect">
            <a:avLst/>
          </a:prstGeom>
          <a:solidFill>
            <a:srgbClr val="8B1E3F"/>
          </a:solidFill>
          <a:ln/>
        </p:spPr>
      </p:sp>
      <p:sp>
        <p:nvSpPr>
          <p:cNvPr id="36" name="Shape 34"/>
          <p:cNvSpPr/>
          <p:nvPr/>
        </p:nvSpPr>
        <p:spPr>
          <a:xfrm>
            <a:off x="10058149" y="6748272"/>
            <a:ext cx="304792" cy="109728"/>
          </a:xfrm>
          <a:prstGeom prst="rect">
            <a:avLst/>
          </a:prstGeom>
          <a:solidFill>
            <a:srgbClr val="0E5E6F"/>
          </a:solidFill>
          <a:ln/>
        </p:spPr>
      </p:sp>
      <p:sp>
        <p:nvSpPr>
          <p:cNvPr id="37" name="Shape 35"/>
          <p:cNvSpPr/>
          <p:nvPr/>
        </p:nvSpPr>
        <p:spPr>
          <a:xfrm>
            <a:off x="10362941" y="6748272"/>
            <a:ext cx="304792" cy="109728"/>
          </a:xfrm>
          <a:prstGeom prst="rect">
            <a:avLst/>
          </a:prstGeom>
          <a:solidFill>
            <a:srgbClr val="E0A526"/>
          </a:solidFill>
          <a:ln/>
        </p:spPr>
      </p:sp>
      <p:sp>
        <p:nvSpPr>
          <p:cNvPr id="38" name="Shape 36"/>
          <p:cNvSpPr/>
          <p:nvPr/>
        </p:nvSpPr>
        <p:spPr>
          <a:xfrm>
            <a:off x="10667733" y="6748272"/>
            <a:ext cx="304792" cy="109728"/>
          </a:xfrm>
          <a:prstGeom prst="rect">
            <a:avLst/>
          </a:prstGeom>
          <a:solidFill>
            <a:srgbClr val="0E5E6F"/>
          </a:solidFill>
          <a:ln/>
        </p:spPr>
      </p:sp>
      <p:sp>
        <p:nvSpPr>
          <p:cNvPr id="39" name="Shape 37"/>
          <p:cNvSpPr/>
          <p:nvPr/>
        </p:nvSpPr>
        <p:spPr>
          <a:xfrm>
            <a:off x="10972526" y="6748272"/>
            <a:ext cx="304792" cy="109728"/>
          </a:xfrm>
          <a:prstGeom prst="rect">
            <a:avLst/>
          </a:prstGeom>
          <a:solidFill>
            <a:srgbClr val="8B1E3F"/>
          </a:solidFill>
          <a:ln/>
        </p:spPr>
      </p:sp>
      <p:sp>
        <p:nvSpPr>
          <p:cNvPr id="40" name="Shape 38"/>
          <p:cNvSpPr/>
          <p:nvPr/>
        </p:nvSpPr>
        <p:spPr>
          <a:xfrm>
            <a:off x="11277318" y="6748272"/>
            <a:ext cx="304792" cy="109728"/>
          </a:xfrm>
          <a:prstGeom prst="rect">
            <a:avLst/>
          </a:prstGeom>
          <a:solidFill>
            <a:srgbClr val="0E5E6F"/>
          </a:solidFill>
          <a:ln/>
        </p:spPr>
      </p:sp>
      <p:sp>
        <p:nvSpPr>
          <p:cNvPr id="41" name="Shape 39"/>
          <p:cNvSpPr/>
          <p:nvPr/>
        </p:nvSpPr>
        <p:spPr>
          <a:xfrm>
            <a:off x="11582110" y="6748272"/>
            <a:ext cx="304792" cy="109728"/>
          </a:xfrm>
          <a:prstGeom prst="rect">
            <a:avLst/>
          </a:prstGeom>
          <a:solidFill>
            <a:srgbClr val="E0A526"/>
          </a:solidFill>
          <a:ln/>
        </p:spPr>
      </p:sp>
      <p:sp>
        <p:nvSpPr>
          <p:cNvPr id="42" name="Shape 40"/>
          <p:cNvSpPr/>
          <p:nvPr/>
        </p:nvSpPr>
        <p:spPr>
          <a:xfrm>
            <a:off x="11886903" y="6748272"/>
            <a:ext cx="304792" cy="109728"/>
          </a:xfrm>
          <a:prstGeom prst="rect">
            <a:avLst/>
          </a:prstGeom>
          <a:solidFill>
            <a:srgbClr val="0E5E6F"/>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Overview   3–5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Hyderabad and Telangana   6</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Age, sex, religion, 2002   7–10</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Polling parts   11–13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Hearings   14–15</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Questions put to this analysis   16–17</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18</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19</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20–21</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40.0% of electors were struck off, and 22.3% more summoned to hearings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What happened to each elector on the five rolls before the revision, as a % of the roll</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48" name="Shape 45"/>
          <p:cNvSpPr/>
          <p:nvPr/>
        </p:nvSpPr>
        <p:spPr>
          <a:xfrm>
            <a:off x="8366760" y="1920240"/>
            <a:ext cx="3276295" cy="1325880"/>
          </a:xfrm>
          <a:prstGeom prst="roundRect">
            <a:avLst>
              <a:gd name="adj" fmla="val 5517"/>
            </a:avLst>
          </a:prstGeom>
          <a:solidFill>
            <a:srgbClr val="F4F6F7"/>
          </a:solidFill>
          <a:ln/>
        </p:spPr>
      </p:sp>
      <p:sp>
        <p:nvSpPr>
          <p:cNvPr id="49" name="Text 46"/>
          <p:cNvSpPr txBox="1"/>
          <p:nvPr/>
        </p:nvSpPr>
        <p:spPr>
          <a:xfrm>
            <a:off x="8549640" y="2029968"/>
            <a:ext cx="2910535" cy="636422"/>
          </a:xfrm>
          <a:prstGeom prst="rect">
            <a:avLst/>
          </a:prstGeom>
          <a:noFill/>
          <a:ln/>
        </p:spPr>
        <p:txBody>
          <a:bodyPr wrap="square" lIns="0" tIns="0" rIns="0" bIns="0" rtlCol="0" anchor="b">
            <a:normAutofit/>
          </a:bodyPr>
          <a:lstStyle/>
          <a:p>
            <a:pPr indent="0" marL="0">
              <a:buNone/>
            </a:pPr>
            <a:r>
              <a:rPr lang="en-US" sz="2800" b="1" dirty="0">
                <a:solidFill>
                  <a:srgbClr val="8B1E3F"/>
                </a:solidFill>
                <a:latin typeface="Cambria" pitchFamily="34" charset="0"/>
                <a:ea typeface="Cambria" pitchFamily="34" charset="-122"/>
                <a:cs typeface="Cambria" pitchFamily="34" charset="-120"/>
              </a:rPr>
              <a:t>6,62,063</a:t>
            </a:r>
            <a:endParaRPr lang="en-US" sz="2800" dirty="0"/>
          </a:p>
        </p:txBody>
      </p:sp>
      <p:sp>
        <p:nvSpPr>
          <p:cNvPr id="50" name="Text 47"/>
          <p:cNvSpPr txBox="1"/>
          <p:nvPr/>
        </p:nvSpPr>
        <p:spPr>
          <a:xfrm>
            <a:off x="8549640" y="2684678"/>
            <a:ext cx="29105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struck off, out of 16,57,207</a:t>
            </a:r>
            <a:endParaRPr lang="en-US" sz="1200" dirty="0"/>
          </a:p>
        </p:txBody>
      </p:sp>
      <p:sp>
        <p:nvSpPr>
          <p:cNvPr id="51" name="Shape 48"/>
          <p:cNvSpPr/>
          <p:nvPr/>
        </p:nvSpPr>
        <p:spPr>
          <a:xfrm>
            <a:off x="8366760" y="3474720"/>
            <a:ext cx="3276295" cy="1325880"/>
          </a:xfrm>
          <a:prstGeom prst="roundRect">
            <a:avLst>
              <a:gd name="adj" fmla="val 5517"/>
            </a:avLst>
          </a:prstGeom>
          <a:solidFill>
            <a:srgbClr val="F4F6F7"/>
          </a:solidFill>
          <a:ln/>
        </p:spPr>
      </p:sp>
      <p:sp>
        <p:nvSpPr>
          <p:cNvPr id="52" name="Text 49"/>
          <p:cNvSpPr txBox="1"/>
          <p:nvPr/>
        </p:nvSpPr>
        <p:spPr>
          <a:xfrm>
            <a:off x="8549640" y="3584448"/>
            <a:ext cx="2910535" cy="636422"/>
          </a:xfrm>
          <a:prstGeom prst="rect">
            <a:avLst/>
          </a:prstGeom>
          <a:noFill/>
          <a:ln/>
        </p:spPr>
        <p:txBody>
          <a:bodyPr wrap="square" lIns="0" tIns="0" rIns="0" bIns="0" rtlCol="0" anchor="b">
            <a:normAutofit/>
          </a:bodyPr>
          <a:lstStyle/>
          <a:p>
            <a:pPr indent="0" marL="0">
              <a:buNone/>
            </a:pPr>
            <a:r>
              <a:rPr lang="en-US" sz="2800" b="1" dirty="0">
                <a:solidFill>
                  <a:srgbClr val="8B1E3F"/>
                </a:solidFill>
                <a:latin typeface="Cambria" pitchFamily="34" charset="0"/>
                <a:ea typeface="Cambria" pitchFamily="34" charset="-122"/>
                <a:cs typeface="Cambria" pitchFamily="34" charset="-120"/>
              </a:rPr>
              <a:t>3,69,972</a:t>
            </a:r>
            <a:endParaRPr lang="en-US" sz="2800" dirty="0"/>
          </a:p>
        </p:txBody>
      </p:sp>
      <p:sp>
        <p:nvSpPr>
          <p:cNvPr id="53" name="Text 50"/>
          <p:cNvSpPr txBox="1"/>
          <p:nvPr/>
        </p:nvSpPr>
        <p:spPr>
          <a:xfrm>
            <a:off x="8549640" y="4239158"/>
            <a:ext cx="29105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kept on the roll only if they attend a hearing</a:t>
            </a:r>
            <a:endParaRPr lang="en-US" sz="1200" dirty="0"/>
          </a:p>
        </p:txBody>
      </p:sp>
      <p:sp>
        <p:nvSpPr>
          <p:cNvPr id="54" name="Shape 51"/>
          <p:cNvSpPr/>
          <p:nvPr/>
        </p:nvSpPr>
        <p:spPr>
          <a:xfrm>
            <a:off x="8366760" y="5029200"/>
            <a:ext cx="3276295" cy="1325880"/>
          </a:xfrm>
          <a:prstGeom prst="roundRect">
            <a:avLst>
              <a:gd name="adj" fmla="val 5517"/>
            </a:avLst>
          </a:prstGeom>
          <a:solidFill>
            <a:srgbClr val="F4F6F7"/>
          </a:solidFill>
          <a:ln/>
        </p:spPr>
      </p:sp>
      <p:sp>
        <p:nvSpPr>
          <p:cNvPr id="55" name="Text 52"/>
          <p:cNvSpPr txBox="1"/>
          <p:nvPr/>
        </p:nvSpPr>
        <p:spPr>
          <a:xfrm>
            <a:off x="8549640" y="5138928"/>
            <a:ext cx="2910535" cy="636422"/>
          </a:xfrm>
          <a:prstGeom prst="rect">
            <a:avLst/>
          </a:prstGeom>
          <a:noFill/>
          <a:ln/>
        </p:spPr>
        <p:txBody>
          <a:bodyPr wrap="square" lIns="0" tIns="0" rIns="0" bIns="0" rtlCol="0" anchor="b">
            <a:normAutofit/>
          </a:bodyPr>
          <a:lstStyle/>
          <a:p>
            <a:pPr indent="0" marL="0">
              <a:buNone/>
            </a:pPr>
            <a:r>
              <a:rPr lang="en-US" sz="2800" b="1" dirty="0">
                <a:solidFill>
                  <a:srgbClr val="8B1E3F"/>
                </a:solidFill>
                <a:latin typeface="Cambria" pitchFamily="34" charset="0"/>
                <a:ea typeface="Cambria" pitchFamily="34" charset="-122"/>
                <a:cs typeface="Cambria" pitchFamily="34" charset="-120"/>
              </a:rPr>
              <a:t>45.1%</a:t>
            </a:r>
            <a:endParaRPr lang="en-US" sz="2800" dirty="0"/>
          </a:p>
        </p:txBody>
      </p:sp>
      <p:sp>
        <p:nvSpPr>
          <p:cNvPr id="56" name="Text 53"/>
          <p:cNvSpPr txBox="1"/>
          <p:nvPr/>
        </p:nvSpPr>
        <p:spPr>
          <a:xfrm>
            <a:off x="8549640" y="5793638"/>
            <a:ext cx="29105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Malakpet lost the most, Bahadurpura the least (34.6%)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In all five seats, more names were struck off than the 2023 winner received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struck off against the 2023 result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011680"/>
                <a:gridCol w="2743200"/>
                <a:gridCol w="1325880"/>
                <a:gridCol w="1097280"/>
                <a:gridCol w="1280160"/>
                <a:gridCol w="1005840"/>
                <a:gridCol w="1627632"/>
              </a:tblGrid>
              <a:tr h="25603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Constituency</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Won by (2023)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Winner's votes</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Margin</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Struck off</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 margin</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 of valid votes</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Yakutpura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Jaffer Hussain</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46,153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878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1,54,982</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176.5×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110.4%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Malakpet</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Ahmed Bin Abdullah Balala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55,805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26,106</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1,42,688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108.1%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Chandrayangutta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Akbaruddin Owaisi</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99,776</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81,660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1,48,869</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96.8%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Charminar</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Mir Zulfeqar Ali</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49,103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22,853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94,174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96.0%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Bahadurpura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Mohammed Mubeen</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89,451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67,025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1,21,350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84.0%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bl>
          </a:graphicData>
        </a:graphic>
      </p:graphicFrame>
      <p:sp>
        <p:nvSpPr>
          <p:cNvPr id="48" name="Shape 45"/>
          <p:cNvSpPr/>
          <p:nvPr/>
        </p:nvSpPr>
        <p:spPr>
          <a:xfrm>
            <a:off x="548640" y="4023360"/>
            <a:ext cx="11094415" cy="1371600"/>
          </a:xfrm>
          <a:prstGeom prst="roundRect">
            <a:avLst>
              <a:gd name="adj" fmla="val 6667"/>
            </a:avLst>
          </a:prstGeom>
          <a:solidFill>
            <a:srgbClr val="F7ECEF"/>
          </a:solidFill>
          <a:ln/>
        </p:spPr>
      </p:sp>
      <p:sp>
        <p:nvSpPr>
          <p:cNvPr id="49" name="Text 46"/>
          <p:cNvSpPr txBox="1"/>
          <p:nvPr/>
        </p:nvSpPr>
        <p:spPr>
          <a:xfrm>
            <a:off x="777240" y="4187952"/>
            <a:ext cx="10637215" cy="104241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In Yakutpura and Malakpet the names struck off exceed every valid vote cast in 2023. Yakutpura was won by 878 votes and lost 1,54,982 names. Across the five, the names struck off equal 99.0% of the 2023 vote.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64% of removals were entered as "permanently shifted" and 21% as untraceable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of names struck off, by the reason the officer recorded</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8366760" y="2011680"/>
            <a:ext cx="32762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8.7% were entered as dead and 6.0% as enrolled elsewhere.</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untraceable share runs from 6.5% to 38.3% by constituency.</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Each reason is what the officer wrote down, and nobody checked it. An untraceable entry records only that the officer did not find the person.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HYDERABAD AND TELANGANA</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Hyderabad lost 41.0% of its roll, more than twice the 18.6% in the rest of Telangana</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of each roll left off the state's draft of 17 August 2026; Old City seats in maroon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Hyderabad district lost 41.0% of its roll, and the rest of Telangana 18.6%.</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removals are heavy across the whole capital region.</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Below the district the state publishes totals only, with no split by reason.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AGE, SEX, RELIGION, 2002</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74% of electors aged 80 and over were struck off, against 21% of those aged 18 to 24</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of each age band struck off, all five constituencies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pattern holds in every constituency, from 70.1% to 76.6% of those aged 80 and over and 19.3% to 25.6% of those aged 18 to 24.</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57,526 were entered as dead, which explains part of the top of the range.</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rate roughly doubles between 18 to 24 and 30 to 39, ages at which few people die.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AGE, SEX, RELIGION, 2002</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Electors with no link to the 2002 roll were struck off 2.0 times as often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struck off, by whether the elector can be traced to the roll of the 2002 intensive revision. Malakpet's list carries no link.</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25.3% of linked electors were struck off, and 51.6% of those with no link.</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Inside the same polling part the gap is 21 to 28 points, and runs the same way in 1,024 of 1,098 parts.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revision asks every elector to show a link to the 2002 roll. Anyone who moved to the city after 2002, or whose family name is spelt differently on the old roll, starts behind.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AGE, SEX, RELIGION, 2002</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52.0% of Hindu-name electors were struck off, and 35.3% of Muslim-name electors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struck off by religion guessed from names, constituency by constituency</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Inside the same polling part, Hindu-name electors were struck off 9.6 to 24.5 points more often, in 728 of 823 parts large enough to compare.</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lists give religion and age separately, so part of this gap may be an age gap.</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Religion is guessed from names, because the roll does not record 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AGE, SEX, RELIGION, 2002</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Women and men were struck off at similar rates, 39.9% and 40.5%</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struck off by sex, constituency by constituency</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Inside the same part the gaps are under 2.5 points either way.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POLLING PARTS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Part removal rates ran from 13% to 80%</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Polling parts with at least 100 electors, by the share struck off. Malakpet has no part numbers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585216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920240"/>
          <a:ext cx="4967935" cy="914400"/>
        </p:xfrm>
        <a:graphic>
          <a:graphicData uri="http://schemas.openxmlformats.org/drawingml/2006/table">
            <a:tbl>
              <a:tblPr/>
              <a:tblGrid>
                <a:gridCol w="2011680"/>
                <a:gridCol w="1005840"/>
                <a:gridCol w="1005840"/>
                <a:gridCol w="941832"/>
              </a:tblGrid>
              <a:tr h="25603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Constituency</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Lowest</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Middle</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Highest</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Charminar</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21.5%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38.4%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80.3%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Yakutpura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17.4%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77.4%</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Chandrayangutta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39.1%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57.2%</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Bahadurpura</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13.1%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35.3%</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51.6%</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POLLING PARTS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Parts with more Muslim-name electors lost fewer names, in every constituency</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Rank correlation across parts within each constituency, with the part's removal rate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2148840"/>
                <a:gridCol w="1600200"/>
                <a:gridCol w="1600200"/>
                <a:gridCol w="1600200"/>
              </a:tblGrid>
              <a:tr h="25603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Constituency</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Muslim-name share</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Share aged 80+</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Share untraceable</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Charminar</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-0.52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Yakutpura</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-0.62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Chandrayangutta</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-0.48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0.16</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Bahadurpura</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-0.41</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0.16</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9"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A negative figure means parts with more of that group lost fewer names.</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share of elderly electors and the share entered as untraceable barely move with a part's rate.</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Parts with at least 100 electors, and for the untraceable share, parts with at least 20 removals.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POLLING PARTS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30 polling parts lost more than 60% of their roll</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fifteen heaviest parts with 100 or more electors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94560"/>
                <a:gridCol w="822960"/>
                <a:gridCol w="3840480"/>
                <a:gridCol w="1371600"/>
                <a:gridCol w="1371600"/>
                <a:gridCol w="1490472"/>
              </a:tblGrid>
              <a:tr h="25603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Constituency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Locality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Electors</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Struck off</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 struck off</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1832"/>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Charminar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Dood Bowli</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942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756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80.3%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297</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Banu Nagar Colony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1,381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1,069</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77.4%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Charminar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136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Kalikaman</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731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530</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72.5%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302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Singareni Colony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1,338</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945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70.6%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299</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Adrash Nagar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1,097</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755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68.8%</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305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Singareni Colony Huts</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1,198</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822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68.6%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283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Nagarjuna Colony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1,521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1,026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67.5%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321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Vinay Nagar Colony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634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421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66.4%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286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Champapet Road</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1,060</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695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65.6%</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301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Adrash Nagar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1,209</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788</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65.2%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285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Champapet Road</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674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438</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65.0%</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327</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827</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535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64.7%</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Charminar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134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Kalikaman</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873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563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64.5%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312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Adrash Nagar</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1,025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661</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64.5%</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Yakutpura</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303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833"/>
                          </a:solidFill>
                          <a:latin typeface="Calibri" pitchFamily="34" charset="0"/>
                          <a:ea typeface="Calibri" pitchFamily="34" charset="-122"/>
                          <a:cs typeface="Calibri" pitchFamily="34" charset="-120"/>
                        </a:rPr>
                        <a:t>Singareni Colony</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1,404</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902</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C2833"/>
                          </a:solidFill>
                          <a:latin typeface="Calibri" pitchFamily="34" charset="0"/>
                          <a:ea typeface="Calibri" pitchFamily="34" charset="-122"/>
                          <a:cs typeface="Calibri" pitchFamily="34" charset="-120"/>
                        </a:rPr>
                        <a:t>64.3%</a:t>
                      </a:r>
                      <a:endParaRPr lang="en-US" sz="115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HEARINGS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3,69,972 electors kept on the draft roll were summoned to hearings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Electors summoned under each of the Commission's seven rules, all five constituencies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31.6% of flags were for not being traced to the last intensive revision, in 2002. Mismatched names came next.</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One elector can carry more than one rule, so the flags add up to more than the people summoned.</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22.3% of everyone on the five rolls was summoned.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HEARINGS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The busiest hearing slot listed 459 cases, and the typical slot in Charminar listed 38</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7,164 hearing slots, 28 August to 12 October</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0" y="6748272"/>
            <a:ext cx="304792" cy="109728"/>
          </a:xfrm>
          <a:prstGeom prst="rect">
            <a:avLst/>
          </a:prstGeom>
          <a:solidFill>
            <a:srgbClr val="8B1E3F"/>
          </a:solidFill>
          <a:ln/>
        </p:spPr>
      </p:sp>
      <p:sp>
        <p:nvSpPr>
          <p:cNvPr id="8" name="Shape 6"/>
          <p:cNvSpPr/>
          <p:nvPr/>
        </p:nvSpPr>
        <p:spPr>
          <a:xfrm>
            <a:off x="304792" y="6748272"/>
            <a:ext cx="304792" cy="109728"/>
          </a:xfrm>
          <a:prstGeom prst="rect">
            <a:avLst/>
          </a:prstGeom>
          <a:solidFill>
            <a:srgbClr val="0E5E6F"/>
          </a:solidFill>
          <a:ln/>
        </p:spPr>
      </p:sp>
      <p:sp>
        <p:nvSpPr>
          <p:cNvPr id="9" name="Shape 7"/>
          <p:cNvSpPr/>
          <p:nvPr/>
        </p:nvSpPr>
        <p:spPr>
          <a:xfrm>
            <a:off x="609585" y="6748272"/>
            <a:ext cx="304792" cy="109728"/>
          </a:xfrm>
          <a:prstGeom prst="rect">
            <a:avLst/>
          </a:prstGeom>
          <a:solidFill>
            <a:srgbClr val="E0A526"/>
          </a:solidFill>
          <a:ln/>
        </p:spPr>
      </p:sp>
      <p:sp>
        <p:nvSpPr>
          <p:cNvPr id="10" name="Shape 8"/>
          <p:cNvSpPr/>
          <p:nvPr/>
        </p:nvSpPr>
        <p:spPr>
          <a:xfrm>
            <a:off x="914377" y="6748272"/>
            <a:ext cx="304792" cy="109728"/>
          </a:xfrm>
          <a:prstGeom prst="rect">
            <a:avLst/>
          </a:prstGeom>
          <a:solidFill>
            <a:srgbClr val="0E5E6F"/>
          </a:solidFill>
          <a:ln/>
        </p:spPr>
      </p:sp>
      <p:sp>
        <p:nvSpPr>
          <p:cNvPr id="11" name="Shape 9"/>
          <p:cNvSpPr/>
          <p:nvPr/>
        </p:nvSpPr>
        <p:spPr>
          <a:xfrm>
            <a:off x="1219170" y="6748272"/>
            <a:ext cx="304792" cy="109728"/>
          </a:xfrm>
          <a:prstGeom prst="rect">
            <a:avLst/>
          </a:prstGeom>
          <a:solidFill>
            <a:srgbClr val="8B1E3F"/>
          </a:solidFill>
          <a:ln/>
        </p:spPr>
      </p:sp>
      <p:sp>
        <p:nvSpPr>
          <p:cNvPr id="12" name="Shape 10"/>
          <p:cNvSpPr/>
          <p:nvPr/>
        </p:nvSpPr>
        <p:spPr>
          <a:xfrm>
            <a:off x="1523962" y="6748272"/>
            <a:ext cx="304792" cy="109728"/>
          </a:xfrm>
          <a:prstGeom prst="rect">
            <a:avLst/>
          </a:prstGeom>
          <a:solidFill>
            <a:srgbClr val="0E5E6F"/>
          </a:solidFill>
          <a:ln/>
        </p:spPr>
      </p:sp>
      <p:sp>
        <p:nvSpPr>
          <p:cNvPr id="13" name="Shape 11"/>
          <p:cNvSpPr/>
          <p:nvPr/>
        </p:nvSpPr>
        <p:spPr>
          <a:xfrm>
            <a:off x="1828754" y="6748272"/>
            <a:ext cx="304792" cy="109728"/>
          </a:xfrm>
          <a:prstGeom prst="rect">
            <a:avLst/>
          </a:prstGeom>
          <a:solidFill>
            <a:srgbClr val="E0A526"/>
          </a:solidFill>
          <a:ln/>
        </p:spPr>
      </p:sp>
      <p:sp>
        <p:nvSpPr>
          <p:cNvPr id="14" name="Shape 12"/>
          <p:cNvSpPr/>
          <p:nvPr/>
        </p:nvSpPr>
        <p:spPr>
          <a:xfrm>
            <a:off x="2133547" y="6748272"/>
            <a:ext cx="304792" cy="109728"/>
          </a:xfrm>
          <a:prstGeom prst="rect">
            <a:avLst/>
          </a:prstGeom>
          <a:solidFill>
            <a:srgbClr val="0E5E6F"/>
          </a:solidFill>
          <a:ln/>
        </p:spPr>
      </p:sp>
      <p:sp>
        <p:nvSpPr>
          <p:cNvPr id="15" name="Shape 13"/>
          <p:cNvSpPr/>
          <p:nvPr/>
        </p:nvSpPr>
        <p:spPr>
          <a:xfrm>
            <a:off x="2438339" y="6748272"/>
            <a:ext cx="304792" cy="109728"/>
          </a:xfrm>
          <a:prstGeom prst="rect">
            <a:avLst/>
          </a:prstGeom>
          <a:solidFill>
            <a:srgbClr val="8B1E3F"/>
          </a:solidFill>
          <a:ln/>
        </p:spPr>
      </p:sp>
      <p:sp>
        <p:nvSpPr>
          <p:cNvPr id="16" name="Shape 14"/>
          <p:cNvSpPr/>
          <p:nvPr/>
        </p:nvSpPr>
        <p:spPr>
          <a:xfrm>
            <a:off x="2743131" y="6748272"/>
            <a:ext cx="304792" cy="109728"/>
          </a:xfrm>
          <a:prstGeom prst="rect">
            <a:avLst/>
          </a:prstGeom>
          <a:solidFill>
            <a:srgbClr val="0E5E6F"/>
          </a:solidFill>
          <a:ln/>
        </p:spPr>
      </p:sp>
      <p:sp>
        <p:nvSpPr>
          <p:cNvPr id="17" name="Shape 15"/>
          <p:cNvSpPr/>
          <p:nvPr/>
        </p:nvSpPr>
        <p:spPr>
          <a:xfrm>
            <a:off x="3047924" y="6748272"/>
            <a:ext cx="304792" cy="109728"/>
          </a:xfrm>
          <a:prstGeom prst="rect">
            <a:avLst/>
          </a:prstGeom>
          <a:solidFill>
            <a:srgbClr val="E0A526"/>
          </a:solidFill>
          <a:ln/>
        </p:spPr>
      </p:sp>
      <p:sp>
        <p:nvSpPr>
          <p:cNvPr id="18" name="Shape 16"/>
          <p:cNvSpPr/>
          <p:nvPr/>
        </p:nvSpPr>
        <p:spPr>
          <a:xfrm>
            <a:off x="3352716" y="6748272"/>
            <a:ext cx="304792" cy="109728"/>
          </a:xfrm>
          <a:prstGeom prst="rect">
            <a:avLst/>
          </a:prstGeom>
          <a:solidFill>
            <a:srgbClr val="0E5E6F"/>
          </a:solidFill>
          <a:ln/>
        </p:spPr>
      </p:sp>
      <p:sp>
        <p:nvSpPr>
          <p:cNvPr id="19" name="Shape 17"/>
          <p:cNvSpPr/>
          <p:nvPr/>
        </p:nvSpPr>
        <p:spPr>
          <a:xfrm>
            <a:off x="3657509" y="6748272"/>
            <a:ext cx="304792" cy="109728"/>
          </a:xfrm>
          <a:prstGeom prst="rect">
            <a:avLst/>
          </a:prstGeom>
          <a:solidFill>
            <a:srgbClr val="8B1E3F"/>
          </a:solidFill>
          <a:ln/>
        </p:spPr>
      </p:sp>
      <p:sp>
        <p:nvSpPr>
          <p:cNvPr id="20" name="Shape 18"/>
          <p:cNvSpPr/>
          <p:nvPr/>
        </p:nvSpPr>
        <p:spPr>
          <a:xfrm>
            <a:off x="3962301" y="6748272"/>
            <a:ext cx="304792" cy="109728"/>
          </a:xfrm>
          <a:prstGeom prst="rect">
            <a:avLst/>
          </a:prstGeom>
          <a:solidFill>
            <a:srgbClr val="0E5E6F"/>
          </a:solidFill>
          <a:ln/>
        </p:spPr>
      </p:sp>
      <p:sp>
        <p:nvSpPr>
          <p:cNvPr id="21" name="Shape 19"/>
          <p:cNvSpPr/>
          <p:nvPr/>
        </p:nvSpPr>
        <p:spPr>
          <a:xfrm>
            <a:off x="4267093" y="6748272"/>
            <a:ext cx="304792" cy="109728"/>
          </a:xfrm>
          <a:prstGeom prst="rect">
            <a:avLst/>
          </a:prstGeom>
          <a:solidFill>
            <a:srgbClr val="E0A526"/>
          </a:solidFill>
          <a:ln/>
        </p:spPr>
      </p:sp>
      <p:sp>
        <p:nvSpPr>
          <p:cNvPr id="22" name="Shape 20"/>
          <p:cNvSpPr/>
          <p:nvPr/>
        </p:nvSpPr>
        <p:spPr>
          <a:xfrm>
            <a:off x="4571886" y="6748272"/>
            <a:ext cx="304792" cy="109728"/>
          </a:xfrm>
          <a:prstGeom prst="rect">
            <a:avLst/>
          </a:prstGeom>
          <a:solidFill>
            <a:srgbClr val="0E5E6F"/>
          </a:solidFill>
          <a:ln/>
        </p:spPr>
      </p:sp>
      <p:sp>
        <p:nvSpPr>
          <p:cNvPr id="23" name="Shape 21"/>
          <p:cNvSpPr/>
          <p:nvPr/>
        </p:nvSpPr>
        <p:spPr>
          <a:xfrm>
            <a:off x="4876678" y="6748272"/>
            <a:ext cx="304792" cy="109728"/>
          </a:xfrm>
          <a:prstGeom prst="rect">
            <a:avLst/>
          </a:prstGeom>
          <a:solidFill>
            <a:srgbClr val="8B1E3F"/>
          </a:solidFill>
          <a:ln/>
        </p:spPr>
      </p:sp>
      <p:sp>
        <p:nvSpPr>
          <p:cNvPr id="24" name="Shape 22"/>
          <p:cNvSpPr/>
          <p:nvPr/>
        </p:nvSpPr>
        <p:spPr>
          <a:xfrm>
            <a:off x="5181470" y="6748272"/>
            <a:ext cx="304792" cy="109728"/>
          </a:xfrm>
          <a:prstGeom prst="rect">
            <a:avLst/>
          </a:prstGeom>
          <a:solidFill>
            <a:srgbClr val="0E5E6F"/>
          </a:solidFill>
          <a:ln/>
        </p:spPr>
      </p:sp>
      <p:sp>
        <p:nvSpPr>
          <p:cNvPr id="25" name="Shape 23"/>
          <p:cNvSpPr/>
          <p:nvPr/>
        </p:nvSpPr>
        <p:spPr>
          <a:xfrm>
            <a:off x="5486263" y="6748272"/>
            <a:ext cx="304792" cy="109728"/>
          </a:xfrm>
          <a:prstGeom prst="rect">
            <a:avLst/>
          </a:prstGeom>
          <a:solidFill>
            <a:srgbClr val="E0A526"/>
          </a:solidFill>
          <a:ln/>
        </p:spPr>
      </p:sp>
      <p:sp>
        <p:nvSpPr>
          <p:cNvPr id="26" name="Shape 24"/>
          <p:cNvSpPr/>
          <p:nvPr/>
        </p:nvSpPr>
        <p:spPr>
          <a:xfrm>
            <a:off x="5791055" y="6748272"/>
            <a:ext cx="304792" cy="109728"/>
          </a:xfrm>
          <a:prstGeom prst="rect">
            <a:avLst/>
          </a:prstGeom>
          <a:solidFill>
            <a:srgbClr val="0E5E6F"/>
          </a:solidFill>
          <a:ln/>
        </p:spPr>
      </p:sp>
      <p:sp>
        <p:nvSpPr>
          <p:cNvPr id="27" name="Shape 25"/>
          <p:cNvSpPr/>
          <p:nvPr/>
        </p:nvSpPr>
        <p:spPr>
          <a:xfrm>
            <a:off x="6095848" y="6748272"/>
            <a:ext cx="304792" cy="109728"/>
          </a:xfrm>
          <a:prstGeom prst="rect">
            <a:avLst/>
          </a:prstGeom>
          <a:solidFill>
            <a:srgbClr val="8B1E3F"/>
          </a:solidFill>
          <a:ln/>
        </p:spPr>
      </p:sp>
      <p:sp>
        <p:nvSpPr>
          <p:cNvPr id="28" name="Shape 26"/>
          <p:cNvSpPr/>
          <p:nvPr/>
        </p:nvSpPr>
        <p:spPr>
          <a:xfrm>
            <a:off x="6400640" y="6748272"/>
            <a:ext cx="304792" cy="109728"/>
          </a:xfrm>
          <a:prstGeom prst="rect">
            <a:avLst/>
          </a:prstGeom>
          <a:solidFill>
            <a:srgbClr val="0E5E6F"/>
          </a:solidFill>
          <a:ln/>
        </p:spPr>
      </p:sp>
      <p:sp>
        <p:nvSpPr>
          <p:cNvPr id="29" name="Shape 27"/>
          <p:cNvSpPr/>
          <p:nvPr/>
        </p:nvSpPr>
        <p:spPr>
          <a:xfrm>
            <a:off x="6705432" y="6748272"/>
            <a:ext cx="304792" cy="109728"/>
          </a:xfrm>
          <a:prstGeom prst="rect">
            <a:avLst/>
          </a:prstGeom>
          <a:solidFill>
            <a:srgbClr val="E0A526"/>
          </a:solidFill>
          <a:ln/>
        </p:spPr>
      </p:sp>
      <p:sp>
        <p:nvSpPr>
          <p:cNvPr id="30" name="Shape 28"/>
          <p:cNvSpPr/>
          <p:nvPr/>
        </p:nvSpPr>
        <p:spPr>
          <a:xfrm>
            <a:off x="7010225" y="6748272"/>
            <a:ext cx="304792" cy="109728"/>
          </a:xfrm>
          <a:prstGeom prst="rect">
            <a:avLst/>
          </a:prstGeom>
          <a:solidFill>
            <a:srgbClr val="0E5E6F"/>
          </a:solidFill>
          <a:ln/>
        </p:spPr>
      </p:sp>
      <p:sp>
        <p:nvSpPr>
          <p:cNvPr id="31" name="Shape 29"/>
          <p:cNvSpPr/>
          <p:nvPr/>
        </p:nvSpPr>
        <p:spPr>
          <a:xfrm>
            <a:off x="7315017" y="6748272"/>
            <a:ext cx="304792" cy="109728"/>
          </a:xfrm>
          <a:prstGeom prst="rect">
            <a:avLst/>
          </a:prstGeom>
          <a:solidFill>
            <a:srgbClr val="8B1E3F"/>
          </a:solidFill>
          <a:ln/>
        </p:spPr>
      </p:sp>
      <p:sp>
        <p:nvSpPr>
          <p:cNvPr id="32" name="Shape 30"/>
          <p:cNvSpPr/>
          <p:nvPr/>
        </p:nvSpPr>
        <p:spPr>
          <a:xfrm>
            <a:off x="7619809" y="6748272"/>
            <a:ext cx="304792" cy="109728"/>
          </a:xfrm>
          <a:prstGeom prst="rect">
            <a:avLst/>
          </a:prstGeom>
          <a:solidFill>
            <a:srgbClr val="0E5E6F"/>
          </a:solidFill>
          <a:ln/>
        </p:spPr>
      </p:sp>
      <p:sp>
        <p:nvSpPr>
          <p:cNvPr id="33" name="Shape 31"/>
          <p:cNvSpPr/>
          <p:nvPr/>
        </p:nvSpPr>
        <p:spPr>
          <a:xfrm>
            <a:off x="7924602" y="6748272"/>
            <a:ext cx="304792" cy="109728"/>
          </a:xfrm>
          <a:prstGeom prst="rect">
            <a:avLst/>
          </a:prstGeom>
          <a:solidFill>
            <a:srgbClr val="E0A526"/>
          </a:solidFill>
          <a:ln/>
        </p:spPr>
      </p:sp>
      <p:sp>
        <p:nvSpPr>
          <p:cNvPr id="34" name="Shape 32"/>
          <p:cNvSpPr/>
          <p:nvPr/>
        </p:nvSpPr>
        <p:spPr>
          <a:xfrm>
            <a:off x="8229394" y="6748272"/>
            <a:ext cx="304792" cy="109728"/>
          </a:xfrm>
          <a:prstGeom prst="rect">
            <a:avLst/>
          </a:prstGeom>
          <a:solidFill>
            <a:srgbClr val="0E5E6F"/>
          </a:solidFill>
          <a:ln/>
        </p:spPr>
      </p:sp>
      <p:sp>
        <p:nvSpPr>
          <p:cNvPr id="35" name="Shape 33"/>
          <p:cNvSpPr/>
          <p:nvPr/>
        </p:nvSpPr>
        <p:spPr>
          <a:xfrm>
            <a:off x="8534187" y="6748272"/>
            <a:ext cx="304792" cy="109728"/>
          </a:xfrm>
          <a:prstGeom prst="rect">
            <a:avLst/>
          </a:prstGeom>
          <a:solidFill>
            <a:srgbClr val="8B1E3F"/>
          </a:solidFill>
          <a:ln/>
        </p:spPr>
      </p:sp>
      <p:sp>
        <p:nvSpPr>
          <p:cNvPr id="36" name="Shape 34"/>
          <p:cNvSpPr/>
          <p:nvPr/>
        </p:nvSpPr>
        <p:spPr>
          <a:xfrm>
            <a:off x="8838979" y="6748272"/>
            <a:ext cx="304792" cy="109728"/>
          </a:xfrm>
          <a:prstGeom prst="rect">
            <a:avLst/>
          </a:prstGeom>
          <a:solidFill>
            <a:srgbClr val="0E5E6F"/>
          </a:solidFill>
          <a:ln/>
        </p:spPr>
      </p:sp>
      <p:sp>
        <p:nvSpPr>
          <p:cNvPr id="37" name="Shape 35"/>
          <p:cNvSpPr/>
          <p:nvPr/>
        </p:nvSpPr>
        <p:spPr>
          <a:xfrm>
            <a:off x="9143771" y="6748272"/>
            <a:ext cx="304792" cy="109728"/>
          </a:xfrm>
          <a:prstGeom prst="rect">
            <a:avLst/>
          </a:prstGeom>
          <a:solidFill>
            <a:srgbClr val="E0A526"/>
          </a:solidFill>
          <a:ln/>
        </p:spPr>
      </p:sp>
      <p:sp>
        <p:nvSpPr>
          <p:cNvPr id="38" name="Shape 36"/>
          <p:cNvSpPr/>
          <p:nvPr/>
        </p:nvSpPr>
        <p:spPr>
          <a:xfrm>
            <a:off x="9448564" y="6748272"/>
            <a:ext cx="304792" cy="109728"/>
          </a:xfrm>
          <a:prstGeom prst="rect">
            <a:avLst/>
          </a:prstGeom>
          <a:solidFill>
            <a:srgbClr val="0E5E6F"/>
          </a:solidFill>
          <a:ln/>
        </p:spPr>
      </p:sp>
      <p:sp>
        <p:nvSpPr>
          <p:cNvPr id="39" name="Shape 37"/>
          <p:cNvSpPr/>
          <p:nvPr/>
        </p:nvSpPr>
        <p:spPr>
          <a:xfrm>
            <a:off x="9753356" y="6748272"/>
            <a:ext cx="304792" cy="109728"/>
          </a:xfrm>
          <a:prstGeom prst="rect">
            <a:avLst/>
          </a:prstGeom>
          <a:solidFill>
            <a:srgbClr val="8B1E3F"/>
          </a:solidFill>
          <a:ln/>
        </p:spPr>
      </p:sp>
      <p:sp>
        <p:nvSpPr>
          <p:cNvPr id="40" name="Shape 38"/>
          <p:cNvSpPr/>
          <p:nvPr/>
        </p:nvSpPr>
        <p:spPr>
          <a:xfrm>
            <a:off x="10058149" y="6748272"/>
            <a:ext cx="304792" cy="109728"/>
          </a:xfrm>
          <a:prstGeom prst="rect">
            <a:avLst/>
          </a:prstGeom>
          <a:solidFill>
            <a:srgbClr val="0E5E6F"/>
          </a:solidFill>
          <a:ln/>
        </p:spPr>
      </p:sp>
      <p:sp>
        <p:nvSpPr>
          <p:cNvPr id="41" name="Shape 39"/>
          <p:cNvSpPr/>
          <p:nvPr/>
        </p:nvSpPr>
        <p:spPr>
          <a:xfrm>
            <a:off x="10362941" y="6748272"/>
            <a:ext cx="304792" cy="109728"/>
          </a:xfrm>
          <a:prstGeom prst="rect">
            <a:avLst/>
          </a:prstGeom>
          <a:solidFill>
            <a:srgbClr val="E0A526"/>
          </a:solidFill>
          <a:ln/>
        </p:spPr>
      </p:sp>
      <p:sp>
        <p:nvSpPr>
          <p:cNvPr id="42" name="Shape 40"/>
          <p:cNvSpPr/>
          <p:nvPr/>
        </p:nvSpPr>
        <p:spPr>
          <a:xfrm>
            <a:off x="10667733" y="6748272"/>
            <a:ext cx="304792" cy="109728"/>
          </a:xfrm>
          <a:prstGeom prst="rect">
            <a:avLst/>
          </a:prstGeom>
          <a:solidFill>
            <a:srgbClr val="0E5E6F"/>
          </a:solidFill>
          <a:ln/>
        </p:spPr>
      </p:sp>
      <p:sp>
        <p:nvSpPr>
          <p:cNvPr id="43" name="Shape 41"/>
          <p:cNvSpPr/>
          <p:nvPr/>
        </p:nvSpPr>
        <p:spPr>
          <a:xfrm>
            <a:off x="10972526" y="6748272"/>
            <a:ext cx="304792" cy="109728"/>
          </a:xfrm>
          <a:prstGeom prst="rect">
            <a:avLst/>
          </a:prstGeom>
          <a:solidFill>
            <a:srgbClr val="8B1E3F"/>
          </a:solidFill>
          <a:ln/>
        </p:spPr>
      </p:sp>
      <p:sp>
        <p:nvSpPr>
          <p:cNvPr id="44" name="Shape 42"/>
          <p:cNvSpPr/>
          <p:nvPr/>
        </p:nvSpPr>
        <p:spPr>
          <a:xfrm>
            <a:off x="11277318" y="6748272"/>
            <a:ext cx="304792" cy="109728"/>
          </a:xfrm>
          <a:prstGeom prst="rect">
            <a:avLst/>
          </a:prstGeom>
          <a:solidFill>
            <a:srgbClr val="0E5E6F"/>
          </a:solidFill>
          <a:ln/>
        </p:spPr>
      </p:sp>
      <p:sp>
        <p:nvSpPr>
          <p:cNvPr id="45" name="Shape 43"/>
          <p:cNvSpPr/>
          <p:nvPr/>
        </p:nvSpPr>
        <p:spPr>
          <a:xfrm>
            <a:off x="11582110" y="6748272"/>
            <a:ext cx="304792" cy="109728"/>
          </a:xfrm>
          <a:prstGeom prst="rect">
            <a:avLst/>
          </a:prstGeom>
          <a:solidFill>
            <a:srgbClr val="E0A526"/>
          </a:solidFill>
          <a:ln/>
        </p:spPr>
      </p:sp>
      <p:sp>
        <p:nvSpPr>
          <p:cNvPr id="46" name="Shape 44"/>
          <p:cNvSpPr/>
          <p:nvPr/>
        </p:nvSpPr>
        <p:spPr>
          <a:xfrm>
            <a:off x="11886903" y="6748272"/>
            <a:ext cx="304792" cy="109728"/>
          </a:xfrm>
          <a:prstGeom prst="rect">
            <a:avLst/>
          </a:prstGeom>
          <a:solidFill>
            <a:srgbClr val="0E5E6F"/>
          </a:solidFill>
          <a:ln/>
        </p:spPr>
      </p:sp>
      <p:graphicFrame>
        <p:nvGraphicFramePr>
          <p:cNvPr id="47" name="Chart 0" descr=""/>
          <p:cNvGraphicFramePr/>
          <p:nvPr/>
        </p:nvGraphicFramePr>
        <p:xfrm>
          <a:off x="548640" y="1920240"/>
          <a:ext cx="566928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8" name="Chart 1" descr=""/>
          <p:cNvGraphicFramePr/>
          <p:nvPr/>
        </p:nvGraphicFramePr>
        <p:xfrm>
          <a:off x="6400800" y="1920240"/>
          <a:ext cx="5242255" cy="43434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QUESTIONS PUT TO THIS ANALYSIS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What the lists say about moves, religion, the 2002 roll and age</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0" y="6748272"/>
            <a:ext cx="304792" cy="109728"/>
          </a:xfrm>
          <a:prstGeom prst="rect">
            <a:avLst/>
          </a:prstGeom>
          <a:solidFill>
            <a:srgbClr val="8B1E3F"/>
          </a:solidFill>
          <a:ln/>
        </p:spPr>
      </p:sp>
      <p:sp>
        <p:nvSpPr>
          <p:cNvPr id="7" name="Shape 5"/>
          <p:cNvSpPr/>
          <p:nvPr/>
        </p:nvSpPr>
        <p:spPr>
          <a:xfrm>
            <a:off x="304792" y="6748272"/>
            <a:ext cx="304792" cy="109728"/>
          </a:xfrm>
          <a:prstGeom prst="rect">
            <a:avLst/>
          </a:prstGeom>
          <a:solidFill>
            <a:srgbClr val="0E5E6F"/>
          </a:solidFill>
          <a:ln/>
        </p:spPr>
      </p:sp>
      <p:sp>
        <p:nvSpPr>
          <p:cNvPr id="8" name="Shape 6"/>
          <p:cNvSpPr/>
          <p:nvPr/>
        </p:nvSpPr>
        <p:spPr>
          <a:xfrm>
            <a:off x="609585" y="6748272"/>
            <a:ext cx="304792" cy="109728"/>
          </a:xfrm>
          <a:prstGeom prst="rect">
            <a:avLst/>
          </a:prstGeom>
          <a:solidFill>
            <a:srgbClr val="E0A526"/>
          </a:solidFill>
          <a:ln/>
        </p:spPr>
      </p:sp>
      <p:sp>
        <p:nvSpPr>
          <p:cNvPr id="9" name="Shape 7"/>
          <p:cNvSpPr/>
          <p:nvPr/>
        </p:nvSpPr>
        <p:spPr>
          <a:xfrm>
            <a:off x="914377" y="6748272"/>
            <a:ext cx="304792" cy="109728"/>
          </a:xfrm>
          <a:prstGeom prst="rect">
            <a:avLst/>
          </a:prstGeom>
          <a:solidFill>
            <a:srgbClr val="0E5E6F"/>
          </a:solidFill>
          <a:ln/>
        </p:spPr>
      </p:sp>
      <p:sp>
        <p:nvSpPr>
          <p:cNvPr id="10" name="Shape 8"/>
          <p:cNvSpPr/>
          <p:nvPr/>
        </p:nvSpPr>
        <p:spPr>
          <a:xfrm>
            <a:off x="1219170" y="6748272"/>
            <a:ext cx="304792" cy="109728"/>
          </a:xfrm>
          <a:prstGeom prst="rect">
            <a:avLst/>
          </a:prstGeom>
          <a:solidFill>
            <a:srgbClr val="8B1E3F"/>
          </a:solidFill>
          <a:ln/>
        </p:spPr>
      </p:sp>
      <p:sp>
        <p:nvSpPr>
          <p:cNvPr id="11" name="Shape 9"/>
          <p:cNvSpPr/>
          <p:nvPr/>
        </p:nvSpPr>
        <p:spPr>
          <a:xfrm>
            <a:off x="1523962" y="6748272"/>
            <a:ext cx="304792" cy="109728"/>
          </a:xfrm>
          <a:prstGeom prst="rect">
            <a:avLst/>
          </a:prstGeom>
          <a:solidFill>
            <a:srgbClr val="0E5E6F"/>
          </a:solidFill>
          <a:ln/>
        </p:spPr>
      </p:sp>
      <p:sp>
        <p:nvSpPr>
          <p:cNvPr id="12" name="Shape 10"/>
          <p:cNvSpPr/>
          <p:nvPr/>
        </p:nvSpPr>
        <p:spPr>
          <a:xfrm>
            <a:off x="1828754" y="6748272"/>
            <a:ext cx="304792" cy="109728"/>
          </a:xfrm>
          <a:prstGeom prst="rect">
            <a:avLst/>
          </a:prstGeom>
          <a:solidFill>
            <a:srgbClr val="E0A526"/>
          </a:solidFill>
          <a:ln/>
        </p:spPr>
      </p:sp>
      <p:sp>
        <p:nvSpPr>
          <p:cNvPr id="13" name="Shape 11"/>
          <p:cNvSpPr/>
          <p:nvPr/>
        </p:nvSpPr>
        <p:spPr>
          <a:xfrm>
            <a:off x="2133547" y="6748272"/>
            <a:ext cx="304792" cy="109728"/>
          </a:xfrm>
          <a:prstGeom prst="rect">
            <a:avLst/>
          </a:prstGeom>
          <a:solidFill>
            <a:srgbClr val="0E5E6F"/>
          </a:solidFill>
          <a:ln/>
        </p:spPr>
      </p:sp>
      <p:sp>
        <p:nvSpPr>
          <p:cNvPr id="14" name="Shape 12"/>
          <p:cNvSpPr/>
          <p:nvPr/>
        </p:nvSpPr>
        <p:spPr>
          <a:xfrm>
            <a:off x="2438339" y="6748272"/>
            <a:ext cx="304792" cy="109728"/>
          </a:xfrm>
          <a:prstGeom prst="rect">
            <a:avLst/>
          </a:prstGeom>
          <a:solidFill>
            <a:srgbClr val="8B1E3F"/>
          </a:solidFill>
          <a:ln/>
        </p:spPr>
      </p:sp>
      <p:sp>
        <p:nvSpPr>
          <p:cNvPr id="15" name="Shape 13"/>
          <p:cNvSpPr/>
          <p:nvPr/>
        </p:nvSpPr>
        <p:spPr>
          <a:xfrm>
            <a:off x="2743131" y="6748272"/>
            <a:ext cx="304792" cy="109728"/>
          </a:xfrm>
          <a:prstGeom prst="rect">
            <a:avLst/>
          </a:prstGeom>
          <a:solidFill>
            <a:srgbClr val="0E5E6F"/>
          </a:solidFill>
          <a:ln/>
        </p:spPr>
      </p:sp>
      <p:sp>
        <p:nvSpPr>
          <p:cNvPr id="16" name="Shape 14"/>
          <p:cNvSpPr/>
          <p:nvPr/>
        </p:nvSpPr>
        <p:spPr>
          <a:xfrm>
            <a:off x="3047924" y="6748272"/>
            <a:ext cx="304792" cy="109728"/>
          </a:xfrm>
          <a:prstGeom prst="rect">
            <a:avLst/>
          </a:prstGeom>
          <a:solidFill>
            <a:srgbClr val="E0A526"/>
          </a:solidFill>
          <a:ln/>
        </p:spPr>
      </p:sp>
      <p:sp>
        <p:nvSpPr>
          <p:cNvPr id="17" name="Shape 15"/>
          <p:cNvSpPr/>
          <p:nvPr/>
        </p:nvSpPr>
        <p:spPr>
          <a:xfrm>
            <a:off x="3352716" y="6748272"/>
            <a:ext cx="304792" cy="109728"/>
          </a:xfrm>
          <a:prstGeom prst="rect">
            <a:avLst/>
          </a:prstGeom>
          <a:solidFill>
            <a:srgbClr val="0E5E6F"/>
          </a:solidFill>
          <a:ln/>
        </p:spPr>
      </p:sp>
      <p:sp>
        <p:nvSpPr>
          <p:cNvPr id="18" name="Shape 16"/>
          <p:cNvSpPr/>
          <p:nvPr/>
        </p:nvSpPr>
        <p:spPr>
          <a:xfrm>
            <a:off x="3657509" y="6748272"/>
            <a:ext cx="304792" cy="109728"/>
          </a:xfrm>
          <a:prstGeom prst="rect">
            <a:avLst/>
          </a:prstGeom>
          <a:solidFill>
            <a:srgbClr val="8B1E3F"/>
          </a:solidFill>
          <a:ln/>
        </p:spPr>
      </p:sp>
      <p:sp>
        <p:nvSpPr>
          <p:cNvPr id="19" name="Shape 17"/>
          <p:cNvSpPr/>
          <p:nvPr/>
        </p:nvSpPr>
        <p:spPr>
          <a:xfrm>
            <a:off x="3962301" y="6748272"/>
            <a:ext cx="304792" cy="109728"/>
          </a:xfrm>
          <a:prstGeom prst="rect">
            <a:avLst/>
          </a:prstGeom>
          <a:solidFill>
            <a:srgbClr val="0E5E6F"/>
          </a:solidFill>
          <a:ln/>
        </p:spPr>
      </p:sp>
      <p:sp>
        <p:nvSpPr>
          <p:cNvPr id="20" name="Shape 18"/>
          <p:cNvSpPr/>
          <p:nvPr/>
        </p:nvSpPr>
        <p:spPr>
          <a:xfrm>
            <a:off x="4267093" y="6748272"/>
            <a:ext cx="304792" cy="109728"/>
          </a:xfrm>
          <a:prstGeom prst="rect">
            <a:avLst/>
          </a:prstGeom>
          <a:solidFill>
            <a:srgbClr val="E0A526"/>
          </a:solidFill>
          <a:ln/>
        </p:spPr>
      </p:sp>
      <p:sp>
        <p:nvSpPr>
          <p:cNvPr id="21" name="Shape 19"/>
          <p:cNvSpPr/>
          <p:nvPr/>
        </p:nvSpPr>
        <p:spPr>
          <a:xfrm>
            <a:off x="4571886" y="6748272"/>
            <a:ext cx="304792" cy="109728"/>
          </a:xfrm>
          <a:prstGeom prst="rect">
            <a:avLst/>
          </a:prstGeom>
          <a:solidFill>
            <a:srgbClr val="0E5E6F"/>
          </a:solidFill>
          <a:ln/>
        </p:spPr>
      </p:sp>
      <p:sp>
        <p:nvSpPr>
          <p:cNvPr id="22" name="Shape 20"/>
          <p:cNvSpPr/>
          <p:nvPr/>
        </p:nvSpPr>
        <p:spPr>
          <a:xfrm>
            <a:off x="4876678" y="6748272"/>
            <a:ext cx="304792" cy="109728"/>
          </a:xfrm>
          <a:prstGeom prst="rect">
            <a:avLst/>
          </a:prstGeom>
          <a:solidFill>
            <a:srgbClr val="8B1E3F"/>
          </a:solidFill>
          <a:ln/>
        </p:spPr>
      </p:sp>
      <p:sp>
        <p:nvSpPr>
          <p:cNvPr id="23" name="Shape 21"/>
          <p:cNvSpPr/>
          <p:nvPr/>
        </p:nvSpPr>
        <p:spPr>
          <a:xfrm>
            <a:off x="5181470" y="6748272"/>
            <a:ext cx="304792" cy="109728"/>
          </a:xfrm>
          <a:prstGeom prst="rect">
            <a:avLst/>
          </a:prstGeom>
          <a:solidFill>
            <a:srgbClr val="0E5E6F"/>
          </a:solidFill>
          <a:ln/>
        </p:spPr>
      </p:sp>
      <p:sp>
        <p:nvSpPr>
          <p:cNvPr id="24" name="Shape 22"/>
          <p:cNvSpPr/>
          <p:nvPr/>
        </p:nvSpPr>
        <p:spPr>
          <a:xfrm>
            <a:off x="5486263" y="6748272"/>
            <a:ext cx="304792" cy="109728"/>
          </a:xfrm>
          <a:prstGeom prst="rect">
            <a:avLst/>
          </a:prstGeom>
          <a:solidFill>
            <a:srgbClr val="E0A526"/>
          </a:solidFill>
          <a:ln/>
        </p:spPr>
      </p:sp>
      <p:sp>
        <p:nvSpPr>
          <p:cNvPr id="25" name="Shape 23"/>
          <p:cNvSpPr/>
          <p:nvPr/>
        </p:nvSpPr>
        <p:spPr>
          <a:xfrm>
            <a:off x="5791055" y="6748272"/>
            <a:ext cx="304792" cy="109728"/>
          </a:xfrm>
          <a:prstGeom prst="rect">
            <a:avLst/>
          </a:prstGeom>
          <a:solidFill>
            <a:srgbClr val="0E5E6F"/>
          </a:solidFill>
          <a:ln/>
        </p:spPr>
      </p:sp>
      <p:sp>
        <p:nvSpPr>
          <p:cNvPr id="26" name="Shape 24"/>
          <p:cNvSpPr/>
          <p:nvPr/>
        </p:nvSpPr>
        <p:spPr>
          <a:xfrm>
            <a:off x="6095848" y="6748272"/>
            <a:ext cx="304792" cy="109728"/>
          </a:xfrm>
          <a:prstGeom prst="rect">
            <a:avLst/>
          </a:prstGeom>
          <a:solidFill>
            <a:srgbClr val="8B1E3F"/>
          </a:solidFill>
          <a:ln/>
        </p:spPr>
      </p:sp>
      <p:sp>
        <p:nvSpPr>
          <p:cNvPr id="27" name="Shape 25"/>
          <p:cNvSpPr/>
          <p:nvPr/>
        </p:nvSpPr>
        <p:spPr>
          <a:xfrm>
            <a:off x="6400640" y="6748272"/>
            <a:ext cx="304792" cy="109728"/>
          </a:xfrm>
          <a:prstGeom prst="rect">
            <a:avLst/>
          </a:prstGeom>
          <a:solidFill>
            <a:srgbClr val="0E5E6F"/>
          </a:solidFill>
          <a:ln/>
        </p:spPr>
      </p:sp>
      <p:sp>
        <p:nvSpPr>
          <p:cNvPr id="28" name="Shape 26"/>
          <p:cNvSpPr/>
          <p:nvPr/>
        </p:nvSpPr>
        <p:spPr>
          <a:xfrm>
            <a:off x="6705432" y="6748272"/>
            <a:ext cx="304792" cy="109728"/>
          </a:xfrm>
          <a:prstGeom prst="rect">
            <a:avLst/>
          </a:prstGeom>
          <a:solidFill>
            <a:srgbClr val="E0A526"/>
          </a:solidFill>
          <a:ln/>
        </p:spPr>
      </p:sp>
      <p:sp>
        <p:nvSpPr>
          <p:cNvPr id="29" name="Shape 27"/>
          <p:cNvSpPr/>
          <p:nvPr/>
        </p:nvSpPr>
        <p:spPr>
          <a:xfrm>
            <a:off x="7010225" y="6748272"/>
            <a:ext cx="304792" cy="109728"/>
          </a:xfrm>
          <a:prstGeom prst="rect">
            <a:avLst/>
          </a:prstGeom>
          <a:solidFill>
            <a:srgbClr val="0E5E6F"/>
          </a:solidFill>
          <a:ln/>
        </p:spPr>
      </p:sp>
      <p:sp>
        <p:nvSpPr>
          <p:cNvPr id="30" name="Shape 28"/>
          <p:cNvSpPr/>
          <p:nvPr/>
        </p:nvSpPr>
        <p:spPr>
          <a:xfrm>
            <a:off x="7315017" y="6748272"/>
            <a:ext cx="304792" cy="109728"/>
          </a:xfrm>
          <a:prstGeom prst="rect">
            <a:avLst/>
          </a:prstGeom>
          <a:solidFill>
            <a:srgbClr val="8B1E3F"/>
          </a:solidFill>
          <a:ln/>
        </p:spPr>
      </p:sp>
      <p:sp>
        <p:nvSpPr>
          <p:cNvPr id="31" name="Shape 29"/>
          <p:cNvSpPr/>
          <p:nvPr/>
        </p:nvSpPr>
        <p:spPr>
          <a:xfrm>
            <a:off x="7619809" y="6748272"/>
            <a:ext cx="304792" cy="109728"/>
          </a:xfrm>
          <a:prstGeom prst="rect">
            <a:avLst/>
          </a:prstGeom>
          <a:solidFill>
            <a:srgbClr val="0E5E6F"/>
          </a:solidFill>
          <a:ln/>
        </p:spPr>
      </p:sp>
      <p:sp>
        <p:nvSpPr>
          <p:cNvPr id="32" name="Shape 30"/>
          <p:cNvSpPr/>
          <p:nvPr/>
        </p:nvSpPr>
        <p:spPr>
          <a:xfrm>
            <a:off x="7924602" y="6748272"/>
            <a:ext cx="304792" cy="109728"/>
          </a:xfrm>
          <a:prstGeom prst="rect">
            <a:avLst/>
          </a:prstGeom>
          <a:solidFill>
            <a:srgbClr val="E0A526"/>
          </a:solidFill>
          <a:ln/>
        </p:spPr>
      </p:sp>
      <p:sp>
        <p:nvSpPr>
          <p:cNvPr id="33" name="Shape 31"/>
          <p:cNvSpPr/>
          <p:nvPr/>
        </p:nvSpPr>
        <p:spPr>
          <a:xfrm>
            <a:off x="8229394" y="6748272"/>
            <a:ext cx="304792" cy="109728"/>
          </a:xfrm>
          <a:prstGeom prst="rect">
            <a:avLst/>
          </a:prstGeom>
          <a:solidFill>
            <a:srgbClr val="0E5E6F"/>
          </a:solidFill>
          <a:ln/>
        </p:spPr>
      </p:sp>
      <p:sp>
        <p:nvSpPr>
          <p:cNvPr id="34" name="Shape 32"/>
          <p:cNvSpPr/>
          <p:nvPr/>
        </p:nvSpPr>
        <p:spPr>
          <a:xfrm>
            <a:off x="8534187" y="6748272"/>
            <a:ext cx="304792" cy="109728"/>
          </a:xfrm>
          <a:prstGeom prst="rect">
            <a:avLst/>
          </a:prstGeom>
          <a:solidFill>
            <a:srgbClr val="8B1E3F"/>
          </a:solidFill>
          <a:ln/>
        </p:spPr>
      </p:sp>
      <p:sp>
        <p:nvSpPr>
          <p:cNvPr id="35" name="Shape 33"/>
          <p:cNvSpPr/>
          <p:nvPr/>
        </p:nvSpPr>
        <p:spPr>
          <a:xfrm>
            <a:off x="8838979" y="6748272"/>
            <a:ext cx="304792" cy="109728"/>
          </a:xfrm>
          <a:prstGeom prst="rect">
            <a:avLst/>
          </a:prstGeom>
          <a:solidFill>
            <a:srgbClr val="0E5E6F"/>
          </a:solidFill>
          <a:ln/>
        </p:spPr>
      </p:sp>
      <p:sp>
        <p:nvSpPr>
          <p:cNvPr id="36" name="Shape 34"/>
          <p:cNvSpPr/>
          <p:nvPr/>
        </p:nvSpPr>
        <p:spPr>
          <a:xfrm>
            <a:off x="9143771" y="6748272"/>
            <a:ext cx="304792" cy="109728"/>
          </a:xfrm>
          <a:prstGeom prst="rect">
            <a:avLst/>
          </a:prstGeom>
          <a:solidFill>
            <a:srgbClr val="E0A526"/>
          </a:solidFill>
          <a:ln/>
        </p:spPr>
      </p:sp>
      <p:sp>
        <p:nvSpPr>
          <p:cNvPr id="37" name="Shape 35"/>
          <p:cNvSpPr/>
          <p:nvPr/>
        </p:nvSpPr>
        <p:spPr>
          <a:xfrm>
            <a:off x="9448564" y="6748272"/>
            <a:ext cx="304792" cy="109728"/>
          </a:xfrm>
          <a:prstGeom prst="rect">
            <a:avLst/>
          </a:prstGeom>
          <a:solidFill>
            <a:srgbClr val="0E5E6F"/>
          </a:solidFill>
          <a:ln/>
        </p:spPr>
      </p:sp>
      <p:sp>
        <p:nvSpPr>
          <p:cNvPr id="38" name="Shape 36"/>
          <p:cNvSpPr/>
          <p:nvPr/>
        </p:nvSpPr>
        <p:spPr>
          <a:xfrm>
            <a:off x="9753356" y="6748272"/>
            <a:ext cx="304792" cy="109728"/>
          </a:xfrm>
          <a:prstGeom prst="rect">
            <a:avLst/>
          </a:prstGeom>
          <a:solidFill>
            <a:srgbClr val="8B1E3F"/>
          </a:solidFill>
          <a:ln/>
        </p:spPr>
      </p:sp>
      <p:sp>
        <p:nvSpPr>
          <p:cNvPr id="39" name="Shape 37"/>
          <p:cNvSpPr/>
          <p:nvPr/>
        </p:nvSpPr>
        <p:spPr>
          <a:xfrm>
            <a:off x="10058149" y="6748272"/>
            <a:ext cx="304792" cy="109728"/>
          </a:xfrm>
          <a:prstGeom prst="rect">
            <a:avLst/>
          </a:prstGeom>
          <a:solidFill>
            <a:srgbClr val="0E5E6F"/>
          </a:solidFill>
          <a:ln/>
        </p:spPr>
      </p:sp>
      <p:sp>
        <p:nvSpPr>
          <p:cNvPr id="40" name="Shape 38"/>
          <p:cNvSpPr/>
          <p:nvPr/>
        </p:nvSpPr>
        <p:spPr>
          <a:xfrm>
            <a:off x="10362941" y="6748272"/>
            <a:ext cx="304792" cy="109728"/>
          </a:xfrm>
          <a:prstGeom prst="rect">
            <a:avLst/>
          </a:prstGeom>
          <a:solidFill>
            <a:srgbClr val="E0A526"/>
          </a:solidFill>
          <a:ln/>
        </p:spPr>
      </p:sp>
      <p:sp>
        <p:nvSpPr>
          <p:cNvPr id="41" name="Shape 39"/>
          <p:cNvSpPr/>
          <p:nvPr/>
        </p:nvSpPr>
        <p:spPr>
          <a:xfrm>
            <a:off x="10667733" y="6748272"/>
            <a:ext cx="304792" cy="109728"/>
          </a:xfrm>
          <a:prstGeom prst="rect">
            <a:avLst/>
          </a:prstGeom>
          <a:solidFill>
            <a:srgbClr val="0E5E6F"/>
          </a:solidFill>
          <a:ln/>
        </p:spPr>
      </p:sp>
      <p:sp>
        <p:nvSpPr>
          <p:cNvPr id="42" name="Shape 40"/>
          <p:cNvSpPr/>
          <p:nvPr/>
        </p:nvSpPr>
        <p:spPr>
          <a:xfrm>
            <a:off x="10972526" y="6748272"/>
            <a:ext cx="304792" cy="109728"/>
          </a:xfrm>
          <a:prstGeom prst="rect">
            <a:avLst/>
          </a:prstGeom>
          <a:solidFill>
            <a:srgbClr val="8B1E3F"/>
          </a:solidFill>
          <a:ln/>
        </p:spPr>
      </p:sp>
      <p:sp>
        <p:nvSpPr>
          <p:cNvPr id="43" name="Shape 41"/>
          <p:cNvSpPr/>
          <p:nvPr/>
        </p:nvSpPr>
        <p:spPr>
          <a:xfrm>
            <a:off x="11277318" y="6748272"/>
            <a:ext cx="304792" cy="109728"/>
          </a:xfrm>
          <a:prstGeom prst="rect">
            <a:avLst/>
          </a:prstGeom>
          <a:solidFill>
            <a:srgbClr val="0E5E6F"/>
          </a:solidFill>
          <a:ln/>
        </p:spPr>
      </p:sp>
      <p:sp>
        <p:nvSpPr>
          <p:cNvPr id="44" name="Shape 42"/>
          <p:cNvSpPr/>
          <p:nvPr/>
        </p:nvSpPr>
        <p:spPr>
          <a:xfrm>
            <a:off x="11582110" y="6748272"/>
            <a:ext cx="304792" cy="109728"/>
          </a:xfrm>
          <a:prstGeom prst="rect">
            <a:avLst/>
          </a:prstGeom>
          <a:solidFill>
            <a:srgbClr val="E0A526"/>
          </a:solidFill>
          <a:ln/>
        </p:spPr>
      </p:sp>
      <p:sp>
        <p:nvSpPr>
          <p:cNvPr id="45" name="Shape 43"/>
          <p:cNvSpPr/>
          <p:nvPr/>
        </p:nvSpPr>
        <p:spPr>
          <a:xfrm>
            <a:off x="11886903" y="6748272"/>
            <a:ext cx="304792" cy="109728"/>
          </a:xfrm>
          <a:prstGeom prst="rect">
            <a:avLst/>
          </a:prstGeom>
          <a:solidFill>
            <a:srgbClr val="0E5E6F"/>
          </a:solidFill>
          <a:ln/>
        </p:spPr>
      </p:sp>
      <p:sp>
        <p:nvSpPr>
          <p:cNvPr id="46" name="Shape 44"/>
          <p:cNvSpPr/>
          <p:nvPr/>
        </p:nvSpPr>
        <p:spPr>
          <a:xfrm>
            <a:off x="548640" y="1600200"/>
            <a:ext cx="5410048" cy="2148840"/>
          </a:xfrm>
          <a:prstGeom prst="roundRect">
            <a:avLst>
              <a:gd name="adj" fmla="val 3404"/>
            </a:avLst>
          </a:prstGeom>
          <a:solidFill>
            <a:srgbClr val="F4F6F7"/>
          </a:solidFill>
          <a:ln/>
        </p:spPr>
      </p:sp>
      <p:sp>
        <p:nvSpPr>
          <p:cNvPr id="47" name="Text 45"/>
          <p:cNvSpPr txBox="1"/>
          <p:nvPr/>
        </p:nvSpPr>
        <p:spPr>
          <a:xfrm>
            <a:off x="749808"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Were most of those struck off people who had moved away?</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 largest recorded reason is "permanently shifted", 64.2% of removals, and the Old City has a large moving population. But 20.8% were entered as untraceable or absent, 8.7% as dead and 6.0% as enrolled elsewhere. Each is what the officer wrote down, and nobody checked it.</a:t>
            </a:r>
            <a:endParaRPr lang="en-US" sz="1400" dirty="0"/>
          </a:p>
        </p:txBody>
      </p:sp>
      <p:sp>
        <p:nvSpPr>
          <p:cNvPr id="48" name="Shape 46"/>
          <p:cNvSpPr/>
          <p:nvPr/>
        </p:nvSpPr>
        <p:spPr>
          <a:xfrm>
            <a:off x="6233008" y="1600200"/>
            <a:ext cx="5410048" cy="2148840"/>
          </a:xfrm>
          <a:prstGeom prst="roundRect">
            <a:avLst>
              <a:gd name="adj" fmla="val 3404"/>
            </a:avLst>
          </a:prstGeom>
          <a:solidFill>
            <a:srgbClr val="F4F6F7"/>
          </a:solidFill>
          <a:ln/>
        </p:spPr>
      </p:sp>
      <p:sp>
        <p:nvSpPr>
          <p:cNvPr id="49" name="Text 47"/>
          <p:cNvSpPr txBox="1"/>
          <p:nvPr/>
        </p:nvSpPr>
        <p:spPr>
          <a:xfrm>
            <a:off x="6434176"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Was the revision aimed at Muslim electors?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 lists do not show that. Inside the same polling part, Hindu-name electors were struck off more often than Muslim-name electors. The lists do show who bore the removals, the old and those who could not be traced to the 2002 roll.</a:t>
            </a:r>
            <a:endParaRPr lang="en-US" sz="1400" dirty="0"/>
          </a:p>
        </p:txBody>
      </p:sp>
      <p:sp>
        <p:nvSpPr>
          <p:cNvPr id="50" name="Shape 48"/>
          <p:cNvSpPr/>
          <p:nvPr/>
        </p:nvSpPr>
        <p:spPr>
          <a:xfrm>
            <a:off x="548640" y="3886200"/>
            <a:ext cx="5410048" cy="2148840"/>
          </a:xfrm>
          <a:prstGeom prst="roundRect">
            <a:avLst>
              <a:gd name="adj" fmla="val 3404"/>
            </a:avLst>
          </a:prstGeom>
          <a:solidFill>
            <a:srgbClr val="F4F6F7"/>
          </a:solidFill>
          <a:ln/>
        </p:spPr>
      </p:sp>
      <p:sp>
        <p:nvSpPr>
          <p:cNvPr id="51" name="Text 49"/>
          <p:cNvSpPr txBox="1"/>
          <p:nvPr/>
        </p:nvSpPr>
        <p:spPr>
          <a:xfrm>
            <a:off x="749808"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Why does the 2002 roll matter so much?</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 revision asks each elector to show a link to the 2002 intensive revision, through their own name or a parent's. Where the lists record it, electors with no link were struck off 21 to 28 points more often than linked electors in the same part.</a:t>
            </a:r>
            <a:endParaRPr lang="en-US" sz="1400" dirty="0"/>
          </a:p>
        </p:txBody>
      </p:sp>
      <p:sp>
        <p:nvSpPr>
          <p:cNvPr id="52" name="Shape 50"/>
          <p:cNvSpPr/>
          <p:nvPr/>
        </p:nvSpPr>
        <p:spPr>
          <a:xfrm>
            <a:off x="6233008" y="3886200"/>
            <a:ext cx="5410048" cy="2148840"/>
          </a:xfrm>
          <a:prstGeom prst="roundRect">
            <a:avLst>
              <a:gd name="adj" fmla="val 3404"/>
            </a:avLst>
          </a:prstGeom>
          <a:solidFill>
            <a:srgbClr val="F4F6F7"/>
          </a:solidFill>
          <a:ln/>
        </p:spPr>
      </p:sp>
      <p:sp>
        <p:nvSpPr>
          <p:cNvPr id="53" name="Text 51"/>
          <p:cNvSpPr txBox="1"/>
          <p:nvPr/>
        </p:nvSpPr>
        <p:spPr>
          <a:xfrm>
            <a:off x="6434176"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Why are the old struck off so often?</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74.0% of electors aged 80 and over were struck off, against 20.9% of those aged 18 to 24. Some of that is death. The rest falls on electors least able to answer a visit, attend a hearing or produce papers.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QUESTIONS PUT TO THIS ANALYSIS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What the lists say about hearings, results, reliability and coverage</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0" y="6748272"/>
            <a:ext cx="304792" cy="109728"/>
          </a:xfrm>
          <a:prstGeom prst="rect">
            <a:avLst/>
          </a:prstGeom>
          <a:solidFill>
            <a:srgbClr val="8B1E3F"/>
          </a:solidFill>
          <a:ln/>
        </p:spPr>
      </p:sp>
      <p:sp>
        <p:nvSpPr>
          <p:cNvPr id="7" name="Shape 5"/>
          <p:cNvSpPr/>
          <p:nvPr/>
        </p:nvSpPr>
        <p:spPr>
          <a:xfrm>
            <a:off x="304792" y="6748272"/>
            <a:ext cx="304792" cy="109728"/>
          </a:xfrm>
          <a:prstGeom prst="rect">
            <a:avLst/>
          </a:prstGeom>
          <a:solidFill>
            <a:srgbClr val="0E5E6F"/>
          </a:solidFill>
          <a:ln/>
        </p:spPr>
      </p:sp>
      <p:sp>
        <p:nvSpPr>
          <p:cNvPr id="8" name="Shape 6"/>
          <p:cNvSpPr/>
          <p:nvPr/>
        </p:nvSpPr>
        <p:spPr>
          <a:xfrm>
            <a:off x="609585" y="6748272"/>
            <a:ext cx="304792" cy="109728"/>
          </a:xfrm>
          <a:prstGeom prst="rect">
            <a:avLst/>
          </a:prstGeom>
          <a:solidFill>
            <a:srgbClr val="E0A526"/>
          </a:solidFill>
          <a:ln/>
        </p:spPr>
      </p:sp>
      <p:sp>
        <p:nvSpPr>
          <p:cNvPr id="9" name="Shape 7"/>
          <p:cNvSpPr/>
          <p:nvPr/>
        </p:nvSpPr>
        <p:spPr>
          <a:xfrm>
            <a:off x="914377" y="6748272"/>
            <a:ext cx="304792" cy="109728"/>
          </a:xfrm>
          <a:prstGeom prst="rect">
            <a:avLst/>
          </a:prstGeom>
          <a:solidFill>
            <a:srgbClr val="0E5E6F"/>
          </a:solidFill>
          <a:ln/>
        </p:spPr>
      </p:sp>
      <p:sp>
        <p:nvSpPr>
          <p:cNvPr id="10" name="Shape 8"/>
          <p:cNvSpPr/>
          <p:nvPr/>
        </p:nvSpPr>
        <p:spPr>
          <a:xfrm>
            <a:off x="1219170" y="6748272"/>
            <a:ext cx="304792" cy="109728"/>
          </a:xfrm>
          <a:prstGeom prst="rect">
            <a:avLst/>
          </a:prstGeom>
          <a:solidFill>
            <a:srgbClr val="8B1E3F"/>
          </a:solidFill>
          <a:ln/>
        </p:spPr>
      </p:sp>
      <p:sp>
        <p:nvSpPr>
          <p:cNvPr id="11" name="Shape 9"/>
          <p:cNvSpPr/>
          <p:nvPr/>
        </p:nvSpPr>
        <p:spPr>
          <a:xfrm>
            <a:off x="1523962" y="6748272"/>
            <a:ext cx="304792" cy="109728"/>
          </a:xfrm>
          <a:prstGeom prst="rect">
            <a:avLst/>
          </a:prstGeom>
          <a:solidFill>
            <a:srgbClr val="0E5E6F"/>
          </a:solidFill>
          <a:ln/>
        </p:spPr>
      </p:sp>
      <p:sp>
        <p:nvSpPr>
          <p:cNvPr id="12" name="Shape 10"/>
          <p:cNvSpPr/>
          <p:nvPr/>
        </p:nvSpPr>
        <p:spPr>
          <a:xfrm>
            <a:off x="1828754" y="6748272"/>
            <a:ext cx="304792" cy="109728"/>
          </a:xfrm>
          <a:prstGeom prst="rect">
            <a:avLst/>
          </a:prstGeom>
          <a:solidFill>
            <a:srgbClr val="E0A526"/>
          </a:solidFill>
          <a:ln/>
        </p:spPr>
      </p:sp>
      <p:sp>
        <p:nvSpPr>
          <p:cNvPr id="13" name="Shape 11"/>
          <p:cNvSpPr/>
          <p:nvPr/>
        </p:nvSpPr>
        <p:spPr>
          <a:xfrm>
            <a:off x="2133547" y="6748272"/>
            <a:ext cx="304792" cy="109728"/>
          </a:xfrm>
          <a:prstGeom prst="rect">
            <a:avLst/>
          </a:prstGeom>
          <a:solidFill>
            <a:srgbClr val="0E5E6F"/>
          </a:solidFill>
          <a:ln/>
        </p:spPr>
      </p:sp>
      <p:sp>
        <p:nvSpPr>
          <p:cNvPr id="14" name="Shape 12"/>
          <p:cNvSpPr/>
          <p:nvPr/>
        </p:nvSpPr>
        <p:spPr>
          <a:xfrm>
            <a:off x="2438339" y="6748272"/>
            <a:ext cx="304792" cy="109728"/>
          </a:xfrm>
          <a:prstGeom prst="rect">
            <a:avLst/>
          </a:prstGeom>
          <a:solidFill>
            <a:srgbClr val="8B1E3F"/>
          </a:solidFill>
          <a:ln/>
        </p:spPr>
      </p:sp>
      <p:sp>
        <p:nvSpPr>
          <p:cNvPr id="15" name="Shape 13"/>
          <p:cNvSpPr/>
          <p:nvPr/>
        </p:nvSpPr>
        <p:spPr>
          <a:xfrm>
            <a:off x="2743131" y="6748272"/>
            <a:ext cx="304792" cy="109728"/>
          </a:xfrm>
          <a:prstGeom prst="rect">
            <a:avLst/>
          </a:prstGeom>
          <a:solidFill>
            <a:srgbClr val="0E5E6F"/>
          </a:solidFill>
          <a:ln/>
        </p:spPr>
      </p:sp>
      <p:sp>
        <p:nvSpPr>
          <p:cNvPr id="16" name="Shape 14"/>
          <p:cNvSpPr/>
          <p:nvPr/>
        </p:nvSpPr>
        <p:spPr>
          <a:xfrm>
            <a:off x="3047924" y="6748272"/>
            <a:ext cx="304792" cy="109728"/>
          </a:xfrm>
          <a:prstGeom prst="rect">
            <a:avLst/>
          </a:prstGeom>
          <a:solidFill>
            <a:srgbClr val="E0A526"/>
          </a:solidFill>
          <a:ln/>
        </p:spPr>
      </p:sp>
      <p:sp>
        <p:nvSpPr>
          <p:cNvPr id="17" name="Shape 15"/>
          <p:cNvSpPr/>
          <p:nvPr/>
        </p:nvSpPr>
        <p:spPr>
          <a:xfrm>
            <a:off x="3352716" y="6748272"/>
            <a:ext cx="304792" cy="109728"/>
          </a:xfrm>
          <a:prstGeom prst="rect">
            <a:avLst/>
          </a:prstGeom>
          <a:solidFill>
            <a:srgbClr val="0E5E6F"/>
          </a:solidFill>
          <a:ln/>
        </p:spPr>
      </p:sp>
      <p:sp>
        <p:nvSpPr>
          <p:cNvPr id="18" name="Shape 16"/>
          <p:cNvSpPr/>
          <p:nvPr/>
        </p:nvSpPr>
        <p:spPr>
          <a:xfrm>
            <a:off x="3657509" y="6748272"/>
            <a:ext cx="304792" cy="109728"/>
          </a:xfrm>
          <a:prstGeom prst="rect">
            <a:avLst/>
          </a:prstGeom>
          <a:solidFill>
            <a:srgbClr val="8B1E3F"/>
          </a:solidFill>
          <a:ln/>
        </p:spPr>
      </p:sp>
      <p:sp>
        <p:nvSpPr>
          <p:cNvPr id="19" name="Shape 17"/>
          <p:cNvSpPr/>
          <p:nvPr/>
        </p:nvSpPr>
        <p:spPr>
          <a:xfrm>
            <a:off x="3962301" y="6748272"/>
            <a:ext cx="304792" cy="109728"/>
          </a:xfrm>
          <a:prstGeom prst="rect">
            <a:avLst/>
          </a:prstGeom>
          <a:solidFill>
            <a:srgbClr val="0E5E6F"/>
          </a:solidFill>
          <a:ln/>
        </p:spPr>
      </p:sp>
      <p:sp>
        <p:nvSpPr>
          <p:cNvPr id="20" name="Shape 18"/>
          <p:cNvSpPr/>
          <p:nvPr/>
        </p:nvSpPr>
        <p:spPr>
          <a:xfrm>
            <a:off x="4267093" y="6748272"/>
            <a:ext cx="304792" cy="109728"/>
          </a:xfrm>
          <a:prstGeom prst="rect">
            <a:avLst/>
          </a:prstGeom>
          <a:solidFill>
            <a:srgbClr val="E0A526"/>
          </a:solidFill>
          <a:ln/>
        </p:spPr>
      </p:sp>
      <p:sp>
        <p:nvSpPr>
          <p:cNvPr id="21" name="Shape 19"/>
          <p:cNvSpPr/>
          <p:nvPr/>
        </p:nvSpPr>
        <p:spPr>
          <a:xfrm>
            <a:off x="4571886" y="6748272"/>
            <a:ext cx="304792" cy="109728"/>
          </a:xfrm>
          <a:prstGeom prst="rect">
            <a:avLst/>
          </a:prstGeom>
          <a:solidFill>
            <a:srgbClr val="0E5E6F"/>
          </a:solidFill>
          <a:ln/>
        </p:spPr>
      </p:sp>
      <p:sp>
        <p:nvSpPr>
          <p:cNvPr id="22" name="Shape 20"/>
          <p:cNvSpPr/>
          <p:nvPr/>
        </p:nvSpPr>
        <p:spPr>
          <a:xfrm>
            <a:off x="4876678" y="6748272"/>
            <a:ext cx="304792" cy="109728"/>
          </a:xfrm>
          <a:prstGeom prst="rect">
            <a:avLst/>
          </a:prstGeom>
          <a:solidFill>
            <a:srgbClr val="8B1E3F"/>
          </a:solidFill>
          <a:ln/>
        </p:spPr>
      </p:sp>
      <p:sp>
        <p:nvSpPr>
          <p:cNvPr id="23" name="Shape 21"/>
          <p:cNvSpPr/>
          <p:nvPr/>
        </p:nvSpPr>
        <p:spPr>
          <a:xfrm>
            <a:off x="5181470" y="6748272"/>
            <a:ext cx="304792" cy="109728"/>
          </a:xfrm>
          <a:prstGeom prst="rect">
            <a:avLst/>
          </a:prstGeom>
          <a:solidFill>
            <a:srgbClr val="0E5E6F"/>
          </a:solidFill>
          <a:ln/>
        </p:spPr>
      </p:sp>
      <p:sp>
        <p:nvSpPr>
          <p:cNvPr id="24" name="Shape 22"/>
          <p:cNvSpPr/>
          <p:nvPr/>
        </p:nvSpPr>
        <p:spPr>
          <a:xfrm>
            <a:off x="5486263" y="6748272"/>
            <a:ext cx="304792" cy="109728"/>
          </a:xfrm>
          <a:prstGeom prst="rect">
            <a:avLst/>
          </a:prstGeom>
          <a:solidFill>
            <a:srgbClr val="E0A526"/>
          </a:solidFill>
          <a:ln/>
        </p:spPr>
      </p:sp>
      <p:sp>
        <p:nvSpPr>
          <p:cNvPr id="25" name="Shape 23"/>
          <p:cNvSpPr/>
          <p:nvPr/>
        </p:nvSpPr>
        <p:spPr>
          <a:xfrm>
            <a:off x="5791055" y="6748272"/>
            <a:ext cx="304792" cy="109728"/>
          </a:xfrm>
          <a:prstGeom prst="rect">
            <a:avLst/>
          </a:prstGeom>
          <a:solidFill>
            <a:srgbClr val="0E5E6F"/>
          </a:solidFill>
          <a:ln/>
        </p:spPr>
      </p:sp>
      <p:sp>
        <p:nvSpPr>
          <p:cNvPr id="26" name="Shape 24"/>
          <p:cNvSpPr/>
          <p:nvPr/>
        </p:nvSpPr>
        <p:spPr>
          <a:xfrm>
            <a:off x="6095848" y="6748272"/>
            <a:ext cx="304792" cy="109728"/>
          </a:xfrm>
          <a:prstGeom prst="rect">
            <a:avLst/>
          </a:prstGeom>
          <a:solidFill>
            <a:srgbClr val="8B1E3F"/>
          </a:solidFill>
          <a:ln/>
        </p:spPr>
      </p:sp>
      <p:sp>
        <p:nvSpPr>
          <p:cNvPr id="27" name="Shape 25"/>
          <p:cNvSpPr/>
          <p:nvPr/>
        </p:nvSpPr>
        <p:spPr>
          <a:xfrm>
            <a:off x="6400640" y="6748272"/>
            <a:ext cx="304792" cy="109728"/>
          </a:xfrm>
          <a:prstGeom prst="rect">
            <a:avLst/>
          </a:prstGeom>
          <a:solidFill>
            <a:srgbClr val="0E5E6F"/>
          </a:solidFill>
          <a:ln/>
        </p:spPr>
      </p:sp>
      <p:sp>
        <p:nvSpPr>
          <p:cNvPr id="28" name="Shape 26"/>
          <p:cNvSpPr/>
          <p:nvPr/>
        </p:nvSpPr>
        <p:spPr>
          <a:xfrm>
            <a:off x="6705432" y="6748272"/>
            <a:ext cx="304792" cy="109728"/>
          </a:xfrm>
          <a:prstGeom prst="rect">
            <a:avLst/>
          </a:prstGeom>
          <a:solidFill>
            <a:srgbClr val="E0A526"/>
          </a:solidFill>
          <a:ln/>
        </p:spPr>
      </p:sp>
      <p:sp>
        <p:nvSpPr>
          <p:cNvPr id="29" name="Shape 27"/>
          <p:cNvSpPr/>
          <p:nvPr/>
        </p:nvSpPr>
        <p:spPr>
          <a:xfrm>
            <a:off x="7010225" y="6748272"/>
            <a:ext cx="304792" cy="109728"/>
          </a:xfrm>
          <a:prstGeom prst="rect">
            <a:avLst/>
          </a:prstGeom>
          <a:solidFill>
            <a:srgbClr val="0E5E6F"/>
          </a:solidFill>
          <a:ln/>
        </p:spPr>
      </p:sp>
      <p:sp>
        <p:nvSpPr>
          <p:cNvPr id="30" name="Shape 28"/>
          <p:cNvSpPr/>
          <p:nvPr/>
        </p:nvSpPr>
        <p:spPr>
          <a:xfrm>
            <a:off x="7315017" y="6748272"/>
            <a:ext cx="304792" cy="109728"/>
          </a:xfrm>
          <a:prstGeom prst="rect">
            <a:avLst/>
          </a:prstGeom>
          <a:solidFill>
            <a:srgbClr val="8B1E3F"/>
          </a:solidFill>
          <a:ln/>
        </p:spPr>
      </p:sp>
      <p:sp>
        <p:nvSpPr>
          <p:cNvPr id="31" name="Shape 29"/>
          <p:cNvSpPr/>
          <p:nvPr/>
        </p:nvSpPr>
        <p:spPr>
          <a:xfrm>
            <a:off x="7619809" y="6748272"/>
            <a:ext cx="304792" cy="109728"/>
          </a:xfrm>
          <a:prstGeom prst="rect">
            <a:avLst/>
          </a:prstGeom>
          <a:solidFill>
            <a:srgbClr val="0E5E6F"/>
          </a:solidFill>
          <a:ln/>
        </p:spPr>
      </p:sp>
      <p:sp>
        <p:nvSpPr>
          <p:cNvPr id="32" name="Shape 30"/>
          <p:cNvSpPr/>
          <p:nvPr/>
        </p:nvSpPr>
        <p:spPr>
          <a:xfrm>
            <a:off x="7924602" y="6748272"/>
            <a:ext cx="304792" cy="109728"/>
          </a:xfrm>
          <a:prstGeom prst="rect">
            <a:avLst/>
          </a:prstGeom>
          <a:solidFill>
            <a:srgbClr val="E0A526"/>
          </a:solidFill>
          <a:ln/>
        </p:spPr>
      </p:sp>
      <p:sp>
        <p:nvSpPr>
          <p:cNvPr id="33" name="Shape 31"/>
          <p:cNvSpPr/>
          <p:nvPr/>
        </p:nvSpPr>
        <p:spPr>
          <a:xfrm>
            <a:off x="8229394" y="6748272"/>
            <a:ext cx="304792" cy="109728"/>
          </a:xfrm>
          <a:prstGeom prst="rect">
            <a:avLst/>
          </a:prstGeom>
          <a:solidFill>
            <a:srgbClr val="0E5E6F"/>
          </a:solidFill>
          <a:ln/>
        </p:spPr>
      </p:sp>
      <p:sp>
        <p:nvSpPr>
          <p:cNvPr id="34" name="Shape 32"/>
          <p:cNvSpPr/>
          <p:nvPr/>
        </p:nvSpPr>
        <p:spPr>
          <a:xfrm>
            <a:off x="8534187" y="6748272"/>
            <a:ext cx="304792" cy="109728"/>
          </a:xfrm>
          <a:prstGeom prst="rect">
            <a:avLst/>
          </a:prstGeom>
          <a:solidFill>
            <a:srgbClr val="8B1E3F"/>
          </a:solidFill>
          <a:ln/>
        </p:spPr>
      </p:sp>
      <p:sp>
        <p:nvSpPr>
          <p:cNvPr id="35" name="Shape 33"/>
          <p:cNvSpPr/>
          <p:nvPr/>
        </p:nvSpPr>
        <p:spPr>
          <a:xfrm>
            <a:off x="8838979" y="6748272"/>
            <a:ext cx="304792" cy="109728"/>
          </a:xfrm>
          <a:prstGeom prst="rect">
            <a:avLst/>
          </a:prstGeom>
          <a:solidFill>
            <a:srgbClr val="0E5E6F"/>
          </a:solidFill>
          <a:ln/>
        </p:spPr>
      </p:sp>
      <p:sp>
        <p:nvSpPr>
          <p:cNvPr id="36" name="Shape 34"/>
          <p:cNvSpPr/>
          <p:nvPr/>
        </p:nvSpPr>
        <p:spPr>
          <a:xfrm>
            <a:off x="9143771" y="6748272"/>
            <a:ext cx="304792" cy="109728"/>
          </a:xfrm>
          <a:prstGeom prst="rect">
            <a:avLst/>
          </a:prstGeom>
          <a:solidFill>
            <a:srgbClr val="E0A526"/>
          </a:solidFill>
          <a:ln/>
        </p:spPr>
      </p:sp>
      <p:sp>
        <p:nvSpPr>
          <p:cNvPr id="37" name="Shape 35"/>
          <p:cNvSpPr/>
          <p:nvPr/>
        </p:nvSpPr>
        <p:spPr>
          <a:xfrm>
            <a:off x="9448564" y="6748272"/>
            <a:ext cx="304792" cy="109728"/>
          </a:xfrm>
          <a:prstGeom prst="rect">
            <a:avLst/>
          </a:prstGeom>
          <a:solidFill>
            <a:srgbClr val="0E5E6F"/>
          </a:solidFill>
          <a:ln/>
        </p:spPr>
      </p:sp>
      <p:sp>
        <p:nvSpPr>
          <p:cNvPr id="38" name="Shape 36"/>
          <p:cNvSpPr/>
          <p:nvPr/>
        </p:nvSpPr>
        <p:spPr>
          <a:xfrm>
            <a:off x="9753356" y="6748272"/>
            <a:ext cx="304792" cy="109728"/>
          </a:xfrm>
          <a:prstGeom prst="rect">
            <a:avLst/>
          </a:prstGeom>
          <a:solidFill>
            <a:srgbClr val="8B1E3F"/>
          </a:solidFill>
          <a:ln/>
        </p:spPr>
      </p:sp>
      <p:sp>
        <p:nvSpPr>
          <p:cNvPr id="39" name="Shape 37"/>
          <p:cNvSpPr/>
          <p:nvPr/>
        </p:nvSpPr>
        <p:spPr>
          <a:xfrm>
            <a:off x="10058149" y="6748272"/>
            <a:ext cx="304792" cy="109728"/>
          </a:xfrm>
          <a:prstGeom prst="rect">
            <a:avLst/>
          </a:prstGeom>
          <a:solidFill>
            <a:srgbClr val="0E5E6F"/>
          </a:solidFill>
          <a:ln/>
        </p:spPr>
      </p:sp>
      <p:sp>
        <p:nvSpPr>
          <p:cNvPr id="40" name="Shape 38"/>
          <p:cNvSpPr/>
          <p:nvPr/>
        </p:nvSpPr>
        <p:spPr>
          <a:xfrm>
            <a:off x="10362941" y="6748272"/>
            <a:ext cx="304792" cy="109728"/>
          </a:xfrm>
          <a:prstGeom prst="rect">
            <a:avLst/>
          </a:prstGeom>
          <a:solidFill>
            <a:srgbClr val="E0A526"/>
          </a:solidFill>
          <a:ln/>
        </p:spPr>
      </p:sp>
      <p:sp>
        <p:nvSpPr>
          <p:cNvPr id="41" name="Shape 39"/>
          <p:cNvSpPr/>
          <p:nvPr/>
        </p:nvSpPr>
        <p:spPr>
          <a:xfrm>
            <a:off x="10667733" y="6748272"/>
            <a:ext cx="304792" cy="109728"/>
          </a:xfrm>
          <a:prstGeom prst="rect">
            <a:avLst/>
          </a:prstGeom>
          <a:solidFill>
            <a:srgbClr val="0E5E6F"/>
          </a:solidFill>
          <a:ln/>
        </p:spPr>
      </p:sp>
      <p:sp>
        <p:nvSpPr>
          <p:cNvPr id="42" name="Shape 40"/>
          <p:cNvSpPr/>
          <p:nvPr/>
        </p:nvSpPr>
        <p:spPr>
          <a:xfrm>
            <a:off x="10972526" y="6748272"/>
            <a:ext cx="304792" cy="109728"/>
          </a:xfrm>
          <a:prstGeom prst="rect">
            <a:avLst/>
          </a:prstGeom>
          <a:solidFill>
            <a:srgbClr val="8B1E3F"/>
          </a:solidFill>
          <a:ln/>
        </p:spPr>
      </p:sp>
      <p:sp>
        <p:nvSpPr>
          <p:cNvPr id="43" name="Shape 41"/>
          <p:cNvSpPr/>
          <p:nvPr/>
        </p:nvSpPr>
        <p:spPr>
          <a:xfrm>
            <a:off x="11277318" y="6748272"/>
            <a:ext cx="304792" cy="109728"/>
          </a:xfrm>
          <a:prstGeom prst="rect">
            <a:avLst/>
          </a:prstGeom>
          <a:solidFill>
            <a:srgbClr val="0E5E6F"/>
          </a:solidFill>
          <a:ln/>
        </p:spPr>
      </p:sp>
      <p:sp>
        <p:nvSpPr>
          <p:cNvPr id="44" name="Shape 42"/>
          <p:cNvSpPr/>
          <p:nvPr/>
        </p:nvSpPr>
        <p:spPr>
          <a:xfrm>
            <a:off x="11582110" y="6748272"/>
            <a:ext cx="304792" cy="109728"/>
          </a:xfrm>
          <a:prstGeom prst="rect">
            <a:avLst/>
          </a:prstGeom>
          <a:solidFill>
            <a:srgbClr val="E0A526"/>
          </a:solidFill>
          <a:ln/>
        </p:spPr>
      </p:sp>
      <p:sp>
        <p:nvSpPr>
          <p:cNvPr id="45" name="Shape 43"/>
          <p:cNvSpPr/>
          <p:nvPr/>
        </p:nvSpPr>
        <p:spPr>
          <a:xfrm>
            <a:off x="11886903" y="6748272"/>
            <a:ext cx="304792" cy="109728"/>
          </a:xfrm>
          <a:prstGeom prst="rect">
            <a:avLst/>
          </a:prstGeom>
          <a:solidFill>
            <a:srgbClr val="0E5E6F"/>
          </a:solidFill>
          <a:ln/>
        </p:spPr>
      </p:sp>
      <p:sp>
        <p:nvSpPr>
          <p:cNvPr id="46" name="Shape 44"/>
          <p:cNvSpPr/>
          <p:nvPr/>
        </p:nvSpPr>
        <p:spPr>
          <a:xfrm>
            <a:off x="548640" y="1600200"/>
            <a:ext cx="5410048" cy="2148840"/>
          </a:xfrm>
          <a:prstGeom prst="roundRect">
            <a:avLst>
              <a:gd name="adj" fmla="val 3404"/>
            </a:avLst>
          </a:prstGeom>
          <a:solidFill>
            <a:srgbClr val="F4F6F7"/>
          </a:solidFill>
          <a:ln/>
        </p:spPr>
      </p:sp>
      <p:sp>
        <p:nvSpPr>
          <p:cNvPr id="47" name="Text 45"/>
          <p:cNvSpPr txBox="1"/>
          <p:nvPr/>
        </p:nvSpPr>
        <p:spPr>
          <a:xfrm>
            <a:off x="749808"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Could the hearings be held properly?</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3,69,972 electors kept on the draft roll were summoned. The busiest single slot listed 459 cases, in Charminar, where the typical slot listed 38. The lists do not record how long a slot was.</a:t>
            </a:r>
            <a:endParaRPr lang="en-US" sz="1400" dirty="0"/>
          </a:p>
        </p:txBody>
      </p:sp>
      <p:sp>
        <p:nvSpPr>
          <p:cNvPr id="48" name="Shape 46"/>
          <p:cNvSpPr/>
          <p:nvPr/>
        </p:nvSpPr>
        <p:spPr>
          <a:xfrm>
            <a:off x="6233008" y="1600200"/>
            <a:ext cx="5410048" cy="2148840"/>
          </a:xfrm>
          <a:prstGeom prst="roundRect">
            <a:avLst>
              <a:gd name="adj" fmla="val 3404"/>
            </a:avLst>
          </a:prstGeom>
          <a:solidFill>
            <a:srgbClr val="F4F6F7"/>
          </a:solidFill>
          <a:ln/>
        </p:spPr>
      </p:sp>
      <p:sp>
        <p:nvSpPr>
          <p:cNvPr id="49" name="Text 47"/>
          <p:cNvSpPr txBox="1"/>
          <p:nvPr/>
        </p:nvSpPr>
        <p:spPr>
          <a:xfrm>
            <a:off x="6434176"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Did this change an election result?</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No election has been held on the revised roll. Every one of the five constituencies lost more names than its 2023 winning margin, and in Yakutpura and Malakpet the names struck off outnumber every valid vote cast in 2023. Only Yakutpura is close. Its runner-up would need 50.8% of the removed who would vote to overturn the 2023 margin.</a:t>
            </a:r>
            <a:endParaRPr lang="en-US" sz="1400" dirty="0"/>
          </a:p>
        </p:txBody>
      </p:sp>
      <p:sp>
        <p:nvSpPr>
          <p:cNvPr id="50" name="Shape 48"/>
          <p:cNvSpPr/>
          <p:nvPr/>
        </p:nvSpPr>
        <p:spPr>
          <a:xfrm>
            <a:off x="548640" y="3886200"/>
            <a:ext cx="5410048" cy="2148840"/>
          </a:xfrm>
          <a:prstGeom prst="roundRect">
            <a:avLst>
              <a:gd name="adj" fmla="val 3404"/>
            </a:avLst>
          </a:prstGeom>
          <a:solidFill>
            <a:srgbClr val="F4F6F7"/>
          </a:solidFill>
          <a:ln/>
        </p:spPr>
      </p:sp>
      <p:sp>
        <p:nvSpPr>
          <p:cNvPr id="51" name="Text 49"/>
          <p:cNvSpPr txBox="1"/>
          <p:nvPr/>
        </p:nvSpPr>
        <p:spPr>
          <a:xfrm>
            <a:off x="749808"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How reliable are the lists?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For four constituencies the counts agree exactly with an independent count of the same lists, as do the recorded reasons and women's share. The Malakpet list used here is incomplete, with 1,42,688 names against 1,47,799 in the published list and no part numbers or 2002 link.</a:t>
            </a:r>
            <a:endParaRPr lang="en-US" sz="1400" dirty="0"/>
          </a:p>
        </p:txBody>
      </p:sp>
      <p:sp>
        <p:nvSpPr>
          <p:cNvPr id="52" name="Shape 50"/>
          <p:cNvSpPr/>
          <p:nvPr/>
        </p:nvSpPr>
        <p:spPr>
          <a:xfrm>
            <a:off x="6233008" y="3886200"/>
            <a:ext cx="5410048" cy="2148840"/>
          </a:xfrm>
          <a:prstGeom prst="roundRect">
            <a:avLst>
              <a:gd name="adj" fmla="val 3404"/>
            </a:avLst>
          </a:prstGeom>
          <a:solidFill>
            <a:srgbClr val="F4F6F7"/>
          </a:solidFill>
          <a:ln/>
        </p:spPr>
      </p:sp>
      <p:sp>
        <p:nvSpPr>
          <p:cNvPr id="53" name="Text 51"/>
          <p:cNvSpPr txBox="1"/>
          <p:nvPr/>
        </p:nvSpPr>
        <p:spPr>
          <a:xfrm>
            <a:off x="6434176"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6E1832"/>
                </a:solidFill>
                <a:latin typeface="Calibri" pitchFamily="34" charset="0"/>
                <a:ea typeface="Calibri" pitchFamily="34" charset="-122"/>
                <a:cs typeface="Calibri" pitchFamily="34" charset="-120"/>
              </a:rPr>
              <a:t>Why only five constituencies?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These are the five Old City seats whose full lists were available elector by elector. The figures describe these five and no others.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What the lists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0" y="6748272"/>
            <a:ext cx="304792" cy="109728"/>
          </a:xfrm>
          <a:prstGeom prst="rect">
            <a:avLst/>
          </a:prstGeom>
          <a:solidFill>
            <a:srgbClr val="8B1E3F"/>
          </a:solidFill>
          <a:ln/>
        </p:spPr>
      </p:sp>
      <p:sp>
        <p:nvSpPr>
          <p:cNvPr id="7" name="Shape 5"/>
          <p:cNvSpPr/>
          <p:nvPr/>
        </p:nvSpPr>
        <p:spPr>
          <a:xfrm>
            <a:off x="304792" y="6748272"/>
            <a:ext cx="304792" cy="109728"/>
          </a:xfrm>
          <a:prstGeom prst="rect">
            <a:avLst/>
          </a:prstGeom>
          <a:solidFill>
            <a:srgbClr val="0E5E6F"/>
          </a:solidFill>
          <a:ln/>
        </p:spPr>
      </p:sp>
      <p:sp>
        <p:nvSpPr>
          <p:cNvPr id="8" name="Shape 6"/>
          <p:cNvSpPr/>
          <p:nvPr/>
        </p:nvSpPr>
        <p:spPr>
          <a:xfrm>
            <a:off x="609585" y="6748272"/>
            <a:ext cx="304792" cy="109728"/>
          </a:xfrm>
          <a:prstGeom prst="rect">
            <a:avLst/>
          </a:prstGeom>
          <a:solidFill>
            <a:srgbClr val="E0A526"/>
          </a:solidFill>
          <a:ln/>
        </p:spPr>
      </p:sp>
      <p:sp>
        <p:nvSpPr>
          <p:cNvPr id="9" name="Shape 7"/>
          <p:cNvSpPr/>
          <p:nvPr/>
        </p:nvSpPr>
        <p:spPr>
          <a:xfrm>
            <a:off x="914377" y="6748272"/>
            <a:ext cx="304792" cy="109728"/>
          </a:xfrm>
          <a:prstGeom prst="rect">
            <a:avLst/>
          </a:prstGeom>
          <a:solidFill>
            <a:srgbClr val="0E5E6F"/>
          </a:solidFill>
          <a:ln/>
        </p:spPr>
      </p:sp>
      <p:sp>
        <p:nvSpPr>
          <p:cNvPr id="10" name="Shape 8"/>
          <p:cNvSpPr/>
          <p:nvPr/>
        </p:nvSpPr>
        <p:spPr>
          <a:xfrm>
            <a:off x="1219170" y="6748272"/>
            <a:ext cx="304792" cy="109728"/>
          </a:xfrm>
          <a:prstGeom prst="rect">
            <a:avLst/>
          </a:prstGeom>
          <a:solidFill>
            <a:srgbClr val="8B1E3F"/>
          </a:solidFill>
          <a:ln/>
        </p:spPr>
      </p:sp>
      <p:sp>
        <p:nvSpPr>
          <p:cNvPr id="11" name="Shape 9"/>
          <p:cNvSpPr/>
          <p:nvPr/>
        </p:nvSpPr>
        <p:spPr>
          <a:xfrm>
            <a:off x="1523962" y="6748272"/>
            <a:ext cx="304792" cy="109728"/>
          </a:xfrm>
          <a:prstGeom prst="rect">
            <a:avLst/>
          </a:prstGeom>
          <a:solidFill>
            <a:srgbClr val="0E5E6F"/>
          </a:solidFill>
          <a:ln/>
        </p:spPr>
      </p:sp>
      <p:sp>
        <p:nvSpPr>
          <p:cNvPr id="12" name="Shape 10"/>
          <p:cNvSpPr/>
          <p:nvPr/>
        </p:nvSpPr>
        <p:spPr>
          <a:xfrm>
            <a:off x="1828754" y="6748272"/>
            <a:ext cx="304792" cy="109728"/>
          </a:xfrm>
          <a:prstGeom prst="rect">
            <a:avLst/>
          </a:prstGeom>
          <a:solidFill>
            <a:srgbClr val="E0A526"/>
          </a:solidFill>
          <a:ln/>
        </p:spPr>
      </p:sp>
      <p:sp>
        <p:nvSpPr>
          <p:cNvPr id="13" name="Shape 11"/>
          <p:cNvSpPr/>
          <p:nvPr/>
        </p:nvSpPr>
        <p:spPr>
          <a:xfrm>
            <a:off x="2133547" y="6748272"/>
            <a:ext cx="304792" cy="109728"/>
          </a:xfrm>
          <a:prstGeom prst="rect">
            <a:avLst/>
          </a:prstGeom>
          <a:solidFill>
            <a:srgbClr val="0E5E6F"/>
          </a:solidFill>
          <a:ln/>
        </p:spPr>
      </p:sp>
      <p:sp>
        <p:nvSpPr>
          <p:cNvPr id="14" name="Shape 12"/>
          <p:cNvSpPr/>
          <p:nvPr/>
        </p:nvSpPr>
        <p:spPr>
          <a:xfrm>
            <a:off x="2438339" y="6748272"/>
            <a:ext cx="304792" cy="109728"/>
          </a:xfrm>
          <a:prstGeom prst="rect">
            <a:avLst/>
          </a:prstGeom>
          <a:solidFill>
            <a:srgbClr val="8B1E3F"/>
          </a:solidFill>
          <a:ln/>
        </p:spPr>
      </p:sp>
      <p:sp>
        <p:nvSpPr>
          <p:cNvPr id="15" name="Shape 13"/>
          <p:cNvSpPr/>
          <p:nvPr/>
        </p:nvSpPr>
        <p:spPr>
          <a:xfrm>
            <a:off x="2743131" y="6748272"/>
            <a:ext cx="304792" cy="109728"/>
          </a:xfrm>
          <a:prstGeom prst="rect">
            <a:avLst/>
          </a:prstGeom>
          <a:solidFill>
            <a:srgbClr val="0E5E6F"/>
          </a:solidFill>
          <a:ln/>
        </p:spPr>
      </p:sp>
      <p:sp>
        <p:nvSpPr>
          <p:cNvPr id="16" name="Shape 14"/>
          <p:cNvSpPr/>
          <p:nvPr/>
        </p:nvSpPr>
        <p:spPr>
          <a:xfrm>
            <a:off x="3047924" y="6748272"/>
            <a:ext cx="304792" cy="109728"/>
          </a:xfrm>
          <a:prstGeom prst="rect">
            <a:avLst/>
          </a:prstGeom>
          <a:solidFill>
            <a:srgbClr val="E0A526"/>
          </a:solidFill>
          <a:ln/>
        </p:spPr>
      </p:sp>
      <p:sp>
        <p:nvSpPr>
          <p:cNvPr id="17" name="Shape 15"/>
          <p:cNvSpPr/>
          <p:nvPr/>
        </p:nvSpPr>
        <p:spPr>
          <a:xfrm>
            <a:off x="3352716" y="6748272"/>
            <a:ext cx="304792" cy="109728"/>
          </a:xfrm>
          <a:prstGeom prst="rect">
            <a:avLst/>
          </a:prstGeom>
          <a:solidFill>
            <a:srgbClr val="0E5E6F"/>
          </a:solidFill>
          <a:ln/>
        </p:spPr>
      </p:sp>
      <p:sp>
        <p:nvSpPr>
          <p:cNvPr id="18" name="Shape 16"/>
          <p:cNvSpPr/>
          <p:nvPr/>
        </p:nvSpPr>
        <p:spPr>
          <a:xfrm>
            <a:off x="3657509" y="6748272"/>
            <a:ext cx="304792" cy="109728"/>
          </a:xfrm>
          <a:prstGeom prst="rect">
            <a:avLst/>
          </a:prstGeom>
          <a:solidFill>
            <a:srgbClr val="8B1E3F"/>
          </a:solidFill>
          <a:ln/>
        </p:spPr>
      </p:sp>
      <p:sp>
        <p:nvSpPr>
          <p:cNvPr id="19" name="Shape 17"/>
          <p:cNvSpPr/>
          <p:nvPr/>
        </p:nvSpPr>
        <p:spPr>
          <a:xfrm>
            <a:off x="3962301" y="6748272"/>
            <a:ext cx="304792" cy="109728"/>
          </a:xfrm>
          <a:prstGeom prst="rect">
            <a:avLst/>
          </a:prstGeom>
          <a:solidFill>
            <a:srgbClr val="0E5E6F"/>
          </a:solidFill>
          <a:ln/>
        </p:spPr>
      </p:sp>
      <p:sp>
        <p:nvSpPr>
          <p:cNvPr id="20" name="Shape 18"/>
          <p:cNvSpPr/>
          <p:nvPr/>
        </p:nvSpPr>
        <p:spPr>
          <a:xfrm>
            <a:off x="4267093" y="6748272"/>
            <a:ext cx="304792" cy="109728"/>
          </a:xfrm>
          <a:prstGeom prst="rect">
            <a:avLst/>
          </a:prstGeom>
          <a:solidFill>
            <a:srgbClr val="E0A526"/>
          </a:solidFill>
          <a:ln/>
        </p:spPr>
      </p:sp>
      <p:sp>
        <p:nvSpPr>
          <p:cNvPr id="21" name="Shape 19"/>
          <p:cNvSpPr/>
          <p:nvPr/>
        </p:nvSpPr>
        <p:spPr>
          <a:xfrm>
            <a:off x="4571886" y="6748272"/>
            <a:ext cx="304792" cy="109728"/>
          </a:xfrm>
          <a:prstGeom prst="rect">
            <a:avLst/>
          </a:prstGeom>
          <a:solidFill>
            <a:srgbClr val="0E5E6F"/>
          </a:solidFill>
          <a:ln/>
        </p:spPr>
      </p:sp>
      <p:sp>
        <p:nvSpPr>
          <p:cNvPr id="22" name="Shape 20"/>
          <p:cNvSpPr/>
          <p:nvPr/>
        </p:nvSpPr>
        <p:spPr>
          <a:xfrm>
            <a:off x="4876678" y="6748272"/>
            <a:ext cx="304792" cy="109728"/>
          </a:xfrm>
          <a:prstGeom prst="rect">
            <a:avLst/>
          </a:prstGeom>
          <a:solidFill>
            <a:srgbClr val="8B1E3F"/>
          </a:solidFill>
          <a:ln/>
        </p:spPr>
      </p:sp>
      <p:sp>
        <p:nvSpPr>
          <p:cNvPr id="23" name="Shape 21"/>
          <p:cNvSpPr/>
          <p:nvPr/>
        </p:nvSpPr>
        <p:spPr>
          <a:xfrm>
            <a:off x="5181470" y="6748272"/>
            <a:ext cx="304792" cy="109728"/>
          </a:xfrm>
          <a:prstGeom prst="rect">
            <a:avLst/>
          </a:prstGeom>
          <a:solidFill>
            <a:srgbClr val="0E5E6F"/>
          </a:solidFill>
          <a:ln/>
        </p:spPr>
      </p:sp>
      <p:sp>
        <p:nvSpPr>
          <p:cNvPr id="24" name="Shape 22"/>
          <p:cNvSpPr/>
          <p:nvPr/>
        </p:nvSpPr>
        <p:spPr>
          <a:xfrm>
            <a:off x="5486263" y="6748272"/>
            <a:ext cx="304792" cy="109728"/>
          </a:xfrm>
          <a:prstGeom prst="rect">
            <a:avLst/>
          </a:prstGeom>
          <a:solidFill>
            <a:srgbClr val="E0A526"/>
          </a:solidFill>
          <a:ln/>
        </p:spPr>
      </p:sp>
      <p:sp>
        <p:nvSpPr>
          <p:cNvPr id="25" name="Shape 23"/>
          <p:cNvSpPr/>
          <p:nvPr/>
        </p:nvSpPr>
        <p:spPr>
          <a:xfrm>
            <a:off x="5791055" y="6748272"/>
            <a:ext cx="304792" cy="109728"/>
          </a:xfrm>
          <a:prstGeom prst="rect">
            <a:avLst/>
          </a:prstGeom>
          <a:solidFill>
            <a:srgbClr val="0E5E6F"/>
          </a:solidFill>
          <a:ln/>
        </p:spPr>
      </p:sp>
      <p:sp>
        <p:nvSpPr>
          <p:cNvPr id="26" name="Shape 24"/>
          <p:cNvSpPr/>
          <p:nvPr/>
        </p:nvSpPr>
        <p:spPr>
          <a:xfrm>
            <a:off x="6095848" y="6748272"/>
            <a:ext cx="304792" cy="109728"/>
          </a:xfrm>
          <a:prstGeom prst="rect">
            <a:avLst/>
          </a:prstGeom>
          <a:solidFill>
            <a:srgbClr val="8B1E3F"/>
          </a:solidFill>
          <a:ln/>
        </p:spPr>
      </p:sp>
      <p:sp>
        <p:nvSpPr>
          <p:cNvPr id="27" name="Shape 25"/>
          <p:cNvSpPr/>
          <p:nvPr/>
        </p:nvSpPr>
        <p:spPr>
          <a:xfrm>
            <a:off x="6400640" y="6748272"/>
            <a:ext cx="304792" cy="109728"/>
          </a:xfrm>
          <a:prstGeom prst="rect">
            <a:avLst/>
          </a:prstGeom>
          <a:solidFill>
            <a:srgbClr val="0E5E6F"/>
          </a:solidFill>
          <a:ln/>
        </p:spPr>
      </p:sp>
      <p:sp>
        <p:nvSpPr>
          <p:cNvPr id="28" name="Shape 26"/>
          <p:cNvSpPr/>
          <p:nvPr/>
        </p:nvSpPr>
        <p:spPr>
          <a:xfrm>
            <a:off x="6705432" y="6748272"/>
            <a:ext cx="304792" cy="109728"/>
          </a:xfrm>
          <a:prstGeom prst="rect">
            <a:avLst/>
          </a:prstGeom>
          <a:solidFill>
            <a:srgbClr val="E0A526"/>
          </a:solidFill>
          <a:ln/>
        </p:spPr>
      </p:sp>
      <p:sp>
        <p:nvSpPr>
          <p:cNvPr id="29" name="Shape 27"/>
          <p:cNvSpPr/>
          <p:nvPr/>
        </p:nvSpPr>
        <p:spPr>
          <a:xfrm>
            <a:off x="7010225" y="6748272"/>
            <a:ext cx="304792" cy="109728"/>
          </a:xfrm>
          <a:prstGeom prst="rect">
            <a:avLst/>
          </a:prstGeom>
          <a:solidFill>
            <a:srgbClr val="0E5E6F"/>
          </a:solidFill>
          <a:ln/>
        </p:spPr>
      </p:sp>
      <p:sp>
        <p:nvSpPr>
          <p:cNvPr id="30" name="Shape 28"/>
          <p:cNvSpPr/>
          <p:nvPr/>
        </p:nvSpPr>
        <p:spPr>
          <a:xfrm>
            <a:off x="7315017" y="6748272"/>
            <a:ext cx="304792" cy="109728"/>
          </a:xfrm>
          <a:prstGeom prst="rect">
            <a:avLst/>
          </a:prstGeom>
          <a:solidFill>
            <a:srgbClr val="8B1E3F"/>
          </a:solidFill>
          <a:ln/>
        </p:spPr>
      </p:sp>
      <p:sp>
        <p:nvSpPr>
          <p:cNvPr id="31" name="Shape 29"/>
          <p:cNvSpPr/>
          <p:nvPr/>
        </p:nvSpPr>
        <p:spPr>
          <a:xfrm>
            <a:off x="7619809" y="6748272"/>
            <a:ext cx="304792" cy="109728"/>
          </a:xfrm>
          <a:prstGeom prst="rect">
            <a:avLst/>
          </a:prstGeom>
          <a:solidFill>
            <a:srgbClr val="0E5E6F"/>
          </a:solidFill>
          <a:ln/>
        </p:spPr>
      </p:sp>
      <p:sp>
        <p:nvSpPr>
          <p:cNvPr id="32" name="Shape 30"/>
          <p:cNvSpPr/>
          <p:nvPr/>
        </p:nvSpPr>
        <p:spPr>
          <a:xfrm>
            <a:off x="7924602" y="6748272"/>
            <a:ext cx="304792" cy="109728"/>
          </a:xfrm>
          <a:prstGeom prst="rect">
            <a:avLst/>
          </a:prstGeom>
          <a:solidFill>
            <a:srgbClr val="E0A526"/>
          </a:solidFill>
          <a:ln/>
        </p:spPr>
      </p:sp>
      <p:sp>
        <p:nvSpPr>
          <p:cNvPr id="33" name="Shape 31"/>
          <p:cNvSpPr/>
          <p:nvPr/>
        </p:nvSpPr>
        <p:spPr>
          <a:xfrm>
            <a:off x="8229394" y="6748272"/>
            <a:ext cx="304792" cy="109728"/>
          </a:xfrm>
          <a:prstGeom prst="rect">
            <a:avLst/>
          </a:prstGeom>
          <a:solidFill>
            <a:srgbClr val="0E5E6F"/>
          </a:solidFill>
          <a:ln/>
        </p:spPr>
      </p:sp>
      <p:sp>
        <p:nvSpPr>
          <p:cNvPr id="34" name="Shape 32"/>
          <p:cNvSpPr/>
          <p:nvPr/>
        </p:nvSpPr>
        <p:spPr>
          <a:xfrm>
            <a:off x="8534187" y="6748272"/>
            <a:ext cx="304792" cy="109728"/>
          </a:xfrm>
          <a:prstGeom prst="rect">
            <a:avLst/>
          </a:prstGeom>
          <a:solidFill>
            <a:srgbClr val="8B1E3F"/>
          </a:solidFill>
          <a:ln/>
        </p:spPr>
      </p:sp>
      <p:sp>
        <p:nvSpPr>
          <p:cNvPr id="35" name="Shape 33"/>
          <p:cNvSpPr/>
          <p:nvPr/>
        </p:nvSpPr>
        <p:spPr>
          <a:xfrm>
            <a:off x="8838979" y="6748272"/>
            <a:ext cx="304792" cy="109728"/>
          </a:xfrm>
          <a:prstGeom prst="rect">
            <a:avLst/>
          </a:prstGeom>
          <a:solidFill>
            <a:srgbClr val="0E5E6F"/>
          </a:solidFill>
          <a:ln/>
        </p:spPr>
      </p:sp>
      <p:sp>
        <p:nvSpPr>
          <p:cNvPr id="36" name="Shape 34"/>
          <p:cNvSpPr/>
          <p:nvPr/>
        </p:nvSpPr>
        <p:spPr>
          <a:xfrm>
            <a:off x="9143771" y="6748272"/>
            <a:ext cx="304792" cy="109728"/>
          </a:xfrm>
          <a:prstGeom prst="rect">
            <a:avLst/>
          </a:prstGeom>
          <a:solidFill>
            <a:srgbClr val="E0A526"/>
          </a:solidFill>
          <a:ln/>
        </p:spPr>
      </p:sp>
      <p:sp>
        <p:nvSpPr>
          <p:cNvPr id="37" name="Shape 35"/>
          <p:cNvSpPr/>
          <p:nvPr/>
        </p:nvSpPr>
        <p:spPr>
          <a:xfrm>
            <a:off x="9448564" y="6748272"/>
            <a:ext cx="304792" cy="109728"/>
          </a:xfrm>
          <a:prstGeom prst="rect">
            <a:avLst/>
          </a:prstGeom>
          <a:solidFill>
            <a:srgbClr val="0E5E6F"/>
          </a:solidFill>
          <a:ln/>
        </p:spPr>
      </p:sp>
      <p:sp>
        <p:nvSpPr>
          <p:cNvPr id="38" name="Shape 36"/>
          <p:cNvSpPr/>
          <p:nvPr/>
        </p:nvSpPr>
        <p:spPr>
          <a:xfrm>
            <a:off x="9753356" y="6748272"/>
            <a:ext cx="304792" cy="109728"/>
          </a:xfrm>
          <a:prstGeom prst="rect">
            <a:avLst/>
          </a:prstGeom>
          <a:solidFill>
            <a:srgbClr val="8B1E3F"/>
          </a:solidFill>
          <a:ln/>
        </p:spPr>
      </p:sp>
      <p:sp>
        <p:nvSpPr>
          <p:cNvPr id="39" name="Shape 37"/>
          <p:cNvSpPr/>
          <p:nvPr/>
        </p:nvSpPr>
        <p:spPr>
          <a:xfrm>
            <a:off x="10058149" y="6748272"/>
            <a:ext cx="304792" cy="109728"/>
          </a:xfrm>
          <a:prstGeom prst="rect">
            <a:avLst/>
          </a:prstGeom>
          <a:solidFill>
            <a:srgbClr val="0E5E6F"/>
          </a:solidFill>
          <a:ln/>
        </p:spPr>
      </p:sp>
      <p:sp>
        <p:nvSpPr>
          <p:cNvPr id="40" name="Shape 38"/>
          <p:cNvSpPr/>
          <p:nvPr/>
        </p:nvSpPr>
        <p:spPr>
          <a:xfrm>
            <a:off x="10362941" y="6748272"/>
            <a:ext cx="304792" cy="109728"/>
          </a:xfrm>
          <a:prstGeom prst="rect">
            <a:avLst/>
          </a:prstGeom>
          <a:solidFill>
            <a:srgbClr val="E0A526"/>
          </a:solidFill>
          <a:ln/>
        </p:spPr>
      </p:sp>
      <p:sp>
        <p:nvSpPr>
          <p:cNvPr id="41" name="Shape 39"/>
          <p:cNvSpPr/>
          <p:nvPr/>
        </p:nvSpPr>
        <p:spPr>
          <a:xfrm>
            <a:off x="10667733" y="6748272"/>
            <a:ext cx="304792" cy="109728"/>
          </a:xfrm>
          <a:prstGeom prst="rect">
            <a:avLst/>
          </a:prstGeom>
          <a:solidFill>
            <a:srgbClr val="0E5E6F"/>
          </a:solidFill>
          <a:ln/>
        </p:spPr>
      </p:sp>
      <p:sp>
        <p:nvSpPr>
          <p:cNvPr id="42" name="Shape 40"/>
          <p:cNvSpPr/>
          <p:nvPr/>
        </p:nvSpPr>
        <p:spPr>
          <a:xfrm>
            <a:off x="10972526" y="6748272"/>
            <a:ext cx="304792" cy="109728"/>
          </a:xfrm>
          <a:prstGeom prst="rect">
            <a:avLst/>
          </a:prstGeom>
          <a:solidFill>
            <a:srgbClr val="8B1E3F"/>
          </a:solidFill>
          <a:ln/>
        </p:spPr>
      </p:sp>
      <p:sp>
        <p:nvSpPr>
          <p:cNvPr id="43" name="Shape 41"/>
          <p:cNvSpPr/>
          <p:nvPr/>
        </p:nvSpPr>
        <p:spPr>
          <a:xfrm>
            <a:off x="11277318" y="6748272"/>
            <a:ext cx="304792" cy="109728"/>
          </a:xfrm>
          <a:prstGeom prst="rect">
            <a:avLst/>
          </a:prstGeom>
          <a:solidFill>
            <a:srgbClr val="0E5E6F"/>
          </a:solidFill>
          <a:ln/>
        </p:spPr>
      </p:sp>
      <p:sp>
        <p:nvSpPr>
          <p:cNvPr id="44" name="Shape 42"/>
          <p:cNvSpPr/>
          <p:nvPr/>
        </p:nvSpPr>
        <p:spPr>
          <a:xfrm>
            <a:off x="11582110" y="6748272"/>
            <a:ext cx="304792" cy="109728"/>
          </a:xfrm>
          <a:prstGeom prst="rect">
            <a:avLst/>
          </a:prstGeom>
          <a:solidFill>
            <a:srgbClr val="E0A526"/>
          </a:solidFill>
          <a:ln/>
        </p:spPr>
      </p:sp>
      <p:sp>
        <p:nvSpPr>
          <p:cNvPr id="45" name="Shape 43"/>
          <p:cNvSpPr/>
          <p:nvPr/>
        </p:nvSpPr>
        <p:spPr>
          <a:xfrm>
            <a:off x="11886903" y="6748272"/>
            <a:ext cx="304792" cy="109728"/>
          </a:xfrm>
          <a:prstGeom prst="rect">
            <a:avLst/>
          </a:prstGeom>
          <a:solidFill>
            <a:srgbClr val="0E5E6F"/>
          </a:solidFill>
          <a:ln/>
        </p:spPr>
      </p:sp>
      <p:sp>
        <p:nvSpPr>
          <p:cNvPr id="46" name="Shape 44"/>
          <p:cNvSpPr/>
          <p:nvPr/>
        </p:nvSpPr>
        <p:spPr>
          <a:xfrm>
            <a:off x="548640" y="1554480"/>
            <a:ext cx="5440680" cy="2103120"/>
          </a:xfrm>
          <a:prstGeom prst="roundRect">
            <a:avLst>
              <a:gd name="adj" fmla="val 4348"/>
            </a:avLst>
          </a:prstGeom>
          <a:solidFill>
            <a:srgbClr val="F7ECEF"/>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many electors were struck off, from which parts, and who they were by age, sex, religion guessed from names, and link to the 2002 roll. Because the lists hold every elector, each group has a true removal rate.</a:t>
            </a:r>
            <a:endParaRPr lang="en-US" sz="1500" dirty="0"/>
          </a:p>
        </p:txBody>
      </p:sp>
      <p:sp>
        <p:nvSpPr>
          <p:cNvPr id="48" name="Shape 46"/>
          <p:cNvSpPr/>
          <p:nvPr/>
        </p:nvSpPr>
        <p:spPr>
          <a:xfrm>
            <a:off x="6199632" y="1554480"/>
            <a:ext cx="5440680" cy="2103120"/>
          </a:xfrm>
          <a:prstGeom prst="roundRect">
            <a:avLst>
              <a:gd name="adj" fmla="val 4348"/>
            </a:avLst>
          </a:prstGeom>
          <a:solidFill>
            <a:srgbClr val="F7ECEF"/>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Whether any single removal was right. A household that moved out is rightly marked "shifted", and the files cannot tell it apart from an elector who was at home when the officer missed them. Religion and age are given separately and never together.</a:t>
            </a:r>
            <a:endParaRPr lang="en-US" sz="1500" dirty="0"/>
          </a:p>
        </p:txBody>
      </p:sp>
      <p:sp>
        <p:nvSpPr>
          <p:cNvPr id="50" name="Text 48"/>
          <p:cNvSpPr txBox="1"/>
          <p:nvPr/>
        </p:nvSpPr>
        <p:spPr>
          <a:xfrm>
            <a:off x="548640" y="3931920"/>
            <a:ext cx="11094415" cy="201168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These are the September lists. The final roll is due on 9 November, so restorations after hearings are not in these counts. Malakpet's list is read by polling-station name (60 stations) and 7,891 electors on its roll appear in none of the three outcomes.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Before the final roll</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0" y="6748272"/>
            <a:ext cx="304792" cy="109728"/>
          </a:xfrm>
          <a:prstGeom prst="rect">
            <a:avLst/>
          </a:prstGeom>
          <a:solidFill>
            <a:srgbClr val="8B1E3F"/>
          </a:solidFill>
          <a:ln/>
        </p:spPr>
      </p:sp>
      <p:sp>
        <p:nvSpPr>
          <p:cNvPr id="7" name="Shape 5"/>
          <p:cNvSpPr/>
          <p:nvPr/>
        </p:nvSpPr>
        <p:spPr>
          <a:xfrm>
            <a:off x="304792" y="6748272"/>
            <a:ext cx="304792" cy="109728"/>
          </a:xfrm>
          <a:prstGeom prst="rect">
            <a:avLst/>
          </a:prstGeom>
          <a:solidFill>
            <a:srgbClr val="0E5E6F"/>
          </a:solidFill>
          <a:ln/>
        </p:spPr>
      </p:sp>
      <p:sp>
        <p:nvSpPr>
          <p:cNvPr id="8" name="Shape 6"/>
          <p:cNvSpPr/>
          <p:nvPr/>
        </p:nvSpPr>
        <p:spPr>
          <a:xfrm>
            <a:off x="609585" y="6748272"/>
            <a:ext cx="304792" cy="109728"/>
          </a:xfrm>
          <a:prstGeom prst="rect">
            <a:avLst/>
          </a:prstGeom>
          <a:solidFill>
            <a:srgbClr val="E0A526"/>
          </a:solidFill>
          <a:ln/>
        </p:spPr>
      </p:sp>
      <p:sp>
        <p:nvSpPr>
          <p:cNvPr id="9" name="Shape 7"/>
          <p:cNvSpPr/>
          <p:nvPr/>
        </p:nvSpPr>
        <p:spPr>
          <a:xfrm>
            <a:off x="914377" y="6748272"/>
            <a:ext cx="304792" cy="109728"/>
          </a:xfrm>
          <a:prstGeom prst="rect">
            <a:avLst/>
          </a:prstGeom>
          <a:solidFill>
            <a:srgbClr val="0E5E6F"/>
          </a:solidFill>
          <a:ln/>
        </p:spPr>
      </p:sp>
      <p:sp>
        <p:nvSpPr>
          <p:cNvPr id="10" name="Shape 8"/>
          <p:cNvSpPr/>
          <p:nvPr/>
        </p:nvSpPr>
        <p:spPr>
          <a:xfrm>
            <a:off x="1219170" y="6748272"/>
            <a:ext cx="304792" cy="109728"/>
          </a:xfrm>
          <a:prstGeom prst="rect">
            <a:avLst/>
          </a:prstGeom>
          <a:solidFill>
            <a:srgbClr val="8B1E3F"/>
          </a:solidFill>
          <a:ln/>
        </p:spPr>
      </p:sp>
      <p:sp>
        <p:nvSpPr>
          <p:cNvPr id="11" name="Shape 9"/>
          <p:cNvSpPr/>
          <p:nvPr/>
        </p:nvSpPr>
        <p:spPr>
          <a:xfrm>
            <a:off x="1523962" y="6748272"/>
            <a:ext cx="304792" cy="109728"/>
          </a:xfrm>
          <a:prstGeom prst="rect">
            <a:avLst/>
          </a:prstGeom>
          <a:solidFill>
            <a:srgbClr val="0E5E6F"/>
          </a:solidFill>
          <a:ln/>
        </p:spPr>
      </p:sp>
      <p:sp>
        <p:nvSpPr>
          <p:cNvPr id="12" name="Shape 10"/>
          <p:cNvSpPr/>
          <p:nvPr/>
        </p:nvSpPr>
        <p:spPr>
          <a:xfrm>
            <a:off x="1828754" y="6748272"/>
            <a:ext cx="304792" cy="109728"/>
          </a:xfrm>
          <a:prstGeom prst="rect">
            <a:avLst/>
          </a:prstGeom>
          <a:solidFill>
            <a:srgbClr val="E0A526"/>
          </a:solidFill>
          <a:ln/>
        </p:spPr>
      </p:sp>
      <p:sp>
        <p:nvSpPr>
          <p:cNvPr id="13" name="Shape 11"/>
          <p:cNvSpPr/>
          <p:nvPr/>
        </p:nvSpPr>
        <p:spPr>
          <a:xfrm>
            <a:off x="2133547" y="6748272"/>
            <a:ext cx="304792" cy="109728"/>
          </a:xfrm>
          <a:prstGeom prst="rect">
            <a:avLst/>
          </a:prstGeom>
          <a:solidFill>
            <a:srgbClr val="0E5E6F"/>
          </a:solidFill>
          <a:ln/>
        </p:spPr>
      </p:sp>
      <p:sp>
        <p:nvSpPr>
          <p:cNvPr id="14" name="Shape 12"/>
          <p:cNvSpPr/>
          <p:nvPr/>
        </p:nvSpPr>
        <p:spPr>
          <a:xfrm>
            <a:off x="2438339" y="6748272"/>
            <a:ext cx="304792" cy="109728"/>
          </a:xfrm>
          <a:prstGeom prst="rect">
            <a:avLst/>
          </a:prstGeom>
          <a:solidFill>
            <a:srgbClr val="8B1E3F"/>
          </a:solidFill>
          <a:ln/>
        </p:spPr>
      </p:sp>
      <p:sp>
        <p:nvSpPr>
          <p:cNvPr id="15" name="Shape 13"/>
          <p:cNvSpPr/>
          <p:nvPr/>
        </p:nvSpPr>
        <p:spPr>
          <a:xfrm>
            <a:off x="2743131" y="6748272"/>
            <a:ext cx="304792" cy="109728"/>
          </a:xfrm>
          <a:prstGeom prst="rect">
            <a:avLst/>
          </a:prstGeom>
          <a:solidFill>
            <a:srgbClr val="0E5E6F"/>
          </a:solidFill>
          <a:ln/>
        </p:spPr>
      </p:sp>
      <p:sp>
        <p:nvSpPr>
          <p:cNvPr id="16" name="Shape 14"/>
          <p:cNvSpPr/>
          <p:nvPr/>
        </p:nvSpPr>
        <p:spPr>
          <a:xfrm>
            <a:off x="3047924" y="6748272"/>
            <a:ext cx="304792" cy="109728"/>
          </a:xfrm>
          <a:prstGeom prst="rect">
            <a:avLst/>
          </a:prstGeom>
          <a:solidFill>
            <a:srgbClr val="E0A526"/>
          </a:solidFill>
          <a:ln/>
        </p:spPr>
      </p:sp>
      <p:sp>
        <p:nvSpPr>
          <p:cNvPr id="17" name="Shape 15"/>
          <p:cNvSpPr/>
          <p:nvPr/>
        </p:nvSpPr>
        <p:spPr>
          <a:xfrm>
            <a:off x="3352716" y="6748272"/>
            <a:ext cx="304792" cy="109728"/>
          </a:xfrm>
          <a:prstGeom prst="rect">
            <a:avLst/>
          </a:prstGeom>
          <a:solidFill>
            <a:srgbClr val="0E5E6F"/>
          </a:solidFill>
          <a:ln/>
        </p:spPr>
      </p:sp>
      <p:sp>
        <p:nvSpPr>
          <p:cNvPr id="18" name="Shape 16"/>
          <p:cNvSpPr/>
          <p:nvPr/>
        </p:nvSpPr>
        <p:spPr>
          <a:xfrm>
            <a:off x="3657509" y="6748272"/>
            <a:ext cx="304792" cy="109728"/>
          </a:xfrm>
          <a:prstGeom prst="rect">
            <a:avLst/>
          </a:prstGeom>
          <a:solidFill>
            <a:srgbClr val="8B1E3F"/>
          </a:solidFill>
          <a:ln/>
        </p:spPr>
      </p:sp>
      <p:sp>
        <p:nvSpPr>
          <p:cNvPr id="19" name="Shape 17"/>
          <p:cNvSpPr/>
          <p:nvPr/>
        </p:nvSpPr>
        <p:spPr>
          <a:xfrm>
            <a:off x="3962301" y="6748272"/>
            <a:ext cx="304792" cy="109728"/>
          </a:xfrm>
          <a:prstGeom prst="rect">
            <a:avLst/>
          </a:prstGeom>
          <a:solidFill>
            <a:srgbClr val="0E5E6F"/>
          </a:solidFill>
          <a:ln/>
        </p:spPr>
      </p:sp>
      <p:sp>
        <p:nvSpPr>
          <p:cNvPr id="20" name="Shape 18"/>
          <p:cNvSpPr/>
          <p:nvPr/>
        </p:nvSpPr>
        <p:spPr>
          <a:xfrm>
            <a:off x="4267093" y="6748272"/>
            <a:ext cx="304792" cy="109728"/>
          </a:xfrm>
          <a:prstGeom prst="rect">
            <a:avLst/>
          </a:prstGeom>
          <a:solidFill>
            <a:srgbClr val="E0A526"/>
          </a:solidFill>
          <a:ln/>
        </p:spPr>
      </p:sp>
      <p:sp>
        <p:nvSpPr>
          <p:cNvPr id="21" name="Shape 19"/>
          <p:cNvSpPr/>
          <p:nvPr/>
        </p:nvSpPr>
        <p:spPr>
          <a:xfrm>
            <a:off x="4571886" y="6748272"/>
            <a:ext cx="304792" cy="109728"/>
          </a:xfrm>
          <a:prstGeom prst="rect">
            <a:avLst/>
          </a:prstGeom>
          <a:solidFill>
            <a:srgbClr val="0E5E6F"/>
          </a:solidFill>
          <a:ln/>
        </p:spPr>
      </p:sp>
      <p:sp>
        <p:nvSpPr>
          <p:cNvPr id="22" name="Shape 20"/>
          <p:cNvSpPr/>
          <p:nvPr/>
        </p:nvSpPr>
        <p:spPr>
          <a:xfrm>
            <a:off x="4876678" y="6748272"/>
            <a:ext cx="304792" cy="109728"/>
          </a:xfrm>
          <a:prstGeom prst="rect">
            <a:avLst/>
          </a:prstGeom>
          <a:solidFill>
            <a:srgbClr val="8B1E3F"/>
          </a:solidFill>
          <a:ln/>
        </p:spPr>
      </p:sp>
      <p:sp>
        <p:nvSpPr>
          <p:cNvPr id="23" name="Shape 21"/>
          <p:cNvSpPr/>
          <p:nvPr/>
        </p:nvSpPr>
        <p:spPr>
          <a:xfrm>
            <a:off x="5181470" y="6748272"/>
            <a:ext cx="304792" cy="109728"/>
          </a:xfrm>
          <a:prstGeom prst="rect">
            <a:avLst/>
          </a:prstGeom>
          <a:solidFill>
            <a:srgbClr val="0E5E6F"/>
          </a:solidFill>
          <a:ln/>
        </p:spPr>
      </p:sp>
      <p:sp>
        <p:nvSpPr>
          <p:cNvPr id="24" name="Shape 22"/>
          <p:cNvSpPr/>
          <p:nvPr/>
        </p:nvSpPr>
        <p:spPr>
          <a:xfrm>
            <a:off x="5486263" y="6748272"/>
            <a:ext cx="304792" cy="109728"/>
          </a:xfrm>
          <a:prstGeom prst="rect">
            <a:avLst/>
          </a:prstGeom>
          <a:solidFill>
            <a:srgbClr val="E0A526"/>
          </a:solidFill>
          <a:ln/>
        </p:spPr>
      </p:sp>
      <p:sp>
        <p:nvSpPr>
          <p:cNvPr id="25" name="Shape 23"/>
          <p:cNvSpPr/>
          <p:nvPr/>
        </p:nvSpPr>
        <p:spPr>
          <a:xfrm>
            <a:off x="5791055" y="6748272"/>
            <a:ext cx="304792" cy="109728"/>
          </a:xfrm>
          <a:prstGeom prst="rect">
            <a:avLst/>
          </a:prstGeom>
          <a:solidFill>
            <a:srgbClr val="0E5E6F"/>
          </a:solidFill>
          <a:ln/>
        </p:spPr>
      </p:sp>
      <p:sp>
        <p:nvSpPr>
          <p:cNvPr id="26" name="Shape 24"/>
          <p:cNvSpPr/>
          <p:nvPr/>
        </p:nvSpPr>
        <p:spPr>
          <a:xfrm>
            <a:off x="6095848" y="6748272"/>
            <a:ext cx="304792" cy="109728"/>
          </a:xfrm>
          <a:prstGeom prst="rect">
            <a:avLst/>
          </a:prstGeom>
          <a:solidFill>
            <a:srgbClr val="8B1E3F"/>
          </a:solidFill>
          <a:ln/>
        </p:spPr>
      </p:sp>
      <p:sp>
        <p:nvSpPr>
          <p:cNvPr id="27" name="Shape 25"/>
          <p:cNvSpPr/>
          <p:nvPr/>
        </p:nvSpPr>
        <p:spPr>
          <a:xfrm>
            <a:off x="6400640" y="6748272"/>
            <a:ext cx="304792" cy="109728"/>
          </a:xfrm>
          <a:prstGeom prst="rect">
            <a:avLst/>
          </a:prstGeom>
          <a:solidFill>
            <a:srgbClr val="0E5E6F"/>
          </a:solidFill>
          <a:ln/>
        </p:spPr>
      </p:sp>
      <p:sp>
        <p:nvSpPr>
          <p:cNvPr id="28" name="Shape 26"/>
          <p:cNvSpPr/>
          <p:nvPr/>
        </p:nvSpPr>
        <p:spPr>
          <a:xfrm>
            <a:off x="6705432" y="6748272"/>
            <a:ext cx="304792" cy="109728"/>
          </a:xfrm>
          <a:prstGeom prst="rect">
            <a:avLst/>
          </a:prstGeom>
          <a:solidFill>
            <a:srgbClr val="E0A526"/>
          </a:solidFill>
          <a:ln/>
        </p:spPr>
      </p:sp>
      <p:sp>
        <p:nvSpPr>
          <p:cNvPr id="29" name="Shape 27"/>
          <p:cNvSpPr/>
          <p:nvPr/>
        </p:nvSpPr>
        <p:spPr>
          <a:xfrm>
            <a:off x="7010225" y="6748272"/>
            <a:ext cx="304792" cy="109728"/>
          </a:xfrm>
          <a:prstGeom prst="rect">
            <a:avLst/>
          </a:prstGeom>
          <a:solidFill>
            <a:srgbClr val="0E5E6F"/>
          </a:solidFill>
          <a:ln/>
        </p:spPr>
      </p:sp>
      <p:sp>
        <p:nvSpPr>
          <p:cNvPr id="30" name="Shape 28"/>
          <p:cNvSpPr/>
          <p:nvPr/>
        </p:nvSpPr>
        <p:spPr>
          <a:xfrm>
            <a:off x="7315017" y="6748272"/>
            <a:ext cx="304792" cy="109728"/>
          </a:xfrm>
          <a:prstGeom prst="rect">
            <a:avLst/>
          </a:prstGeom>
          <a:solidFill>
            <a:srgbClr val="8B1E3F"/>
          </a:solidFill>
          <a:ln/>
        </p:spPr>
      </p:sp>
      <p:sp>
        <p:nvSpPr>
          <p:cNvPr id="31" name="Shape 29"/>
          <p:cNvSpPr/>
          <p:nvPr/>
        </p:nvSpPr>
        <p:spPr>
          <a:xfrm>
            <a:off x="7619809" y="6748272"/>
            <a:ext cx="304792" cy="109728"/>
          </a:xfrm>
          <a:prstGeom prst="rect">
            <a:avLst/>
          </a:prstGeom>
          <a:solidFill>
            <a:srgbClr val="0E5E6F"/>
          </a:solidFill>
          <a:ln/>
        </p:spPr>
      </p:sp>
      <p:sp>
        <p:nvSpPr>
          <p:cNvPr id="32" name="Shape 30"/>
          <p:cNvSpPr/>
          <p:nvPr/>
        </p:nvSpPr>
        <p:spPr>
          <a:xfrm>
            <a:off x="7924602" y="6748272"/>
            <a:ext cx="304792" cy="109728"/>
          </a:xfrm>
          <a:prstGeom prst="rect">
            <a:avLst/>
          </a:prstGeom>
          <a:solidFill>
            <a:srgbClr val="E0A526"/>
          </a:solidFill>
          <a:ln/>
        </p:spPr>
      </p:sp>
      <p:sp>
        <p:nvSpPr>
          <p:cNvPr id="33" name="Shape 31"/>
          <p:cNvSpPr/>
          <p:nvPr/>
        </p:nvSpPr>
        <p:spPr>
          <a:xfrm>
            <a:off x="8229394" y="6748272"/>
            <a:ext cx="304792" cy="109728"/>
          </a:xfrm>
          <a:prstGeom prst="rect">
            <a:avLst/>
          </a:prstGeom>
          <a:solidFill>
            <a:srgbClr val="0E5E6F"/>
          </a:solidFill>
          <a:ln/>
        </p:spPr>
      </p:sp>
      <p:sp>
        <p:nvSpPr>
          <p:cNvPr id="34" name="Shape 32"/>
          <p:cNvSpPr/>
          <p:nvPr/>
        </p:nvSpPr>
        <p:spPr>
          <a:xfrm>
            <a:off x="8534187" y="6748272"/>
            <a:ext cx="304792" cy="109728"/>
          </a:xfrm>
          <a:prstGeom prst="rect">
            <a:avLst/>
          </a:prstGeom>
          <a:solidFill>
            <a:srgbClr val="8B1E3F"/>
          </a:solidFill>
          <a:ln/>
        </p:spPr>
      </p:sp>
      <p:sp>
        <p:nvSpPr>
          <p:cNvPr id="35" name="Shape 33"/>
          <p:cNvSpPr/>
          <p:nvPr/>
        </p:nvSpPr>
        <p:spPr>
          <a:xfrm>
            <a:off x="8838979" y="6748272"/>
            <a:ext cx="304792" cy="109728"/>
          </a:xfrm>
          <a:prstGeom prst="rect">
            <a:avLst/>
          </a:prstGeom>
          <a:solidFill>
            <a:srgbClr val="0E5E6F"/>
          </a:solidFill>
          <a:ln/>
        </p:spPr>
      </p:sp>
      <p:sp>
        <p:nvSpPr>
          <p:cNvPr id="36" name="Shape 34"/>
          <p:cNvSpPr/>
          <p:nvPr/>
        </p:nvSpPr>
        <p:spPr>
          <a:xfrm>
            <a:off x="9143771" y="6748272"/>
            <a:ext cx="304792" cy="109728"/>
          </a:xfrm>
          <a:prstGeom prst="rect">
            <a:avLst/>
          </a:prstGeom>
          <a:solidFill>
            <a:srgbClr val="E0A526"/>
          </a:solidFill>
          <a:ln/>
        </p:spPr>
      </p:sp>
      <p:sp>
        <p:nvSpPr>
          <p:cNvPr id="37" name="Shape 35"/>
          <p:cNvSpPr/>
          <p:nvPr/>
        </p:nvSpPr>
        <p:spPr>
          <a:xfrm>
            <a:off x="9448564" y="6748272"/>
            <a:ext cx="304792" cy="109728"/>
          </a:xfrm>
          <a:prstGeom prst="rect">
            <a:avLst/>
          </a:prstGeom>
          <a:solidFill>
            <a:srgbClr val="0E5E6F"/>
          </a:solidFill>
          <a:ln/>
        </p:spPr>
      </p:sp>
      <p:sp>
        <p:nvSpPr>
          <p:cNvPr id="38" name="Shape 36"/>
          <p:cNvSpPr/>
          <p:nvPr/>
        </p:nvSpPr>
        <p:spPr>
          <a:xfrm>
            <a:off x="9753356" y="6748272"/>
            <a:ext cx="304792" cy="109728"/>
          </a:xfrm>
          <a:prstGeom prst="rect">
            <a:avLst/>
          </a:prstGeom>
          <a:solidFill>
            <a:srgbClr val="8B1E3F"/>
          </a:solidFill>
          <a:ln/>
        </p:spPr>
      </p:sp>
      <p:sp>
        <p:nvSpPr>
          <p:cNvPr id="39" name="Shape 37"/>
          <p:cNvSpPr/>
          <p:nvPr/>
        </p:nvSpPr>
        <p:spPr>
          <a:xfrm>
            <a:off x="10058149" y="6748272"/>
            <a:ext cx="304792" cy="109728"/>
          </a:xfrm>
          <a:prstGeom prst="rect">
            <a:avLst/>
          </a:prstGeom>
          <a:solidFill>
            <a:srgbClr val="0E5E6F"/>
          </a:solidFill>
          <a:ln/>
        </p:spPr>
      </p:sp>
      <p:sp>
        <p:nvSpPr>
          <p:cNvPr id="40" name="Shape 38"/>
          <p:cNvSpPr/>
          <p:nvPr/>
        </p:nvSpPr>
        <p:spPr>
          <a:xfrm>
            <a:off x="10362941" y="6748272"/>
            <a:ext cx="304792" cy="109728"/>
          </a:xfrm>
          <a:prstGeom prst="rect">
            <a:avLst/>
          </a:prstGeom>
          <a:solidFill>
            <a:srgbClr val="E0A526"/>
          </a:solidFill>
          <a:ln/>
        </p:spPr>
      </p:sp>
      <p:sp>
        <p:nvSpPr>
          <p:cNvPr id="41" name="Shape 39"/>
          <p:cNvSpPr/>
          <p:nvPr/>
        </p:nvSpPr>
        <p:spPr>
          <a:xfrm>
            <a:off x="10667733" y="6748272"/>
            <a:ext cx="304792" cy="109728"/>
          </a:xfrm>
          <a:prstGeom prst="rect">
            <a:avLst/>
          </a:prstGeom>
          <a:solidFill>
            <a:srgbClr val="0E5E6F"/>
          </a:solidFill>
          <a:ln/>
        </p:spPr>
      </p:sp>
      <p:sp>
        <p:nvSpPr>
          <p:cNvPr id="42" name="Shape 40"/>
          <p:cNvSpPr/>
          <p:nvPr/>
        </p:nvSpPr>
        <p:spPr>
          <a:xfrm>
            <a:off x="10972526" y="6748272"/>
            <a:ext cx="304792" cy="109728"/>
          </a:xfrm>
          <a:prstGeom prst="rect">
            <a:avLst/>
          </a:prstGeom>
          <a:solidFill>
            <a:srgbClr val="8B1E3F"/>
          </a:solidFill>
          <a:ln/>
        </p:spPr>
      </p:sp>
      <p:sp>
        <p:nvSpPr>
          <p:cNvPr id="43" name="Shape 41"/>
          <p:cNvSpPr/>
          <p:nvPr/>
        </p:nvSpPr>
        <p:spPr>
          <a:xfrm>
            <a:off x="11277318" y="6748272"/>
            <a:ext cx="304792" cy="109728"/>
          </a:xfrm>
          <a:prstGeom prst="rect">
            <a:avLst/>
          </a:prstGeom>
          <a:solidFill>
            <a:srgbClr val="0E5E6F"/>
          </a:solidFill>
          <a:ln/>
        </p:spPr>
      </p:sp>
      <p:sp>
        <p:nvSpPr>
          <p:cNvPr id="44" name="Shape 42"/>
          <p:cNvSpPr/>
          <p:nvPr/>
        </p:nvSpPr>
        <p:spPr>
          <a:xfrm>
            <a:off x="11582110" y="6748272"/>
            <a:ext cx="304792" cy="109728"/>
          </a:xfrm>
          <a:prstGeom prst="rect">
            <a:avLst/>
          </a:prstGeom>
          <a:solidFill>
            <a:srgbClr val="E0A526"/>
          </a:solidFill>
          <a:ln/>
        </p:spPr>
      </p:sp>
      <p:sp>
        <p:nvSpPr>
          <p:cNvPr id="45" name="Shape 43"/>
          <p:cNvSpPr/>
          <p:nvPr/>
        </p:nvSpPr>
        <p:spPr>
          <a:xfrm>
            <a:off x="11886903" y="6748272"/>
            <a:ext cx="304792" cy="109728"/>
          </a:xfrm>
          <a:prstGeom prst="rect">
            <a:avLst/>
          </a:prstGeom>
          <a:solidFill>
            <a:srgbClr val="0E5E6F"/>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Record and publish the basis for every removal entered as "untraceable or absent", 1,37,825 names in all, including the visits made and the notice given.</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how removals of electors with no link to the 2002 roll were decided.</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Schedule hearings so that each case can be heard, rather than listing hundreds of cases in one slot.</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the removals in the 30 parts that lost more than 60% of their roll.</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restorations after hearings, part by part, so the final count can be set against these lists.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B1E3F"/>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1832"/>
                </a:solidFill>
                <a:latin typeface="Cambria" pitchFamily="34" charset="0"/>
                <a:ea typeface="Cambria" pitchFamily="34" charset="-122"/>
                <a:cs typeface="Cambria" pitchFamily="34" charset="-120"/>
              </a:rPr>
              <a:t>Where the figures come from and how the rates are defined</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Hyderabad Old City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0" y="6748272"/>
            <a:ext cx="304792" cy="109728"/>
          </a:xfrm>
          <a:prstGeom prst="rect">
            <a:avLst/>
          </a:prstGeom>
          <a:solidFill>
            <a:srgbClr val="8B1E3F"/>
          </a:solidFill>
          <a:ln/>
        </p:spPr>
      </p:sp>
      <p:sp>
        <p:nvSpPr>
          <p:cNvPr id="7" name="Shape 5"/>
          <p:cNvSpPr/>
          <p:nvPr/>
        </p:nvSpPr>
        <p:spPr>
          <a:xfrm>
            <a:off x="304792" y="6748272"/>
            <a:ext cx="304792" cy="109728"/>
          </a:xfrm>
          <a:prstGeom prst="rect">
            <a:avLst/>
          </a:prstGeom>
          <a:solidFill>
            <a:srgbClr val="0E5E6F"/>
          </a:solidFill>
          <a:ln/>
        </p:spPr>
      </p:sp>
      <p:sp>
        <p:nvSpPr>
          <p:cNvPr id="8" name="Shape 6"/>
          <p:cNvSpPr/>
          <p:nvPr/>
        </p:nvSpPr>
        <p:spPr>
          <a:xfrm>
            <a:off x="609585" y="6748272"/>
            <a:ext cx="304792" cy="109728"/>
          </a:xfrm>
          <a:prstGeom prst="rect">
            <a:avLst/>
          </a:prstGeom>
          <a:solidFill>
            <a:srgbClr val="E0A526"/>
          </a:solidFill>
          <a:ln/>
        </p:spPr>
      </p:sp>
      <p:sp>
        <p:nvSpPr>
          <p:cNvPr id="9" name="Shape 7"/>
          <p:cNvSpPr/>
          <p:nvPr/>
        </p:nvSpPr>
        <p:spPr>
          <a:xfrm>
            <a:off x="914377" y="6748272"/>
            <a:ext cx="304792" cy="109728"/>
          </a:xfrm>
          <a:prstGeom prst="rect">
            <a:avLst/>
          </a:prstGeom>
          <a:solidFill>
            <a:srgbClr val="0E5E6F"/>
          </a:solidFill>
          <a:ln/>
        </p:spPr>
      </p:sp>
      <p:sp>
        <p:nvSpPr>
          <p:cNvPr id="10" name="Shape 8"/>
          <p:cNvSpPr/>
          <p:nvPr/>
        </p:nvSpPr>
        <p:spPr>
          <a:xfrm>
            <a:off x="1219170" y="6748272"/>
            <a:ext cx="304792" cy="109728"/>
          </a:xfrm>
          <a:prstGeom prst="rect">
            <a:avLst/>
          </a:prstGeom>
          <a:solidFill>
            <a:srgbClr val="8B1E3F"/>
          </a:solidFill>
          <a:ln/>
        </p:spPr>
      </p:sp>
      <p:sp>
        <p:nvSpPr>
          <p:cNvPr id="11" name="Shape 9"/>
          <p:cNvSpPr/>
          <p:nvPr/>
        </p:nvSpPr>
        <p:spPr>
          <a:xfrm>
            <a:off x="1523962" y="6748272"/>
            <a:ext cx="304792" cy="109728"/>
          </a:xfrm>
          <a:prstGeom prst="rect">
            <a:avLst/>
          </a:prstGeom>
          <a:solidFill>
            <a:srgbClr val="0E5E6F"/>
          </a:solidFill>
          <a:ln/>
        </p:spPr>
      </p:sp>
      <p:sp>
        <p:nvSpPr>
          <p:cNvPr id="12" name="Shape 10"/>
          <p:cNvSpPr/>
          <p:nvPr/>
        </p:nvSpPr>
        <p:spPr>
          <a:xfrm>
            <a:off x="1828754" y="6748272"/>
            <a:ext cx="304792" cy="109728"/>
          </a:xfrm>
          <a:prstGeom prst="rect">
            <a:avLst/>
          </a:prstGeom>
          <a:solidFill>
            <a:srgbClr val="E0A526"/>
          </a:solidFill>
          <a:ln/>
        </p:spPr>
      </p:sp>
      <p:sp>
        <p:nvSpPr>
          <p:cNvPr id="13" name="Shape 11"/>
          <p:cNvSpPr/>
          <p:nvPr/>
        </p:nvSpPr>
        <p:spPr>
          <a:xfrm>
            <a:off x="2133547" y="6748272"/>
            <a:ext cx="304792" cy="109728"/>
          </a:xfrm>
          <a:prstGeom prst="rect">
            <a:avLst/>
          </a:prstGeom>
          <a:solidFill>
            <a:srgbClr val="0E5E6F"/>
          </a:solidFill>
          <a:ln/>
        </p:spPr>
      </p:sp>
      <p:sp>
        <p:nvSpPr>
          <p:cNvPr id="14" name="Shape 12"/>
          <p:cNvSpPr/>
          <p:nvPr/>
        </p:nvSpPr>
        <p:spPr>
          <a:xfrm>
            <a:off x="2438339" y="6748272"/>
            <a:ext cx="304792" cy="109728"/>
          </a:xfrm>
          <a:prstGeom prst="rect">
            <a:avLst/>
          </a:prstGeom>
          <a:solidFill>
            <a:srgbClr val="8B1E3F"/>
          </a:solidFill>
          <a:ln/>
        </p:spPr>
      </p:sp>
      <p:sp>
        <p:nvSpPr>
          <p:cNvPr id="15" name="Shape 13"/>
          <p:cNvSpPr/>
          <p:nvPr/>
        </p:nvSpPr>
        <p:spPr>
          <a:xfrm>
            <a:off x="2743131" y="6748272"/>
            <a:ext cx="304792" cy="109728"/>
          </a:xfrm>
          <a:prstGeom prst="rect">
            <a:avLst/>
          </a:prstGeom>
          <a:solidFill>
            <a:srgbClr val="0E5E6F"/>
          </a:solidFill>
          <a:ln/>
        </p:spPr>
      </p:sp>
      <p:sp>
        <p:nvSpPr>
          <p:cNvPr id="16" name="Shape 14"/>
          <p:cNvSpPr/>
          <p:nvPr/>
        </p:nvSpPr>
        <p:spPr>
          <a:xfrm>
            <a:off x="3047924" y="6748272"/>
            <a:ext cx="304792" cy="109728"/>
          </a:xfrm>
          <a:prstGeom prst="rect">
            <a:avLst/>
          </a:prstGeom>
          <a:solidFill>
            <a:srgbClr val="E0A526"/>
          </a:solidFill>
          <a:ln/>
        </p:spPr>
      </p:sp>
      <p:sp>
        <p:nvSpPr>
          <p:cNvPr id="17" name="Shape 15"/>
          <p:cNvSpPr/>
          <p:nvPr/>
        </p:nvSpPr>
        <p:spPr>
          <a:xfrm>
            <a:off x="3352716" y="6748272"/>
            <a:ext cx="304792" cy="109728"/>
          </a:xfrm>
          <a:prstGeom prst="rect">
            <a:avLst/>
          </a:prstGeom>
          <a:solidFill>
            <a:srgbClr val="0E5E6F"/>
          </a:solidFill>
          <a:ln/>
        </p:spPr>
      </p:sp>
      <p:sp>
        <p:nvSpPr>
          <p:cNvPr id="18" name="Shape 16"/>
          <p:cNvSpPr/>
          <p:nvPr/>
        </p:nvSpPr>
        <p:spPr>
          <a:xfrm>
            <a:off x="3657509" y="6748272"/>
            <a:ext cx="304792" cy="109728"/>
          </a:xfrm>
          <a:prstGeom prst="rect">
            <a:avLst/>
          </a:prstGeom>
          <a:solidFill>
            <a:srgbClr val="8B1E3F"/>
          </a:solidFill>
          <a:ln/>
        </p:spPr>
      </p:sp>
      <p:sp>
        <p:nvSpPr>
          <p:cNvPr id="19" name="Shape 17"/>
          <p:cNvSpPr/>
          <p:nvPr/>
        </p:nvSpPr>
        <p:spPr>
          <a:xfrm>
            <a:off x="3962301" y="6748272"/>
            <a:ext cx="304792" cy="109728"/>
          </a:xfrm>
          <a:prstGeom prst="rect">
            <a:avLst/>
          </a:prstGeom>
          <a:solidFill>
            <a:srgbClr val="0E5E6F"/>
          </a:solidFill>
          <a:ln/>
        </p:spPr>
      </p:sp>
      <p:sp>
        <p:nvSpPr>
          <p:cNvPr id="20" name="Shape 18"/>
          <p:cNvSpPr/>
          <p:nvPr/>
        </p:nvSpPr>
        <p:spPr>
          <a:xfrm>
            <a:off x="4267093" y="6748272"/>
            <a:ext cx="304792" cy="109728"/>
          </a:xfrm>
          <a:prstGeom prst="rect">
            <a:avLst/>
          </a:prstGeom>
          <a:solidFill>
            <a:srgbClr val="E0A526"/>
          </a:solidFill>
          <a:ln/>
        </p:spPr>
      </p:sp>
      <p:sp>
        <p:nvSpPr>
          <p:cNvPr id="21" name="Shape 19"/>
          <p:cNvSpPr/>
          <p:nvPr/>
        </p:nvSpPr>
        <p:spPr>
          <a:xfrm>
            <a:off x="4571886" y="6748272"/>
            <a:ext cx="304792" cy="109728"/>
          </a:xfrm>
          <a:prstGeom prst="rect">
            <a:avLst/>
          </a:prstGeom>
          <a:solidFill>
            <a:srgbClr val="0E5E6F"/>
          </a:solidFill>
          <a:ln/>
        </p:spPr>
      </p:sp>
      <p:sp>
        <p:nvSpPr>
          <p:cNvPr id="22" name="Shape 20"/>
          <p:cNvSpPr/>
          <p:nvPr/>
        </p:nvSpPr>
        <p:spPr>
          <a:xfrm>
            <a:off x="4876678" y="6748272"/>
            <a:ext cx="304792" cy="109728"/>
          </a:xfrm>
          <a:prstGeom prst="rect">
            <a:avLst/>
          </a:prstGeom>
          <a:solidFill>
            <a:srgbClr val="8B1E3F"/>
          </a:solidFill>
          <a:ln/>
        </p:spPr>
      </p:sp>
      <p:sp>
        <p:nvSpPr>
          <p:cNvPr id="23" name="Shape 21"/>
          <p:cNvSpPr/>
          <p:nvPr/>
        </p:nvSpPr>
        <p:spPr>
          <a:xfrm>
            <a:off x="5181470" y="6748272"/>
            <a:ext cx="304792" cy="109728"/>
          </a:xfrm>
          <a:prstGeom prst="rect">
            <a:avLst/>
          </a:prstGeom>
          <a:solidFill>
            <a:srgbClr val="0E5E6F"/>
          </a:solidFill>
          <a:ln/>
        </p:spPr>
      </p:sp>
      <p:sp>
        <p:nvSpPr>
          <p:cNvPr id="24" name="Shape 22"/>
          <p:cNvSpPr/>
          <p:nvPr/>
        </p:nvSpPr>
        <p:spPr>
          <a:xfrm>
            <a:off x="5486263" y="6748272"/>
            <a:ext cx="304792" cy="109728"/>
          </a:xfrm>
          <a:prstGeom prst="rect">
            <a:avLst/>
          </a:prstGeom>
          <a:solidFill>
            <a:srgbClr val="E0A526"/>
          </a:solidFill>
          <a:ln/>
        </p:spPr>
      </p:sp>
      <p:sp>
        <p:nvSpPr>
          <p:cNvPr id="25" name="Shape 23"/>
          <p:cNvSpPr/>
          <p:nvPr/>
        </p:nvSpPr>
        <p:spPr>
          <a:xfrm>
            <a:off x="5791055" y="6748272"/>
            <a:ext cx="304792" cy="109728"/>
          </a:xfrm>
          <a:prstGeom prst="rect">
            <a:avLst/>
          </a:prstGeom>
          <a:solidFill>
            <a:srgbClr val="0E5E6F"/>
          </a:solidFill>
          <a:ln/>
        </p:spPr>
      </p:sp>
      <p:sp>
        <p:nvSpPr>
          <p:cNvPr id="26" name="Shape 24"/>
          <p:cNvSpPr/>
          <p:nvPr/>
        </p:nvSpPr>
        <p:spPr>
          <a:xfrm>
            <a:off x="6095848" y="6748272"/>
            <a:ext cx="304792" cy="109728"/>
          </a:xfrm>
          <a:prstGeom prst="rect">
            <a:avLst/>
          </a:prstGeom>
          <a:solidFill>
            <a:srgbClr val="8B1E3F"/>
          </a:solidFill>
          <a:ln/>
        </p:spPr>
      </p:sp>
      <p:sp>
        <p:nvSpPr>
          <p:cNvPr id="27" name="Shape 25"/>
          <p:cNvSpPr/>
          <p:nvPr/>
        </p:nvSpPr>
        <p:spPr>
          <a:xfrm>
            <a:off x="6400640" y="6748272"/>
            <a:ext cx="304792" cy="109728"/>
          </a:xfrm>
          <a:prstGeom prst="rect">
            <a:avLst/>
          </a:prstGeom>
          <a:solidFill>
            <a:srgbClr val="0E5E6F"/>
          </a:solidFill>
          <a:ln/>
        </p:spPr>
      </p:sp>
      <p:sp>
        <p:nvSpPr>
          <p:cNvPr id="28" name="Shape 26"/>
          <p:cNvSpPr/>
          <p:nvPr/>
        </p:nvSpPr>
        <p:spPr>
          <a:xfrm>
            <a:off x="6705432" y="6748272"/>
            <a:ext cx="304792" cy="109728"/>
          </a:xfrm>
          <a:prstGeom prst="rect">
            <a:avLst/>
          </a:prstGeom>
          <a:solidFill>
            <a:srgbClr val="E0A526"/>
          </a:solidFill>
          <a:ln/>
        </p:spPr>
      </p:sp>
      <p:sp>
        <p:nvSpPr>
          <p:cNvPr id="29" name="Shape 27"/>
          <p:cNvSpPr/>
          <p:nvPr/>
        </p:nvSpPr>
        <p:spPr>
          <a:xfrm>
            <a:off x="7010225" y="6748272"/>
            <a:ext cx="304792" cy="109728"/>
          </a:xfrm>
          <a:prstGeom prst="rect">
            <a:avLst/>
          </a:prstGeom>
          <a:solidFill>
            <a:srgbClr val="0E5E6F"/>
          </a:solidFill>
          <a:ln/>
        </p:spPr>
      </p:sp>
      <p:sp>
        <p:nvSpPr>
          <p:cNvPr id="30" name="Shape 28"/>
          <p:cNvSpPr/>
          <p:nvPr/>
        </p:nvSpPr>
        <p:spPr>
          <a:xfrm>
            <a:off x="7315017" y="6748272"/>
            <a:ext cx="304792" cy="109728"/>
          </a:xfrm>
          <a:prstGeom prst="rect">
            <a:avLst/>
          </a:prstGeom>
          <a:solidFill>
            <a:srgbClr val="8B1E3F"/>
          </a:solidFill>
          <a:ln/>
        </p:spPr>
      </p:sp>
      <p:sp>
        <p:nvSpPr>
          <p:cNvPr id="31" name="Shape 29"/>
          <p:cNvSpPr/>
          <p:nvPr/>
        </p:nvSpPr>
        <p:spPr>
          <a:xfrm>
            <a:off x="7619809" y="6748272"/>
            <a:ext cx="304792" cy="109728"/>
          </a:xfrm>
          <a:prstGeom prst="rect">
            <a:avLst/>
          </a:prstGeom>
          <a:solidFill>
            <a:srgbClr val="0E5E6F"/>
          </a:solidFill>
          <a:ln/>
        </p:spPr>
      </p:sp>
      <p:sp>
        <p:nvSpPr>
          <p:cNvPr id="32" name="Shape 30"/>
          <p:cNvSpPr/>
          <p:nvPr/>
        </p:nvSpPr>
        <p:spPr>
          <a:xfrm>
            <a:off x="7924602" y="6748272"/>
            <a:ext cx="304792" cy="109728"/>
          </a:xfrm>
          <a:prstGeom prst="rect">
            <a:avLst/>
          </a:prstGeom>
          <a:solidFill>
            <a:srgbClr val="E0A526"/>
          </a:solidFill>
          <a:ln/>
        </p:spPr>
      </p:sp>
      <p:sp>
        <p:nvSpPr>
          <p:cNvPr id="33" name="Shape 31"/>
          <p:cNvSpPr/>
          <p:nvPr/>
        </p:nvSpPr>
        <p:spPr>
          <a:xfrm>
            <a:off x="8229394" y="6748272"/>
            <a:ext cx="304792" cy="109728"/>
          </a:xfrm>
          <a:prstGeom prst="rect">
            <a:avLst/>
          </a:prstGeom>
          <a:solidFill>
            <a:srgbClr val="0E5E6F"/>
          </a:solidFill>
          <a:ln/>
        </p:spPr>
      </p:sp>
      <p:sp>
        <p:nvSpPr>
          <p:cNvPr id="34" name="Shape 32"/>
          <p:cNvSpPr/>
          <p:nvPr/>
        </p:nvSpPr>
        <p:spPr>
          <a:xfrm>
            <a:off x="8534187" y="6748272"/>
            <a:ext cx="304792" cy="109728"/>
          </a:xfrm>
          <a:prstGeom prst="rect">
            <a:avLst/>
          </a:prstGeom>
          <a:solidFill>
            <a:srgbClr val="8B1E3F"/>
          </a:solidFill>
          <a:ln/>
        </p:spPr>
      </p:sp>
      <p:sp>
        <p:nvSpPr>
          <p:cNvPr id="35" name="Shape 33"/>
          <p:cNvSpPr/>
          <p:nvPr/>
        </p:nvSpPr>
        <p:spPr>
          <a:xfrm>
            <a:off x="8838979" y="6748272"/>
            <a:ext cx="304792" cy="109728"/>
          </a:xfrm>
          <a:prstGeom prst="rect">
            <a:avLst/>
          </a:prstGeom>
          <a:solidFill>
            <a:srgbClr val="0E5E6F"/>
          </a:solidFill>
          <a:ln/>
        </p:spPr>
      </p:sp>
      <p:sp>
        <p:nvSpPr>
          <p:cNvPr id="36" name="Shape 34"/>
          <p:cNvSpPr/>
          <p:nvPr/>
        </p:nvSpPr>
        <p:spPr>
          <a:xfrm>
            <a:off x="9143771" y="6748272"/>
            <a:ext cx="304792" cy="109728"/>
          </a:xfrm>
          <a:prstGeom prst="rect">
            <a:avLst/>
          </a:prstGeom>
          <a:solidFill>
            <a:srgbClr val="E0A526"/>
          </a:solidFill>
          <a:ln/>
        </p:spPr>
      </p:sp>
      <p:sp>
        <p:nvSpPr>
          <p:cNvPr id="37" name="Shape 35"/>
          <p:cNvSpPr/>
          <p:nvPr/>
        </p:nvSpPr>
        <p:spPr>
          <a:xfrm>
            <a:off x="9448564" y="6748272"/>
            <a:ext cx="304792" cy="109728"/>
          </a:xfrm>
          <a:prstGeom prst="rect">
            <a:avLst/>
          </a:prstGeom>
          <a:solidFill>
            <a:srgbClr val="0E5E6F"/>
          </a:solidFill>
          <a:ln/>
        </p:spPr>
      </p:sp>
      <p:sp>
        <p:nvSpPr>
          <p:cNvPr id="38" name="Shape 36"/>
          <p:cNvSpPr/>
          <p:nvPr/>
        </p:nvSpPr>
        <p:spPr>
          <a:xfrm>
            <a:off x="9753356" y="6748272"/>
            <a:ext cx="304792" cy="109728"/>
          </a:xfrm>
          <a:prstGeom prst="rect">
            <a:avLst/>
          </a:prstGeom>
          <a:solidFill>
            <a:srgbClr val="8B1E3F"/>
          </a:solidFill>
          <a:ln/>
        </p:spPr>
      </p:sp>
      <p:sp>
        <p:nvSpPr>
          <p:cNvPr id="39" name="Shape 37"/>
          <p:cNvSpPr/>
          <p:nvPr/>
        </p:nvSpPr>
        <p:spPr>
          <a:xfrm>
            <a:off x="10058149" y="6748272"/>
            <a:ext cx="304792" cy="109728"/>
          </a:xfrm>
          <a:prstGeom prst="rect">
            <a:avLst/>
          </a:prstGeom>
          <a:solidFill>
            <a:srgbClr val="0E5E6F"/>
          </a:solidFill>
          <a:ln/>
        </p:spPr>
      </p:sp>
      <p:sp>
        <p:nvSpPr>
          <p:cNvPr id="40" name="Shape 38"/>
          <p:cNvSpPr/>
          <p:nvPr/>
        </p:nvSpPr>
        <p:spPr>
          <a:xfrm>
            <a:off x="10362941" y="6748272"/>
            <a:ext cx="304792" cy="109728"/>
          </a:xfrm>
          <a:prstGeom prst="rect">
            <a:avLst/>
          </a:prstGeom>
          <a:solidFill>
            <a:srgbClr val="E0A526"/>
          </a:solidFill>
          <a:ln/>
        </p:spPr>
      </p:sp>
      <p:sp>
        <p:nvSpPr>
          <p:cNvPr id="41" name="Shape 39"/>
          <p:cNvSpPr/>
          <p:nvPr/>
        </p:nvSpPr>
        <p:spPr>
          <a:xfrm>
            <a:off x="10667733" y="6748272"/>
            <a:ext cx="304792" cy="109728"/>
          </a:xfrm>
          <a:prstGeom prst="rect">
            <a:avLst/>
          </a:prstGeom>
          <a:solidFill>
            <a:srgbClr val="0E5E6F"/>
          </a:solidFill>
          <a:ln/>
        </p:spPr>
      </p:sp>
      <p:sp>
        <p:nvSpPr>
          <p:cNvPr id="42" name="Shape 40"/>
          <p:cNvSpPr/>
          <p:nvPr/>
        </p:nvSpPr>
        <p:spPr>
          <a:xfrm>
            <a:off x="10972526" y="6748272"/>
            <a:ext cx="304792" cy="109728"/>
          </a:xfrm>
          <a:prstGeom prst="rect">
            <a:avLst/>
          </a:prstGeom>
          <a:solidFill>
            <a:srgbClr val="8B1E3F"/>
          </a:solidFill>
          <a:ln/>
        </p:spPr>
      </p:sp>
      <p:sp>
        <p:nvSpPr>
          <p:cNvPr id="43" name="Shape 41"/>
          <p:cNvSpPr/>
          <p:nvPr/>
        </p:nvSpPr>
        <p:spPr>
          <a:xfrm>
            <a:off x="11277318" y="6748272"/>
            <a:ext cx="304792" cy="109728"/>
          </a:xfrm>
          <a:prstGeom prst="rect">
            <a:avLst/>
          </a:prstGeom>
          <a:solidFill>
            <a:srgbClr val="0E5E6F"/>
          </a:solidFill>
          <a:ln/>
        </p:spPr>
      </p:sp>
      <p:sp>
        <p:nvSpPr>
          <p:cNvPr id="44" name="Shape 42"/>
          <p:cNvSpPr/>
          <p:nvPr/>
        </p:nvSpPr>
        <p:spPr>
          <a:xfrm>
            <a:off x="11582110" y="6748272"/>
            <a:ext cx="304792" cy="109728"/>
          </a:xfrm>
          <a:prstGeom prst="rect">
            <a:avLst/>
          </a:prstGeom>
          <a:solidFill>
            <a:srgbClr val="E0A526"/>
          </a:solidFill>
          <a:ln/>
        </p:spPr>
      </p:sp>
      <p:sp>
        <p:nvSpPr>
          <p:cNvPr id="45" name="Shape 43"/>
          <p:cNvSpPr/>
          <p:nvPr/>
        </p:nvSpPr>
        <p:spPr>
          <a:xfrm>
            <a:off x="11886903" y="6748272"/>
            <a:ext cx="304792" cy="109728"/>
          </a:xfrm>
          <a:prstGeom prst="rect">
            <a:avLst/>
          </a:prstGeom>
          <a:solidFill>
            <a:srgbClr val="0E5E6F"/>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source is the September 2026 SIR lists for the five constituencies, compiled for these five seats only. They record the outcome for every elector on the roll before the revision, whether struck off (with the officer's reason), kept but summoned to a hearing (with the rule), or kept.</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removal rate is the electors on the absent-shifted-dead list divided by the electors on the roll before the revision, for each group.</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within-part difference is one group's rate minus another's inside each polling part, pooled and weighted by the smaller group in each part. Parts with fewer than 20 of either group are left out. This holds the neighbourhood and the officer constant.</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Part correlations are Spearman rank correlations, which compare orderings only, across parts with at least 100 electors within each constituency.</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2023 results are the declared Assembly results. Only counts are published, never a name, EPIC number or address.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6E1832"/>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F2D9B8"/>
                </a:solidFill>
                <a:latin typeface="Calibri" pitchFamily="34" charset="0"/>
                <a:ea typeface="Calibri" pitchFamily="34" charset="-122"/>
                <a:cs typeface="Calibri" pitchFamily="34" charset="-120"/>
              </a:rPr>
              <a:t>The dashboard, the part explorer for every polling part, and the full report with a chapter for each constituency, are published online alongside this deck.</a:t>
            </a:r>
            <a:endParaRPr lang="en-US" sz="1700" dirty="0"/>
          </a:p>
          <a:p>
            <a:pPr indent="0" marL="0">
              <a:spcAft>
                <a:spcPts val="1000"/>
              </a:spcAft>
              <a:buNone/>
            </a:pPr>
            <a:r>
              <a:rPr lang="en-US" sz="1700" dirty="0">
                <a:solidFill>
                  <a:srgbClr val="F2D9B8"/>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8B1E3F"/>
          </a:solidFill>
          <a:ln/>
        </p:spPr>
      </p:sp>
      <p:sp>
        <p:nvSpPr>
          <p:cNvPr id="5" name="Shape 3"/>
          <p:cNvSpPr/>
          <p:nvPr/>
        </p:nvSpPr>
        <p:spPr>
          <a:xfrm>
            <a:off x="304792" y="6748272"/>
            <a:ext cx="304792" cy="109728"/>
          </a:xfrm>
          <a:prstGeom prst="rect">
            <a:avLst/>
          </a:prstGeom>
          <a:solidFill>
            <a:srgbClr val="0E5E6F"/>
          </a:solidFill>
          <a:ln/>
        </p:spPr>
      </p:sp>
      <p:sp>
        <p:nvSpPr>
          <p:cNvPr id="6" name="Shape 4"/>
          <p:cNvSpPr/>
          <p:nvPr/>
        </p:nvSpPr>
        <p:spPr>
          <a:xfrm>
            <a:off x="609585" y="6748272"/>
            <a:ext cx="304792" cy="109728"/>
          </a:xfrm>
          <a:prstGeom prst="rect">
            <a:avLst/>
          </a:prstGeom>
          <a:solidFill>
            <a:srgbClr val="E0A526"/>
          </a:solidFill>
          <a:ln/>
        </p:spPr>
      </p:sp>
      <p:sp>
        <p:nvSpPr>
          <p:cNvPr id="7" name="Shape 5"/>
          <p:cNvSpPr/>
          <p:nvPr/>
        </p:nvSpPr>
        <p:spPr>
          <a:xfrm>
            <a:off x="914377" y="6748272"/>
            <a:ext cx="304792" cy="109728"/>
          </a:xfrm>
          <a:prstGeom prst="rect">
            <a:avLst/>
          </a:prstGeom>
          <a:solidFill>
            <a:srgbClr val="0E5E6F"/>
          </a:solidFill>
          <a:ln/>
        </p:spPr>
      </p:sp>
      <p:sp>
        <p:nvSpPr>
          <p:cNvPr id="8" name="Shape 6"/>
          <p:cNvSpPr/>
          <p:nvPr/>
        </p:nvSpPr>
        <p:spPr>
          <a:xfrm>
            <a:off x="1219170" y="6748272"/>
            <a:ext cx="304792" cy="109728"/>
          </a:xfrm>
          <a:prstGeom prst="rect">
            <a:avLst/>
          </a:prstGeom>
          <a:solidFill>
            <a:srgbClr val="8B1E3F"/>
          </a:solidFill>
          <a:ln/>
        </p:spPr>
      </p:sp>
      <p:sp>
        <p:nvSpPr>
          <p:cNvPr id="9" name="Shape 7"/>
          <p:cNvSpPr/>
          <p:nvPr/>
        </p:nvSpPr>
        <p:spPr>
          <a:xfrm>
            <a:off x="1523962" y="6748272"/>
            <a:ext cx="304792" cy="109728"/>
          </a:xfrm>
          <a:prstGeom prst="rect">
            <a:avLst/>
          </a:prstGeom>
          <a:solidFill>
            <a:srgbClr val="0E5E6F"/>
          </a:solidFill>
          <a:ln/>
        </p:spPr>
      </p:sp>
      <p:sp>
        <p:nvSpPr>
          <p:cNvPr id="10" name="Shape 8"/>
          <p:cNvSpPr/>
          <p:nvPr/>
        </p:nvSpPr>
        <p:spPr>
          <a:xfrm>
            <a:off x="1828754" y="6748272"/>
            <a:ext cx="304792" cy="109728"/>
          </a:xfrm>
          <a:prstGeom prst="rect">
            <a:avLst/>
          </a:prstGeom>
          <a:solidFill>
            <a:srgbClr val="E0A526"/>
          </a:solidFill>
          <a:ln/>
        </p:spPr>
      </p:sp>
      <p:sp>
        <p:nvSpPr>
          <p:cNvPr id="11" name="Shape 9"/>
          <p:cNvSpPr/>
          <p:nvPr/>
        </p:nvSpPr>
        <p:spPr>
          <a:xfrm>
            <a:off x="2133547" y="6748272"/>
            <a:ext cx="304792" cy="109728"/>
          </a:xfrm>
          <a:prstGeom prst="rect">
            <a:avLst/>
          </a:prstGeom>
          <a:solidFill>
            <a:srgbClr val="0E5E6F"/>
          </a:solidFill>
          <a:ln/>
        </p:spPr>
      </p:sp>
      <p:sp>
        <p:nvSpPr>
          <p:cNvPr id="12" name="Shape 10"/>
          <p:cNvSpPr/>
          <p:nvPr/>
        </p:nvSpPr>
        <p:spPr>
          <a:xfrm>
            <a:off x="2438339" y="6748272"/>
            <a:ext cx="304792" cy="109728"/>
          </a:xfrm>
          <a:prstGeom prst="rect">
            <a:avLst/>
          </a:prstGeom>
          <a:solidFill>
            <a:srgbClr val="8B1E3F"/>
          </a:solidFill>
          <a:ln/>
        </p:spPr>
      </p:sp>
      <p:sp>
        <p:nvSpPr>
          <p:cNvPr id="13" name="Shape 11"/>
          <p:cNvSpPr/>
          <p:nvPr/>
        </p:nvSpPr>
        <p:spPr>
          <a:xfrm>
            <a:off x="2743131" y="6748272"/>
            <a:ext cx="304792" cy="109728"/>
          </a:xfrm>
          <a:prstGeom prst="rect">
            <a:avLst/>
          </a:prstGeom>
          <a:solidFill>
            <a:srgbClr val="0E5E6F"/>
          </a:solidFill>
          <a:ln/>
        </p:spPr>
      </p:sp>
      <p:sp>
        <p:nvSpPr>
          <p:cNvPr id="14" name="Shape 12"/>
          <p:cNvSpPr/>
          <p:nvPr/>
        </p:nvSpPr>
        <p:spPr>
          <a:xfrm>
            <a:off x="3047924" y="6748272"/>
            <a:ext cx="304792" cy="109728"/>
          </a:xfrm>
          <a:prstGeom prst="rect">
            <a:avLst/>
          </a:prstGeom>
          <a:solidFill>
            <a:srgbClr val="E0A526"/>
          </a:solidFill>
          <a:ln/>
        </p:spPr>
      </p:sp>
      <p:sp>
        <p:nvSpPr>
          <p:cNvPr id="15" name="Shape 13"/>
          <p:cNvSpPr/>
          <p:nvPr/>
        </p:nvSpPr>
        <p:spPr>
          <a:xfrm>
            <a:off x="3352716" y="6748272"/>
            <a:ext cx="304792" cy="109728"/>
          </a:xfrm>
          <a:prstGeom prst="rect">
            <a:avLst/>
          </a:prstGeom>
          <a:solidFill>
            <a:srgbClr val="0E5E6F"/>
          </a:solidFill>
          <a:ln/>
        </p:spPr>
      </p:sp>
      <p:sp>
        <p:nvSpPr>
          <p:cNvPr id="16" name="Shape 14"/>
          <p:cNvSpPr/>
          <p:nvPr/>
        </p:nvSpPr>
        <p:spPr>
          <a:xfrm>
            <a:off x="3657509" y="6748272"/>
            <a:ext cx="304792" cy="109728"/>
          </a:xfrm>
          <a:prstGeom prst="rect">
            <a:avLst/>
          </a:prstGeom>
          <a:solidFill>
            <a:srgbClr val="8B1E3F"/>
          </a:solidFill>
          <a:ln/>
        </p:spPr>
      </p:sp>
      <p:sp>
        <p:nvSpPr>
          <p:cNvPr id="17" name="Shape 15"/>
          <p:cNvSpPr/>
          <p:nvPr/>
        </p:nvSpPr>
        <p:spPr>
          <a:xfrm>
            <a:off x="3962301" y="6748272"/>
            <a:ext cx="304792" cy="109728"/>
          </a:xfrm>
          <a:prstGeom prst="rect">
            <a:avLst/>
          </a:prstGeom>
          <a:solidFill>
            <a:srgbClr val="0E5E6F"/>
          </a:solidFill>
          <a:ln/>
        </p:spPr>
      </p:sp>
      <p:sp>
        <p:nvSpPr>
          <p:cNvPr id="18" name="Shape 16"/>
          <p:cNvSpPr/>
          <p:nvPr/>
        </p:nvSpPr>
        <p:spPr>
          <a:xfrm>
            <a:off x="4267093" y="6748272"/>
            <a:ext cx="304792" cy="109728"/>
          </a:xfrm>
          <a:prstGeom prst="rect">
            <a:avLst/>
          </a:prstGeom>
          <a:solidFill>
            <a:srgbClr val="E0A526"/>
          </a:solidFill>
          <a:ln/>
        </p:spPr>
      </p:sp>
      <p:sp>
        <p:nvSpPr>
          <p:cNvPr id="19" name="Shape 17"/>
          <p:cNvSpPr/>
          <p:nvPr/>
        </p:nvSpPr>
        <p:spPr>
          <a:xfrm>
            <a:off x="4571886" y="6748272"/>
            <a:ext cx="304792" cy="109728"/>
          </a:xfrm>
          <a:prstGeom prst="rect">
            <a:avLst/>
          </a:prstGeom>
          <a:solidFill>
            <a:srgbClr val="0E5E6F"/>
          </a:solidFill>
          <a:ln/>
        </p:spPr>
      </p:sp>
      <p:sp>
        <p:nvSpPr>
          <p:cNvPr id="20" name="Shape 18"/>
          <p:cNvSpPr/>
          <p:nvPr/>
        </p:nvSpPr>
        <p:spPr>
          <a:xfrm>
            <a:off x="4876678" y="6748272"/>
            <a:ext cx="304792" cy="109728"/>
          </a:xfrm>
          <a:prstGeom prst="rect">
            <a:avLst/>
          </a:prstGeom>
          <a:solidFill>
            <a:srgbClr val="8B1E3F"/>
          </a:solidFill>
          <a:ln/>
        </p:spPr>
      </p:sp>
      <p:sp>
        <p:nvSpPr>
          <p:cNvPr id="21" name="Shape 19"/>
          <p:cNvSpPr/>
          <p:nvPr/>
        </p:nvSpPr>
        <p:spPr>
          <a:xfrm>
            <a:off x="5181470" y="6748272"/>
            <a:ext cx="304792" cy="109728"/>
          </a:xfrm>
          <a:prstGeom prst="rect">
            <a:avLst/>
          </a:prstGeom>
          <a:solidFill>
            <a:srgbClr val="0E5E6F"/>
          </a:solidFill>
          <a:ln/>
        </p:spPr>
      </p:sp>
      <p:sp>
        <p:nvSpPr>
          <p:cNvPr id="22" name="Shape 20"/>
          <p:cNvSpPr/>
          <p:nvPr/>
        </p:nvSpPr>
        <p:spPr>
          <a:xfrm>
            <a:off x="5486263" y="6748272"/>
            <a:ext cx="304792" cy="109728"/>
          </a:xfrm>
          <a:prstGeom prst="rect">
            <a:avLst/>
          </a:prstGeom>
          <a:solidFill>
            <a:srgbClr val="E0A526"/>
          </a:solidFill>
          <a:ln/>
        </p:spPr>
      </p:sp>
      <p:sp>
        <p:nvSpPr>
          <p:cNvPr id="23" name="Shape 21"/>
          <p:cNvSpPr/>
          <p:nvPr/>
        </p:nvSpPr>
        <p:spPr>
          <a:xfrm>
            <a:off x="5791055" y="6748272"/>
            <a:ext cx="304792" cy="109728"/>
          </a:xfrm>
          <a:prstGeom prst="rect">
            <a:avLst/>
          </a:prstGeom>
          <a:solidFill>
            <a:srgbClr val="0E5E6F"/>
          </a:solidFill>
          <a:ln/>
        </p:spPr>
      </p:sp>
      <p:sp>
        <p:nvSpPr>
          <p:cNvPr id="24" name="Shape 22"/>
          <p:cNvSpPr/>
          <p:nvPr/>
        </p:nvSpPr>
        <p:spPr>
          <a:xfrm>
            <a:off x="6095848" y="6748272"/>
            <a:ext cx="304792" cy="109728"/>
          </a:xfrm>
          <a:prstGeom prst="rect">
            <a:avLst/>
          </a:prstGeom>
          <a:solidFill>
            <a:srgbClr val="8B1E3F"/>
          </a:solidFill>
          <a:ln/>
        </p:spPr>
      </p:sp>
      <p:sp>
        <p:nvSpPr>
          <p:cNvPr id="25" name="Shape 23"/>
          <p:cNvSpPr/>
          <p:nvPr/>
        </p:nvSpPr>
        <p:spPr>
          <a:xfrm>
            <a:off x="6400640" y="6748272"/>
            <a:ext cx="304792" cy="109728"/>
          </a:xfrm>
          <a:prstGeom prst="rect">
            <a:avLst/>
          </a:prstGeom>
          <a:solidFill>
            <a:srgbClr val="0E5E6F"/>
          </a:solidFill>
          <a:ln/>
        </p:spPr>
      </p:sp>
      <p:sp>
        <p:nvSpPr>
          <p:cNvPr id="26" name="Shape 24"/>
          <p:cNvSpPr/>
          <p:nvPr/>
        </p:nvSpPr>
        <p:spPr>
          <a:xfrm>
            <a:off x="6705432" y="6748272"/>
            <a:ext cx="304792" cy="109728"/>
          </a:xfrm>
          <a:prstGeom prst="rect">
            <a:avLst/>
          </a:prstGeom>
          <a:solidFill>
            <a:srgbClr val="E0A526"/>
          </a:solidFill>
          <a:ln/>
        </p:spPr>
      </p:sp>
      <p:sp>
        <p:nvSpPr>
          <p:cNvPr id="27" name="Shape 25"/>
          <p:cNvSpPr/>
          <p:nvPr/>
        </p:nvSpPr>
        <p:spPr>
          <a:xfrm>
            <a:off x="7010225" y="6748272"/>
            <a:ext cx="304792" cy="109728"/>
          </a:xfrm>
          <a:prstGeom prst="rect">
            <a:avLst/>
          </a:prstGeom>
          <a:solidFill>
            <a:srgbClr val="0E5E6F"/>
          </a:solidFill>
          <a:ln/>
        </p:spPr>
      </p:sp>
      <p:sp>
        <p:nvSpPr>
          <p:cNvPr id="28" name="Shape 26"/>
          <p:cNvSpPr/>
          <p:nvPr/>
        </p:nvSpPr>
        <p:spPr>
          <a:xfrm>
            <a:off x="7315017" y="6748272"/>
            <a:ext cx="304792" cy="109728"/>
          </a:xfrm>
          <a:prstGeom prst="rect">
            <a:avLst/>
          </a:prstGeom>
          <a:solidFill>
            <a:srgbClr val="8B1E3F"/>
          </a:solidFill>
          <a:ln/>
        </p:spPr>
      </p:sp>
      <p:sp>
        <p:nvSpPr>
          <p:cNvPr id="29" name="Shape 27"/>
          <p:cNvSpPr/>
          <p:nvPr/>
        </p:nvSpPr>
        <p:spPr>
          <a:xfrm>
            <a:off x="7619809" y="6748272"/>
            <a:ext cx="304792" cy="109728"/>
          </a:xfrm>
          <a:prstGeom prst="rect">
            <a:avLst/>
          </a:prstGeom>
          <a:solidFill>
            <a:srgbClr val="0E5E6F"/>
          </a:solidFill>
          <a:ln/>
        </p:spPr>
      </p:sp>
      <p:sp>
        <p:nvSpPr>
          <p:cNvPr id="30" name="Shape 28"/>
          <p:cNvSpPr/>
          <p:nvPr/>
        </p:nvSpPr>
        <p:spPr>
          <a:xfrm>
            <a:off x="7924602" y="6748272"/>
            <a:ext cx="304792" cy="109728"/>
          </a:xfrm>
          <a:prstGeom prst="rect">
            <a:avLst/>
          </a:prstGeom>
          <a:solidFill>
            <a:srgbClr val="E0A526"/>
          </a:solidFill>
          <a:ln/>
        </p:spPr>
      </p:sp>
      <p:sp>
        <p:nvSpPr>
          <p:cNvPr id="31" name="Shape 29"/>
          <p:cNvSpPr/>
          <p:nvPr/>
        </p:nvSpPr>
        <p:spPr>
          <a:xfrm>
            <a:off x="8229394" y="6748272"/>
            <a:ext cx="304792" cy="109728"/>
          </a:xfrm>
          <a:prstGeom prst="rect">
            <a:avLst/>
          </a:prstGeom>
          <a:solidFill>
            <a:srgbClr val="0E5E6F"/>
          </a:solidFill>
          <a:ln/>
        </p:spPr>
      </p:sp>
      <p:sp>
        <p:nvSpPr>
          <p:cNvPr id="32" name="Shape 30"/>
          <p:cNvSpPr/>
          <p:nvPr/>
        </p:nvSpPr>
        <p:spPr>
          <a:xfrm>
            <a:off x="8534187" y="6748272"/>
            <a:ext cx="304792" cy="109728"/>
          </a:xfrm>
          <a:prstGeom prst="rect">
            <a:avLst/>
          </a:prstGeom>
          <a:solidFill>
            <a:srgbClr val="8B1E3F"/>
          </a:solidFill>
          <a:ln/>
        </p:spPr>
      </p:sp>
      <p:sp>
        <p:nvSpPr>
          <p:cNvPr id="33" name="Shape 31"/>
          <p:cNvSpPr/>
          <p:nvPr/>
        </p:nvSpPr>
        <p:spPr>
          <a:xfrm>
            <a:off x="8838979" y="6748272"/>
            <a:ext cx="304792" cy="109728"/>
          </a:xfrm>
          <a:prstGeom prst="rect">
            <a:avLst/>
          </a:prstGeom>
          <a:solidFill>
            <a:srgbClr val="0E5E6F"/>
          </a:solidFill>
          <a:ln/>
        </p:spPr>
      </p:sp>
      <p:sp>
        <p:nvSpPr>
          <p:cNvPr id="34" name="Shape 32"/>
          <p:cNvSpPr/>
          <p:nvPr/>
        </p:nvSpPr>
        <p:spPr>
          <a:xfrm>
            <a:off x="9143771" y="6748272"/>
            <a:ext cx="304792" cy="109728"/>
          </a:xfrm>
          <a:prstGeom prst="rect">
            <a:avLst/>
          </a:prstGeom>
          <a:solidFill>
            <a:srgbClr val="E0A526"/>
          </a:solidFill>
          <a:ln/>
        </p:spPr>
      </p:sp>
      <p:sp>
        <p:nvSpPr>
          <p:cNvPr id="35" name="Shape 33"/>
          <p:cNvSpPr/>
          <p:nvPr/>
        </p:nvSpPr>
        <p:spPr>
          <a:xfrm>
            <a:off x="9448564" y="6748272"/>
            <a:ext cx="304792" cy="109728"/>
          </a:xfrm>
          <a:prstGeom prst="rect">
            <a:avLst/>
          </a:prstGeom>
          <a:solidFill>
            <a:srgbClr val="0E5E6F"/>
          </a:solidFill>
          <a:ln/>
        </p:spPr>
      </p:sp>
      <p:sp>
        <p:nvSpPr>
          <p:cNvPr id="36" name="Shape 34"/>
          <p:cNvSpPr/>
          <p:nvPr/>
        </p:nvSpPr>
        <p:spPr>
          <a:xfrm>
            <a:off x="9753356" y="6748272"/>
            <a:ext cx="304792" cy="109728"/>
          </a:xfrm>
          <a:prstGeom prst="rect">
            <a:avLst/>
          </a:prstGeom>
          <a:solidFill>
            <a:srgbClr val="8B1E3F"/>
          </a:solidFill>
          <a:ln/>
        </p:spPr>
      </p:sp>
      <p:sp>
        <p:nvSpPr>
          <p:cNvPr id="37" name="Shape 35"/>
          <p:cNvSpPr/>
          <p:nvPr/>
        </p:nvSpPr>
        <p:spPr>
          <a:xfrm>
            <a:off x="10058149" y="6748272"/>
            <a:ext cx="304792" cy="109728"/>
          </a:xfrm>
          <a:prstGeom prst="rect">
            <a:avLst/>
          </a:prstGeom>
          <a:solidFill>
            <a:srgbClr val="0E5E6F"/>
          </a:solidFill>
          <a:ln/>
        </p:spPr>
      </p:sp>
      <p:sp>
        <p:nvSpPr>
          <p:cNvPr id="38" name="Shape 36"/>
          <p:cNvSpPr/>
          <p:nvPr/>
        </p:nvSpPr>
        <p:spPr>
          <a:xfrm>
            <a:off x="10362941" y="6748272"/>
            <a:ext cx="304792" cy="109728"/>
          </a:xfrm>
          <a:prstGeom prst="rect">
            <a:avLst/>
          </a:prstGeom>
          <a:solidFill>
            <a:srgbClr val="E0A526"/>
          </a:solidFill>
          <a:ln/>
        </p:spPr>
      </p:sp>
      <p:sp>
        <p:nvSpPr>
          <p:cNvPr id="39" name="Shape 37"/>
          <p:cNvSpPr/>
          <p:nvPr/>
        </p:nvSpPr>
        <p:spPr>
          <a:xfrm>
            <a:off x="10667733" y="6748272"/>
            <a:ext cx="304792" cy="109728"/>
          </a:xfrm>
          <a:prstGeom prst="rect">
            <a:avLst/>
          </a:prstGeom>
          <a:solidFill>
            <a:srgbClr val="0E5E6F"/>
          </a:solidFill>
          <a:ln/>
        </p:spPr>
      </p:sp>
      <p:sp>
        <p:nvSpPr>
          <p:cNvPr id="40" name="Shape 38"/>
          <p:cNvSpPr/>
          <p:nvPr/>
        </p:nvSpPr>
        <p:spPr>
          <a:xfrm>
            <a:off x="10972526" y="6748272"/>
            <a:ext cx="304792" cy="109728"/>
          </a:xfrm>
          <a:prstGeom prst="rect">
            <a:avLst/>
          </a:prstGeom>
          <a:solidFill>
            <a:srgbClr val="8B1E3F"/>
          </a:solidFill>
          <a:ln/>
        </p:spPr>
      </p:sp>
      <p:sp>
        <p:nvSpPr>
          <p:cNvPr id="41" name="Shape 39"/>
          <p:cNvSpPr/>
          <p:nvPr/>
        </p:nvSpPr>
        <p:spPr>
          <a:xfrm>
            <a:off x="11277318" y="6748272"/>
            <a:ext cx="304792" cy="109728"/>
          </a:xfrm>
          <a:prstGeom prst="rect">
            <a:avLst/>
          </a:prstGeom>
          <a:solidFill>
            <a:srgbClr val="0E5E6F"/>
          </a:solidFill>
          <a:ln/>
        </p:spPr>
      </p:sp>
      <p:sp>
        <p:nvSpPr>
          <p:cNvPr id="42" name="Shape 40"/>
          <p:cNvSpPr/>
          <p:nvPr/>
        </p:nvSpPr>
        <p:spPr>
          <a:xfrm>
            <a:off x="11582110" y="6748272"/>
            <a:ext cx="304792" cy="109728"/>
          </a:xfrm>
          <a:prstGeom prst="rect">
            <a:avLst/>
          </a:prstGeom>
          <a:solidFill>
            <a:srgbClr val="E0A526"/>
          </a:solidFill>
          <a:ln/>
        </p:spPr>
      </p:sp>
      <p:sp>
        <p:nvSpPr>
          <p:cNvPr id="43" name="Shape 41"/>
          <p:cNvSpPr/>
          <p:nvPr/>
        </p:nvSpPr>
        <p:spPr>
          <a:xfrm>
            <a:off x="11886903" y="6748272"/>
            <a:ext cx="304792" cy="109728"/>
          </a:xfrm>
          <a:prstGeom prst="rect">
            <a:avLst/>
          </a:prstGeom>
          <a:solidFill>
            <a:srgbClr val="0E5E6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Hyderabad Old City SIR 2026</dc:title>
  <dc:subject>PptxGenJS Presentation</dc:subject>
  <dc:creator>PinPoint Ventures</dc:creator>
  <cp:lastModifiedBy>PinPoint Ventures</cp:lastModifiedBy>
  <cp:revision>1</cp:revision>
  <dcterms:created xsi:type="dcterms:W3CDTF">2026-10-06T18:48:50Z</dcterms:created>
  <dcterms:modified xsi:type="dcterms:W3CDTF">2026-10-06T18:48:50Z</dcterms:modified>
</cp:coreProperties>
</file>