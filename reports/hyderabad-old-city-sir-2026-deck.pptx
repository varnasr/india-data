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5.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9.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0.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4.xml" ContentType="application/vnd.openxmlformats-officedocument.drawingml.chart+xml"/>
  <Override PartName="/ppt/charts/chart3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39.655</c:v>
                </c:pt>
                <c:pt idx="1">
                  <c:v>41.3343</c:v>
                </c:pt>
                <c:pt idx="2">
                  <c:v>45.0896</c:v>
                </c:pt>
                <c:pt idx="3">
                  <c:v>39.4565</c:v>
                </c:pt>
                <c:pt idx="4">
                  <c:v>34.5704</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21.1249</c:v>
                </c:pt>
                <c:pt idx="1">
                  <c:v>23.3011</c:v>
                </c:pt>
                <c:pt idx="2">
                  <c:v>21.5475</c:v>
                </c:pt>
                <c:pt idx="3">
                  <c:v>21.2685</c:v>
                </c:pt>
                <c:pt idx="4">
                  <c:v>23.9309</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B1E3F"/>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8B1E3F"/>
              </a:solidFill>
              <a:effectLst/>
            </c:spPr>
          </c:dPt>
          <c:dPt>
            <c:idx val="4"/>
            <c:invertIfNegative val="0"/>
            <c:bubble3D val="0"/>
            <c:spPr>
              <a:solidFill>
                <a:srgbClr val="1F618D"/>
              </a:solidFill>
              <a:effectLst/>
            </c:spPr>
          </c:dPt>
          <c:dPt>
            <c:idx val="5"/>
            <c:invertIfNegative val="0"/>
            <c:bubble3D val="0"/>
            <c:spPr>
              <a:solidFill>
                <a:srgbClr val="8B1E3F"/>
              </a:solidFill>
              <a:effectLst/>
            </c:spPr>
          </c:dPt>
          <c:dPt>
            <c:idx val="6"/>
            <c:invertIfNegative val="0"/>
            <c:bubble3D val="0"/>
            <c:spPr>
              <a:solidFill>
                <a:srgbClr val="1F618D"/>
              </a:solidFill>
              <a:effectLst/>
            </c:spPr>
          </c:dPt>
          <c:dPt>
            <c:idx val="7"/>
            <c:invertIfNegative val="0"/>
            <c:bubble3D val="0"/>
            <c:spPr>
              <a:solidFill>
                <a:srgbClr val="8B1E3F"/>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8B1E3F"/>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cat>
            <c:multiLvlStrRef>
              <c:f>Sheet1!$A$2:$A$16</c:f>
              <c:multiLvlStrCache>
                <c:ptCount val="15"/>
                <c:lvl>
                  <c:pt idx="0">
                    <c:v>Bahadurpura</c:v>
                  </c:pt>
                  <c:pt idx="1">
                    <c:v>Karwan</c:v>
                  </c:pt>
                  <c:pt idx="2">
                    <c:v>Secunderabad</c:v>
                  </c:pt>
                  <c:pt idx="3">
                    <c:v>Chandrayangutta</c:v>
                  </c:pt>
                  <c:pt idx="4">
                    <c:v>Nampally</c:v>
                  </c:pt>
                  <c:pt idx="5">
                    <c:v>Charminar</c:v>
                  </c:pt>
                  <c:pt idx="6">
                    <c:v>Goshamahal</c:v>
                  </c:pt>
                  <c:pt idx="7">
                    <c:v>Yakutpura</c:v>
                  </c:pt>
                  <c:pt idx="8">
                    <c:v>Khairatabad</c:v>
                  </c:pt>
                  <c:pt idx="9">
                    <c:v>Amberpet</c:v>
                  </c:pt>
                  <c:pt idx="10">
                    <c:v>Secunderabad Cantonment</c:v>
                  </c:pt>
                  <c:pt idx="11">
                    <c:v>Jubilee Hills</c:v>
                  </c:pt>
                  <c:pt idx="12">
                    <c:v>Malakpet</c:v>
                  </c:pt>
                  <c:pt idx="13">
                    <c:v>Sanathnagar</c:v>
                  </c:pt>
                  <c:pt idx="14">
                    <c:v>Musheerabad</c:v>
                  </c:pt>
                </c:lvl>
              </c:multiLvlStrCache>
            </c:multiLvlStrRef>
          </c:cat>
          <c:val>
            <c:numRef>
              <c:f>Sheet1!$B$2:$B$16</c:f>
              <c:numCache>
                <c:formatCode>General</c:formatCode>
                <c:ptCount val="15"/>
                <c:pt idx="0">
                  <c:v>34.5704</c:v>
                </c:pt>
                <c:pt idx="1">
                  <c:v>36.9963</c:v>
                </c:pt>
                <c:pt idx="2">
                  <c:v>38.1891</c:v>
                </c:pt>
                <c:pt idx="3">
                  <c:v>39.4564</c:v>
                </c:pt>
                <c:pt idx="4">
                  <c:v>39.6387</c:v>
                </c:pt>
                <c:pt idx="5">
                  <c:v>39.655</c:v>
                </c:pt>
                <c:pt idx="6">
                  <c:v>40.0235</c:v>
                </c:pt>
                <c:pt idx="7">
                  <c:v>41.3343</c:v>
                </c:pt>
                <c:pt idx="8">
                  <c:v>42.0449</c:v>
                </c:pt>
                <c:pt idx="9">
                  <c:v>42.6132</c:v>
                </c:pt>
                <c:pt idx="10">
                  <c:v>42.7699</c:v>
                </c:pt>
                <c:pt idx="11">
                  <c:v>44.135</c:v>
                </c:pt>
                <c:pt idx="12">
                  <c:v>44.7617</c:v>
                </c:pt>
                <c:pt idx="13">
                  <c:v>44.9282</c:v>
                </c:pt>
                <c:pt idx="14">
                  <c:v>45.167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26.1588</c:v>
                </c:pt>
                <c:pt idx="1">
                  <c:v>29.1997</c:v>
                </c:pt>
                <c:pt idx="2">
                  <c:v>24.7509</c:v>
                </c:pt>
                <c:pt idx="3">
                  <c:v>21.6839</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53.0824</c:v>
                </c:pt>
                <c:pt idx="1">
                  <c:v>52.2272</c:v>
                </c:pt>
                <c:pt idx="2">
                  <c:v>51.7309</c:v>
                </c:pt>
                <c:pt idx="3">
                  <c:v>49.5576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46.6186</c:v>
                </c:pt>
                <c:pt idx="1">
                  <c:v>55.7877</c:v>
                </c:pt>
                <c:pt idx="2">
                  <c:v>53.6427</c:v>
                </c:pt>
                <c:pt idx="3">
                  <c:v>51.743</c:v>
                </c:pt>
                <c:pt idx="4">
                  <c:v>44.1767</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36.1008</c:v>
                </c:pt>
                <c:pt idx="1">
                  <c:v>34.5055</c:v>
                </c:pt>
                <c:pt idx="2">
                  <c:v>38.1568</c:v>
                </c:pt>
                <c:pt idx="3">
                  <c:v>36.0709</c:v>
                </c:pt>
                <c:pt idx="4">
                  <c:v>33.3587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38.1442</c:v>
                </c:pt>
                <c:pt idx="1">
                  <c:v>40.3108</c:v>
                </c:pt>
                <c:pt idx="2">
                  <c:v>45.0789</c:v>
                </c:pt>
                <c:pt idx="3">
                  <c:v>40.0076</c:v>
                </c:pt>
                <c:pt idx="4">
                  <c:v>35.7895</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41.113</c:v>
                </c:pt>
                <c:pt idx="1">
                  <c:v>42.4157</c:v>
                </c:pt>
                <c:pt idx="2">
                  <c:v>47.4301</c:v>
                </c:pt>
                <c:pt idx="3">
                  <c:v>38.9719</c:v>
                </c:pt>
                <c:pt idx="4">
                  <c:v>33.413</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Cases in the typical slot (median)</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lists cover every elector on the rolls of the five constituencies before the revision, so each group has a true removal rate, the share of its own members struck off. These are the September 2026 lists. The final roll is due on 9 November, so names put back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winning margin is the winner's votes less the runner-up's. No election has been held on the revised roll. The comparison is of size only, because the roll records nobody's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polling part is the section of the roll served by one polling station. A rank correlation runs from -1 to 1 and measures how far two orderings of the parts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7 September the Commission extended the calendar, with claims to 7 October, hearings to 5 November and the final roll on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4.xml"/><Relationship Id="rId2" Type="http://schemas.openxmlformats.org/officeDocument/2006/relationships/chart" Target="/ppt/charts/chart35.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struck 6.6 lakh electors off five Old City rolls</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rolls before the revision</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ImpactMojo</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and Telangana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7–10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11–13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14–15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16–17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20–21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struck off,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rolls before the revision, as a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struck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struck off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struck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struck off exceed every valid vote cast in 2023. Yakutpura was won by 878 votes and lost 1,54,982 names. Across the five, the names struck off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removals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struck off,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what the officer wrote down, and nobody checked it. An untraceable entry records only that the officer did not find the person.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HYDERABAD AND TELANGANA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Hyderabad lost 41.0% of its roll, more than twice the 18.6% in the rest of Telangana</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roll left off the state's draft of 17 August 2026; Old City seats in maroon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Hyderabad district lost 41.0% of its roll, and the rest of Telangana 18.6%.</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removals are heavy across the whole capital region.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Below the district the state publishes totals only, with no split by reason.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struck off,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from 70.1% to 76.6% of those aged 80 and over and 19.3% to 25.7%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struck off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whether the elector can be traced to the roll of the 2002 intensive revision.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25.3% of linked electors were struck off, and 51.6% of those with no link.</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revision asks every elector to show a link to the 2002 roll. Anyone who moved to the city after 2002, or whose family name is spelt differently on the old roll, starts behind.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struck off,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religion guessed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struck off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guessed from names, because the roll does not record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struck off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removal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struck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Middle</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removal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negative figure means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and for the untraceable share, parts with at least 20 removals.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and the typical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struck off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removals, and the Old City has a large moving population. But 20.8% were entered as untraceable or absent, 8.7% as dead and 6.0% as enrolled elsewhere. Each is what the officer wrote down, and nobody checked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struck off more often than Muslim-name electors. The lists do show who bore the removals,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struck off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struck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struck off,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typical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struck off outnumber every valid vote cast in 2023. Only Yakutpura is close. Its runner-up would need 50.8% of the removed who would vote to overturn the 2023 margin.</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with 1,42,688 names against 1,47,799 in the published list and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guessed from names, and link to the 2002 roll. Because the lists hold every elector, each group has a true removal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removal was right. A household that moved out is rightly marked "shifted", and the files cannot tell it apart from an elector who was at home when the officer missed them. Religion and age are given separately and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removal entered as "untraceable or absent", 1,37,825 names in all,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removals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rather than listing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removals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source is the September 2026 SIR lists for the five constituencies, compiled for these five seats only. They record the outcome for every elector on the roll before the revision, whether struck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removal rate is the electors on the absent-shifted-dead list divided by the electors on the roll before the revision, for each group.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within-part difference is one group's rate minus another's inside each polling part, pooled and weighted by the smaller group in each part. Parts with fewer than 20 of either group are left out. This holds the neighbourhood and the officer constant.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are Spearman rank correlations, which compare orderings only,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2023 results are the declared Assembly results. Only counts are published, never a name, EPIC number or address.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ImpactMojo</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ImpactMojo</dc:creator>
  <cp:lastModifiedBy>ImpactMojo</cp:lastModifiedBy>
  <cp:revision>1</cp:revision>
  <dcterms:created xsi:type="dcterms:W3CDTF">2026-10-13T17:56:41Z</dcterms:created>
  <dcterms:modified xsi:type="dcterms:W3CDTF">2026-10-13T17:56:41Z</dcterms:modified>
</cp:coreProperties>
</file>