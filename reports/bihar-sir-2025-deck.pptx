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7.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8.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9.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0.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9.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0.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1.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 won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Sheet1!$B$2:$B$4</c:f>
              <c:numCache>
                <c:formatCode>General</c:formatCode>
                <c:ptCount val="3"/>
                <c:pt idx="0">
                  <c:v>202</c:v>
                </c:pt>
                <c:pt idx="1">
                  <c:v>35</c:v>
                </c:pt>
                <c:pt idx="2">
                  <c:v>6</c:v>
                </c:pt>
              </c:numCache>
            </c:numRef>
          </c:val>
        </c:ser>
        <c:ser>
          <c:idx val="1"/>
          <c:order val="1"/>
          <c:tx>
            <c:strRef>
              <c:f>Sheet1!$C$1</c:f>
              <c:strCache>
                <c:ptCount val="1"/>
                <c:pt idx="0">
                  <c:v>Removed at the draft exceed the margin</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Sheet1!$C$2:$C$4</c:f>
              <c:numCache>
                <c:formatCode>General</c:formatCode>
                <c:ptCount val="3"/>
                <c:pt idx="0">
                  <c:v>136</c:v>
                </c:pt>
                <c:pt idx="1">
                  <c:v>34</c:v>
                </c:pt>
                <c:pt idx="2">
                  <c:v>4</c:v>
                </c:pt>
              </c:numCache>
            </c:numRef>
          </c:val>
        </c:ser>
        <c:ser>
          <c:idx val="2"/>
          <c:order val="2"/>
          <c:tx>
            <c:strRef>
              <c:f>Sheet1!$D$1</c:f>
              <c:strCache>
                <c:ptCount val="1"/>
                <c:pt idx="0">
                  <c:v>Net fall at the final roll exceeds the margin</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Sheet1!$D$2:$D$4</c:f>
              <c:numCache>
                <c:formatCode>General</c:formatCode>
                <c:ptCount val="3"/>
                <c:pt idx="0">
                  <c:v>92</c:v>
                </c:pt>
                <c:pt idx="1">
                  <c:v>30</c:v>
                </c:pt>
                <c:pt idx="2">
                  <c:v>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c:v>
                </c:pt>
                <c:pt idx="1">
                  <c:v>9.36</c:v>
                </c:pt>
                <c:pt idx="2">
                  <c:v>9.28</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8.79</c:v>
                </c:pt>
                <c:pt idx="1">
                  <c:v>8.5</c:v>
                </c:pt>
                <c:pt idx="2">
                  <c:v>8.82</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c:v>
                </c:pt>
                <c:pt idx="1">
                  <c:v>13.46</c:v>
                </c:pt>
                <c:pt idx="2">
                  <c:v>11.1</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11.97</c:v>
                </c:pt>
                <c:pt idx="1">
                  <c:v>9.79</c:v>
                </c:pt>
                <c:pt idx="2">
                  <c:v>9.6</c:v>
                </c:pt>
                <c:pt idx="3">
                  <c:v>9.09</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Sheet1!$B$2:$B$11</c:f>
              <c:numCache>
                <c:formatCode>General</c:formatCode>
                <c:ptCount val="10"/>
                <c:pt idx="0">
                  <c:v>47.6</c:v>
                </c:pt>
                <c:pt idx="1">
                  <c:v>47.8</c:v>
                </c:pt>
                <c:pt idx="2">
                  <c:v>47.9</c:v>
                </c:pt>
                <c:pt idx="3">
                  <c:v>48.4</c:v>
                </c:pt>
                <c:pt idx="4">
                  <c:v>48.3</c:v>
                </c:pt>
                <c:pt idx="5">
                  <c:v>49</c:v>
                </c:pt>
                <c:pt idx="6">
                  <c:v>47.9</c:v>
                </c:pt>
                <c:pt idx="7">
                  <c:v>48.2</c:v>
                </c:pt>
                <c:pt idx="8">
                  <c:v>48.4</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Sheet1!$C$2:$C$11</c:f>
              <c:numCache>
                <c:formatCode>General</c:formatCode>
                <c:ptCount val="10"/>
                <c:pt idx="0">
                  <c:v>57</c:v>
                </c:pt>
                <c:pt idx="1">
                  <c:v>57.3</c:v>
                </c:pt>
                <c:pt idx="2">
                  <c:v>57.8</c:v>
                </c:pt>
                <c:pt idx="3">
                  <c:v>58.4</c:v>
                </c:pt>
                <c:pt idx="4">
                  <c:v>58.4</c:v>
                </c:pt>
                <c:pt idx="5">
                  <c:v>60</c:v>
                </c:pt>
                <c:pt idx="6">
                  <c:v>59.1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3.21</c:v>
                </c:pt>
                <c:pt idx="1">
                  <c:v>0.59</c:v>
                </c:pt>
                <c:pt idx="2">
                  <c:v>0.68</c:v>
                </c:pt>
                <c:pt idx="3">
                  <c:v>1.01</c:v>
                </c:pt>
                <c:pt idx="4">
                  <c:v>0.75</c:v>
                </c:pt>
                <c:pt idx="5">
                  <c:v>0.69</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c:v>
                </c:pt>
                <c:pt idx="1">
                  <c:v>0.68</c:v>
                </c:pt>
                <c:pt idx="2">
                  <c:v>0.31</c:v>
                </c:pt>
                <c:pt idx="3">
                  <c:v>1.52</c:v>
                </c:pt>
                <c:pt idx="4">
                  <c:v>0.91</c:v>
                </c:pt>
                <c:pt idx="5">
                  <c:v>1.63</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9.96</c:v>
                </c:pt>
                <c:pt idx="1">
                  <c:v>10.58</c:v>
                </c:pt>
                <c:pt idx="2">
                  <c:v>8.9</c:v>
                </c:pt>
                <c:pt idx="3">
                  <c:v>14.3</c:v>
                </c:pt>
                <c:pt idx="4">
                  <c:v>8.83</c:v>
                </c:pt>
                <c:pt idx="5">
                  <c:v>8.36</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9.27</c:v>
                </c:pt>
                <c:pt idx="1">
                  <c:v>9.28</c:v>
                </c:pt>
                <c:pt idx="2">
                  <c:v>9.35</c:v>
                </c:pt>
                <c:pt idx="3">
                  <c:v>9.4</c:v>
                </c:pt>
                <c:pt idx="4">
                  <c:v>9.41</c:v>
                </c:pt>
                <c:pt idx="5">
                  <c:v>9.88</c:v>
                </c:pt>
                <c:pt idx="6">
                  <c:v>9.93</c:v>
                </c:pt>
                <c:pt idx="7">
                  <c:v>9.96</c:v>
                </c:pt>
                <c:pt idx="8">
                  <c:v>10.25</c:v>
                </c:pt>
                <c:pt idx="9">
                  <c:v>10.76</c:v>
                </c:pt>
                <c:pt idx="10">
                  <c:v>11.35</c:v>
                </c:pt>
                <c:pt idx="11">
                  <c:v>11.55</c:v>
                </c:pt>
                <c:pt idx="12">
                  <c:v>13.9</c:v>
                </c:pt>
                <c:pt idx="13">
                  <c:v>14.3</c:v>
                </c:pt>
                <c:pt idx="14">
                  <c:v>17.31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in this deck is computed from the Chief Electoral Officer's deletion lists and the 2025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divides by the 2025 electorate.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because it records only that the officer did not find the elector. Already enrolled is a fair removal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Deaths: SRS Statistical Report 2024, death rates by age and sex weighted by the 2024 population by age, ages 20 and over; CRS 2024 for population and registered deaths. Marriage: Census 2011 table D-3, women who moved on marriage in the ten years before the census, counted where they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Format 4B, the Election Commission's return for the final roll, which matches the Chief Electoral Officer's press note of 30 September 2025. New electors are part of the rise from draft to final, and the Commission has not said how many of those added had been removed at the draft. A seat's roll before is its draft plus the names on its phase 1 list. Of the 3,66,742 removed after the draft, 9,968 carry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cannot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9–18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19–22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23</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24–25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26–27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28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29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30–32</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7,47,00,175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median booth lost 71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phase 1 removals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removed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5,64,439 of the 7,20,543 more women than men removed in phase 1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what the officer wrote down, and nobody checked it. The 3,51,150 phase 2 removals have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the removed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the removed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Marriage could produce that number, but the district pattern does not match it.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for one reason exceed the winning margin;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names entered as dead equal 3.4 years of adult deaths, but 52.0% of them are women, against 43.4% of deaths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Two reasons set against the death and migration records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737360"/>
            <a:ext cx="3545738" cy="1417320"/>
          </a:xfrm>
          <a:prstGeom prst="roundRect">
            <a:avLst>
              <a:gd name="adj" fmla="val 5161"/>
            </a:avLst>
          </a:prstGeom>
          <a:solidFill>
            <a:srgbClr val="F4F6F7"/>
          </a:solidFill>
          <a:ln/>
        </p:spPr>
      </p:sp>
      <p:sp>
        <p:nvSpPr>
          <p:cNvPr id="48" name="Text 46"/>
          <p:cNvSpPr txBox="1"/>
          <p:nvPr/>
        </p:nvSpPr>
        <p:spPr>
          <a:xfrm>
            <a:off x="731520"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3.4 years</a:t>
            </a:r>
            <a:endParaRPr lang="en-US" sz="2800" dirty="0"/>
          </a:p>
        </p:txBody>
      </p:sp>
      <p:sp>
        <p:nvSpPr>
          <p:cNvPr id="49" name="Text 47"/>
          <p:cNvSpPr txBox="1"/>
          <p:nvPr/>
        </p:nvSpPr>
        <p:spPr>
          <a:xfrm>
            <a:off x="731520"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adult deaths at 2024 rates, in the 22.3 lakh entered as dead</a:t>
            </a:r>
            <a:endParaRPr lang="en-US" sz="1200" dirty="0"/>
          </a:p>
        </p:txBody>
      </p:sp>
      <p:sp>
        <p:nvSpPr>
          <p:cNvPr id="50" name="Shape 48"/>
          <p:cNvSpPr/>
          <p:nvPr/>
        </p:nvSpPr>
        <p:spPr>
          <a:xfrm>
            <a:off x="4322978" y="1737360"/>
            <a:ext cx="3545738" cy="1417320"/>
          </a:xfrm>
          <a:prstGeom prst="roundRect">
            <a:avLst>
              <a:gd name="adj" fmla="val 5161"/>
            </a:avLst>
          </a:prstGeom>
          <a:solidFill>
            <a:srgbClr val="F4F6F7"/>
          </a:solidFill>
          <a:ln/>
        </p:spPr>
      </p:sp>
      <p:sp>
        <p:nvSpPr>
          <p:cNvPr id="51" name="Text 49"/>
          <p:cNvSpPr txBox="1"/>
          <p:nvPr/>
        </p:nvSpPr>
        <p:spPr>
          <a:xfrm>
            <a:off x="4505858"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52.0%</a:t>
            </a:r>
            <a:endParaRPr lang="en-US" sz="2800" dirty="0"/>
          </a:p>
        </p:txBody>
      </p:sp>
      <p:sp>
        <p:nvSpPr>
          <p:cNvPr id="52" name="Text 50"/>
          <p:cNvSpPr txBox="1"/>
          <p:nvPr/>
        </p:nvSpPr>
        <p:spPr>
          <a:xfrm>
            <a:off x="4505858"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those entered as dead are women; 43.4% of adult deaths are</a:t>
            </a:r>
            <a:endParaRPr lang="en-US" sz="1200" dirty="0"/>
          </a:p>
        </p:txBody>
      </p:sp>
      <p:sp>
        <p:nvSpPr>
          <p:cNvPr id="53" name="Shape 51"/>
          <p:cNvSpPr/>
          <p:nvPr/>
        </p:nvSpPr>
        <p:spPr>
          <a:xfrm>
            <a:off x="8097317" y="1737360"/>
            <a:ext cx="3545738" cy="1417320"/>
          </a:xfrm>
          <a:prstGeom prst="roundRect">
            <a:avLst>
              <a:gd name="adj" fmla="val 5161"/>
            </a:avLst>
          </a:prstGeom>
          <a:solidFill>
            <a:srgbClr val="F4F6F7"/>
          </a:solidFill>
          <a:ln/>
        </p:spPr>
      </p:sp>
      <p:sp>
        <p:nvSpPr>
          <p:cNvPr id="54" name="Text 52"/>
          <p:cNvSpPr txBox="1"/>
          <p:nvPr/>
        </p:nvSpPr>
        <p:spPr>
          <a:xfrm>
            <a:off x="8280197"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2,86,188</a:t>
            </a:r>
            <a:endParaRPr lang="en-US" sz="2800" dirty="0"/>
          </a:p>
        </p:txBody>
      </p:sp>
      <p:sp>
        <p:nvSpPr>
          <p:cNvPr id="55" name="Text 53"/>
          <p:cNvSpPr txBox="1"/>
          <p:nvPr/>
        </p:nvSpPr>
        <p:spPr>
          <a:xfrm>
            <a:off x="8280197"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young women than men marked shifted: 0.53 of a year's marriage moves</a:t>
            </a:r>
            <a:endParaRPr lang="en-US" sz="1200" dirty="0"/>
          </a:p>
        </p:txBody>
      </p:sp>
      <p:sp>
        <p:nvSpPr>
          <p:cNvPr id="56" name="Text 54"/>
          <p:cNvSpPr txBox="1"/>
          <p:nvPr/>
        </p:nvSpPr>
        <p:spPr>
          <a:xfrm>
            <a:off x="548640" y="3383280"/>
            <a:ext cx="11094415" cy="28803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Ages fit: 41.8% of those entered as dead (25 and over) were 70 or older, against 39.4% of registered deaths.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Women are only 37.7% of registered deaths, so their deaths are registered less often and may have stayed on the roll. The other possibility is that women who are alive were entered as dead.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Marriage can explain how many young women were marked shifted, but not where. Districts with more marriage movement have a smaller share of women among them (rank correlation -0.51).</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At the final roll, the fall still exceeded the 2025 margin in 124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exceed the winning margin, at the draft and after the final roll of 30 September 2025, by the alliance that won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After the draft, 21.5 lakh names were added on claims and 3.7 lakh removed on objections, a net rise of 17.9 lakh, or 27.2% of the 65.6 lakh removed at the draft.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final roll was 47.8 lakh smaller than the roll before the revision, and smaller in every seat.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were 55.5% of those removed at the draft and 47.9% of those added; their share of the roll fell from 47.9% to 47.1%.</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and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removed, 4,96,35,462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Above 20% in 18 seats; highest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Who won a seat says nothing about how its removed electors voted.</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has voters on both sides, so this shows where removals fell and says nothing about whose votes they were.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and seats it held lost 9.67.</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gives the number of seats, then names removed per 100 electors.</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47.9% of the roll they were removed from</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 are shown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2.8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sex, so this needs no inference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more women than men removed in phase 1 were entered as shifted. The lists do not show whether any were enrolled again elsewhere.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classified names only, then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often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smaller than the 0.83-point rise in the Muslim share since 2011.</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1737360"/>
                <a:gridCol w="960120"/>
                <a:gridCol w="1143000"/>
                <a:gridCol w="960120"/>
                <a:gridCol w="1005840"/>
                <a:gridCol w="96012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Census 2011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2025, carried forward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low</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high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 ÷ census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Lakhisarai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Sheikhpura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Nalanda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Nawada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Carried forward to 2025 at each district's growth rates from 2001 to 2011, Bihar's Muslim share is 17.3%, and 8 districts are still more than a point above it.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the population, which would make these gaps wider.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Migration into Patna and mistakes in classifying names could make them narrower.</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Above 1: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1.63),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and a migrant who has moved is a legitimate "shifted" deletion.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Border seats: 40.4% of phase 1 removals entered as shifted; interior seats: 40.6%.</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income per head, marriage before 18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linear correlation,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Marriage before 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poorest districts are also the least urban and least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Urban share and density from Census 2011, women's literacy and marriage before 18 from NFHS-5 (2019-20), income per head from the Bihar Economic Survey 2021-22.</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not simply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Most were not. Of the 65,59,626 phase 1 removals, 40.5% were entered as shifted, 34.0% dead, 14.8% absent and 10.7% already enrolled. Each is what the officer wrote down, and nobody checked it. The 9,70,081 marked absent rest on the least, because the entry records only that the officer did not find the elector.</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those results would have gone the other way. It means the roll changed by more than the vote that decided the seat.</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not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9.58 per 100 electors against 8.79 by the 2020 winner, and NDA-led booths lost 2.4 more names each than INDIA-led booths in the same seat. A booth's leading party says nothing about how the removed electors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47.9% of the roll, over-represented in 38 of 38 districts. 5,64,439 of the 7,20,543 more women than men removed in phase 1 were entered as shifted, and 72.6% of those marked shifted aged 18 to 29 are women.</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the lists cannot show.</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phase 1 removal, but not whether it was true, whether the removal was right, or how the elector voted. Religion and caste are estimates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(dead, shifted, absent, enrolled twice) are what officers wrote down, and nobody checked them. Names marked absent alone exceed the margin in 20 seats.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phase 2 removals,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removed as shifted can be matched against enrolments where they now live.</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come from the Chief Electoral Officer's phase 1 deletion lists with the draft roll of 1 August 2025, for all 77,837 booths. Removals by constituency, phase and sex are from the Chief Electoral Officer's table, and the reason, sex and age of each phase 1 removal are counted from the deletion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2025 winner, runner-up and turnout for each seat are the declared results, and votes polled are turnout applied to the 2025 roll. The 2024 booth leaders are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Women's share is compared with the roll before the revision, the draft roll by sex plus the phase 1 removals by sex. Religion by district is from Census 2011, also carried forward to 2025 at 2001-2011 growth rates. Density and urban share are from Census 2011, women's literacy and marriage before 18 from NFHS-5 (2019-20), caste from the Bihar caste-based survey of 2 October 2023, and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Alliances: NDA is BJP, JD(U), LJP(RV), HAM(S) and RLM; INDIA is RJD, INC, the Left parties, VIP and IIP; everything else is Other.</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repeats each booth once for each of its three leading 2024 parties, and each booth is counted only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and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program, written separately, recomputes every headline figure from the raw files before publication. Only counts are published, never a name, EPIC number or address.</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Varna Sri Raman</dc:creator>
  <cp:lastModifiedBy>Varna Sri Raman</cp:lastModifiedBy>
  <cp:revision>1</cp:revision>
  <dcterms:created xsi:type="dcterms:W3CDTF">2026-09-30T15:39:41Z</dcterms:created>
  <dcterms:modified xsi:type="dcterms:W3CDTF">2026-09-30T15:39:41Z</dcterms:modified>
</cp:coreProperties>
</file>