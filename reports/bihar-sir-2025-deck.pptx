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8.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9.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0.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7.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8.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0.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11.97</c:v>
                </c:pt>
                <c:pt idx="1">
                  <c:v>9.79</c:v>
                </c:pt>
                <c:pt idx="2">
                  <c:v>9.6</c:v>
                </c:pt>
                <c:pt idx="3">
                  <c:v>9.09</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population 2011</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Rohtas</c:v>
                  </c:pt>
                  <c:pt idx="1">
                    <c:v>Gopalganj</c:v>
                  </c:pt>
                  <c:pt idx="2">
                    <c:v>Saran</c:v>
                  </c:pt>
                  <c:pt idx="3">
                    <c:v>Sheohar</c:v>
                  </c:pt>
                  <c:pt idx="4">
                    <c:v>Supaul</c:v>
                  </c:pt>
                  <c:pt idx="5">
                    <c:v>Arwal</c:v>
                  </c:pt>
                  <c:pt idx="6">
                    <c:v>Bhagalpur</c:v>
                  </c:pt>
                  <c:pt idx="7">
                    <c:v>Buxar</c:v>
                  </c:pt>
                  <c:pt idx="8">
                    <c:v>Kishanganj</c:v>
                  </c:pt>
                  <c:pt idx="9">
                    <c:v>Kaimur</c:v>
                  </c:pt>
                </c:lvl>
              </c:multiLvlStrCache>
            </c:multiLvlStrRef>
          </c:cat>
          <c:val>
            <c:numRef>
              <c:f>Sheet1!$B$2:$B$11</c:f>
              <c:numCache>
                <c:formatCode>General</c:formatCode>
                <c:ptCount val="10"/>
                <c:pt idx="0">
                  <c:v>47.9</c:v>
                </c:pt>
                <c:pt idx="1">
                  <c:v>50.5</c:v>
                </c:pt>
                <c:pt idx="2">
                  <c:v>48.8</c:v>
                </c:pt>
                <c:pt idx="3">
                  <c:v>47.2</c:v>
                </c:pt>
                <c:pt idx="4">
                  <c:v>48.2</c:v>
                </c:pt>
                <c:pt idx="5">
                  <c:v>48.1</c:v>
                </c:pt>
                <c:pt idx="6">
                  <c:v>46.8</c:v>
                </c:pt>
                <c:pt idx="7">
                  <c:v>48</c:v>
                </c:pt>
                <c:pt idx="8">
                  <c:v>48.7</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Rohtas</c:v>
                  </c:pt>
                  <c:pt idx="1">
                    <c:v>Gopalganj</c:v>
                  </c:pt>
                  <c:pt idx="2">
                    <c:v>Saran</c:v>
                  </c:pt>
                  <c:pt idx="3">
                    <c:v>Sheohar</c:v>
                  </c:pt>
                  <c:pt idx="4">
                    <c:v>Supaul</c:v>
                  </c:pt>
                  <c:pt idx="5">
                    <c:v>Arwal</c:v>
                  </c:pt>
                  <c:pt idx="6">
                    <c:v>Bhagalpur</c:v>
                  </c:pt>
                  <c:pt idx="7">
                    <c:v>Buxar</c:v>
                  </c:pt>
                  <c:pt idx="8">
                    <c:v>Kishanganj</c:v>
                  </c:pt>
                  <c:pt idx="9">
                    <c:v>Kaimur</c:v>
                  </c:pt>
                </c:lvl>
              </c:multiLvlStrCache>
            </c:multiLvlStrRef>
          </c:cat>
          <c:val>
            <c:numRef>
              <c:f>Sheet1!$C$2:$C$11</c:f>
              <c:numCache>
                <c:formatCode>General</c:formatCode>
                <c:ptCount val="10"/>
                <c:pt idx="0">
                  <c:v>57.3</c:v>
                </c:pt>
                <c:pt idx="1">
                  <c:v>60</c:v>
                </c:pt>
                <c:pt idx="2">
                  <c:v>58.4</c:v>
                </c:pt>
                <c:pt idx="3">
                  <c:v>57</c:v>
                </c:pt>
                <c:pt idx="4">
                  <c:v>58.4</c:v>
                </c:pt>
                <c:pt idx="5">
                  <c:v>59.1</c:v>
                </c:pt>
                <c:pt idx="6">
                  <c:v>58.1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9.96</c:v>
                </c:pt>
                <c:pt idx="1">
                  <c:v>10.58</c:v>
                </c:pt>
                <c:pt idx="2">
                  <c:v>8.9</c:v>
                </c:pt>
                <c:pt idx="3">
                  <c:v>14.3</c:v>
                </c:pt>
                <c:pt idx="4">
                  <c:v>8.83</c:v>
                </c:pt>
                <c:pt idx="5">
                  <c:v>8.36</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in this deck is computed from the Chief Electoral Officer's deletion lists and the 2025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divides by the 2025 electorate.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it records only that the elector was not found. Already enrolled is a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Format 4B, the Election Commission's return for the final roll, which matches the Chief Electoral Officer's press note of 30 September 2025. The rise from draft to final counts new electors as well as names put back;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do 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8–17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18–21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22–22</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23–24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25–26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27–27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28–28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29–31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7,47,00,175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median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5,64,439 of the 7,20,543 more women than men removed in phase 1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an officer's entry after a visit or its absence, not a finding. The 3,51,150 phase 2 removals carry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the pattern women who move on marriage would produce.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for one reason exceed the winning margin;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47.1%.</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removed, 4,96,35,462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Above 20% in 18 seats; highest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 seat's winner says how most of its voters voted, not how the removed voted.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holds voters of both sides, so this is where removals fell, not whose votes they were.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seats it held lost 9.67.</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number of seats, then names removed per 100 electors.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47.86%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3.0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sex, so this needs no inference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more women than men removed in phase 1 were entered as shifted. The lists do not show whether any were enrolled again elsewhere.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classified names only, then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within the 0.83-point rise in the Muslim share since 2011.</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2011680"/>
                <a:gridCol w="1188720"/>
                <a:gridCol w="1188720"/>
                <a:gridCol w="1188720"/>
                <a:gridCol w="118872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District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Census 2011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Removals, low</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Removals, high</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 ÷ census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Jehanabad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Lakhisarai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Sheikhpura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Aurangabad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Nalanda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16.1%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Patna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Gaya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Nawada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population. That would widen these gaps, not close them.</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Migration into Patna and errors in classifying names could narrow them.</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Above 1: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and a migrant who has moved is a legitimate "shifted" deletion.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Border seats: 40.4% of phase 1 removals entered as shifted; interior seats: 40.6%.</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linear correlation,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-0.29</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Census 2011; income per head from the Bihar Economic Survey 2021-22.</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not simply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Not most. Of the 65,59,626 phase 1 removals, 40.5% were entered as shifted, 34.0% dead, 14.8% absent and 10.7% already enrolled. Each is an officer's entry, not a finding; the 9,70,081 marked absent rest on the least: the entry records only that the elector was not found.</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each result would have been different; it means the change to the roll was larger than the decision at the ballot box.</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not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9.58 per 100 electors against 8.79 by the 2020 winner, and NDA-led booths lost 2.4 more names each than INDIA-led booths in the same seat. A booth's leader says how most voters voted, not how the removed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47.86% of the population,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estimates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officers entered (dead, shifted, absent, enrolled twice) are entries made after a visit or its absence, not findings.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the Chief Electoral Officer's phase 1 deletion lists against the draft roll of 1 August 2025, for all 77,837 booths. Removals by constituency, phase and sex: the Chief Electoral Officer's table. Reason, sex and age of each phase 1 removal: counts from the row-level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2025 results: winner, runner-up and turnout for each seat, from the declared results; votes polled are turnout applied to the 2025 roll. 2024 booth leaders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Population: Census 2011 for sex, religion, literacy, density and urban share; the Bihar caste-based survey of 2 October 2023 for caste;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Alliances: NDA is BJP, JD(U), LJP(RV), HAM(S) and RLM; INDIA is RJD, INC, the Left parties, VIP and IIP; everything else is Other.</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lists each booth once for each of its three leading 2024 parties; each booth is counted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independent program recomputes every headline figure from the raw files before publication. Only counts are published: no name, EPIC number or address.</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Varna Sri Raman</dc:creator>
  <cp:lastModifiedBy>Varna Sri Raman</cp:lastModifiedBy>
  <cp:revision>1</cp:revision>
  <dcterms:created xsi:type="dcterms:W3CDTF">2026-09-30T11:20:46Z</dcterms:created>
  <dcterms:modified xsi:type="dcterms:W3CDTF">2026-09-30T11:20:46Z</dcterms:modified>
</cp:coreProperties>
</file>