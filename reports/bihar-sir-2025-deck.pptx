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Names removed</c:v>
                </c:pt>
              </c:strCache>
            </c:strRef>
          </c:tx>
          <c:spPr>
            <a:solidFill>
              <a:srgbClr val="B03A2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87 seats taken from INDIA</c:v>
                  </c:pt>
                </c:lvl>
              </c:multiLvlStrCache>
            </c:multiLvlStrRef>
          </c:cat>
          <c:val>
            <c:numRef>
              <c:f>Sheet1!$B$2:$B$4</c:f>
              <c:numCache>
                <c:formatCode>General</c:formatCode>
                <c:ptCount val="3"/>
                <c:pt idx="0">
                  <c:v>69.1</c:v>
                </c:pt>
                <c:pt idx="1">
                  <c:v>57.5</c:v>
                </c:pt>
                <c:pt idx="2">
                  <c:v>23.3</c:v>
                </c:pt>
              </c:numCache>
            </c:numRef>
          </c:val>
        </c:ser>
        <c:ser>
          <c:idx val="1"/>
          <c:order val="1"/>
          <c:tx>
            <c:strRef>
              <c:f>Sheet1!$C$1</c:f>
              <c:strCache>
                <c:ptCount val="1"/>
                <c:pt idx="0">
                  <c:v>Combined winning margins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All 243 seats</c:v>
                  </c:pt>
                  <c:pt idx="1">
                    <c:v>The NDA's 202 wins</c:v>
                  </c:pt>
                  <c:pt idx="2">
                    <c:v>87 seats taken from INDIA</c:v>
                  </c:pt>
                </c:lvl>
              </c:multiLvlStrCache>
            </c:multiLvlStrRef>
          </c:cat>
          <c:val>
            <c:numRef>
              <c:f>Sheet1!$C$2:$C$4</c:f>
              <c:numCache>
                <c:formatCode>General</c:formatCode>
                <c:ptCount val="3"/>
                <c:pt idx="0">
                  <c:v>51.4</c:v>
                </c:pt>
                <c:pt idx="1">
                  <c:v>46.7</c:v>
                </c:pt>
                <c:pt idx="2">
                  <c:v>16.2</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Constituencies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B03A2E"/>
              </a:solidFill>
              <a:effectLst/>
            </c:spPr>
          </c:dPt>
          <c:dPt>
            <c:idx val="2"/>
            <c:invertIfNegative val="0"/>
            <c:bubble3D val="0"/>
            <c:spPr>
              <a:solidFill>
                <a:srgbClr val="B03A2E"/>
              </a:solidFill>
              <a:effectLst/>
            </c:spPr>
          </c:dPt>
          <c:dPt>
            <c:idx val="3"/>
            <c:invertIfNegative val="0"/>
            <c:bubble3D val="0"/>
            <c:spPr>
              <a:solidFill>
                <a:srgbClr val="B03A2E"/>
              </a:solidFill>
              <a:effectLst/>
            </c:spPr>
          </c:dPt>
          <c:dPt>
            <c:idx val="4"/>
            <c:invertIfNegative val="0"/>
            <c:bubble3D val="0"/>
            <c:spPr>
              <a:solidFill>
                <a:srgbClr val="B03A2E"/>
              </a:solidFill>
              <a:effectLst/>
            </c:spPr>
          </c:dPt>
          <c:dPt>
            <c:idx val="5"/>
            <c:invertIfNegative val="0"/>
            <c:bubble3D val="0"/>
            <c:spPr>
              <a:solidFill>
                <a:srgbClr val="B03A2E"/>
              </a:solidFill>
              <a:effectLst/>
            </c:spPr>
          </c:dPt>
          <c:cat>
            <c:multiLvlStrRef>
              <c:f>Sheet1!$A$2:$A$7</c:f>
              <c:multiLvlStrCache>
                <c:ptCount val="6"/>
                <c:lvl>
                  <c:pt idx="0">
                    <c:v>under 1×</c:v>
                  </c:pt>
                  <c:pt idx="1">
                    <c:v>1–2×</c:v>
                  </c:pt>
                  <c:pt idx="2">
                    <c:v>2–5×</c:v>
                  </c:pt>
                  <c:pt idx="3">
                    <c:v>5–10×</c:v>
                  </c:pt>
                  <c:pt idx="4">
                    <c:v>10–20×</c:v>
                  </c:pt>
                  <c:pt idx="5">
                    <c:v>20× or more</c:v>
                  </c:pt>
                </c:lvl>
              </c:multiLvlStrCache>
            </c:multiLvlStrRef>
          </c:cat>
          <c:val>
            <c:numRef>
              <c:f>Sheet1!$B$2:$B$7</c:f>
              <c:numCache>
                <c:formatCode>General</c:formatCode>
                <c:ptCount val="6"/>
                <c:pt idx="0">
                  <c:v>69</c:v>
                </c:pt>
                <c:pt idx="1">
                  <c:v>79</c:v>
                </c:pt>
                <c:pt idx="2">
                  <c:v>65</c:v>
                </c:pt>
                <c:pt idx="3">
                  <c:v>12</c:v>
                </c:pt>
                <c:pt idx="4">
                  <c:v>8</c:v>
                </c:pt>
                <c:pt idx="5">
                  <c:v>10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Names removed ÷ NDA margin, the twelve largest (log scale)</a:t>
            </a:r>
          </a:p>
        </c:rich>
      </c:tx>
      <c:layout/>
      <c:overlay val="0"/>
    </c:title>
    <c:autoTitleDeleted val="0"/>
    <c:plotArea>
      <c:layout/>
      <c:barChart>
        <c:barDir val="bar"/>
        <c:grouping val="clustered"/>
        <c:varyColors val="0"/>
        <c:ser>
          <c:idx val="0"/>
          <c:order val="0"/>
          <c:tx>
            <c:strRef>
              <c:f>Sheet1!$B$1</c:f>
              <c:strCache>
                <c:ptCount val="1"/>
                <c:pt idx="0">
                  <c:v>× margin</c:v>
                </c:pt>
              </c:strCache>
            </c:strRef>
          </c:tx>
          <c:spPr>
            <a:solidFill>
              <a:srgbClr val="B03A2E"/>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Rajauli</c:v>
                  </c:pt>
                  <c:pt idx="1">
                    <c:v>Ziradei</c:v>
                  </c:pt>
                  <c:pt idx="2">
                    <c:v>Singheshwar</c:v>
                  </c:pt>
                  <c:pt idx="3">
                    <c:v>Bajpatti</c:v>
                  </c:pt>
                  <c:pt idx="4">
                    <c:v>Belaganj</c:v>
                  </c:pt>
                  <c:pt idx="5">
                    <c:v>Dumraon</c:v>
                  </c:pt>
                  <c:pt idx="6">
                    <c:v>Narkatiya</c:v>
                  </c:pt>
                  <c:pt idx="7">
                    <c:v>Bakhtiarpur</c:v>
                  </c:pt>
                  <c:pt idx="8">
                    <c:v>Balrampur</c:v>
                  </c:pt>
                  <c:pt idx="9">
                    <c:v>Nabinagar</c:v>
                  </c:pt>
                  <c:pt idx="10">
                    <c:v>Agiaon</c:v>
                  </c:pt>
                  <c:pt idx="11">
                    <c:v>Sandesh</c:v>
                  </c:pt>
                </c:lvl>
              </c:multiLvlStrCache>
            </c:multiLvlStrRef>
          </c:cat>
          <c:val>
            <c:numRef>
              <c:f>Sheet1!$B$2:$B$13</c:f>
              <c:numCache>
                <c:formatCode>General</c:formatCode>
                <c:ptCount val="12"/>
                <c:pt idx="0">
                  <c:v>5.3</c:v>
                </c:pt>
                <c:pt idx="1">
                  <c:v>7.5</c:v>
                </c:pt>
                <c:pt idx="2">
                  <c:v>7.7</c:v>
                </c:pt>
                <c:pt idx="3">
                  <c:v>9.2</c:v>
                </c:pt>
                <c:pt idx="4">
                  <c:v>9.7</c:v>
                </c:pt>
                <c:pt idx="5">
                  <c:v>10.8</c:v>
                </c:pt>
                <c:pt idx="6">
                  <c:v>16.5</c:v>
                </c:pt>
                <c:pt idx="7">
                  <c:v>18.3</c:v>
                </c:pt>
                <c:pt idx="8">
                  <c:v>79.3</c:v>
                </c:pt>
                <c:pt idx="9">
                  <c:v>221.9</c:v>
                </c:pt>
                <c:pt idx="10">
                  <c:v>230.1</c:v>
                </c:pt>
                <c:pt idx="11">
                  <c:v>950.6</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logBase val="10"/>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of votes polled</c:v>
                </c:pt>
              </c:strCache>
            </c:strRef>
          </c:tx>
          <c:spPr>
            <a:solidFill>
              <a:srgbClr val="E67E22"/>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E67E22"/>
              </a:solidFill>
              <a:effectLst/>
            </c:spPr>
          </c:dPt>
          <c:dPt>
            <c:idx val="1"/>
            <c:invertIfNegative val="0"/>
            <c:bubble3D val="0"/>
            <c:spPr>
              <a:solidFill>
                <a:srgbClr val="E67E22"/>
              </a:solidFill>
              <a:effectLst/>
            </c:spPr>
          </c:dPt>
          <c:dPt>
            <c:idx val="2"/>
            <c:invertIfNegative val="0"/>
            <c:bubble3D val="0"/>
            <c:spPr>
              <a:solidFill>
                <a:srgbClr val="E67E22"/>
              </a:solidFill>
              <a:effectLst/>
            </c:spPr>
          </c:dPt>
          <c:dPt>
            <c:idx val="3"/>
            <c:invertIfNegative val="0"/>
            <c:bubble3D val="0"/>
            <c:spPr>
              <a:solidFill>
                <a:srgbClr val="E67E22"/>
              </a:solidFill>
              <a:effectLst/>
            </c:spPr>
          </c:dPt>
          <c:dPt>
            <c:idx val="4"/>
            <c:invertIfNegative val="0"/>
            <c:bubble3D val="0"/>
            <c:spPr>
              <a:solidFill>
                <a:srgbClr val="E67E22"/>
              </a:solidFill>
              <a:effectLst/>
            </c:spPr>
          </c:dPt>
          <c:dPt>
            <c:idx val="5"/>
            <c:invertIfNegative val="0"/>
            <c:bubble3D val="0"/>
            <c:spPr>
              <a:solidFill>
                <a:srgbClr val="1E8449"/>
              </a:solidFill>
              <a:effectLst/>
            </c:spPr>
          </c:dPt>
          <c:dPt>
            <c:idx val="6"/>
            <c:invertIfNegative val="0"/>
            <c:bubble3D val="0"/>
            <c:spPr>
              <a:solidFill>
                <a:srgbClr val="E67E22"/>
              </a:solidFill>
              <a:effectLst/>
            </c:spPr>
          </c:dPt>
          <c:dPt>
            <c:idx val="7"/>
            <c:invertIfNegative val="0"/>
            <c:bubble3D val="0"/>
            <c:spPr>
              <a:solidFill>
                <a:srgbClr val="E67E22"/>
              </a:solidFill>
              <a:effectLst/>
            </c:spPr>
          </c:dPt>
          <c:dPt>
            <c:idx val="8"/>
            <c:invertIfNegative val="0"/>
            <c:bubble3D val="0"/>
            <c:spPr>
              <a:solidFill>
                <a:srgbClr val="E67E22"/>
              </a:solidFill>
              <a:effectLst/>
            </c:spPr>
          </c:dPt>
          <c:dPt>
            <c:idx val="9"/>
            <c:invertIfNegative val="0"/>
            <c:bubble3D val="0"/>
            <c:spPr>
              <a:solidFill>
                <a:srgbClr val="E67E22"/>
              </a:solidFill>
              <a:effectLst/>
            </c:spPr>
          </c:dPt>
          <c:dPt>
            <c:idx val="10"/>
            <c:invertIfNegative val="0"/>
            <c:bubble3D val="0"/>
            <c:spPr>
              <a:solidFill>
                <a:srgbClr val="E67E22"/>
              </a:solidFill>
              <a:effectLst/>
            </c:spPr>
          </c:dPt>
          <c:dPt>
            <c:idx val="11"/>
            <c:invertIfNegative val="0"/>
            <c:bubble3D val="0"/>
            <c:spPr>
              <a:solidFill>
                <a:srgbClr val="E67E22"/>
              </a:solidFill>
              <a:effectLst/>
            </c:spPr>
          </c:dPt>
          <c:dPt>
            <c:idx val="12"/>
            <c:invertIfNegative val="0"/>
            <c:bubble3D val="0"/>
            <c:spPr>
              <a:solidFill>
                <a:srgbClr val="E67E22"/>
              </a:solidFill>
              <a:effectLst/>
            </c:spPr>
          </c:dPt>
          <c:dPt>
            <c:idx val="13"/>
            <c:invertIfNegative val="0"/>
            <c:bubble3D val="0"/>
            <c:spPr>
              <a:solidFill>
                <a:srgbClr val="E67E22"/>
              </a:solidFill>
              <a:effectLst/>
            </c:spPr>
          </c:dPt>
          <c:dPt>
            <c:idx val="14"/>
            <c:invertIfNegative val="0"/>
            <c:bubble3D val="0"/>
            <c:spPr>
              <a:solidFill>
                <a:srgbClr val="E67E22"/>
              </a:solidFill>
              <a:effectLst/>
            </c:spPr>
          </c:dPt>
          <c:cat>
            <c:multiLvlStrRef>
              <c:f>Sheet1!$A$2:$A$16</c:f>
              <c:multiLvlStrCache>
                <c:ptCount val="15"/>
                <c:lvl>
                  <c:pt idx="0">
                    <c:v>Baikunthpur</c:v>
                  </c:pt>
                  <c:pt idx="1">
                    <c:v>Sultanganj</c:v>
                  </c:pt>
                  <c:pt idx="2">
                    <c:v>Belsand</c:v>
                  </c:pt>
                  <c:pt idx="3">
                    <c:v>Bhore</c:v>
                  </c:pt>
                  <c:pt idx="4">
                    <c:v>Amnour</c:v>
                  </c:pt>
                  <c:pt idx="5">
                    <c:v>Kishanganj</c:v>
                  </c:pt>
                  <c:pt idx="6">
                    <c:v>Hathua</c:v>
                  </c:pt>
                  <c:pt idx="7">
                    <c:v>Rajnagar</c:v>
                  </c:pt>
                  <c:pt idx="8">
                    <c:v>Barauli</c:v>
                  </c:pt>
                  <c:pt idx="9">
                    <c:v>Bankipur</c:v>
                  </c:pt>
                  <c:pt idx="10">
                    <c:v>Motihari</c:v>
                  </c:pt>
                  <c:pt idx="11">
                    <c:v>Purnia</c:v>
                  </c:pt>
                  <c:pt idx="12">
                    <c:v>Digha</c:v>
                  </c:pt>
                  <c:pt idx="13">
                    <c:v>Kuchaikote</c:v>
                  </c:pt>
                  <c:pt idx="14">
                    <c:v>Gopalganj</c:v>
                  </c:pt>
                </c:lvl>
              </c:multiLvlStrCache>
            </c:multiLvlStrRef>
          </c:cat>
          <c:val>
            <c:numRef>
              <c:f>Sheet1!$B$2:$B$16</c:f>
              <c:numCache>
                <c:formatCode>General</c:formatCode>
                <c:ptCount val="15"/>
                <c:pt idx="0">
                  <c:v>21.9</c:v>
                </c:pt>
                <c:pt idx="1">
                  <c:v>22</c:v>
                </c:pt>
                <c:pt idx="2">
                  <c:v>22.2</c:v>
                </c:pt>
                <c:pt idx="3">
                  <c:v>22.2</c:v>
                </c:pt>
                <c:pt idx="4">
                  <c:v>22.7</c:v>
                </c:pt>
                <c:pt idx="5">
                  <c:v>23.1</c:v>
                </c:pt>
                <c:pt idx="6">
                  <c:v>23.9</c:v>
                </c:pt>
                <c:pt idx="7">
                  <c:v>24.9</c:v>
                </c:pt>
                <c:pt idx="8">
                  <c:v>25.3</c:v>
                </c:pt>
                <c:pt idx="9">
                  <c:v>25.4</c:v>
                </c:pt>
                <c:pt idx="10">
                  <c:v>25.5</c:v>
                </c:pt>
                <c:pt idx="11">
                  <c:v>29.4</c:v>
                </c:pt>
                <c:pt idx="12">
                  <c:v>29.7</c:v>
                </c:pt>
                <c:pt idx="13">
                  <c:v>30.4</c:v>
                </c:pt>
                <c:pt idx="14">
                  <c:v>34.1</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The ten districts with the widest gap</a:t>
            </a:r>
          </a:p>
        </c:rich>
      </c:tx>
      <c:layout/>
      <c:overlay val="0"/>
    </c:title>
    <c:autoTitleDeleted val="0"/>
    <c:plotArea>
      <c:layout/>
      <c:barChart>
        <c:barDir val="bar"/>
        <c:grouping val="clustered"/>
        <c:varyColors val="0"/>
        <c:ser>
          <c:idx val="0"/>
          <c:order val="0"/>
          <c:tx>
            <c:strRef>
              <c:f>Sheet1!$B$1</c:f>
              <c:strCache>
                <c:ptCount val="1"/>
                <c:pt idx="0">
                  <c:v>Women, % of population 2011</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Sheet1!$B$2:$B$11</c:f>
              <c:numCache>
                <c:formatCode>General</c:formatCode>
                <c:ptCount val="10"/>
                <c:pt idx="0">
                  <c:v>47.9</c:v>
                </c:pt>
                <c:pt idx="1">
                  <c:v>50.5</c:v>
                </c:pt>
                <c:pt idx="2">
                  <c:v>48.8</c:v>
                </c:pt>
                <c:pt idx="3">
                  <c:v>47.2</c:v>
                </c:pt>
                <c:pt idx="4">
                  <c:v>48.2</c:v>
                </c:pt>
                <c:pt idx="5">
                  <c:v>48.1</c:v>
                </c:pt>
                <c:pt idx="6">
                  <c:v>46.8</c:v>
                </c:pt>
                <c:pt idx="7">
                  <c:v>48</c:v>
                </c:pt>
                <c:pt idx="8">
                  <c:v>48.7</c:v>
                </c:pt>
                <c:pt idx="9">
                  <c:v>47.9</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Sheet1!$A$2:$A$11</c:f>
              <c:multiLvlStrCache>
                <c:ptCount val="10"/>
                <c:lvl>
                  <c:pt idx="0">
                    <c:v>Rohtas</c:v>
                  </c:pt>
                  <c:pt idx="1">
                    <c:v>Gopalganj</c:v>
                  </c:pt>
                  <c:pt idx="2">
                    <c:v>Saran</c:v>
                  </c:pt>
                  <c:pt idx="3">
                    <c:v>Sheohar</c:v>
                  </c:pt>
                  <c:pt idx="4">
                    <c:v>Supaul</c:v>
                  </c:pt>
                  <c:pt idx="5">
                    <c:v>Arwal</c:v>
                  </c:pt>
                  <c:pt idx="6">
                    <c:v>Bhagalpur</c:v>
                  </c:pt>
                  <c:pt idx="7">
                    <c:v>Buxar</c:v>
                  </c:pt>
                  <c:pt idx="8">
                    <c:v>Kishanganj</c:v>
                  </c:pt>
                  <c:pt idx="9">
                    <c:v>Kaimur</c:v>
                  </c:pt>
                </c:lvl>
              </c:multiLvlStrCache>
            </c:multiLvlStrRef>
          </c:cat>
          <c:val>
            <c:numRef>
              <c:f>Sheet1!$C$2:$C$11</c:f>
              <c:numCache>
                <c:formatCode>General</c:formatCode>
                <c:ptCount val="10"/>
                <c:pt idx="0">
                  <c:v>57.3</c:v>
                </c:pt>
                <c:pt idx="1">
                  <c:v>60</c:v>
                </c:pt>
                <c:pt idx="2">
                  <c:v>58.4</c:v>
                </c:pt>
                <c:pt idx="3">
                  <c:v>57</c:v>
                </c:pt>
                <c:pt idx="4">
                  <c:v>58.4</c:v>
                </c:pt>
                <c:pt idx="5">
                  <c:v>59.1</c:v>
                </c:pt>
                <c:pt idx="6">
                  <c:v>58.1</c:v>
                </c:pt>
                <c:pt idx="7">
                  <c:v>60.3</c:v>
                </c:pt>
                <c:pt idx="8">
                  <c:v>61.5</c:v>
                </c:pt>
                <c:pt idx="9">
                  <c:v>61.6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5"/>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Share of the removed ÷ share of the population</a:t>
            </a:r>
          </a:p>
        </c:rich>
      </c:tx>
      <c:layout/>
      <c:overlay val="0"/>
    </c:title>
    <c:autoTitleDeleted val="0"/>
    <c:plotArea>
      <c:layout/>
      <c:barChart>
        <c:barDir val="col"/>
        <c:grouping val="clustered"/>
        <c:varyColors val="0"/>
        <c:ser>
          <c:idx val="0"/>
          <c:order val="0"/>
          <c:tx>
            <c:strRef>
              <c:f>Sheet1!$B$1</c:f>
              <c:strCache>
                <c:ptCount val="1"/>
                <c:pt idx="0">
                  <c:v>Classification A</c:v>
                </c:pt>
              </c:strCache>
            </c:strRef>
          </c:tx>
          <c:spPr>
            <a:solidFill>
              <a:srgbClr val="B03A2E"/>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Sheet1!$B$2:$B$7</c:f>
              <c:numCache>
                <c:formatCode>General</c:formatCode>
                <c:ptCount val="6"/>
                <c:pt idx="0">
                  <c:v>3.21</c:v>
                </c:pt>
                <c:pt idx="1">
                  <c:v>0.59</c:v>
                </c:pt>
                <c:pt idx="2">
                  <c:v>0.68</c:v>
                </c:pt>
                <c:pt idx="3">
                  <c:v>1.01</c:v>
                </c:pt>
                <c:pt idx="4">
                  <c:v>0.75</c:v>
                </c:pt>
                <c:pt idx="5">
                  <c:v>0.69</c:v>
                </c:pt>
              </c:numCache>
            </c:numRef>
          </c:val>
        </c:ser>
        <c:ser>
          <c:idx val="1"/>
          <c:order val="1"/>
          <c:tx>
            <c:strRef>
              <c:f>Sheet1!$C$1</c:f>
              <c:strCache>
                <c:ptCount val="1"/>
                <c:pt idx="0">
                  <c:v>Classification B (strict)</c:v>
                </c:pt>
              </c:strCache>
            </c:strRef>
          </c:tx>
          <c:spPr>
            <a:solidFill>
              <a:srgbClr val="1F618D"/>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Sheet1!$A$2:$A$7</c:f>
              <c:multiLvlStrCache>
                <c:ptCount val="6"/>
                <c:lvl>
                  <c:pt idx="0">
                    <c:v>General</c:v>
                  </c:pt>
                  <c:pt idx="1">
                    <c:v>BC</c:v>
                  </c:pt>
                  <c:pt idx="2">
                    <c:v>EBC</c:v>
                  </c:pt>
                  <c:pt idx="3">
                    <c:v>SC</c:v>
                  </c:pt>
                  <c:pt idx="4">
                    <c:v>ST</c:v>
                  </c:pt>
                  <c:pt idx="5">
                    <c:v>Muslim</c:v>
                  </c:pt>
                </c:lvl>
              </c:multiLvlStrCache>
            </c:multiLvlStrRef>
          </c:cat>
          <c:val>
            <c:numRef>
              <c:f>Sheet1!$C$2:$C$7</c:f>
              <c:numCache>
                <c:formatCode>General</c:formatCode>
                <c:ptCount val="6"/>
                <c:pt idx="0">
                  <c:v>1.36</c:v>
                </c:pt>
                <c:pt idx="1">
                  <c:v>0.68</c:v>
                </c:pt>
                <c:pt idx="2">
                  <c:v>0.31</c:v>
                </c:pt>
                <c:pt idx="3">
                  <c:v>1.52</c:v>
                </c:pt>
                <c:pt idx="4">
                  <c:v>0.91</c:v>
                </c:pt>
                <c:pt idx="5">
                  <c:v>1.63</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E67E22"/>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Sheet1!$A$2:$A$16</c:f>
              <c:multiLvlStrCache>
                <c:ptCount val="15"/>
                <c:lvl>
                  <c:pt idx="0">
                    <c:v>Vaishali</c:v>
                  </c:pt>
                  <c:pt idx="1">
                    <c:v>Siwan</c:v>
                  </c:pt>
                  <c:pt idx="2">
                    <c:v>Bhojpur</c:v>
                  </c:pt>
                  <c:pt idx="3">
                    <c:v>East Champaran</c:v>
                  </c:pt>
                  <c:pt idx="4">
                    <c:v>Sheohar</c:v>
                  </c:pt>
                  <c:pt idx="5">
                    <c:v>Saran</c:v>
                  </c:pt>
                  <c:pt idx="6">
                    <c:v>Katihar</c:v>
                  </c:pt>
                  <c:pt idx="7">
                    <c:v>Samastipur</c:v>
                  </c:pt>
                  <c:pt idx="8">
                    <c:v>Sitamarhi</c:v>
                  </c:pt>
                  <c:pt idx="9">
                    <c:v>Saharsa</c:v>
                  </c:pt>
                  <c:pt idx="10">
                    <c:v>Bhagalpur</c:v>
                  </c:pt>
                  <c:pt idx="11">
                    <c:v>Madhubani</c:v>
                  </c:pt>
                  <c:pt idx="12">
                    <c:v>Kishanganj</c:v>
                  </c:pt>
                  <c:pt idx="13">
                    <c:v>Purnia</c:v>
                  </c:pt>
                  <c:pt idx="14">
                    <c:v>Gopalganj</c:v>
                  </c:pt>
                </c:lvl>
              </c:multiLvlStrCache>
            </c:multiLvlStrRef>
          </c:cat>
          <c:val>
            <c:numRef>
              <c:f>Sheet1!$B$2:$B$16</c:f>
              <c:numCache>
                <c:formatCode>General</c:formatCode>
                <c:ptCount val="15"/>
                <c:pt idx="0">
                  <c:v>9.27</c:v>
                </c:pt>
                <c:pt idx="1">
                  <c:v>9.28</c:v>
                </c:pt>
                <c:pt idx="2">
                  <c:v>9.35</c:v>
                </c:pt>
                <c:pt idx="3">
                  <c:v>9.4</c:v>
                </c:pt>
                <c:pt idx="4">
                  <c:v>9.41</c:v>
                </c:pt>
                <c:pt idx="5">
                  <c:v>9.88</c:v>
                </c:pt>
                <c:pt idx="6">
                  <c:v>9.93</c:v>
                </c:pt>
                <c:pt idx="7">
                  <c:v>9.96</c:v>
                </c:pt>
                <c:pt idx="8">
                  <c:v>10.25</c:v>
                </c:pt>
                <c:pt idx="9">
                  <c:v>10.76</c:v>
                </c:pt>
                <c:pt idx="10">
                  <c:v>11.35</c:v>
                </c:pt>
                <c:pt idx="11">
                  <c:v>11.55</c:v>
                </c:pt>
                <c:pt idx="12">
                  <c:v>13.9</c:v>
                </c:pt>
                <c:pt idx="13">
                  <c:v>14.3</c:v>
                </c:pt>
                <c:pt idx="14">
                  <c:v>17.31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833"/>
                </a:solidFill>
                <a:latin typeface="Calibri"/>
              </a:defRPr>
            </a:pPr>
            <a:r>
              <a:rPr sz="1300" b="0" i="0" u="none" strike="noStrike">
                <a:solidFill>
                  <a:srgbClr val="1C2833"/>
                </a:solidFill>
                <a:latin typeface="Calibri"/>
              </a:rPr>
              <a:t>Names removed per 100 electors, seats grouped by who held them</a:t>
            </a:r>
          </a:p>
        </c:rich>
      </c:tx>
      <c:layout/>
      <c:overlay val="0"/>
    </c:title>
    <c:autoTitleDeleted val="0"/>
    <c:plotArea>
      <c:layout/>
      <c:barChart>
        <c:barDir val="col"/>
        <c:grouping val="clustered"/>
        <c:varyColors val="0"/>
        <c:ser>
          <c:idx val="0"/>
          <c:order val="0"/>
          <c:tx>
            <c:strRef>
              <c:f>Sheet1!$B$1</c:f>
              <c:strCache>
                <c:ptCount val="1"/>
                <c:pt idx="0">
                  <c:v>NDA</c:v>
                </c:pt>
              </c:strCache>
            </c:strRef>
          </c:tx>
          <c:spPr>
            <a:solidFill>
              <a:srgbClr val="E67E22"/>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winner</c:v>
                  </c:pt>
                  <c:pt idx="1">
                    <c:v>2024 segment leader</c:v>
                  </c:pt>
                  <c:pt idx="2">
                    <c:v>2025 winner</c:v>
                  </c:pt>
                </c:lvl>
              </c:multiLvlStrCache>
            </c:multiLvlStrRef>
          </c:cat>
          <c:val>
            <c:numRef>
              <c:f>Sheet1!$B$2:$B$4</c:f>
              <c:numCache>
                <c:formatCode>General</c:formatCode>
                <c:ptCount val="3"/>
                <c:pt idx="0">
                  <c:v>9.58</c:v>
                </c:pt>
                <c:pt idx="1">
                  <c:v>9.36</c:v>
                </c:pt>
                <c:pt idx="2">
                  <c:v>9.28</c:v>
                </c:pt>
              </c:numCache>
            </c:numRef>
          </c:val>
        </c:ser>
        <c:ser>
          <c:idx val="1"/>
          <c:order val="1"/>
          <c:tx>
            <c:strRef>
              <c:f>Sheet1!$C$1</c:f>
              <c:strCache>
                <c:ptCount val="1"/>
                <c:pt idx="0">
                  <c:v>INDIA</c:v>
                </c:pt>
              </c:strCache>
            </c:strRef>
          </c:tx>
          <c:spPr>
            <a:solidFill>
              <a:srgbClr val="1E8449"/>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winner</c:v>
                  </c:pt>
                  <c:pt idx="1">
                    <c:v>2024 segment leader</c:v>
                  </c:pt>
                  <c:pt idx="2">
                    <c:v>2025 winner</c:v>
                  </c:pt>
                </c:lvl>
              </c:multiLvlStrCache>
            </c:multiLvlStrRef>
          </c:cat>
          <c:val>
            <c:numRef>
              <c:f>Sheet1!$C$2:$C$4</c:f>
              <c:numCache>
                <c:formatCode>General</c:formatCode>
                <c:ptCount val="3"/>
                <c:pt idx="0">
                  <c:v>8.79</c:v>
                </c:pt>
                <c:pt idx="1">
                  <c:v>8.5</c:v>
                </c:pt>
                <c:pt idx="2">
                  <c:v>8.82</c:v>
                </c:pt>
              </c:numCache>
            </c:numRef>
          </c:val>
        </c:ser>
        <c:ser>
          <c:idx val="2"/>
          <c:order val="2"/>
          <c:tx>
            <c:strRef>
              <c:f>Sheet1!$D$1</c:f>
              <c:strCache>
                <c:ptCount val="1"/>
                <c:pt idx="0">
                  <c:v>Other</c:v>
                </c:pt>
              </c:strCache>
            </c:strRef>
          </c:tx>
          <c:spPr>
            <a:solidFill>
              <a:srgbClr val="8E7CC3"/>
            </a:solidFill>
            <a:effectLst/>
          </c:spPr>
          <c:invertIfNegative val="0"/>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2020 winner</c:v>
                  </c:pt>
                  <c:pt idx="1">
                    <c:v>2024 segment leader</c:v>
                  </c:pt>
                  <c:pt idx="2">
                    <c:v>2025 winner</c:v>
                  </c:pt>
                </c:lvl>
              </c:multiLvlStrCache>
            </c:multiLvlStrRef>
          </c:cat>
          <c:val>
            <c:numRef>
              <c:f>Sheet1!$D$2:$D$4</c:f>
              <c:numCache>
                <c:formatCode>General</c:formatCode>
                <c:ptCount val="3"/>
                <c:pt idx="0">
                  <c:v>10.34</c:v>
                </c:pt>
                <c:pt idx="1">
                  <c:v>13.46</c:v>
                </c:pt>
                <c:pt idx="2">
                  <c:v>11.1</c:v>
                </c:pt>
              </c:numCache>
            </c:numRef>
          </c:val>
        </c:ser>
        <c:dLbls>
          <c:numFmt formatCode="0.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removed 69,10,559 names from Bihar's roll in 2025. This deck sets those removals against the margins and votes that decided each seat, and against who was removed. Every figure comes from the Chief Electoral Officer's booth lists and the 2025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removed names before the draft roll of 1 August 2025; phase 2 before the final roll. Votes polled are the turnout applied to the 2025 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combined margin is the sum of each seat's margin of victory. The comparison measures scale; it does not say how the removed would have voted.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is the 69 seats where removals were below the margin. Sandesh was won by 27 votes.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640080"/>
            <a:ext cx="8229600" cy="365760"/>
          </a:xfrm>
          <a:prstGeom prst="rect">
            <a:avLst/>
          </a:prstGeom>
          <a:noFill/>
          <a:ln/>
        </p:spPr>
        <p:txBody>
          <a:bodyPr wrap="square" lIns="0" tIns="0" rIns="0" bIns="0" rtlCol="0" anchor="ctr"/>
          <a:lstStyle/>
          <a:p>
            <a:pPr indent="0" marL="0">
              <a:buNone/>
            </a:pPr>
            <a:r>
              <a:rPr lang="en-US" sz="1300" b="1" spc="300" kern="0" dirty="0">
                <a:solidFill>
                  <a:srgbClr val="F5D6C6"/>
                </a:solidFill>
                <a:latin typeface="Calibri" pitchFamily="34" charset="0"/>
                <a:ea typeface="Calibri" pitchFamily="34" charset="-122"/>
                <a:cs typeface="Calibri" pitchFamily="34" charset="-120"/>
              </a:rPr>
              <a:t>SPECIAL INTENSIVE REVISION 2025</a:t>
            </a:r>
            <a:endParaRPr lang="en-US" sz="1300" dirty="0"/>
          </a:p>
        </p:txBody>
      </p:sp>
      <p:sp>
        <p:nvSpPr>
          <p:cNvPr id="3" name="Text 1"/>
          <p:cNvSpPr txBox="1"/>
          <p:nvPr/>
        </p:nvSpPr>
        <p:spPr>
          <a:xfrm>
            <a:off x="548640" y="1051560"/>
            <a:ext cx="11094415" cy="118872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Bihar: 69 lakh names struck off</a:t>
            </a:r>
            <a:endParaRPr lang="en-US" sz="4400" dirty="0"/>
          </a:p>
        </p:txBody>
      </p:sp>
      <p:sp>
        <p:nvSpPr>
          <p:cNvPr id="4" name="Text 2"/>
          <p:cNvSpPr txBox="1"/>
          <p:nvPr/>
        </p:nvSpPr>
        <p:spPr>
          <a:xfrm>
            <a:off x="548640" y="2240280"/>
            <a:ext cx="10180015" cy="731520"/>
          </a:xfrm>
          <a:prstGeom prst="rect">
            <a:avLst/>
          </a:prstGeom>
          <a:noFill/>
          <a:ln/>
        </p:spPr>
        <p:txBody>
          <a:bodyPr wrap="square" lIns="0" tIns="0" rIns="0" bIns="0" rtlCol="0" anchor="t"/>
          <a:lstStyle/>
          <a:p>
            <a:pPr indent="0" marL="0">
              <a:buNone/>
            </a:pPr>
            <a:r>
              <a:rPr lang="en-US" sz="1800" dirty="0">
                <a:solidFill>
                  <a:srgbClr val="F5D6C6"/>
                </a:solidFill>
                <a:latin typeface="Calibri" pitchFamily="34" charset="0"/>
                <a:ea typeface="Calibri" pitchFamily="34" charset="-122"/>
                <a:cs typeface="Calibri" pitchFamily="34" charset="-120"/>
              </a:rPr>
              <a:t>Removals from the electoral roll, booth by booth, set against the margins and the votes that decided each seat</a:t>
            </a:r>
            <a:endParaRPr lang="en-US" sz="1800" dirty="0"/>
          </a:p>
        </p:txBody>
      </p:sp>
      <p:sp>
        <p:nvSpPr>
          <p:cNvPr id="5" name="Shape 3"/>
          <p:cNvSpPr/>
          <p:nvPr/>
        </p:nvSpPr>
        <p:spPr>
          <a:xfrm>
            <a:off x="548640" y="3429000"/>
            <a:ext cx="2567864" cy="1737360"/>
          </a:xfrm>
          <a:prstGeom prst="roundRect">
            <a:avLst>
              <a:gd name="adj" fmla="val 4211"/>
            </a:avLst>
          </a:prstGeom>
          <a:solidFill>
            <a:srgbClr val="6E231C"/>
          </a:solidFill>
          <a:ln/>
        </p:spPr>
      </p:sp>
      <p:sp>
        <p:nvSpPr>
          <p:cNvPr id="6" name="Text 4"/>
          <p:cNvSpPr txBox="1"/>
          <p:nvPr/>
        </p:nvSpPr>
        <p:spPr>
          <a:xfrm>
            <a:off x="731520"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69,10,559</a:t>
            </a:r>
            <a:endParaRPr lang="en-US" sz="3000" dirty="0"/>
          </a:p>
        </p:txBody>
      </p:sp>
      <p:sp>
        <p:nvSpPr>
          <p:cNvPr id="7" name="Text 5"/>
          <p:cNvSpPr txBox="1"/>
          <p:nvPr/>
        </p:nvSpPr>
        <p:spPr>
          <a:xfrm>
            <a:off x="731520" y="4434840"/>
            <a:ext cx="2202104" cy="640080"/>
          </a:xfrm>
          <a:prstGeom prst="rect">
            <a:avLst/>
          </a:prstGeom>
          <a:noFill/>
          <a:ln/>
        </p:spPr>
        <p:txBody>
          <a:bodyPr wrap="square" lIns="0" tIns="0" rIns="0" bIns="0" rtlCol="0" anchor="t"/>
          <a:lstStyle/>
          <a:p>
            <a:pPr indent="0" marL="0">
              <a:buNone/>
            </a:pPr>
            <a:r>
              <a:rPr lang="en-US" sz="1250" dirty="0">
                <a:solidFill>
                  <a:srgbClr val="F5D6C6"/>
                </a:solidFill>
                <a:latin typeface="Calibri" pitchFamily="34" charset="0"/>
                <a:ea typeface="Calibri" pitchFamily="34" charset="-122"/>
                <a:cs typeface="Calibri" pitchFamily="34" charset="-120"/>
              </a:rPr>
              <a:t>names removed across both phases</a:t>
            </a:r>
            <a:endParaRPr lang="en-US" sz="1250" dirty="0"/>
          </a:p>
        </p:txBody>
      </p:sp>
      <p:sp>
        <p:nvSpPr>
          <p:cNvPr id="8" name="Shape 6"/>
          <p:cNvSpPr/>
          <p:nvPr/>
        </p:nvSpPr>
        <p:spPr>
          <a:xfrm>
            <a:off x="3390824" y="3429000"/>
            <a:ext cx="2567864" cy="1737360"/>
          </a:xfrm>
          <a:prstGeom prst="roundRect">
            <a:avLst>
              <a:gd name="adj" fmla="val 4211"/>
            </a:avLst>
          </a:prstGeom>
          <a:solidFill>
            <a:srgbClr val="6E231C"/>
          </a:solidFill>
          <a:ln/>
        </p:spPr>
      </p:sp>
      <p:sp>
        <p:nvSpPr>
          <p:cNvPr id="9" name="Text 7"/>
          <p:cNvSpPr txBox="1"/>
          <p:nvPr/>
        </p:nvSpPr>
        <p:spPr>
          <a:xfrm>
            <a:off x="3573704"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a:t>
            </a:r>
            <a:endParaRPr lang="en-US" sz="3000" dirty="0"/>
          </a:p>
        </p:txBody>
      </p:sp>
      <p:sp>
        <p:nvSpPr>
          <p:cNvPr id="10" name="Text 8"/>
          <p:cNvSpPr txBox="1"/>
          <p:nvPr/>
        </p:nvSpPr>
        <p:spPr>
          <a:xfrm>
            <a:off x="3573704" y="4434840"/>
            <a:ext cx="2202104" cy="640080"/>
          </a:xfrm>
          <a:prstGeom prst="rect">
            <a:avLst/>
          </a:prstGeom>
          <a:noFill/>
          <a:ln/>
        </p:spPr>
        <p:txBody>
          <a:bodyPr wrap="square" lIns="0" tIns="0" rIns="0" bIns="0" rtlCol="0" anchor="t"/>
          <a:lstStyle/>
          <a:p>
            <a:pPr indent="0" marL="0">
              <a:buNone/>
            </a:pPr>
            <a:r>
              <a:rPr lang="en-US" sz="1250" dirty="0">
                <a:solidFill>
                  <a:srgbClr val="F5D6C6"/>
                </a:solidFill>
                <a:latin typeface="Calibri" pitchFamily="34" charset="0"/>
                <a:ea typeface="Calibri" pitchFamily="34" charset="-122"/>
                <a:cs typeface="Calibri" pitchFamily="34" charset="-120"/>
              </a:rPr>
              <a:t>of the votes polled in November 2025</a:t>
            </a:r>
            <a:endParaRPr lang="en-US" sz="1250" dirty="0"/>
          </a:p>
        </p:txBody>
      </p:sp>
      <p:sp>
        <p:nvSpPr>
          <p:cNvPr id="11" name="Shape 9"/>
          <p:cNvSpPr/>
          <p:nvPr/>
        </p:nvSpPr>
        <p:spPr>
          <a:xfrm>
            <a:off x="6233008" y="3429000"/>
            <a:ext cx="2567864" cy="1737360"/>
          </a:xfrm>
          <a:prstGeom prst="roundRect">
            <a:avLst>
              <a:gd name="adj" fmla="val 4211"/>
            </a:avLst>
          </a:prstGeom>
          <a:solidFill>
            <a:srgbClr val="6E231C"/>
          </a:solidFill>
          <a:ln/>
        </p:spPr>
      </p:sp>
      <p:sp>
        <p:nvSpPr>
          <p:cNvPr id="12" name="Text 10"/>
          <p:cNvSpPr txBox="1"/>
          <p:nvPr/>
        </p:nvSpPr>
        <p:spPr>
          <a:xfrm>
            <a:off x="6415888"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174 of 243</a:t>
            </a:r>
            <a:endParaRPr lang="en-US" sz="3000" dirty="0"/>
          </a:p>
        </p:txBody>
      </p:sp>
      <p:sp>
        <p:nvSpPr>
          <p:cNvPr id="13" name="Text 11"/>
          <p:cNvSpPr txBox="1"/>
          <p:nvPr/>
        </p:nvSpPr>
        <p:spPr>
          <a:xfrm>
            <a:off x="6415888" y="4434840"/>
            <a:ext cx="2202104" cy="640080"/>
          </a:xfrm>
          <a:prstGeom prst="rect">
            <a:avLst/>
          </a:prstGeom>
          <a:noFill/>
          <a:ln/>
        </p:spPr>
        <p:txBody>
          <a:bodyPr wrap="square" lIns="0" tIns="0" rIns="0" bIns="0" rtlCol="0" anchor="t"/>
          <a:lstStyle/>
          <a:p>
            <a:pPr indent="0" marL="0">
              <a:buNone/>
            </a:pPr>
            <a:r>
              <a:rPr lang="en-US" sz="1250" dirty="0">
                <a:solidFill>
                  <a:srgbClr val="F5D6C6"/>
                </a:solidFill>
                <a:latin typeface="Calibri" pitchFamily="34" charset="0"/>
                <a:ea typeface="Calibri" pitchFamily="34" charset="-122"/>
                <a:cs typeface="Calibri" pitchFamily="34" charset="-120"/>
              </a:rPr>
              <a:t>seats where removals exceed the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6E231C"/>
          </a:solidFill>
          <a:ln/>
        </p:spPr>
      </p:sp>
      <p:sp>
        <p:nvSpPr>
          <p:cNvPr id="15" name="Text 13"/>
          <p:cNvSpPr txBox="1"/>
          <p:nvPr/>
        </p:nvSpPr>
        <p:spPr>
          <a:xfrm>
            <a:off x="9258071" y="3566160"/>
            <a:ext cx="2202104" cy="868680"/>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55.5%</a:t>
            </a:r>
            <a:endParaRPr lang="en-US" sz="3000" dirty="0"/>
          </a:p>
        </p:txBody>
      </p:sp>
      <p:sp>
        <p:nvSpPr>
          <p:cNvPr id="16" name="Text 14"/>
          <p:cNvSpPr txBox="1"/>
          <p:nvPr/>
        </p:nvSpPr>
        <p:spPr>
          <a:xfrm>
            <a:off x="9258071" y="4434840"/>
            <a:ext cx="2202104" cy="640080"/>
          </a:xfrm>
          <a:prstGeom prst="rect">
            <a:avLst/>
          </a:prstGeom>
          <a:noFill/>
          <a:ln/>
        </p:spPr>
        <p:txBody>
          <a:bodyPr wrap="square" lIns="0" tIns="0" rIns="0" bIns="0" rtlCol="0" anchor="t"/>
          <a:lstStyle/>
          <a:p>
            <a:pPr indent="0" marL="0">
              <a:buNone/>
            </a:pPr>
            <a:r>
              <a:rPr lang="en-US" sz="1250" dirty="0">
                <a:solidFill>
                  <a:srgbClr val="F5D6C6"/>
                </a:solidFill>
                <a:latin typeface="Calibri" pitchFamily="34" charset="0"/>
                <a:ea typeface="Calibri" pitchFamily="34" charset="-122"/>
                <a:cs typeface="Calibri" pitchFamily="34" charset="-120"/>
              </a:rPr>
              <a:t>of the removed are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5D6C6"/>
                </a:solidFill>
                <a:latin typeface="Calibri" pitchFamily="34" charset="0"/>
                <a:ea typeface="Calibri" pitchFamily="34" charset="-122"/>
                <a:cs typeface="Calibri" pitchFamily="34" charset="-120"/>
              </a:rPr>
              <a:t>Varna Sri Raman</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One name removed for every seven votes cast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revision in numbers, before the Assembly election of November 2025</a:t>
            </a:r>
            <a:endParaRPr lang="en-US" sz="1500" dirty="0"/>
          </a:p>
        </p:txBody>
      </p:sp>
      <p:sp>
        <p:nvSpPr>
          <p:cNvPr id="4" name="Shape 2"/>
          <p:cNvSpPr/>
          <p:nvPr/>
        </p:nvSpPr>
        <p:spPr>
          <a:xfrm>
            <a:off x="548640" y="1691640"/>
            <a:ext cx="5394960" cy="1920240"/>
          </a:xfrm>
          <a:prstGeom prst="roundRect">
            <a:avLst>
              <a:gd name="adj" fmla="val 3810"/>
            </a:avLst>
          </a:prstGeom>
          <a:solidFill>
            <a:srgbClr val="F4F6F7"/>
          </a:solidFill>
          <a:ln/>
        </p:spPr>
      </p:sp>
      <p:sp>
        <p:nvSpPr>
          <p:cNvPr id="5" name="Text 3"/>
          <p:cNvSpPr txBox="1"/>
          <p:nvPr/>
        </p:nvSpPr>
        <p:spPr>
          <a:xfrm>
            <a:off x="731520" y="1828800"/>
            <a:ext cx="5029200" cy="960120"/>
          </a:xfrm>
          <a:prstGeom prst="rect">
            <a:avLst/>
          </a:prstGeom>
          <a:noFill/>
          <a:ln/>
        </p:spPr>
        <p:txBody>
          <a:bodyPr wrap="square" lIns="0" tIns="0" rIns="0" bIns="0" rtlCol="0" anchor="b">
            <a:normAutofit/>
          </a:bodyPr>
          <a:lstStyle/>
          <a:p>
            <a:pPr indent="0" marL="0">
              <a:buNone/>
            </a:pPr>
            <a:r>
              <a:rPr lang="en-US" sz="4000" b="1" dirty="0">
                <a:solidFill>
                  <a:srgbClr val="B03A2E"/>
                </a:solidFill>
                <a:latin typeface="Cambria" pitchFamily="34" charset="0"/>
                <a:ea typeface="Cambria" pitchFamily="34" charset="-122"/>
                <a:cs typeface="Cambria" pitchFamily="34" charset="-120"/>
              </a:rPr>
              <a:t>69,10,559</a:t>
            </a:r>
            <a:endParaRPr lang="en-US" sz="4000" dirty="0"/>
          </a:p>
        </p:txBody>
      </p:sp>
      <p:sp>
        <p:nvSpPr>
          <p:cNvPr id="6" name="Text 4"/>
          <p:cNvSpPr txBox="1"/>
          <p:nvPr/>
        </p:nvSpPr>
        <p:spPr>
          <a:xfrm>
            <a:off x="731520" y="2788920"/>
            <a:ext cx="5029200" cy="7315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names removed: 65,59,409 in phase 1, 3,51,150 in phase 2</a:t>
            </a:r>
            <a:endParaRPr lang="en-US" sz="1250" dirty="0"/>
          </a:p>
        </p:txBody>
      </p:sp>
      <p:sp>
        <p:nvSpPr>
          <p:cNvPr id="7" name="Shape 5"/>
          <p:cNvSpPr/>
          <p:nvPr/>
        </p:nvSpPr>
        <p:spPr>
          <a:xfrm>
            <a:off x="6172200" y="1691640"/>
            <a:ext cx="5394960" cy="1920240"/>
          </a:xfrm>
          <a:prstGeom prst="roundRect">
            <a:avLst>
              <a:gd name="adj" fmla="val 3810"/>
            </a:avLst>
          </a:prstGeom>
          <a:solidFill>
            <a:srgbClr val="F4F6F7"/>
          </a:solidFill>
          <a:ln/>
        </p:spPr>
      </p:sp>
      <p:sp>
        <p:nvSpPr>
          <p:cNvPr id="8" name="Text 6"/>
          <p:cNvSpPr txBox="1"/>
          <p:nvPr/>
        </p:nvSpPr>
        <p:spPr>
          <a:xfrm>
            <a:off x="6355080" y="1828800"/>
            <a:ext cx="5029200" cy="960120"/>
          </a:xfrm>
          <a:prstGeom prst="rect">
            <a:avLst/>
          </a:prstGeom>
          <a:noFill/>
          <a:ln/>
        </p:spPr>
        <p:txBody>
          <a:bodyPr wrap="square" lIns="0" tIns="0" rIns="0" bIns="0" rtlCol="0" anchor="b">
            <a:normAutofit/>
          </a:bodyPr>
          <a:lstStyle/>
          <a:p>
            <a:pPr indent="0" marL="0">
              <a:buNone/>
            </a:pPr>
            <a:r>
              <a:rPr lang="en-US" sz="4000" b="1" dirty="0">
                <a:solidFill>
                  <a:srgbClr val="B03A2E"/>
                </a:solidFill>
                <a:latin typeface="Cambria" pitchFamily="34" charset="0"/>
                <a:ea typeface="Cambria" pitchFamily="34" charset="-122"/>
                <a:cs typeface="Cambria" pitchFamily="34" charset="-120"/>
              </a:rPr>
              <a:t>9.25</a:t>
            </a:r>
            <a:endParaRPr lang="en-US" sz="4000" dirty="0"/>
          </a:p>
        </p:txBody>
      </p:sp>
      <p:sp>
        <p:nvSpPr>
          <p:cNvPr id="9" name="Text 7"/>
          <p:cNvSpPr txBox="1"/>
          <p:nvPr/>
        </p:nvSpPr>
        <p:spPr>
          <a:xfrm>
            <a:off x="6355080" y="2788920"/>
            <a:ext cx="5029200" cy="7315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names removed for every 100 electors on the final roll</a:t>
            </a:r>
            <a:endParaRPr lang="en-US" sz="1250" dirty="0"/>
          </a:p>
        </p:txBody>
      </p:sp>
      <p:sp>
        <p:nvSpPr>
          <p:cNvPr id="10" name="Shape 8"/>
          <p:cNvSpPr/>
          <p:nvPr/>
        </p:nvSpPr>
        <p:spPr>
          <a:xfrm>
            <a:off x="548640" y="3840480"/>
            <a:ext cx="5394960" cy="1920240"/>
          </a:xfrm>
          <a:prstGeom prst="roundRect">
            <a:avLst>
              <a:gd name="adj" fmla="val 3810"/>
            </a:avLst>
          </a:prstGeom>
          <a:solidFill>
            <a:srgbClr val="F4F6F7"/>
          </a:solidFill>
          <a:ln/>
        </p:spPr>
      </p:sp>
      <p:sp>
        <p:nvSpPr>
          <p:cNvPr id="11" name="Text 9"/>
          <p:cNvSpPr txBox="1"/>
          <p:nvPr/>
        </p:nvSpPr>
        <p:spPr>
          <a:xfrm>
            <a:off x="731520" y="3977640"/>
            <a:ext cx="5029200" cy="960120"/>
          </a:xfrm>
          <a:prstGeom prst="rect">
            <a:avLst/>
          </a:prstGeom>
          <a:noFill/>
          <a:ln/>
        </p:spPr>
        <p:txBody>
          <a:bodyPr wrap="square" lIns="0" tIns="0" rIns="0" bIns="0" rtlCol="0" anchor="b">
            <a:normAutofit/>
          </a:bodyPr>
          <a:lstStyle/>
          <a:p>
            <a:pPr indent="0" marL="0">
              <a:buNone/>
            </a:pPr>
            <a:r>
              <a:rPr lang="en-US" sz="4000" b="1" dirty="0">
                <a:solidFill>
                  <a:srgbClr val="B03A2E"/>
                </a:solidFill>
                <a:latin typeface="Cambria" pitchFamily="34" charset="0"/>
                <a:ea typeface="Cambria" pitchFamily="34" charset="-122"/>
                <a:cs typeface="Cambria" pitchFamily="34" charset="-120"/>
              </a:rPr>
              <a:t>77,837</a:t>
            </a:r>
            <a:endParaRPr lang="en-US" sz="4000" dirty="0"/>
          </a:p>
        </p:txBody>
      </p:sp>
      <p:sp>
        <p:nvSpPr>
          <p:cNvPr id="12" name="Text 10"/>
          <p:cNvSpPr txBox="1"/>
          <p:nvPr/>
        </p:nvSpPr>
        <p:spPr>
          <a:xfrm>
            <a:off x="731520" y="4937760"/>
            <a:ext cx="5029200" cy="7315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polling booths, every one accounted for in the lists</a:t>
            </a:r>
            <a:endParaRPr lang="en-US" sz="1250" dirty="0"/>
          </a:p>
        </p:txBody>
      </p:sp>
      <p:sp>
        <p:nvSpPr>
          <p:cNvPr id="13" name="Shape 11"/>
          <p:cNvSpPr/>
          <p:nvPr/>
        </p:nvSpPr>
        <p:spPr>
          <a:xfrm>
            <a:off x="6172200" y="3840480"/>
            <a:ext cx="5394960" cy="1920240"/>
          </a:xfrm>
          <a:prstGeom prst="roundRect">
            <a:avLst>
              <a:gd name="adj" fmla="val 3810"/>
            </a:avLst>
          </a:prstGeom>
          <a:solidFill>
            <a:srgbClr val="F4F6F7"/>
          </a:solidFill>
          <a:ln/>
        </p:spPr>
      </p:sp>
      <p:sp>
        <p:nvSpPr>
          <p:cNvPr id="14" name="Text 12"/>
          <p:cNvSpPr txBox="1"/>
          <p:nvPr/>
        </p:nvSpPr>
        <p:spPr>
          <a:xfrm>
            <a:off x="6355080" y="3977640"/>
            <a:ext cx="5029200" cy="960120"/>
          </a:xfrm>
          <a:prstGeom prst="rect">
            <a:avLst/>
          </a:prstGeom>
          <a:noFill/>
          <a:ln/>
        </p:spPr>
        <p:txBody>
          <a:bodyPr wrap="square" lIns="0" tIns="0" rIns="0" bIns="0" rtlCol="0" anchor="b">
            <a:normAutofit/>
          </a:bodyPr>
          <a:lstStyle/>
          <a:p>
            <a:pPr indent="0" marL="0">
              <a:buNone/>
            </a:pPr>
            <a:r>
              <a:rPr lang="en-US" sz="4000" b="1" dirty="0">
                <a:solidFill>
                  <a:srgbClr val="B03A2E"/>
                </a:solidFill>
                <a:latin typeface="Cambria" pitchFamily="34" charset="0"/>
                <a:ea typeface="Cambria" pitchFamily="34" charset="-122"/>
                <a:cs typeface="Cambria" pitchFamily="34" charset="-120"/>
              </a:rPr>
              <a:t>13.9%</a:t>
            </a:r>
            <a:endParaRPr lang="en-US" sz="4000" dirty="0"/>
          </a:p>
        </p:txBody>
      </p:sp>
      <p:sp>
        <p:nvSpPr>
          <p:cNvPr id="15" name="Text 13"/>
          <p:cNvSpPr txBox="1"/>
          <p:nvPr/>
        </p:nvSpPr>
        <p:spPr>
          <a:xfrm>
            <a:off x="6355080" y="4937760"/>
            <a:ext cx="5029200" cy="7315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of the 4,96,35,462 votes polled in the election that followed</a:t>
            </a:r>
            <a:endParaRPr lang="en-US" sz="1250" dirty="0"/>
          </a:p>
        </p:txBody>
      </p:sp>
      <p:sp>
        <p:nvSpPr>
          <p:cNvPr id="16" name="Text 14"/>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17" name="Text 15"/>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a:t>
            </a:r>
            <a:endParaRPr lang="en-US" sz="9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More names removed than the NDA's entire winning margin</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removed against the combined winning margin of each group of seats, in lakh</a:t>
            </a:r>
            <a:endParaRPr lang="en-US" sz="1500" dirty="0"/>
          </a:p>
        </p:txBody>
      </p:sp>
      <p:graphicFrame>
        <p:nvGraphicFramePr>
          <p:cNvPr id="4" name="Chart 0" descr=""/>
          <p:cNvGraphicFramePr/>
          <p:nvPr/>
        </p:nvGraphicFramePr>
        <p:xfrm>
          <a:off x="548640" y="160020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828800"/>
            <a:ext cx="3749040" cy="420624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Across Bihar, 69.1 lakh names were removed; the combined winning margin of all 243 seats was 51.4 lakh.</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NDA's 202 wins add up to a combined margin of 46.7 lakh, less than the names removed.</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 the 87 seats the NDA took from INDIA, 23.3 lakh names were removed against combined margins of 16.2 lakh.</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174 of 243 seats lost more names than they were won by</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Constituencies by names removed as a multiple of the 2025 winning margin</a:t>
            </a:r>
            <a:endParaRPr lang="en-US" sz="1500" dirty="0"/>
          </a:p>
        </p:txBody>
      </p:sp>
      <p:graphicFrame>
        <p:nvGraphicFramePr>
          <p:cNvPr id="4" name="Chart 0" descr=""/>
          <p:cNvGraphicFramePr/>
          <p:nvPr/>
        </p:nvGraphicFramePr>
        <p:xfrm>
          <a:off x="548640" y="160020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138160" y="1737360"/>
            <a:ext cx="3520440" cy="1417320"/>
          </a:xfrm>
          <a:prstGeom prst="roundRect">
            <a:avLst>
              <a:gd name="adj" fmla="val 5161"/>
            </a:avLst>
          </a:prstGeom>
          <a:solidFill>
            <a:srgbClr val="F4F6F7"/>
          </a:solidFill>
          <a:ln/>
        </p:spPr>
      </p:sp>
      <p:sp>
        <p:nvSpPr>
          <p:cNvPr id="6" name="Text 3"/>
          <p:cNvSpPr txBox="1"/>
          <p:nvPr/>
        </p:nvSpPr>
        <p:spPr>
          <a:xfrm>
            <a:off x="8321040" y="1874520"/>
            <a:ext cx="3154680" cy="708660"/>
          </a:xfrm>
          <a:prstGeom prst="rect">
            <a:avLst/>
          </a:prstGeom>
          <a:noFill/>
          <a:ln/>
        </p:spPr>
        <p:txBody>
          <a:bodyPr wrap="square" lIns="0" tIns="0" rIns="0" bIns="0" rtlCol="0" anchor="b">
            <a:normAutofit/>
          </a:bodyPr>
          <a:lstStyle/>
          <a:p>
            <a:pPr indent="0" marL="0">
              <a:buNone/>
            </a:pPr>
            <a:r>
              <a:rPr lang="en-US" sz="3000" b="1" dirty="0">
                <a:solidFill>
                  <a:srgbClr val="B03A2E"/>
                </a:solidFill>
                <a:latin typeface="Cambria" pitchFamily="34" charset="0"/>
                <a:ea typeface="Cambria" pitchFamily="34" charset="-122"/>
                <a:cs typeface="Cambria" pitchFamily="34" charset="-120"/>
              </a:rPr>
              <a:t>30 seats</a:t>
            </a:r>
            <a:endParaRPr lang="en-US" sz="3000" dirty="0"/>
          </a:p>
        </p:txBody>
      </p:sp>
      <p:sp>
        <p:nvSpPr>
          <p:cNvPr id="7" name="Text 4"/>
          <p:cNvSpPr txBox="1"/>
          <p:nvPr/>
        </p:nvSpPr>
        <p:spPr>
          <a:xfrm>
            <a:off x="8321040" y="2583180"/>
            <a:ext cx="315468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where removals were five times the margin or more</a:t>
            </a:r>
            <a:endParaRPr lang="en-US" sz="1250" dirty="0"/>
          </a:p>
        </p:txBody>
      </p:sp>
      <p:sp>
        <p:nvSpPr>
          <p:cNvPr id="8" name="Shape 5"/>
          <p:cNvSpPr/>
          <p:nvPr/>
        </p:nvSpPr>
        <p:spPr>
          <a:xfrm>
            <a:off x="8138160" y="3337560"/>
            <a:ext cx="3520440" cy="1417320"/>
          </a:xfrm>
          <a:prstGeom prst="roundRect">
            <a:avLst>
              <a:gd name="adj" fmla="val 5161"/>
            </a:avLst>
          </a:prstGeom>
          <a:solidFill>
            <a:srgbClr val="F4F6F7"/>
          </a:solidFill>
          <a:ln/>
        </p:spPr>
      </p:sp>
      <p:sp>
        <p:nvSpPr>
          <p:cNvPr id="9" name="Text 6"/>
          <p:cNvSpPr txBox="1"/>
          <p:nvPr/>
        </p:nvSpPr>
        <p:spPr>
          <a:xfrm>
            <a:off x="8321040" y="3474720"/>
            <a:ext cx="3154680" cy="708660"/>
          </a:xfrm>
          <a:prstGeom prst="rect">
            <a:avLst/>
          </a:prstGeom>
          <a:noFill/>
          <a:ln/>
        </p:spPr>
        <p:txBody>
          <a:bodyPr wrap="square" lIns="0" tIns="0" rIns="0" bIns="0" rtlCol="0" anchor="b">
            <a:normAutofit/>
          </a:bodyPr>
          <a:lstStyle/>
          <a:p>
            <a:pPr indent="0" marL="0">
              <a:buNone/>
            </a:pPr>
            <a:r>
              <a:rPr lang="en-US" sz="3000" b="1" dirty="0">
                <a:solidFill>
                  <a:srgbClr val="B03A2E"/>
                </a:solidFill>
                <a:latin typeface="Cambria" pitchFamily="34" charset="0"/>
                <a:ea typeface="Cambria" pitchFamily="34" charset="-122"/>
                <a:cs typeface="Cambria" pitchFamily="34" charset="-120"/>
              </a:rPr>
              <a:t>1.46×</a:t>
            </a:r>
            <a:endParaRPr lang="en-US" sz="3000" dirty="0"/>
          </a:p>
        </p:txBody>
      </p:sp>
      <p:sp>
        <p:nvSpPr>
          <p:cNvPr id="10" name="Text 7"/>
          <p:cNvSpPr txBox="1"/>
          <p:nvPr/>
        </p:nvSpPr>
        <p:spPr>
          <a:xfrm>
            <a:off x="8321040" y="4183380"/>
            <a:ext cx="315468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removals against the margin in the median seat</a:t>
            </a:r>
            <a:endParaRPr lang="en-US" sz="1250" dirty="0"/>
          </a:p>
        </p:txBody>
      </p:sp>
      <p:sp>
        <p:nvSpPr>
          <p:cNvPr id="11" name="Shape 8"/>
          <p:cNvSpPr/>
          <p:nvPr/>
        </p:nvSpPr>
        <p:spPr>
          <a:xfrm>
            <a:off x="8138160" y="4937760"/>
            <a:ext cx="3520440" cy="1417320"/>
          </a:xfrm>
          <a:prstGeom prst="roundRect">
            <a:avLst>
              <a:gd name="adj" fmla="val 5161"/>
            </a:avLst>
          </a:prstGeom>
          <a:solidFill>
            <a:srgbClr val="F4F6F7"/>
          </a:solidFill>
          <a:ln/>
        </p:spPr>
      </p:sp>
      <p:sp>
        <p:nvSpPr>
          <p:cNvPr id="12" name="Text 9"/>
          <p:cNvSpPr txBox="1"/>
          <p:nvPr/>
        </p:nvSpPr>
        <p:spPr>
          <a:xfrm>
            <a:off x="8321040" y="5074920"/>
            <a:ext cx="3154680" cy="708660"/>
          </a:xfrm>
          <a:prstGeom prst="rect">
            <a:avLst/>
          </a:prstGeom>
          <a:noFill/>
          <a:ln/>
        </p:spPr>
        <p:txBody>
          <a:bodyPr wrap="square" lIns="0" tIns="0" rIns="0" bIns="0" rtlCol="0" anchor="b">
            <a:normAutofit/>
          </a:bodyPr>
          <a:lstStyle/>
          <a:p>
            <a:pPr indent="0" marL="0">
              <a:buNone/>
            </a:pPr>
            <a:r>
              <a:rPr lang="en-US" sz="2600" b="1" dirty="0">
                <a:solidFill>
                  <a:srgbClr val="B03A2E"/>
                </a:solidFill>
                <a:latin typeface="Cambria" pitchFamily="34" charset="0"/>
                <a:ea typeface="Cambria" pitchFamily="34" charset="-122"/>
                <a:cs typeface="Cambria" pitchFamily="34" charset="-120"/>
              </a:rPr>
              <a:t>27 votes</a:t>
            </a:r>
            <a:endParaRPr lang="en-US" sz="2600" dirty="0"/>
          </a:p>
        </p:txBody>
      </p:sp>
      <p:sp>
        <p:nvSpPr>
          <p:cNvPr id="13" name="Text 10"/>
          <p:cNvSpPr txBox="1"/>
          <p:nvPr/>
        </p:nvSpPr>
        <p:spPr>
          <a:xfrm>
            <a:off x="8321040" y="5783580"/>
            <a:ext cx="3154680" cy="48006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Sandesh's margin; 25,665 names removed</a:t>
            </a:r>
            <a:endParaRPr lang="en-US" sz="1250" dirty="0"/>
          </a:p>
        </p:txBody>
      </p:sp>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16" name="Shape 13"/>
          <p:cNvSpPr/>
          <p:nvPr/>
        </p:nvSpPr>
        <p:spPr>
          <a:xfrm>
            <a:off x="0" y="6748272"/>
            <a:ext cx="304792" cy="109728"/>
          </a:xfrm>
          <a:prstGeom prst="rect">
            <a:avLst/>
          </a:prstGeom>
          <a:solidFill>
            <a:srgbClr val="C0392B"/>
          </a:solidFill>
          <a:ln/>
        </p:spPr>
      </p:sp>
      <p:sp>
        <p:nvSpPr>
          <p:cNvPr id="17" name="Shape 14"/>
          <p:cNvSpPr/>
          <p:nvPr/>
        </p:nvSpPr>
        <p:spPr>
          <a:xfrm>
            <a:off x="304792" y="6748272"/>
            <a:ext cx="304792" cy="109728"/>
          </a:xfrm>
          <a:prstGeom prst="rect">
            <a:avLst/>
          </a:prstGeom>
          <a:solidFill>
            <a:srgbClr val="E67E22"/>
          </a:solidFill>
          <a:ln/>
        </p:spPr>
      </p:sp>
      <p:sp>
        <p:nvSpPr>
          <p:cNvPr id="18" name="Shape 15"/>
          <p:cNvSpPr/>
          <p:nvPr/>
        </p:nvSpPr>
        <p:spPr>
          <a:xfrm>
            <a:off x="609585" y="6748272"/>
            <a:ext cx="304792" cy="109728"/>
          </a:xfrm>
          <a:prstGeom prst="rect">
            <a:avLst/>
          </a:prstGeom>
          <a:solidFill>
            <a:srgbClr val="27AE60"/>
          </a:solidFill>
          <a:ln/>
        </p:spPr>
      </p:sp>
      <p:sp>
        <p:nvSpPr>
          <p:cNvPr id="19" name="Shape 16"/>
          <p:cNvSpPr/>
          <p:nvPr/>
        </p:nvSpPr>
        <p:spPr>
          <a:xfrm>
            <a:off x="914377" y="6748272"/>
            <a:ext cx="304792" cy="109728"/>
          </a:xfrm>
          <a:prstGeom prst="rect">
            <a:avLst/>
          </a:prstGeom>
          <a:solidFill>
            <a:srgbClr val="1F618D"/>
          </a:solidFill>
          <a:ln/>
        </p:spPr>
      </p:sp>
      <p:sp>
        <p:nvSpPr>
          <p:cNvPr id="20" name="Shape 17"/>
          <p:cNvSpPr/>
          <p:nvPr/>
        </p:nvSpPr>
        <p:spPr>
          <a:xfrm>
            <a:off x="1219170" y="6748272"/>
            <a:ext cx="304792" cy="109728"/>
          </a:xfrm>
          <a:prstGeom prst="rect">
            <a:avLst/>
          </a:prstGeom>
          <a:solidFill>
            <a:srgbClr val="8E44AD"/>
          </a:solidFill>
          <a:ln/>
        </p:spPr>
      </p:sp>
      <p:sp>
        <p:nvSpPr>
          <p:cNvPr id="21" name="Shape 18"/>
          <p:cNvSpPr/>
          <p:nvPr/>
        </p:nvSpPr>
        <p:spPr>
          <a:xfrm>
            <a:off x="1523962" y="6748272"/>
            <a:ext cx="304792" cy="109728"/>
          </a:xfrm>
          <a:prstGeom prst="rect">
            <a:avLst/>
          </a:prstGeom>
          <a:solidFill>
            <a:srgbClr val="C0392B"/>
          </a:solidFill>
          <a:ln/>
        </p:spPr>
      </p:sp>
      <p:sp>
        <p:nvSpPr>
          <p:cNvPr id="22" name="Shape 19"/>
          <p:cNvSpPr/>
          <p:nvPr/>
        </p:nvSpPr>
        <p:spPr>
          <a:xfrm>
            <a:off x="1828754" y="6748272"/>
            <a:ext cx="304792" cy="109728"/>
          </a:xfrm>
          <a:prstGeom prst="rect">
            <a:avLst/>
          </a:prstGeom>
          <a:solidFill>
            <a:srgbClr val="E67E22"/>
          </a:solidFill>
          <a:ln/>
        </p:spPr>
      </p:sp>
      <p:sp>
        <p:nvSpPr>
          <p:cNvPr id="23" name="Shape 20"/>
          <p:cNvSpPr/>
          <p:nvPr/>
        </p:nvSpPr>
        <p:spPr>
          <a:xfrm>
            <a:off x="2133547" y="6748272"/>
            <a:ext cx="304792" cy="109728"/>
          </a:xfrm>
          <a:prstGeom prst="rect">
            <a:avLst/>
          </a:prstGeom>
          <a:solidFill>
            <a:srgbClr val="27AE60"/>
          </a:solidFill>
          <a:ln/>
        </p:spPr>
      </p:sp>
      <p:sp>
        <p:nvSpPr>
          <p:cNvPr id="24" name="Shape 21"/>
          <p:cNvSpPr/>
          <p:nvPr/>
        </p:nvSpPr>
        <p:spPr>
          <a:xfrm>
            <a:off x="2438339" y="6748272"/>
            <a:ext cx="304792" cy="109728"/>
          </a:xfrm>
          <a:prstGeom prst="rect">
            <a:avLst/>
          </a:prstGeom>
          <a:solidFill>
            <a:srgbClr val="1F618D"/>
          </a:solidFill>
          <a:ln/>
        </p:spPr>
      </p:sp>
      <p:sp>
        <p:nvSpPr>
          <p:cNvPr id="25" name="Shape 22"/>
          <p:cNvSpPr/>
          <p:nvPr/>
        </p:nvSpPr>
        <p:spPr>
          <a:xfrm>
            <a:off x="2743131" y="6748272"/>
            <a:ext cx="304792" cy="109728"/>
          </a:xfrm>
          <a:prstGeom prst="rect">
            <a:avLst/>
          </a:prstGeom>
          <a:solidFill>
            <a:srgbClr val="8E44AD"/>
          </a:solidFill>
          <a:ln/>
        </p:spPr>
      </p:sp>
      <p:sp>
        <p:nvSpPr>
          <p:cNvPr id="26" name="Shape 23"/>
          <p:cNvSpPr/>
          <p:nvPr/>
        </p:nvSpPr>
        <p:spPr>
          <a:xfrm>
            <a:off x="3047924" y="6748272"/>
            <a:ext cx="304792" cy="109728"/>
          </a:xfrm>
          <a:prstGeom prst="rect">
            <a:avLst/>
          </a:prstGeom>
          <a:solidFill>
            <a:srgbClr val="C0392B"/>
          </a:solidFill>
          <a:ln/>
        </p:spPr>
      </p:sp>
      <p:sp>
        <p:nvSpPr>
          <p:cNvPr id="27" name="Shape 24"/>
          <p:cNvSpPr/>
          <p:nvPr/>
        </p:nvSpPr>
        <p:spPr>
          <a:xfrm>
            <a:off x="3352716" y="6748272"/>
            <a:ext cx="304792" cy="109728"/>
          </a:xfrm>
          <a:prstGeom prst="rect">
            <a:avLst/>
          </a:prstGeom>
          <a:solidFill>
            <a:srgbClr val="E67E22"/>
          </a:solidFill>
          <a:ln/>
        </p:spPr>
      </p:sp>
      <p:sp>
        <p:nvSpPr>
          <p:cNvPr id="28" name="Shape 25"/>
          <p:cNvSpPr/>
          <p:nvPr/>
        </p:nvSpPr>
        <p:spPr>
          <a:xfrm>
            <a:off x="3657509" y="6748272"/>
            <a:ext cx="304792" cy="109728"/>
          </a:xfrm>
          <a:prstGeom prst="rect">
            <a:avLst/>
          </a:prstGeom>
          <a:solidFill>
            <a:srgbClr val="27AE60"/>
          </a:solidFill>
          <a:ln/>
        </p:spPr>
      </p:sp>
      <p:sp>
        <p:nvSpPr>
          <p:cNvPr id="29" name="Shape 26"/>
          <p:cNvSpPr/>
          <p:nvPr/>
        </p:nvSpPr>
        <p:spPr>
          <a:xfrm>
            <a:off x="3962301" y="6748272"/>
            <a:ext cx="304792" cy="109728"/>
          </a:xfrm>
          <a:prstGeom prst="rect">
            <a:avLst/>
          </a:prstGeom>
          <a:solidFill>
            <a:srgbClr val="1F618D"/>
          </a:solidFill>
          <a:ln/>
        </p:spPr>
      </p:sp>
      <p:sp>
        <p:nvSpPr>
          <p:cNvPr id="30" name="Shape 27"/>
          <p:cNvSpPr/>
          <p:nvPr/>
        </p:nvSpPr>
        <p:spPr>
          <a:xfrm>
            <a:off x="4267093" y="6748272"/>
            <a:ext cx="304792" cy="109728"/>
          </a:xfrm>
          <a:prstGeom prst="rect">
            <a:avLst/>
          </a:prstGeom>
          <a:solidFill>
            <a:srgbClr val="8E44AD"/>
          </a:solidFill>
          <a:ln/>
        </p:spPr>
      </p:sp>
      <p:sp>
        <p:nvSpPr>
          <p:cNvPr id="31" name="Shape 28"/>
          <p:cNvSpPr/>
          <p:nvPr/>
        </p:nvSpPr>
        <p:spPr>
          <a:xfrm>
            <a:off x="4571886" y="6748272"/>
            <a:ext cx="304792" cy="109728"/>
          </a:xfrm>
          <a:prstGeom prst="rect">
            <a:avLst/>
          </a:prstGeom>
          <a:solidFill>
            <a:srgbClr val="C0392B"/>
          </a:solidFill>
          <a:ln/>
        </p:spPr>
      </p:sp>
      <p:sp>
        <p:nvSpPr>
          <p:cNvPr id="32" name="Shape 29"/>
          <p:cNvSpPr/>
          <p:nvPr/>
        </p:nvSpPr>
        <p:spPr>
          <a:xfrm>
            <a:off x="4876678" y="6748272"/>
            <a:ext cx="304792" cy="109728"/>
          </a:xfrm>
          <a:prstGeom prst="rect">
            <a:avLst/>
          </a:prstGeom>
          <a:solidFill>
            <a:srgbClr val="E67E22"/>
          </a:solidFill>
          <a:ln/>
        </p:spPr>
      </p:sp>
      <p:sp>
        <p:nvSpPr>
          <p:cNvPr id="33" name="Shape 30"/>
          <p:cNvSpPr/>
          <p:nvPr/>
        </p:nvSpPr>
        <p:spPr>
          <a:xfrm>
            <a:off x="5181470" y="6748272"/>
            <a:ext cx="304792" cy="109728"/>
          </a:xfrm>
          <a:prstGeom prst="rect">
            <a:avLst/>
          </a:prstGeom>
          <a:solidFill>
            <a:srgbClr val="27AE60"/>
          </a:solidFill>
          <a:ln/>
        </p:spPr>
      </p:sp>
      <p:sp>
        <p:nvSpPr>
          <p:cNvPr id="34" name="Shape 31"/>
          <p:cNvSpPr/>
          <p:nvPr/>
        </p:nvSpPr>
        <p:spPr>
          <a:xfrm>
            <a:off x="5486263" y="6748272"/>
            <a:ext cx="304792" cy="109728"/>
          </a:xfrm>
          <a:prstGeom prst="rect">
            <a:avLst/>
          </a:prstGeom>
          <a:solidFill>
            <a:srgbClr val="1F618D"/>
          </a:solidFill>
          <a:ln/>
        </p:spPr>
      </p:sp>
      <p:sp>
        <p:nvSpPr>
          <p:cNvPr id="35" name="Shape 32"/>
          <p:cNvSpPr/>
          <p:nvPr/>
        </p:nvSpPr>
        <p:spPr>
          <a:xfrm>
            <a:off x="5791055" y="6748272"/>
            <a:ext cx="304792" cy="109728"/>
          </a:xfrm>
          <a:prstGeom prst="rect">
            <a:avLst/>
          </a:prstGeom>
          <a:solidFill>
            <a:srgbClr val="8E44AD"/>
          </a:solidFill>
          <a:ln/>
        </p:spPr>
      </p:sp>
      <p:sp>
        <p:nvSpPr>
          <p:cNvPr id="36" name="Shape 33"/>
          <p:cNvSpPr/>
          <p:nvPr/>
        </p:nvSpPr>
        <p:spPr>
          <a:xfrm>
            <a:off x="6095848" y="6748272"/>
            <a:ext cx="304792" cy="109728"/>
          </a:xfrm>
          <a:prstGeom prst="rect">
            <a:avLst/>
          </a:prstGeom>
          <a:solidFill>
            <a:srgbClr val="C0392B"/>
          </a:solidFill>
          <a:ln/>
        </p:spPr>
      </p:sp>
      <p:sp>
        <p:nvSpPr>
          <p:cNvPr id="37" name="Shape 34"/>
          <p:cNvSpPr/>
          <p:nvPr/>
        </p:nvSpPr>
        <p:spPr>
          <a:xfrm>
            <a:off x="6400640" y="6748272"/>
            <a:ext cx="304792" cy="109728"/>
          </a:xfrm>
          <a:prstGeom prst="rect">
            <a:avLst/>
          </a:prstGeom>
          <a:solidFill>
            <a:srgbClr val="E67E22"/>
          </a:solidFill>
          <a:ln/>
        </p:spPr>
      </p:sp>
      <p:sp>
        <p:nvSpPr>
          <p:cNvPr id="38" name="Shape 35"/>
          <p:cNvSpPr/>
          <p:nvPr/>
        </p:nvSpPr>
        <p:spPr>
          <a:xfrm>
            <a:off x="6705432" y="6748272"/>
            <a:ext cx="304792" cy="109728"/>
          </a:xfrm>
          <a:prstGeom prst="rect">
            <a:avLst/>
          </a:prstGeom>
          <a:solidFill>
            <a:srgbClr val="27AE60"/>
          </a:solidFill>
          <a:ln/>
        </p:spPr>
      </p:sp>
      <p:sp>
        <p:nvSpPr>
          <p:cNvPr id="39" name="Shape 36"/>
          <p:cNvSpPr/>
          <p:nvPr/>
        </p:nvSpPr>
        <p:spPr>
          <a:xfrm>
            <a:off x="7010225" y="6748272"/>
            <a:ext cx="304792" cy="109728"/>
          </a:xfrm>
          <a:prstGeom prst="rect">
            <a:avLst/>
          </a:prstGeom>
          <a:solidFill>
            <a:srgbClr val="1F618D"/>
          </a:solidFill>
          <a:ln/>
        </p:spPr>
      </p:sp>
      <p:sp>
        <p:nvSpPr>
          <p:cNvPr id="40" name="Shape 37"/>
          <p:cNvSpPr/>
          <p:nvPr/>
        </p:nvSpPr>
        <p:spPr>
          <a:xfrm>
            <a:off x="7315017" y="6748272"/>
            <a:ext cx="304792" cy="109728"/>
          </a:xfrm>
          <a:prstGeom prst="rect">
            <a:avLst/>
          </a:prstGeom>
          <a:solidFill>
            <a:srgbClr val="8E44AD"/>
          </a:solidFill>
          <a:ln/>
        </p:spPr>
      </p:sp>
      <p:sp>
        <p:nvSpPr>
          <p:cNvPr id="41" name="Shape 38"/>
          <p:cNvSpPr/>
          <p:nvPr/>
        </p:nvSpPr>
        <p:spPr>
          <a:xfrm>
            <a:off x="7619809" y="6748272"/>
            <a:ext cx="304792" cy="109728"/>
          </a:xfrm>
          <a:prstGeom prst="rect">
            <a:avLst/>
          </a:prstGeom>
          <a:solidFill>
            <a:srgbClr val="C0392B"/>
          </a:solidFill>
          <a:ln/>
        </p:spPr>
      </p:sp>
      <p:sp>
        <p:nvSpPr>
          <p:cNvPr id="42" name="Shape 39"/>
          <p:cNvSpPr/>
          <p:nvPr/>
        </p:nvSpPr>
        <p:spPr>
          <a:xfrm>
            <a:off x="7924602" y="6748272"/>
            <a:ext cx="304792" cy="109728"/>
          </a:xfrm>
          <a:prstGeom prst="rect">
            <a:avLst/>
          </a:prstGeom>
          <a:solidFill>
            <a:srgbClr val="E67E22"/>
          </a:solidFill>
          <a:ln/>
        </p:spPr>
      </p:sp>
      <p:sp>
        <p:nvSpPr>
          <p:cNvPr id="43" name="Shape 40"/>
          <p:cNvSpPr/>
          <p:nvPr/>
        </p:nvSpPr>
        <p:spPr>
          <a:xfrm>
            <a:off x="8229394" y="6748272"/>
            <a:ext cx="304792" cy="109728"/>
          </a:xfrm>
          <a:prstGeom prst="rect">
            <a:avLst/>
          </a:prstGeom>
          <a:solidFill>
            <a:srgbClr val="27AE60"/>
          </a:solidFill>
          <a:ln/>
        </p:spPr>
      </p:sp>
      <p:sp>
        <p:nvSpPr>
          <p:cNvPr id="44" name="Shape 41"/>
          <p:cNvSpPr/>
          <p:nvPr/>
        </p:nvSpPr>
        <p:spPr>
          <a:xfrm>
            <a:off x="8534187" y="6748272"/>
            <a:ext cx="304792" cy="109728"/>
          </a:xfrm>
          <a:prstGeom prst="rect">
            <a:avLst/>
          </a:prstGeom>
          <a:solidFill>
            <a:srgbClr val="1F618D"/>
          </a:solidFill>
          <a:ln/>
        </p:spPr>
      </p:sp>
      <p:sp>
        <p:nvSpPr>
          <p:cNvPr id="45" name="Shape 42"/>
          <p:cNvSpPr/>
          <p:nvPr/>
        </p:nvSpPr>
        <p:spPr>
          <a:xfrm>
            <a:off x="8838979" y="6748272"/>
            <a:ext cx="304792" cy="109728"/>
          </a:xfrm>
          <a:prstGeom prst="rect">
            <a:avLst/>
          </a:prstGeom>
          <a:solidFill>
            <a:srgbClr val="8E44AD"/>
          </a:solidFill>
          <a:ln/>
        </p:spPr>
      </p:sp>
      <p:sp>
        <p:nvSpPr>
          <p:cNvPr id="46" name="Shape 43"/>
          <p:cNvSpPr/>
          <p:nvPr/>
        </p:nvSpPr>
        <p:spPr>
          <a:xfrm>
            <a:off x="9143771" y="6748272"/>
            <a:ext cx="304792" cy="109728"/>
          </a:xfrm>
          <a:prstGeom prst="rect">
            <a:avLst/>
          </a:prstGeom>
          <a:solidFill>
            <a:srgbClr val="C0392B"/>
          </a:solidFill>
          <a:ln/>
        </p:spPr>
      </p:sp>
      <p:sp>
        <p:nvSpPr>
          <p:cNvPr id="47" name="Shape 44"/>
          <p:cNvSpPr/>
          <p:nvPr/>
        </p:nvSpPr>
        <p:spPr>
          <a:xfrm>
            <a:off x="9448564" y="6748272"/>
            <a:ext cx="304792" cy="109728"/>
          </a:xfrm>
          <a:prstGeom prst="rect">
            <a:avLst/>
          </a:prstGeom>
          <a:solidFill>
            <a:srgbClr val="E67E22"/>
          </a:solidFill>
          <a:ln/>
        </p:spPr>
      </p:sp>
      <p:sp>
        <p:nvSpPr>
          <p:cNvPr id="48" name="Shape 45"/>
          <p:cNvSpPr/>
          <p:nvPr/>
        </p:nvSpPr>
        <p:spPr>
          <a:xfrm>
            <a:off x="9753356" y="6748272"/>
            <a:ext cx="304792" cy="109728"/>
          </a:xfrm>
          <a:prstGeom prst="rect">
            <a:avLst/>
          </a:prstGeom>
          <a:solidFill>
            <a:srgbClr val="27AE60"/>
          </a:solidFill>
          <a:ln/>
        </p:spPr>
      </p:sp>
      <p:sp>
        <p:nvSpPr>
          <p:cNvPr id="49" name="Shape 46"/>
          <p:cNvSpPr/>
          <p:nvPr/>
        </p:nvSpPr>
        <p:spPr>
          <a:xfrm>
            <a:off x="10058149" y="6748272"/>
            <a:ext cx="304792" cy="109728"/>
          </a:xfrm>
          <a:prstGeom prst="rect">
            <a:avLst/>
          </a:prstGeom>
          <a:solidFill>
            <a:srgbClr val="1F618D"/>
          </a:solidFill>
          <a:ln/>
        </p:spPr>
      </p:sp>
      <p:sp>
        <p:nvSpPr>
          <p:cNvPr id="50" name="Shape 47"/>
          <p:cNvSpPr/>
          <p:nvPr/>
        </p:nvSpPr>
        <p:spPr>
          <a:xfrm>
            <a:off x="10362941" y="6748272"/>
            <a:ext cx="304792" cy="109728"/>
          </a:xfrm>
          <a:prstGeom prst="rect">
            <a:avLst/>
          </a:prstGeom>
          <a:solidFill>
            <a:srgbClr val="8E44AD"/>
          </a:solidFill>
          <a:ln/>
        </p:spPr>
      </p:sp>
      <p:sp>
        <p:nvSpPr>
          <p:cNvPr id="51" name="Shape 48"/>
          <p:cNvSpPr/>
          <p:nvPr/>
        </p:nvSpPr>
        <p:spPr>
          <a:xfrm>
            <a:off x="10667733" y="6748272"/>
            <a:ext cx="304792" cy="109728"/>
          </a:xfrm>
          <a:prstGeom prst="rect">
            <a:avLst/>
          </a:prstGeom>
          <a:solidFill>
            <a:srgbClr val="C0392B"/>
          </a:solidFill>
          <a:ln/>
        </p:spPr>
      </p:sp>
      <p:sp>
        <p:nvSpPr>
          <p:cNvPr id="52" name="Shape 49"/>
          <p:cNvSpPr/>
          <p:nvPr/>
        </p:nvSpPr>
        <p:spPr>
          <a:xfrm>
            <a:off x="10972526" y="6748272"/>
            <a:ext cx="304792" cy="109728"/>
          </a:xfrm>
          <a:prstGeom prst="rect">
            <a:avLst/>
          </a:prstGeom>
          <a:solidFill>
            <a:srgbClr val="E67E22"/>
          </a:solidFill>
          <a:ln/>
        </p:spPr>
      </p:sp>
      <p:sp>
        <p:nvSpPr>
          <p:cNvPr id="53" name="Shape 50"/>
          <p:cNvSpPr/>
          <p:nvPr/>
        </p:nvSpPr>
        <p:spPr>
          <a:xfrm>
            <a:off x="11277318" y="6748272"/>
            <a:ext cx="304792" cy="109728"/>
          </a:xfrm>
          <a:prstGeom prst="rect">
            <a:avLst/>
          </a:prstGeom>
          <a:solidFill>
            <a:srgbClr val="27AE60"/>
          </a:solidFill>
          <a:ln/>
        </p:spPr>
      </p:sp>
      <p:sp>
        <p:nvSpPr>
          <p:cNvPr id="54" name="Shape 51"/>
          <p:cNvSpPr/>
          <p:nvPr/>
        </p:nvSpPr>
        <p:spPr>
          <a:xfrm>
            <a:off x="11582110" y="6748272"/>
            <a:ext cx="304792" cy="109728"/>
          </a:xfrm>
          <a:prstGeom prst="rect">
            <a:avLst/>
          </a:prstGeom>
          <a:solidFill>
            <a:srgbClr val="1F618D"/>
          </a:solidFill>
          <a:ln/>
        </p:spPr>
      </p:sp>
      <p:sp>
        <p:nvSpPr>
          <p:cNvPr id="55" name="Shape 52"/>
          <p:cNvSpPr/>
          <p:nvPr/>
        </p:nvSpPr>
        <p:spPr>
          <a:xfrm>
            <a:off x="11886903" y="6748272"/>
            <a:ext cx="304792" cy="109728"/>
          </a:xfrm>
          <a:prstGeom prst="rect">
            <a:avLst/>
          </a:prstGeom>
          <a:solidFill>
            <a:srgbClr val="8E44AD"/>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Where the removals dwarfed the margin</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twelve constituencies with the largest removals against their 2025 winning margin</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377440"/>
                <a:gridCol w="2011680"/>
                <a:gridCol w="1737360"/>
                <a:gridCol w="1188720"/>
                <a:gridCol w="1554480"/>
                <a:gridCol w="1188720"/>
                <a:gridCol w="1005840"/>
              </a:tblGrid>
              <a:tr h="2743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Constituency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Won by</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Names removed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 of votes polled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192 Sandesh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25,665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203 Ramgarh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Kaimur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BSP (Other)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19,225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640.8×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195 Agiaon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Bhojpur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21,862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230.1×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221 Nabinagar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JD(U)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24,857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48 Forbesganj</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Araria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27,262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 Dhaka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East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18,163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65 Balrampur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Katihar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LJP(RV)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389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30,850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216 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22,793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116 Taraiya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Saran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BJP (NDA)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33,676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7 Chanpatia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14,829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229 Bodh 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RJD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17,168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1 Valmiki Nagar</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West Champaran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INC (INDIA)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31,543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5"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4"/>
          <p:cNvSpPr/>
          <p:nvPr/>
        </p:nvSpPr>
        <p:spPr>
          <a:xfrm>
            <a:off x="0" y="6748272"/>
            <a:ext cx="304792" cy="109728"/>
          </a:xfrm>
          <a:prstGeom prst="rect">
            <a:avLst/>
          </a:prstGeom>
          <a:solidFill>
            <a:srgbClr val="C0392B"/>
          </a:solidFill>
          <a:ln/>
        </p:spPr>
      </p:sp>
      <p:sp>
        <p:nvSpPr>
          <p:cNvPr id="8" name="Shape 5"/>
          <p:cNvSpPr/>
          <p:nvPr/>
        </p:nvSpPr>
        <p:spPr>
          <a:xfrm>
            <a:off x="304792" y="6748272"/>
            <a:ext cx="304792" cy="109728"/>
          </a:xfrm>
          <a:prstGeom prst="rect">
            <a:avLst/>
          </a:prstGeom>
          <a:solidFill>
            <a:srgbClr val="E67E22"/>
          </a:solidFill>
          <a:ln/>
        </p:spPr>
      </p:sp>
      <p:sp>
        <p:nvSpPr>
          <p:cNvPr id="9" name="Shape 6"/>
          <p:cNvSpPr/>
          <p:nvPr/>
        </p:nvSpPr>
        <p:spPr>
          <a:xfrm>
            <a:off x="609585" y="6748272"/>
            <a:ext cx="304792" cy="109728"/>
          </a:xfrm>
          <a:prstGeom prst="rect">
            <a:avLst/>
          </a:prstGeom>
          <a:solidFill>
            <a:srgbClr val="27AE60"/>
          </a:solidFill>
          <a:ln/>
        </p:spPr>
      </p:sp>
      <p:sp>
        <p:nvSpPr>
          <p:cNvPr id="10" name="Shape 7"/>
          <p:cNvSpPr/>
          <p:nvPr/>
        </p:nvSpPr>
        <p:spPr>
          <a:xfrm>
            <a:off x="914377" y="6748272"/>
            <a:ext cx="304792" cy="109728"/>
          </a:xfrm>
          <a:prstGeom prst="rect">
            <a:avLst/>
          </a:prstGeom>
          <a:solidFill>
            <a:srgbClr val="1F618D"/>
          </a:solidFill>
          <a:ln/>
        </p:spPr>
      </p:sp>
      <p:sp>
        <p:nvSpPr>
          <p:cNvPr id="11" name="Shape 8"/>
          <p:cNvSpPr/>
          <p:nvPr/>
        </p:nvSpPr>
        <p:spPr>
          <a:xfrm>
            <a:off x="1219170" y="6748272"/>
            <a:ext cx="304792" cy="109728"/>
          </a:xfrm>
          <a:prstGeom prst="rect">
            <a:avLst/>
          </a:prstGeom>
          <a:solidFill>
            <a:srgbClr val="8E44AD"/>
          </a:solidFill>
          <a:ln/>
        </p:spPr>
      </p:sp>
      <p:sp>
        <p:nvSpPr>
          <p:cNvPr id="12" name="Shape 9"/>
          <p:cNvSpPr/>
          <p:nvPr/>
        </p:nvSpPr>
        <p:spPr>
          <a:xfrm>
            <a:off x="1523962" y="6748272"/>
            <a:ext cx="304792" cy="109728"/>
          </a:xfrm>
          <a:prstGeom prst="rect">
            <a:avLst/>
          </a:prstGeom>
          <a:solidFill>
            <a:srgbClr val="C0392B"/>
          </a:solidFill>
          <a:ln/>
        </p:spPr>
      </p:sp>
      <p:sp>
        <p:nvSpPr>
          <p:cNvPr id="13" name="Shape 10"/>
          <p:cNvSpPr/>
          <p:nvPr/>
        </p:nvSpPr>
        <p:spPr>
          <a:xfrm>
            <a:off x="1828754" y="6748272"/>
            <a:ext cx="304792" cy="109728"/>
          </a:xfrm>
          <a:prstGeom prst="rect">
            <a:avLst/>
          </a:prstGeom>
          <a:solidFill>
            <a:srgbClr val="E67E22"/>
          </a:solidFill>
          <a:ln/>
        </p:spPr>
      </p:sp>
      <p:sp>
        <p:nvSpPr>
          <p:cNvPr id="14" name="Shape 11"/>
          <p:cNvSpPr/>
          <p:nvPr/>
        </p:nvSpPr>
        <p:spPr>
          <a:xfrm>
            <a:off x="2133547" y="6748272"/>
            <a:ext cx="304792" cy="109728"/>
          </a:xfrm>
          <a:prstGeom prst="rect">
            <a:avLst/>
          </a:prstGeom>
          <a:solidFill>
            <a:srgbClr val="27AE60"/>
          </a:solidFill>
          <a:ln/>
        </p:spPr>
      </p:sp>
      <p:sp>
        <p:nvSpPr>
          <p:cNvPr id="15" name="Shape 12"/>
          <p:cNvSpPr/>
          <p:nvPr/>
        </p:nvSpPr>
        <p:spPr>
          <a:xfrm>
            <a:off x="2438339" y="6748272"/>
            <a:ext cx="304792" cy="109728"/>
          </a:xfrm>
          <a:prstGeom prst="rect">
            <a:avLst/>
          </a:prstGeom>
          <a:solidFill>
            <a:srgbClr val="1F618D"/>
          </a:solidFill>
          <a:ln/>
        </p:spPr>
      </p:sp>
      <p:sp>
        <p:nvSpPr>
          <p:cNvPr id="16" name="Shape 13"/>
          <p:cNvSpPr/>
          <p:nvPr/>
        </p:nvSpPr>
        <p:spPr>
          <a:xfrm>
            <a:off x="2743131" y="6748272"/>
            <a:ext cx="304792" cy="109728"/>
          </a:xfrm>
          <a:prstGeom prst="rect">
            <a:avLst/>
          </a:prstGeom>
          <a:solidFill>
            <a:srgbClr val="8E44AD"/>
          </a:solidFill>
          <a:ln/>
        </p:spPr>
      </p:sp>
      <p:sp>
        <p:nvSpPr>
          <p:cNvPr id="17" name="Shape 14"/>
          <p:cNvSpPr/>
          <p:nvPr/>
        </p:nvSpPr>
        <p:spPr>
          <a:xfrm>
            <a:off x="3047924" y="6748272"/>
            <a:ext cx="304792" cy="109728"/>
          </a:xfrm>
          <a:prstGeom prst="rect">
            <a:avLst/>
          </a:prstGeom>
          <a:solidFill>
            <a:srgbClr val="C0392B"/>
          </a:solidFill>
          <a:ln/>
        </p:spPr>
      </p:sp>
      <p:sp>
        <p:nvSpPr>
          <p:cNvPr id="18" name="Shape 15"/>
          <p:cNvSpPr/>
          <p:nvPr/>
        </p:nvSpPr>
        <p:spPr>
          <a:xfrm>
            <a:off x="3352716" y="6748272"/>
            <a:ext cx="304792" cy="109728"/>
          </a:xfrm>
          <a:prstGeom prst="rect">
            <a:avLst/>
          </a:prstGeom>
          <a:solidFill>
            <a:srgbClr val="E67E22"/>
          </a:solidFill>
          <a:ln/>
        </p:spPr>
      </p:sp>
      <p:sp>
        <p:nvSpPr>
          <p:cNvPr id="19" name="Shape 16"/>
          <p:cNvSpPr/>
          <p:nvPr/>
        </p:nvSpPr>
        <p:spPr>
          <a:xfrm>
            <a:off x="3657509" y="6748272"/>
            <a:ext cx="304792" cy="109728"/>
          </a:xfrm>
          <a:prstGeom prst="rect">
            <a:avLst/>
          </a:prstGeom>
          <a:solidFill>
            <a:srgbClr val="27AE60"/>
          </a:solidFill>
          <a:ln/>
        </p:spPr>
      </p:sp>
      <p:sp>
        <p:nvSpPr>
          <p:cNvPr id="20" name="Shape 17"/>
          <p:cNvSpPr/>
          <p:nvPr/>
        </p:nvSpPr>
        <p:spPr>
          <a:xfrm>
            <a:off x="3962301" y="6748272"/>
            <a:ext cx="304792" cy="109728"/>
          </a:xfrm>
          <a:prstGeom prst="rect">
            <a:avLst/>
          </a:prstGeom>
          <a:solidFill>
            <a:srgbClr val="1F618D"/>
          </a:solidFill>
          <a:ln/>
        </p:spPr>
      </p:sp>
      <p:sp>
        <p:nvSpPr>
          <p:cNvPr id="21" name="Shape 18"/>
          <p:cNvSpPr/>
          <p:nvPr/>
        </p:nvSpPr>
        <p:spPr>
          <a:xfrm>
            <a:off x="4267093" y="6748272"/>
            <a:ext cx="304792" cy="109728"/>
          </a:xfrm>
          <a:prstGeom prst="rect">
            <a:avLst/>
          </a:prstGeom>
          <a:solidFill>
            <a:srgbClr val="8E44AD"/>
          </a:solidFill>
          <a:ln/>
        </p:spPr>
      </p:sp>
      <p:sp>
        <p:nvSpPr>
          <p:cNvPr id="22" name="Shape 19"/>
          <p:cNvSpPr/>
          <p:nvPr/>
        </p:nvSpPr>
        <p:spPr>
          <a:xfrm>
            <a:off x="4571886" y="6748272"/>
            <a:ext cx="304792" cy="109728"/>
          </a:xfrm>
          <a:prstGeom prst="rect">
            <a:avLst/>
          </a:prstGeom>
          <a:solidFill>
            <a:srgbClr val="C0392B"/>
          </a:solidFill>
          <a:ln/>
        </p:spPr>
      </p:sp>
      <p:sp>
        <p:nvSpPr>
          <p:cNvPr id="23" name="Shape 20"/>
          <p:cNvSpPr/>
          <p:nvPr/>
        </p:nvSpPr>
        <p:spPr>
          <a:xfrm>
            <a:off x="4876678" y="6748272"/>
            <a:ext cx="304792" cy="109728"/>
          </a:xfrm>
          <a:prstGeom prst="rect">
            <a:avLst/>
          </a:prstGeom>
          <a:solidFill>
            <a:srgbClr val="E67E22"/>
          </a:solidFill>
          <a:ln/>
        </p:spPr>
      </p:sp>
      <p:sp>
        <p:nvSpPr>
          <p:cNvPr id="24" name="Shape 21"/>
          <p:cNvSpPr/>
          <p:nvPr/>
        </p:nvSpPr>
        <p:spPr>
          <a:xfrm>
            <a:off x="5181470" y="6748272"/>
            <a:ext cx="304792" cy="109728"/>
          </a:xfrm>
          <a:prstGeom prst="rect">
            <a:avLst/>
          </a:prstGeom>
          <a:solidFill>
            <a:srgbClr val="27AE60"/>
          </a:solidFill>
          <a:ln/>
        </p:spPr>
      </p:sp>
      <p:sp>
        <p:nvSpPr>
          <p:cNvPr id="25" name="Shape 22"/>
          <p:cNvSpPr/>
          <p:nvPr/>
        </p:nvSpPr>
        <p:spPr>
          <a:xfrm>
            <a:off x="5486263" y="6748272"/>
            <a:ext cx="304792" cy="109728"/>
          </a:xfrm>
          <a:prstGeom prst="rect">
            <a:avLst/>
          </a:prstGeom>
          <a:solidFill>
            <a:srgbClr val="1F618D"/>
          </a:solidFill>
          <a:ln/>
        </p:spPr>
      </p:sp>
      <p:sp>
        <p:nvSpPr>
          <p:cNvPr id="26" name="Shape 23"/>
          <p:cNvSpPr/>
          <p:nvPr/>
        </p:nvSpPr>
        <p:spPr>
          <a:xfrm>
            <a:off x="5791055" y="6748272"/>
            <a:ext cx="304792" cy="109728"/>
          </a:xfrm>
          <a:prstGeom prst="rect">
            <a:avLst/>
          </a:prstGeom>
          <a:solidFill>
            <a:srgbClr val="8E44AD"/>
          </a:solidFill>
          <a:ln/>
        </p:spPr>
      </p:sp>
      <p:sp>
        <p:nvSpPr>
          <p:cNvPr id="27" name="Shape 24"/>
          <p:cNvSpPr/>
          <p:nvPr/>
        </p:nvSpPr>
        <p:spPr>
          <a:xfrm>
            <a:off x="6095848" y="6748272"/>
            <a:ext cx="304792" cy="109728"/>
          </a:xfrm>
          <a:prstGeom prst="rect">
            <a:avLst/>
          </a:prstGeom>
          <a:solidFill>
            <a:srgbClr val="C0392B"/>
          </a:solidFill>
          <a:ln/>
        </p:spPr>
      </p:sp>
      <p:sp>
        <p:nvSpPr>
          <p:cNvPr id="28" name="Shape 25"/>
          <p:cNvSpPr/>
          <p:nvPr/>
        </p:nvSpPr>
        <p:spPr>
          <a:xfrm>
            <a:off x="6400640" y="6748272"/>
            <a:ext cx="304792" cy="109728"/>
          </a:xfrm>
          <a:prstGeom prst="rect">
            <a:avLst/>
          </a:prstGeom>
          <a:solidFill>
            <a:srgbClr val="E67E22"/>
          </a:solidFill>
          <a:ln/>
        </p:spPr>
      </p:sp>
      <p:sp>
        <p:nvSpPr>
          <p:cNvPr id="29" name="Shape 26"/>
          <p:cNvSpPr/>
          <p:nvPr/>
        </p:nvSpPr>
        <p:spPr>
          <a:xfrm>
            <a:off x="6705432" y="6748272"/>
            <a:ext cx="304792" cy="109728"/>
          </a:xfrm>
          <a:prstGeom prst="rect">
            <a:avLst/>
          </a:prstGeom>
          <a:solidFill>
            <a:srgbClr val="27AE60"/>
          </a:solidFill>
          <a:ln/>
        </p:spPr>
      </p:sp>
      <p:sp>
        <p:nvSpPr>
          <p:cNvPr id="30" name="Shape 27"/>
          <p:cNvSpPr/>
          <p:nvPr/>
        </p:nvSpPr>
        <p:spPr>
          <a:xfrm>
            <a:off x="7010225" y="6748272"/>
            <a:ext cx="304792" cy="109728"/>
          </a:xfrm>
          <a:prstGeom prst="rect">
            <a:avLst/>
          </a:prstGeom>
          <a:solidFill>
            <a:srgbClr val="1F618D"/>
          </a:solidFill>
          <a:ln/>
        </p:spPr>
      </p:sp>
      <p:sp>
        <p:nvSpPr>
          <p:cNvPr id="31" name="Shape 28"/>
          <p:cNvSpPr/>
          <p:nvPr/>
        </p:nvSpPr>
        <p:spPr>
          <a:xfrm>
            <a:off x="7315017" y="6748272"/>
            <a:ext cx="304792" cy="109728"/>
          </a:xfrm>
          <a:prstGeom prst="rect">
            <a:avLst/>
          </a:prstGeom>
          <a:solidFill>
            <a:srgbClr val="8E44AD"/>
          </a:solidFill>
          <a:ln/>
        </p:spPr>
      </p:sp>
      <p:sp>
        <p:nvSpPr>
          <p:cNvPr id="32" name="Shape 29"/>
          <p:cNvSpPr/>
          <p:nvPr/>
        </p:nvSpPr>
        <p:spPr>
          <a:xfrm>
            <a:off x="7619809" y="6748272"/>
            <a:ext cx="304792" cy="109728"/>
          </a:xfrm>
          <a:prstGeom prst="rect">
            <a:avLst/>
          </a:prstGeom>
          <a:solidFill>
            <a:srgbClr val="C0392B"/>
          </a:solidFill>
          <a:ln/>
        </p:spPr>
      </p:sp>
      <p:sp>
        <p:nvSpPr>
          <p:cNvPr id="33" name="Shape 30"/>
          <p:cNvSpPr/>
          <p:nvPr/>
        </p:nvSpPr>
        <p:spPr>
          <a:xfrm>
            <a:off x="7924602" y="6748272"/>
            <a:ext cx="304792" cy="109728"/>
          </a:xfrm>
          <a:prstGeom prst="rect">
            <a:avLst/>
          </a:prstGeom>
          <a:solidFill>
            <a:srgbClr val="E67E22"/>
          </a:solidFill>
          <a:ln/>
        </p:spPr>
      </p:sp>
      <p:sp>
        <p:nvSpPr>
          <p:cNvPr id="34" name="Shape 31"/>
          <p:cNvSpPr/>
          <p:nvPr/>
        </p:nvSpPr>
        <p:spPr>
          <a:xfrm>
            <a:off x="8229394" y="6748272"/>
            <a:ext cx="304792" cy="109728"/>
          </a:xfrm>
          <a:prstGeom prst="rect">
            <a:avLst/>
          </a:prstGeom>
          <a:solidFill>
            <a:srgbClr val="27AE60"/>
          </a:solidFill>
          <a:ln/>
        </p:spPr>
      </p:sp>
      <p:sp>
        <p:nvSpPr>
          <p:cNvPr id="35" name="Shape 32"/>
          <p:cNvSpPr/>
          <p:nvPr/>
        </p:nvSpPr>
        <p:spPr>
          <a:xfrm>
            <a:off x="8534187" y="6748272"/>
            <a:ext cx="304792" cy="109728"/>
          </a:xfrm>
          <a:prstGeom prst="rect">
            <a:avLst/>
          </a:prstGeom>
          <a:solidFill>
            <a:srgbClr val="1F618D"/>
          </a:solidFill>
          <a:ln/>
        </p:spPr>
      </p:sp>
      <p:sp>
        <p:nvSpPr>
          <p:cNvPr id="36" name="Shape 33"/>
          <p:cNvSpPr/>
          <p:nvPr/>
        </p:nvSpPr>
        <p:spPr>
          <a:xfrm>
            <a:off x="8838979" y="6748272"/>
            <a:ext cx="304792" cy="109728"/>
          </a:xfrm>
          <a:prstGeom prst="rect">
            <a:avLst/>
          </a:prstGeom>
          <a:solidFill>
            <a:srgbClr val="8E44AD"/>
          </a:solidFill>
          <a:ln/>
        </p:spPr>
      </p:sp>
      <p:sp>
        <p:nvSpPr>
          <p:cNvPr id="37" name="Shape 34"/>
          <p:cNvSpPr/>
          <p:nvPr/>
        </p:nvSpPr>
        <p:spPr>
          <a:xfrm>
            <a:off x="9143771" y="6748272"/>
            <a:ext cx="304792" cy="109728"/>
          </a:xfrm>
          <a:prstGeom prst="rect">
            <a:avLst/>
          </a:prstGeom>
          <a:solidFill>
            <a:srgbClr val="C0392B"/>
          </a:solidFill>
          <a:ln/>
        </p:spPr>
      </p:sp>
      <p:sp>
        <p:nvSpPr>
          <p:cNvPr id="38" name="Shape 35"/>
          <p:cNvSpPr/>
          <p:nvPr/>
        </p:nvSpPr>
        <p:spPr>
          <a:xfrm>
            <a:off x="9448564" y="6748272"/>
            <a:ext cx="304792" cy="109728"/>
          </a:xfrm>
          <a:prstGeom prst="rect">
            <a:avLst/>
          </a:prstGeom>
          <a:solidFill>
            <a:srgbClr val="E67E22"/>
          </a:solidFill>
          <a:ln/>
        </p:spPr>
      </p:sp>
      <p:sp>
        <p:nvSpPr>
          <p:cNvPr id="39" name="Shape 36"/>
          <p:cNvSpPr/>
          <p:nvPr/>
        </p:nvSpPr>
        <p:spPr>
          <a:xfrm>
            <a:off x="9753356" y="6748272"/>
            <a:ext cx="304792" cy="109728"/>
          </a:xfrm>
          <a:prstGeom prst="rect">
            <a:avLst/>
          </a:prstGeom>
          <a:solidFill>
            <a:srgbClr val="27AE60"/>
          </a:solidFill>
          <a:ln/>
        </p:spPr>
      </p:sp>
      <p:sp>
        <p:nvSpPr>
          <p:cNvPr id="40" name="Shape 37"/>
          <p:cNvSpPr/>
          <p:nvPr/>
        </p:nvSpPr>
        <p:spPr>
          <a:xfrm>
            <a:off x="10058149" y="6748272"/>
            <a:ext cx="304792" cy="109728"/>
          </a:xfrm>
          <a:prstGeom prst="rect">
            <a:avLst/>
          </a:prstGeom>
          <a:solidFill>
            <a:srgbClr val="1F618D"/>
          </a:solidFill>
          <a:ln/>
        </p:spPr>
      </p:sp>
      <p:sp>
        <p:nvSpPr>
          <p:cNvPr id="41" name="Shape 38"/>
          <p:cNvSpPr/>
          <p:nvPr/>
        </p:nvSpPr>
        <p:spPr>
          <a:xfrm>
            <a:off x="10362941" y="6748272"/>
            <a:ext cx="304792" cy="109728"/>
          </a:xfrm>
          <a:prstGeom prst="rect">
            <a:avLst/>
          </a:prstGeom>
          <a:solidFill>
            <a:srgbClr val="8E44AD"/>
          </a:solidFill>
          <a:ln/>
        </p:spPr>
      </p:sp>
      <p:sp>
        <p:nvSpPr>
          <p:cNvPr id="42" name="Shape 39"/>
          <p:cNvSpPr/>
          <p:nvPr/>
        </p:nvSpPr>
        <p:spPr>
          <a:xfrm>
            <a:off x="10667733" y="6748272"/>
            <a:ext cx="304792" cy="109728"/>
          </a:xfrm>
          <a:prstGeom prst="rect">
            <a:avLst/>
          </a:prstGeom>
          <a:solidFill>
            <a:srgbClr val="C0392B"/>
          </a:solidFill>
          <a:ln/>
        </p:spPr>
      </p:sp>
      <p:sp>
        <p:nvSpPr>
          <p:cNvPr id="43" name="Shape 40"/>
          <p:cNvSpPr/>
          <p:nvPr/>
        </p:nvSpPr>
        <p:spPr>
          <a:xfrm>
            <a:off x="10972526" y="6748272"/>
            <a:ext cx="304792" cy="109728"/>
          </a:xfrm>
          <a:prstGeom prst="rect">
            <a:avLst/>
          </a:prstGeom>
          <a:solidFill>
            <a:srgbClr val="E67E22"/>
          </a:solidFill>
          <a:ln/>
        </p:spPr>
      </p:sp>
      <p:sp>
        <p:nvSpPr>
          <p:cNvPr id="44" name="Shape 41"/>
          <p:cNvSpPr/>
          <p:nvPr/>
        </p:nvSpPr>
        <p:spPr>
          <a:xfrm>
            <a:off x="11277318" y="6748272"/>
            <a:ext cx="304792" cy="109728"/>
          </a:xfrm>
          <a:prstGeom prst="rect">
            <a:avLst/>
          </a:prstGeom>
          <a:solidFill>
            <a:srgbClr val="27AE60"/>
          </a:solidFill>
          <a:ln/>
        </p:spPr>
      </p:sp>
      <p:sp>
        <p:nvSpPr>
          <p:cNvPr id="45" name="Shape 42"/>
          <p:cNvSpPr/>
          <p:nvPr/>
        </p:nvSpPr>
        <p:spPr>
          <a:xfrm>
            <a:off x="11582110" y="6748272"/>
            <a:ext cx="304792" cy="109728"/>
          </a:xfrm>
          <a:prstGeom prst="rect">
            <a:avLst/>
          </a:prstGeom>
          <a:solidFill>
            <a:srgbClr val="1F618D"/>
          </a:solidFill>
          <a:ln/>
        </p:spPr>
      </p:sp>
      <p:sp>
        <p:nvSpPr>
          <p:cNvPr id="46" name="Shape 43"/>
          <p:cNvSpPr/>
          <p:nvPr/>
        </p:nvSpPr>
        <p:spPr>
          <a:xfrm>
            <a:off x="11886903" y="6748272"/>
            <a:ext cx="304792" cy="109728"/>
          </a:xfrm>
          <a:prstGeom prst="rect">
            <a:avLst/>
          </a:prstGeom>
          <a:solidFill>
            <a:srgbClr val="8E44AD"/>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66 of the 87 seats the NDA took from INDIA</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In these seats more names were removed than the NDA won by</a:t>
            </a:r>
            <a:endParaRPr lang="en-US" sz="1500" dirty="0"/>
          </a:p>
        </p:txBody>
      </p:sp>
      <p:sp>
        <p:nvSpPr>
          <p:cNvPr id="4" name="Shape 2"/>
          <p:cNvSpPr/>
          <p:nvPr/>
        </p:nvSpPr>
        <p:spPr>
          <a:xfrm>
            <a:off x="548640" y="1691640"/>
            <a:ext cx="3566160" cy="1554480"/>
          </a:xfrm>
          <a:prstGeom prst="roundRect">
            <a:avLst>
              <a:gd name="adj" fmla="val 4706"/>
            </a:avLst>
          </a:prstGeom>
          <a:solidFill>
            <a:srgbClr val="F4F6F7"/>
          </a:solidFill>
          <a:ln/>
        </p:spPr>
      </p:sp>
      <p:sp>
        <p:nvSpPr>
          <p:cNvPr id="5" name="Text 3"/>
          <p:cNvSpPr txBox="1"/>
          <p:nvPr/>
        </p:nvSpPr>
        <p:spPr>
          <a:xfrm>
            <a:off x="731520" y="1828800"/>
            <a:ext cx="3200400" cy="777240"/>
          </a:xfrm>
          <a:prstGeom prst="rect">
            <a:avLst/>
          </a:prstGeom>
          <a:noFill/>
          <a:ln/>
        </p:spPr>
        <p:txBody>
          <a:bodyPr wrap="square" lIns="0" tIns="0" rIns="0" bIns="0" rtlCol="0" anchor="b">
            <a:normAutofit/>
          </a:bodyPr>
          <a:lstStyle/>
          <a:p>
            <a:pPr indent="0" marL="0">
              <a:buNone/>
            </a:pPr>
            <a:r>
              <a:rPr lang="en-US" sz="3000" b="1" dirty="0">
                <a:solidFill>
                  <a:srgbClr val="B03A2E"/>
                </a:solidFill>
                <a:latin typeface="Cambria" pitchFamily="34" charset="0"/>
                <a:ea typeface="Cambria" pitchFamily="34" charset="-122"/>
                <a:cs typeface="Cambria" pitchFamily="34" charset="-120"/>
              </a:rPr>
              <a:t>66 of 87</a:t>
            </a:r>
            <a:endParaRPr lang="en-US" sz="3000" dirty="0"/>
          </a:p>
        </p:txBody>
      </p:sp>
      <p:sp>
        <p:nvSpPr>
          <p:cNvPr id="6" name="Text 4"/>
          <p:cNvSpPr txBox="1"/>
          <p:nvPr/>
        </p:nvSpPr>
        <p:spPr>
          <a:xfrm>
            <a:off x="731520" y="2606040"/>
            <a:ext cx="3200400" cy="54864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seats INDIA held in 2020 and lost in 2025 where removals exceed the NDA's margin</a:t>
            </a:r>
            <a:endParaRPr lang="en-US" sz="1250" dirty="0"/>
          </a:p>
        </p:txBody>
      </p:sp>
      <p:sp>
        <p:nvSpPr>
          <p:cNvPr id="7" name="Shape 5"/>
          <p:cNvSpPr/>
          <p:nvPr/>
        </p:nvSpPr>
        <p:spPr>
          <a:xfrm>
            <a:off x="548640" y="3429000"/>
            <a:ext cx="3566160" cy="1554480"/>
          </a:xfrm>
          <a:prstGeom prst="roundRect">
            <a:avLst>
              <a:gd name="adj" fmla="val 4706"/>
            </a:avLst>
          </a:prstGeom>
          <a:solidFill>
            <a:srgbClr val="F4F6F7"/>
          </a:solidFill>
          <a:ln/>
        </p:spPr>
      </p:sp>
      <p:sp>
        <p:nvSpPr>
          <p:cNvPr id="8" name="Text 6"/>
          <p:cNvSpPr txBox="1"/>
          <p:nvPr/>
        </p:nvSpPr>
        <p:spPr>
          <a:xfrm>
            <a:off x="731520" y="3566160"/>
            <a:ext cx="3200400" cy="777240"/>
          </a:xfrm>
          <a:prstGeom prst="rect">
            <a:avLst/>
          </a:prstGeom>
          <a:noFill/>
          <a:ln/>
        </p:spPr>
        <p:txBody>
          <a:bodyPr wrap="square" lIns="0" tIns="0" rIns="0" bIns="0" rtlCol="0" anchor="b">
            <a:normAutofit/>
          </a:bodyPr>
          <a:lstStyle/>
          <a:p>
            <a:pPr indent="0" marL="0">
              <a:buNone/>
            </a:pPr>
            <a:r>
              <a:rPr lang="en-US" sz="3000" b="1" dirty="0">
                <a:solidFill>
                  <a:srgbClr val="B03A2E"/>
                </a:solidFill>
                <a:latin typeface="Cambria" pitchFamily="34" charset="0"/>
                <a:ea typeface="Cambria" pitchFamily="34" charset="-122"/>
                <a:cs typeface="Cambria" pitchFamily="34" charset="-120"/>
              </a:rPr>
              <a:t>1.5×</a:t>
            </a:r>
            <a:endParaRPr lang="en-US" sz="3000" dirty="0"/>
          </a:p>
        </p:txBody>
      </p:sp>
      <p:sp>
        <p:nvSpPr>
          <p:cNvPr id="9" name="Text 7"/>
          <p:cNvSpPr txBox="1"/>
          <p:nvPr/>
        </p:nvSpPr>
        <p:spPr>
          <a:xfrm>
            <a:off x="731520" y="4343400"/>
            <a:ext cx="3200400" cy="54864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removals against the margin in the median such seat</a:t>
            </a:r>
            <a:endParaRPr lang="en-US" sz="1250" dirty="0"/>
          </a:p>
        </p:txBody>
      </p:sp>
      <p:sp>
        <p:nvSpPr>
          <p:cNvPr id="10" name="Shape 8"/>
          <p:cNvSpPr/>
          <p:nvPr/>
        </p:nvSpPr>
        <p:spPr>
          <a:xfrm>
            <a:off x="548640" y="5166360"/>
            <a:ext cx="3566160" cy="1234440"/>
          </a:xfrm>
          <a:prstGeom prst="roundRect">
            <a:avLst>
              <a:gd name="adj" fmla="val 5926"/>
            </a:avLst>
          </a:prstGeom>
          <a:solidFill>
            <a:srgbClr val="F4F6F7"/>
          </a:solidFill>
          <a:ln/>
        </p:spPr>
      </p:sp>
      <p:sp>
        <p:nvSpPr>
          <p:cNvPr id="11" name="Text 9"/>
          <p:cNvSpPr txBox="1"/>
          <p:nvPr/>
        </p:nvSpPr>
        <p:spPr>
          <a:xfrm>
            <a:off x="731520" y="5303520"/>
            <a:ext cx="3200400" cy="617220"/>
          </a:xfrm>
          <a:prstGeom prst="rect">
            <a:avLst/>
          </a:prstGeom>
          <a:noFill/>
          <a:ln/>
        </p:spPr>
        <p:txBody>
          <a:bodyPr wrap="square" lIns="0" tIns="0" rIns="0" bIns="0" rtlCol="0" anchor="b">
            <a:normAutofit/>
          </a:bodyPr>
          <a:lstStyle/>
          <a:p>
            <a:pPr indent="0" marL="0">
              <a:buNone/>
            </a:pPr>
            <a:r>
              <a:rPr lang="en-US" sz="2600" b="1" dirty="0">
                <a:solidFill>
                  <a:srgbClr val="B03A2E"/>
                </a:solidFill>
                <a:latin typeface="Cambria" pitchFamily="34" charset="0"/>
                <a:ea typeface="Cambria" pitchFamily="34" charset="-122"/>
                <a:cs typeface="Cambria" pitchFamily="34" charset="-120"/>
              </a:rPr>
              <a:t>23.3 lakh</a:t>
            </a:r>
            <a:endParaRPr lang="en-US" sz="2600" dirty="0"/>
          </a:p>
        </p:txBody>
      </p:sp>
      <p:sp>
        <p:nvSpPr>
          <p:cNvPr id="12" name="Text 10"/>
          <p:cNvSpPr txBox="1"/>
          <p:nvPr/>
        </p:nvSpPr>
        <p:spPr>
          <a:xfrm>
            <a:off x="731520" y="5920740"/>
            <a:ext cx="3200400" cy="3886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names removed in these 87 seats</a:t>
            </a:r>
            <a:endParaRPr lang="en-US" sz="1250" dirty="0"/>
          </a:p>
        </p:txBody>
      </p:sp>
      <p:graphicFrame>
        <p:nvGraphicFramePr>
          <p:cNvPr id="13" name="Chart 0" descr=""/>
          <p:cNvGraphicFramePr/>
          <p:nvPr/>
        </p:nvGraphicFramePr>
        <p:xfrm>
          <a:off x="4480560" y="1600200"/>
          <a:ext cx="7132320" cy="47091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15" name="Text 12"/>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16" name="Shape 13"/>
          <p:cNvSpPr/>
          <p:nvPr/>
        </p:nvSpPr>
        <p:spPr>
          <a:xfrm>
            <a:off x="0" y="6748272"/>
            <a:ext cx="304792" cy="109728"/>
          </a:xfrm>
          <a:prstGeom prst="rect">
            <a:avLst/>
          </a:prstGeom>
          <a:solidFill>
            <a:srgbClr val="C0392B"/>
          </a:solidFill>
          <a:ln/>
        </p:spPr>
      </p:sp>
      <p:sp>
        <p:nvSpPr>
          <p:cNvPr id="17" name="Shape 14"/>
          <p:cNvSpPr/>
          <p:nvPr/>
        </p:nvSpPr>
        <p:spPr>
          <a:xfrm>
            <a:off x="304792" y="6748272"/>
            <a:ext cx="304792" cy="109728"/>
          </a:xfrm>
          <a:prstGeom prst="rect">
            <a:avLst/>
          </a:prstGeom>
          <a:solidFill>
            <a:srgbClr val="E67E22"/>
          </a:solidFill>
          <a:ln/>
        </p:spPr>
      </p:sp>
      <p:sp>
        <p:nvSpPr>
          <p:cNvPr id="18" name="Shape 15"/>
          <p:cNvSpPr/>
          <p:nvPr/>
        </p:nvSpPr>
        <p:spPr>
          <a:xfrm>
            <a:off x="609585" y="6748272"/>
            <a:ext cx="304792" cy="109728"/>
          </a:xfrm>
          <a:prstGeom prst="rect">
            <a:avLst/>
          </a:prstGeom>
          <a:solidFill>
            <a:srgbClr val="27AE60"/>
          </a:solidFill>
          <a:ln/>
        </p:spPr>
      </p:sp>
      <p:sp>
        <p:nvSpPr>
          <p:cNvPr id="19" name="Shape 16"/>
          <p:cNvSpPr/>
          <p:nvPr/>
        </p:nvSpPr>
        <p:spPr>
          <a:xfrm>
            <a:off x="914377" y="6748272"/>
            <a:ext cx="304792" cy="109728"/>
          </a:xfrm>
          <a:prstGeom prst="rect">
            <a:avLst/>
          </a:prstGeom>
          <a:solidFill>
            <a:srgbClr val="1F618D"/>
          </a:solidFill>
          <a:ln/>
        </p:spPr>
      </p:sp>
      <p:sp>
        <p:nvSpPr>
          <p:cNvPr id="20" name="Shape 17"/>
          <p:cNvSpPr/>
          <p:nvPr/>
        </p:nvSpPr>
        <p:spPr>
          <a:xfrm>
            <a:off x="1219170" y="6748272"/>
            <a:ext cx="304792" cy="109728"/>
          </a:xfrm>
          <a:prstGeom prst="rect">
            <a:avLst/>
          </a:prstGeom>
          <a:solidFill>
            <a:srgbClr val="8E44AD"/>
          </a:solidFill>
          <a:ln/>
        </p:spPr>
      </p:sp>
      <p:sp>
        <p:nvSpPr>
          <p:cNvPr id="21" name="Shape 18"/>
          <p:cNvSpPr/>
          <p:nvPr/>
        </p:nvSpPr>
        <p:spPr>
          <a:xfrm>
            <a:off x="1523962" y="6748272"/>
            <a:ext cx="304792" cy="109728"/>
          </a:xfrm>
          <a:prstGeom prst="rect">
            <a:avLst/>
          </a:prstGeom>
          <a:solidFill>
            <a:srgbClr val="C0392B"/>
          </a:solidFill>
          <a:ln/>
        </p:spPr>
      </p:sp>
      <p:sp>
        <p:nvSpPr>
          <p:cNvPr id="22" name="Shape 19"/>
          <p:cNvSpPr/>
          <p:nvPr/>
        </p:nvSpPr>
        <p:spPr>
          <a:xfrm>
            <a:off x="1828754" y="6748272"/>
            <a:ext cx="304792" cy="109728"/>
          </a:xfrm>
          <a:prstGeom prst="rect">
            <a:avLst/>
          </a:prstGeom>
          <a:solidFill>
            <a:srgbClr val="E67E22"/>
          </a:solidFill>
          <a:ln/>
        </p:spPr>
      </p:sp>
      <p:sp>
        <p:nvSpPr>
          <p:cNvPr id="23" name="Shape 20"/>
          <p:cNvSpPr/>
          <p:nvPr/>
        </p:nvSpPr>
        <p:spPr>
          <a:xfrm>
            <a:off x="2133547" y="6748272"/>
            <a:ext cx="304792" cy="109728"/>
          </a:xfrm>
          <a:prstGeom prst="rect">
            <a:avLst/>
          </a:prstGeom>
          <a:solidFill>
            <a:srgbClr val="27AE60"/>
          </a:solidFill>
          <a:ln/>
        </p:spPr>
      </p:sp>
      <p:sp>
        <p:nvSpPr>
          <p:cNvPr id="24" name="Shape 21"/>
          <p:cNvSpPr/>
          <p:nvPr/>
        </p:nvSpPr>
        <p:spPr>
          <a:xfrm>
            <a:off x="2438339" y="6748272"/>
            <a:ext cx="304792" cy="109728"/>
          </a:xfrm>
          <a:prstGeom prst="rect">
            <a:avLst/>
          </a:prstGeom>
          <a:solidFill>
            <a:srgbClr val="1F618D"/>
          </a:solidFill>
          <a:ln/>
        </p:spPr>
      </p:sp>
      <p:sp>
        <p:nvSpPr>
          <p:cNvPr id="25" name="Shape 22"/>
          <p:cNvSpPr/>
          <p:nvPr/>
        </p:nvSpPr>
        <p:spPr>
          <a:xfrm>
            <a:off x="2743131" y="6748272"/>
            <a:ext cx="304792" cy="109728"/>
          </a:xfrm>
          <a:prstGeom prst="rect">
            <a:avLst/>
          </a:prstGeom>
          <a:solidFill>
            <a:srgbClr val="8E44AD"/>
          </a:solidFill>
          <a:ln/>
        </p:spPr>
      </p:sp>
      <p:sp>
        <p:nvSpPr>
          <p:cNvPr id="26" name="Shape 23"/>
          <p:cNvSpPr/>
          <p:nvPr/>
        </p:nvSpPr>
        <p:spPr>
          <a:xfrm>
            <a:off x="3047924" y="6748272"/>
            <a:ext cx="304792" cy="109728"/>
          </a:xfrm>
          <a:prstGeom prst="rect">
            <a:avLst/>
          </a:prstGeom>
          <a:solidFill>
            <a:srgbClr val="C0392B"/>
          </a:solidFill>
          <a:ln/>
        </p:spPr>
      </p:sp>
      <p:sp>
        <p:nvSpPr>
          <p:cNvPr id="27" name="Shape 24"/>
          <p:cNvSpPr/>
          <p:nvPr/>
        </p:nvSpPr>
        <p:spPr>
          <a:xfrm>
            <a:off x="3352716" y="6748272"/>
            <a:ext cx="304792" cy="109728"/>
          </a:xfrm>
          <a:prstGeom prst="rect">
            <a:avLst/>
          </a:prstGeom>
          <a:solidFill>
            <a:srgbClr val="E67E22"/>
          </a:solidFill>
          <a:ln/>
        </p:spPr>
      </p:sp>
      <p:sp>
        <p:nvSpPr>
          <p:cNvPr id="28" name="Shape 25"/>
          <p:cNvSpPr/>
          <p:nvPr/>
        </p:nvSpPr>
        <p:spPr>
          <a:xfrm>
            <a:off x="3657509" y="6748272"/>
            <a:ext cx="304792" cy="109728"/>
          </a:xfrm>
          <a:prstGeom prst="rect">
            <a:avLst/>
          </a:prstGeom>
          <a:solidFill>
            <a:srgbClr val="27AE60"/>
          </a:solidFill>
          <a:ln/>
        </p:spPr>
      </p:sp>
      <p:sp>
        <p:nvSpPr>
          <p:cNvPr id="29" name="Shape 26"/>
          <p:cNvSpPr/>
          <p:nvPr/>
        </p:nvSpPr>
        <p:spPr>
          <a:xfrm>
            <a:off x="3962301" y="6748272"/>
            <a:ext cx="304792" cy="109728"/>
          </a:xfrm>
          <a:prstGeom prst="rect">
            <a:avLst/>
          </a:prstGeom>
          <a:solidFill>
            <a:srgbClr val="1F618D"/>
          </a:solidFill>
          <a:ln/>
        </p:spPr>
      </p:sp>
      <p:sp>
        <p:nvSpPr>
          <p:cNvPr id="30" name="Shape 27"/>
          <p:cNvSpPr/>
          <p:nvPr/>
        </p:nvSpPr>
        <p:spPr>
          <a:xfrm>
            <a:off x="4267093" y="6748272"/>
            <a:ext cx="304792" cy="109728"/>
          </a:xfrm>
          <a:prstGeom prst="rect">
            <a:avLst/>
          </a:prstGeom>
          <a:solidFill>
            <a:srgbClr val="8E44AD"/>
          </a:solidFill>
          <a:ln/>
        </p:spPr>
      </p:sp>
      <p:sp>
        <p:nvSpPr>
          <p:cNvPr id="31" name="Shape 28"/>
          <p:cNvSpPr/>
          <p:nvPr/>
        </p:nvSpPr>
        <p:spPr>
          <a:xfrm>
            <a:off x="4571886" y="6748272"/>
            <a:ext cx="304792" cy="109728"/>
          </a:xfrm>
          <a:prstGeom prst="rect">
            <a:avLst/>
          </a:prstGeom>
          <a:solidFill>
            <a:srgbClr val="C0392B"/>
          </a:solidFill>
          <a:ln/>
        </p:spPr>
      </p:sp>
      <p:sp>
        <p:nvSpPr>
          <p:cNvPr id="32" name="Shape 29"/>
          <p:cNvSpPr/>
          <p:nvPr/>
        </p:nvSpPr>
        <p:spPr>
          <a:xfrm>
            <a:off x="4876678" y="6748272"/>
            <a:ext cx="304792" cy="109728"/>
          </a:xfrm>
          <a:prstGeom prst="rect">
            <a:avLst/>
          </a:prstGeom>
          <a:solidFill>
            <a:srgbClr val="E67E22"/>
          </a:solidFill>
          <a:ln/>
        </p:spPr>
      </p:sp>
      <p:sp>
        <p:nvSpPr>
          <p:cNvPr id="33" name="Shape 30"/>
          <p:cNvSpPr/>
          <p:nvPr/>
        </p:nvSpPr>
        <p:spPr>
          <a:xfrm>
            <a:off x="5181470" y="6748272"/>
            <a:ext cx="304792" cy="109728"/>
          </a:xfrm>
          <a:prstGeom prst="rect">
            <a:avLst/>
          </a:prstGeom>
          <a:solidFill>
            <a:srgbClr val="27AE60"/>
          </a:solidFill>
          <a:ln/>
        </p:spPr>
      </p:sp>
      <p:sp>
        <p:nvSpPr>
          <p:cNvPr id="34" name="Shape 31"/>
          <p:cNvSpPr/>
          <p:nvPr/>
        </p:nvSpPr>
        <p:spPr>
          <a:xfrm>
            <a:off x="5486263" y="6748272"/>
            <a:ext cx="304792" cy="109728"/>
          </a:xfrm>
          <a:prstGeom prst="rect">
            <a:avLst/>
          </a:prstGeom>
          <a:solidFill>
            <a:srgbClr val="1F618D"/>
          </a:solidFill>
          <a:ln/>
        </p:spPr>
      </p:sp>
      <p:sp>
        <p:nvSpPr>
          <p:cNvPr id="35" name="Shape 32"/>
          <p:cNvSpPr/>
          <p:nvPr/>
        </p:nvSpPr>
        <p:spPr>
          <a:xfrm>
            <a:off x="5791055" y="6748272"/>
            <a:ext cx="304792" cy="109728"/>
          </a:xfrm>
          <a:prstGeom prst="rect">
            <a:avLst/>
          </a:prstGeom>
          <a:solidFill>
            <a:srgbClr val="8E44AD"/>
          </a:solidFill>
          <a:ln/>
        </p:spPr>
      </p:sp>
      <p:sp>
        <p:nvSpPr>
          <p:cNvPr id="36" name="Shape 33"/>
          <p:cNvSpPr/>
          <p:nvPr/>
        </p:nvSpPr>
        <p:spPr>
          <a:xfrm>
            <a:off x="6095848" y="6748272"/>
            <a:ext cx="304792" cy="109728"/>
          </a:xfrm>
          <a:prstGeom prst="rect">
            <a:avLst/>
          </a:prstGeom>
          <a:solidFill>
            <a:srgbClr val="C0392B"/>
          </a:solidFill>
          <a:ln/>
        </p:spPr>
      </p:sp>
      <p:sp>
        <p:nvSpPr>
          <p:cNvPr id="37" name="Shape 34"/>
          <p:cNvSpPr/>
          <p:nvPr/>
        </p:nvSpPr>
        <p:spPr>
          <a:xfrm>
            <a:off x="6400640" y="6748272"/>
            <a:ext cx="304792" cy="109728"/>
          </a:xfrm>
          <a:prstGeom prst="rect">
            <a:avLst/>
          </a:prstGeom>
          <a:solidFill>
            <a:srgbClr val="E67E22"/>
          </a:solidFill>
          <a:ln/>
        </p:spPr>
      </p:sp>
      <p:sp>
        <p:nvSpPr>
          <p:cNvPr id="38" name="Shape 35"/>
          <p:cNvSpPr/>
          <p:nvPr/>
        </p:nvSpPr>
        <p:spPr>
          <a:xfrm>
            <a:off x="6705432" y="6748272"/>
            <a:ext cx="304792" cy="109728"/>
          </a:xfrm>
          <a:prstGeom prst="rect">
            <a:avLst/>
          </a:prstGeom>
          <a:solidFill>
            <a:srgbClr val="27AE60"/>
          </a:solidFill>
          <a:ln/>
        </p:spPr>
      </p:sp>
      <p:sp>
        <p:nvSpPr>
          <p:cNvPr id="39" name="Shape 36"/>
          <p:cNvSpPr/>
          <p:nvPr/>
        </p:nvSpPr>
        <p:spPr>
          <a:xfrm>
            <a:off x="7010225" y="6748272"/>
            <a:ext cx="304792" cy="109728"/>
          </a:xfrm>
          <a:prstGeom prst="rect">
            <a:avLst/>
          </a:prstGeom>
          <a:solidFill>
            <a:srgbClr val="1F618D"/>
          </a:solidFill>
          <a:ln/>
        </p:spPr>
      </p:sp>
      <p:sp>
        <p:nvSpPr>
          <p:cNvPr id="40" name="Shape 37"/>
          <p:cNvSpPr/>
          <p:nvPr/>
        </p:nvSpPr>
        <p:spPr>
          <a:xfrm>
            <a:off x="7315017" y="6748272"/>
            <a:ext cx="304792" cy="109728"/>
          </a:xfrm>
          <a:prstGeom prst="rect">
            <a:avLst/>
          </a:prstGeom>
          <a:solidFill>
            <a:srgbClr val="8E44AD"/>
          </a:solidFill>
          <a:ln/>
        </p:spPr>
      </p:sp>
      <p:sp>
        <p:nvSpPr>
          <p:cNvPr id="41" name="Shape 38"/>
          <p:cNvSpPr/>
          <p:nvPr/>
        </p:nvSpPr>
        <p:spPr>
          <a:xfrm>
            <a:off x="7619809" y="6748272"/>
            <a:ext cx="304792" cy="109728"/>
          </a:xfrm>
          <a:prstGeom prst="rect">
            <a:avLst/>
          </a:prstGeom>
          <a:solidFill>
            <a:srgbClr val="C0392B"/>
          </a:solidFill>
          <a:ln/>
        </p:spPr>
      </p:sp>
      <p:sp>
        <p:nvSpPr>
          <p:cNvPr id="42" name="Shape 39"/>
          <p:cNvSpPr/>
          <p:nvPr/>
        </p:nvSpPr>
        <p:spPr>
          <a:xfrm>
            <a:off x="7924602" y="6748272"/>
            <a:ext cx="304792" cy="109728"/>
          </a:xfrm>
          <a:prstGeom prst="rect">
            <a:avLst/>
          </a:prstGeom>
          <a:solidFill>
            <a:srgbClr val="E67E22"/>
          </a:solidFill>
          <a:ln/>
        </p:spPr>
      </p:sp>
      <p:sp>
        <p:nvSpPr>
          <p:cNvPr id="43" name="Shape 40"/>
          <p:cNvSpPr/>
          <p:nvPr/>
        </p:nvSpPr>
        <p:spPr>
          <a:xfrm>
            <a:off x="8229394" y="6748272"/>
            <a:ext cx="304792" cy="109728"/>
          </a:xfrm>
          <a:prstGeom prst="rect">
            <a:avLst/>
          </a:prstGeom>
          <a:solidFill>
            <a:srgbClr val="27AE60"/>
          </a:solidFill>
          <a:ln/>
        </p:spPr>
      </p:sp>
      <p:sp>
        <p:nvSpPr>
          <p:cNvPr id="44" name="Shape 41"/>
          <p:cNvSpPr/>
          <p:nvPr/>
        </p:nvSpPr>
        <p:spPr>
          <a:xfrm>
            <a:off x="8534187" y="6748272"/>
            <a:ext cx="304792" cy="109728"/>
          </a:xfrm>
          <a:prstGeom prst="rect">
            <a:avLst/>
          </a:prstGeom>
          <a:solidFill>
            <a:srgbClr val="1F618D"/>
          </a:solidFill>
          <a:ln/>
        </p:spPr>
      </p:sp>
      <p:sp>
        <p:nvSpPr>
          <p:cNvPr id="45" name="Shape 42"/>
          <p:cNvSpPr/>
          <p:nvPr/>
        </p:nvSpPr>
        <p:spPr>
          <a:xfrm>
            <a:off x="8838979" y="6748272"/>
            <a:ext cx="304792" cy="109728"/>
          </a:xfrm>
          <a:prstGeom prst="rect">
            <a:avLst/>
          </a:prstGeom>
          <a:solidFill>
            <a:srgbClr val="8E44AD"/>
          </a:solidFill>
          <a:ln/>
        </p:spPr>
      </p:sp>
      <p:sp>
        <p:nvSpPr>
          <p:cNvPr id="46" name="Shape 43"/>
          <p:cNvSpPr/>
          <p:nvPr/>
        </p:nvSpPr>
        <p:spPr>
          <a:xfrm>
            <a:off x="9143771" y="6748272"/>
            <a:ext cx="304792" cy="109728"/>
          </a:xfrm>
          <a:prstGeom prst="rect">
            <a:avLst/>
          </a:prstGeom>
          <a:solidFill>
            <a:srgbClr val="C0392B"/>
          </a:solidFill>
          <a:ln/>
        </p:spPr>
      </p:sp>
      <p:sp>
        <p:nvSpPr>
          <p:cNvPr id="47" name="Shape 44"/>
          <p:cNvSpPr/>
          <p:nvPr/>
        </p:nvSpPr>
        <p:spPr>
          <a:xfrm>
            <a:off x="9448564" y="6748272"/>
            <a:ext cx="304792" cy="109728"/>
          </a:xfrm>
          <a:prstGeom prst="rect">
            <a:avLst/>
          </a:prstGeom>
          <a:solidFill>
            <a:srgbClr val="E67E22"/>
          </a:solidFill>
          <a:ln/>
        </p:spPr>
      </p:sp>
      <p:sp>
        <p:nvSpPr>
          <p:cNvPr id="48" name="Shape 45"/>
          <p:cNvSpPr/>
          <p:nvPr/>
        </p:nvSpPr>
        <p:spPr>
          <a:xfrm>
            <a:off x="9753356" y="6748272"/>
            <a:ext cx="304792" cy="109728"/>
          </a:xfrm>
          <a:prstGeom prst="rect">
            <a:avLst/>
          </a:prstGeom>
          <a:solidFill>
            <a:srgbClr val="27AE60"/>
          </a:solidFill>
          <a:ln/>
        </p:spPr>
      </p:sp>
      <p:sp>
        <p:nvSpPr>
          <p:cNvPr id="49" name="Shape 46"/>
          <p:cNvSpPr/>
          <p:nvPr/>
        </p:nvSpPr>
        <p:spPr>
          <a:xfrm>
            <a:off x="10058149" y="6748272"/>
            <a:ext cx="304792" cy="109728"/>
          </a:xfrm>
          <a:prstGeom prst="rect">
            <a:avLst/>
          </a:prstGeom>
          <a:solidFill>
            <a:srgbClr val="1F618D"/>
          </a:solidFill>
          <a:ln/>
        </p:spPr>
      </p:sp>
      <p:sp>
        <p:nvSpPr>
          <p:cNvPr id="50" name="Shape 47"/>
          <p:cNvSpPr/>
          <p:nvPr/>
        </p:nvSpPr>
        <p:spPr>
          <a:xfrm>
            <a:off x="10362941" y="6748272"/>
            <a:ext cx="304792" cy="109728"/>
          </a:xfrm>
          <a:prstGeom prst="rect">
            <a:avLst/>
          </a:prstGeom>
          <a:solidFill>
            <a:srgbClr val="8E44AD"/>
          </a:solidFill>
          <a:ln/>
        </p:spPr>
      </p:sp>
      <p:sp>
        <p:nvSpPr>
          <p:cNvPr id="51" name="Shape 48"/>
          <p:cNvSpPr/>
          <p:nvPr/>
        </p:nvSpPr>
        <p:spPr>
          <a:xfrm>
            <a:off x="10667733" y="6748272"/>
            <a:ext cx="304792" cy="109728"/>
          </a:xfrm>
          <a:prstGeom prst="rect">
            <a:avLst/>
          </a:prstGeom>
          <a:solidFill>
            <a:srgbClr val="C0392B"/>
          </a:solidFill>
          <a:ln/>
        </p:spPr>
      </p:sp>
      <p:sp>
        <p:nvSpPr>
          <p:cNvPr id="52" name="Shape 49"/>
          <p:cNvSpPr/>
          <p:nvPr/>
        </p:nvSpPr>
        <p:spPr>
          <a:xfrm>
            <a:off x="10972526" y="6748272"/>
            <a:ext cx="304792" cy="109728"/>
          </a:xfrm>
          <a:prstGeom prst="rect">
            <a:avLst/>
          </a:prstGeom>
          <a:solidFill>
            <a:srgbClr val="E67E22"/>
          </a:solidFill>
          <a:ln/>
        </p:spPr>
      </p:sp>
      <p:sp>
        <p:nvSpPr>
          <p:cNvPr id="53" name="Shape 50"/>
          <p:cNvSpPr/>
          <p:nvPr/>
        </p:nvSpPr>
        <p:spPr>
          <a:xfrm>
            <a:off x="11277318" y="6748272"/>
            <a:ext cx="304792" cy="109728"/>
          </a:xfrm>
          <a:prstGeom prst="rect">
            <a:avLst/>
          </a:prstGeom>
          <a:solidFill>
            <a:srgbClr val="27AE60"/>
          </a:solidFill>
          <a:ln/>
        </p:spPr>
      </p:sp>
      <p:sp>
        <p:nvSpPr>
          <p:cNvPr id="54" name="Shape 51"/>
          <p:cNvSpPr/>
          <p:nvPr/>
        </p:nvSpPr>
        <p:spPr>
          <a:xfrm>
            <a:off x="11582110" y="6748272"/>
            <a:ext cx="304792" cy="109728"/>
          </a:xfrm>
          <a:prstGeom prst="rect">
            <a:avLst/>
          </a:prstGeom>
          <a:solidFill>
            <a:srgbClr val="1F618D"/>
          </a:solidFill>
          <a:ln/>
        </p:spPr>
      </p:sp>
      <p:sp>
        <p:nvSpPr>
          <p:cNvPr id="55" name="Shape 52"/>
          <p:cNvSpPr/>
          <p:nvPr/>
        </p:nvSpPr>
        <p:spPr>
          <a:xfrm>
            <a:off x="11886903" y="6748272"/>
            <a:ext cx="304792" cy="109728"/>
          </a:xfrm>
          <a:prstGeom prst="rect">
            <a:avLst/>
          </a:prstGeom>
          <a:solidFill>
            <a:srgbClr val="8E44AD"/>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Removals against the vote</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removed as a share of the votes polled in 2025, the fifteen highest</a:t>
            </a:r>
            <a:endParaRPr lang="en-US" sz="1500" dirty="0"/>
          </a:p>
        </p:txBody>
      </p:sp>
      <p:graphicFrame>
        <p:nvGraphicFramePr>
          <p:cNvPr id="4" name="Chart 0" descr=""/>
          <p:cNvGraphicFramePr/>
          <p:nvPr/>
        </p:nvGraphicFramePr>
        <p:xfrm>
          <a:off x="548640" y="15544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Across Bihar, removals equal 13.9% of the votes polled.</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 68 seats they exceed 15%, in 18 a fifth.</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Gopalganj is highest, at 34.1%.</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In Digha the removals exceed the runner-up's entire vote.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Colour marks the 2025 winner: orange NDA, green INDIA, purple neither.</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Women are 55.5% of those removed</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Against 47.86% of Bihar's population; over-represented in 38 of 38 districts</a:t>
            </a:r>
            <a:endParaRPr lang="en-US" sz="1500" dirty="0"/>
          </a:p>
        </p:txBody>
      </p:sp>
      <p:graphicFrame>
        <p:nvGraphicFramePr>
          <p:cNvPr id="4" name="Chart 0" descr=""/>
          <p:cNvGraphicFramePr/>
          <p:nvPr/>
        </p:nvGraphicFramePr>
        <p:xfrm>
          <a:off x="548640" y="15544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38,33,870 women and 30,76,689 men were removed: 7,57,181 more women.</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roll records sex, so this rests on no estimate.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Women who move on marriage and are marked "shifted" at their parents' address would produce this pattern; the lists do not record the reason against each name.</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lists do not show whether they were enrolled again where they now live. If not, they have lost the vote.</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Religion, read from names, as a range</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roll records no religion; the lists classify names where the name allows it</a:t>
            </a:r>
            <a:endParaRPr lang="en-US" sz="1500" dirty="0"/>
          </a:p>
        </p:txBody>
      </p:sp>
      <p:sp>
        <p:nvSpPr>
          <p:cNvPr id="4" name="Shape 2"/>
          <p:cNvSpPr/>
          <p:nvPr/>
        </p:nvSpPr>
        <p:spPr>
          <a:xfrm>
            <a:off x="548640" y="1691640"/>
            <a:ext cx="3566160" cy="1463040"/>
          </a:xfrm>
          <a:prstGeom prst="roundRect">
            <a:avLst>
              <a:gd name="adj" fmla="val 5000"/>
            </a:avLst>
          </a:prstGeom>
          <a:solidFill>
            <a:srgbClr val="F4F6F7"/>
          </a:solidFill>
          <a:ln/>
        </p:spPr>
      </p:sp>
      <p:sp>
        <p:nvSpPr>
          <p:cNvPr id="5" name="Text 3"/>
          <p:cNvSpPr txBox="1"/>
          <p:nvPr/>
        </p:nvSpPr>
        <p:spPr>
          <a:xfrm>
            <a:off x="731520" y="1828800"/>
            <a:ext cx="3200400" cy="73152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15.4% to 24.4%</a:t>
            </a:r>
            <a:endParaRPr lang="en-US" sz="2800" dirty="0"/>
          </a:p>
        </p:txBody>
      </p:sp>
      <p:sp>
        <p:nvSpPr>
          <p:cNvPr id="6" name="Text 4"/>
          <p:cNvSpPr txBox="1"/>
          <p:nvPr/>
        </p:nvSpPr>
        <p:spPr>
          <a:xfrm>
            <a:off x="731520" y="256032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Muslim share of removals: classified names only, then adding every unclassified name</a:t>
            </a:r>
            <a:endParaRPr lang="en-US" sz="1250" dirty="0"/>
          </a:p>
        </p:txBody>
      </p:sp>
      <p:sp>
        <p:nvSpPr>
          <p:cNvPr id="7" name="Shape 5"/>
          <p:cNvSpPr/>
          <p:nvPr/>
        </p:nvSpPr>
        <p:spPr>
          <a:xfrm>
            <a:off x="548640" y="3337560"/>
            <a:ext cx="3566160" cy="1463040"/>
          </a:xfrm>
          <a:prstGeom prst="roundRect">
            <a:avLst>
              <a:gd name="adj" fmla="val 5000"/>
            </a:avLst>
          </a:prstGeom>
          <a:solidFill>
            <a:srgbClr val="F4F6F7"/>
          </a:solidFill>
          <a:ln/>
        </p:spPr>
      </p:sp>
      <p:sp>
        <p:nvSpPr>
          <p:cNvPr id="8" name="Text 6"/>
          <p:cNvSpPr txBox="1"/>
          <p:nvPr/>
        </p:nvSpPr>
        <p:spPr>
          <a:xfrm>
            <a:off x="731520" y="3474720"/>
            <a:ext cx="3200400" cy="73152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16.87%</a:t>
            </a:r>
            <a:endParaRPr lang="en-US" sz="2800" dirty="0"/>
          </a:p>
        </p:txBody>
      </p:sp>
      <p:sp>
        <p:nvSpPr>
          <p:cNvPr id="9" name="Text 7"/>
          <p:cNvSpPr txBox="1"/>
          <p:nvPr/>
        </p:nvSpPr>
        <p:spPr>
          <a:xfrm>
            <a:off x="731520" y="4206240"/>
            <a:ext cx="3200400" cy="50292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Muslim share of Bihar's population, 2011 census (17.70% in the 2023 caste survey)</a:t>
            </a:r>
            <a:endParaRPr lang="en-US" sz="1250" dirty="0"/>
          </a:p>
        </p:txBody>
      </p:sp>
      <p:sp>
        <p:nvSpPr>
          <p:cNvPr id="10" name="Shape 8"/>
          <p:cNvSpPr/>
          <p:nvPr/>
        </p:nvSpPr>
        <p:spPr>
          <a:xfrm>
            <a:off x="548640" y="4983480"/>
            <a:ext cx="3566160" cy="1371600"/>
          </a:xfrm>
          <a:prstGeom prst="roundRect">
            <a:avLst>
              <a:gd name="adj" fmla="val 5333"/>
            </a:avLst>
          </a:prstGeom>
          <a:solidFill>
            <a:srgbClr val="F4F6F7"/>
          </a:solidFill>
          <a:ln/>
        </p:spPr>
      </p:sp>
      <p:sp>
        <p:nvSpPr>
          <p:cNvPr id="11" name="Text 9"/>
          <p:cNvSpPr txBox="1"/>
          <p:nvPr/>
        </p:nvSpPr>
        <p:spPr>
          <a:xfrm>
            <a:off x="731520" y="5120640"/>
            <a:ext cx="3200400" cy="685800"/>
          </a:xfrm>
          <a:prstGeom prst="rect">
            <a:avLst/>
          </a:prstGeom>
          <a:noFill/>
          <a:ln/>
        </p:spPr>
        <p:txBody>
          <a:bodyPr wrap="square" lIns="0" tIns="0" rIns="0" bIns="0" rtlCol="0" anchor="b">
            <a:normAutofit/>
          </a:bodyPr>
          <a:lstStyle/>
          <a:p>
            <a:pPr indent="0" marL="0">
              <a:buNone/>
            </a:pPr>
            <a:r>
              <a:rPr lang="en-US" sz="2800" b="1" dirty="0">
                <a:solidFill>
                  <a:srgbClr val="B03A2E"/>
                </a:solidFill>
                <a:latin typeface="Cambria" pitchFamily="34" charset="0"/>
                <a:ea typeface="Cambria" pitchFamily="34" charset="-122"/>
                <a:cs typeface="Cambria" pitchFamily="34" charset="-120"/>
              </a:rPr>
              <a:t>8 districts</a:t>
            </a:r>
            <a:endParaRPr lang="en-US" sz="2800" dirty="0"/>
          </a:p>
        </p:txBody>
      </p:sp>
      <p:sp>
        <p:nvSpPr>
          <p:cNvPr id="12" name="Text 10"/>
          <p:cNvSpPr txBox="1"/>
          <p:nvPr/>
        </p:nvSpPr>
        <p:spPr>
          <a:xfrm>
            <a:off x="731520" y="5806440"/>
            <a:ext cx="3200400" cy="457200"/>
          </a:xfrm>
          <a:prstGeom prst="rect">
            <a:avLst/>
          </a:prstGeom>
          <a:noFill/>
          <a:ln/>
        </p:spPr>
        <p:txBody>
          <a:bodyPr wrap="square" lIns="0" tIns="0" rIns="0" bIns="0" rtlCol="0" anchor="t"/>
          <a:lstStyle/>
          <a:p>
            <a:pPr indent="0" marL="0">
              <a:buNone/>
            </a:pPr>
            <a:r>
              <a:rPr lang="en-US" sz="1250" dirty="0">
                <a:solidFill>
                  <a:srgbClr val="4D5B69"/>
                </a:solidFill>
                <a:latin typeface="Calibri" pitchFamily="34" charset="0"/>
                <a:ea typeface="Calibri" pitchFamily="34" charset="-122"/>
                <a:cs typeface="Calibri" pitchFamily="34" charset="-120"/>
              </a:rPr>
              <a:t>where the classified Muslim share alone runs more than a point above the census</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480560" y="1691640"/>
          <a:ext cx="7132320" cy="914400"/>
        </p:xfrm>
        <a:graphic>
          <a:graphicData uri="http://schemas.openxmlformats.org/drawingml/2006/table">
            <a:tbl>
              <a:tblPr/>
              <a:tblGrid>
                <a:gridCol w="2377440"/>
                <a:gridCol w="1554480"/>
                <a:gridCol w="1600200"/>
                <a:gridCol w="1600200"/>
              </a:tblGrid>
              <a:tr h="27432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Census 2011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low</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Removals: high</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8E2F25"/>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Aurangabad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Gaya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Jehanabad</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Lakhisarai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Nalanda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Nawada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Patna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74320">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Sheikhpura</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14" name="Text 11"/>
          <p:cNvSpPr txBox="1"/>
          <p:nvPr/>
        </p:nvSpPr>
        <p:spPr>
          <a:xfrm>
            <a:off x="4480560" y="4754880"/>
            <a:ext cx="7132320" cy="731520"/>
          </a:xfrm>
          <a:prstGeom prst="rect">
            <a:avLst/>
          </a:prstGeom>
          <a:noFill/>
          <a:ln/>
        </p:spPr>
        <p:txBody>
          <a:bodyPr wrap="square" lIns="0" tIns="0" rIns="0" bIns="0" rtlCol="0" anchor="t"/>
          <a:lstStyle/>
          <a:p>
            <a:pPr indent="0" marL="0">
              <a:spcAft>
                <a:spcPts val="800"/>
              </a:spcAft>
              <a:buNone/>
            </a:pPr>
            <a:r>
              <a:rPr lang="en-US" sz="1400" dirty="0">
                <a:solidFill>
                  <a:srgbClr val="4D5B69"/>
                </a:solidFill>
                <a:latin typeface="Calibri" pitchFamily="34" charset="0"/>
                <a:ea typeface="Calibri" pitchFamily="34" charset="-122"/>
                <a:cs typeface="Calibri" pitchFamily="34" charset="-120"/>
              </a:rPr>
              <a:t>The census share lies inside the range in 18 of 38 districts.</a:t>
            </a:r>
            <a:endParaRPr lang="en-US" sz="1400" dirty="0"/>
          </a:p>
        </p:txBody>
      </p:sp>
      <p:sp>
        <p:nvSpPr>
          <p:cNvPr id="15" name="Text 1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16" name="Text 1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17" name="Shape 14"/>
          <p:cNvSpPr/>
          <p:nvPr/>
        </p:nvSpPr>
        <p:spPr>
          <a:xfrm>
            <a:off x="0" y="6748272"/>
            <a:ext cx="304792" cy="109728"/>
          </a:xfrm>
          <a:prstGeom prst="rect">
            <a:avLst/>
          </a:prstGeom>
          <a:solidFill>
            <a:srgbClr val="C0392B"/>
          </a:solidFill>
          <a:ln/>
        </p:spPr>
      </p:sp>
      <p:sp>
        <p:nvSpPr>
          <p:cNvPr id="18" name="Shape 15"/>
          <p:cNvSpPr/>
          <p:nvPr/>
        </p:nvSpPr>
        <p:spPr>
          <a:xfrm>
            <a:off x="304792" y="6748272"/>
            <a:ext cx="304792" cy="109728"/>
          </a:xfrm>
          <a:prstGeom prst="rect">
            <a:avLst/>
          </a:prstGeom>
          <a:solidFill>
            <a:srgbClr val="E67E22"/>
          </a:solidFill>
          <a:ln/>
        </p:spPr>
      </p:sp>
      <p:sp>
        <p:nvSpPr>
          <p:cNvPr id="19" name="Shape 16"/>
          <p:cNvSpPr/>
          <p:nvPr/>
        </p:nvSpPr>
        <p:spPr>
          <a:xfrm>
            <a:off x="609585" y="6748272"/>
            <a:ext cx="304792" cy="109728"/>
          </a:xfrm>
          <a:prstGeom prst="rect">
            <a:avLst/>
          </a:prstGeom>
          <a:solidFill>
            <a:srgbClr val="27AE60"/>
          </a:solidFill>
          <a:ln/>
        </p:spPr>
      </p:sp>
      <p:sp>
        <p:nvSpPr>
          <p:cNvPr id="20" name="Shape 17"/>
          <p:cNvSpPr/>
          <p:nvPr/>
        </p:nvSpPr>
        <p:spPr>
          <a:xfrm>
            <a:off x="914377" y="6748272"/>
            <a:ext cx="304792" cy="109728"/>
          </a:xfrm>
          <a:prstGeom prst="rect">
            <a:avLst/>
          </a:prstGeom>
          <a:solidFill>
            <a:srgbClr val="1F618D"/>
          </a:solidFill>
          <a:ln/>
        </p:spPr>
      </p:sp>
      <p:sp>
        <p:nvSpPr>
          <p:cNvPr id="21" name="Shape 18"/>
          <p:cNvSpPr/>
          <p:nvPr/>
        </p:nvSpPr>
        <p:spPr>
          <a:xfrm>
            <a:off x="1219170" y="6748272"/>
            <a:ext cx="304792" cy="109728"/>
          </a:xfrm>
          <a:prstGeom prst="rect">
            <a:avLst/>
          </a:prstGeom>
          <a:solidFill>
            <a:srgbClr val="8E44AD"/>
          </a:solidFill>
          <a:ln/>
        </p:spPr>
      </p:sp>
      <p:sp>
        <p:nvSpPr>
          <p:cNvPr id="22" name="Shape 19"/>
          <p:cNvSpPr/>
          <p:nvPr/>
        </p:nvSpPr>
        <p:spPr>
          <a:xfrm>
            <a:off x="1523962" y="6748272"/>
            <a:ext cx="304792" cy="109728"/>
          </a:xfrm>
          <a:prstGeom prst="rect">
            <a:avLst/>
          </a:prstGeom>
          <a:solidFill>
            <a:srgbClr val="C0392B"/>
          </a:solidFill>
          <a:ln/>
        </p:spPr>
      </p:sp>
      <p:sp>
        <p:nvSpPr>
          <p:cNvPr id="23" name="Shape 20"/>
          <p:cNvSpPr/>
          <p:nvPr/>
        </p:nvSpPr>
        <p:spPr>
          <a:xfrm>
            <a:off x="1828754" y="6748272"/>
            <a:ext cx="304792" cy="109728"/>
          </a:xfrm>
          <a:prstGeom prst="rect">
            <a:avLst/>
          </a:prstGeom>
          <a:solidFill>
            <a:srgbClr val="E67E22"/>
          </a:solidFill>
          <a:ln/>
        </p:spPr>
      </p:sp>
      <p:sp>
        <p:nvSpPr>
          <p:cNvPr id="24" name="Shape 21"/>
          <p:cNvSpPr/>
          <p:nvPr/>
        </p:nvSpPr>
        <p:spPr>
          <a:xfrm>
            <a:off x="2133547" y="6748272"/>
            <a:ext cx="304792" cy="109728"/>
          </a:xfrm>
          <a:prstGeom prst="rect">
            <a:avLst/>
          </a:prstGeom>
          <a:solidFill>
            <a:srgbClr val="27AE60"/>
          </a:solidFill>
          <a:ln/>
        </p:spPr>
      </p:sp>
      <p:sp>
        <p:nvSpPr>
          <p:cNvPr id="25" name="Shape 22"/>
          <p:cNvSpPr/>
          <p:nvPr/>
        </p:nvSpPr>
        <p:spPr>
          <a:xfrm>
            <a:off x="2438339" y="6748272"/>
            <a:ext cx="304792" cy="109728"/>
          </a:xfrm>
          <a:prstGeom prst="rect">
            <a:avLst/>
          </a:prstGeom>
          <a:solidFill>
            <a:srgbClr val="1F618D"/>
          </a:solidFill>
          <a:ln/>
        </p:spPr>
      </p:sp>
      <p:sp>
        <p:nvSpPr>
          <p:cNvPr id="26" name="Shape 23"/>
          <p:cNvSpPr/>
          <p:nvPr/>
        </p:nvSpPr>
        <p:spPr>
          <a:xfrm>
            <a:off x="2743131" y="6748272"/>
            <a:ext cx="304792" cy="109728"/>
          </a:xfrm>
          <a:prstGeom prst="rect">
            <a:avLst/>
          </a:prstGeom>
          <a:solidFill>
            <a:srgbClr val="8E44AD"/>
          </a:solidFill>
          <a:ln/>
        </p:spPr>
      </p:sp>
      <p:sp>
        <p:nvSpPr>
          <p:cNvPr id="27" name="Shape 24"/>
          <p:cNvSpPr/>
          <p:nvPr/>
        </p:nvSpPr>
        <p:spPr>
          <a:xfrm>
            <a:off x="3047924" y="6748272"/>
            <a:ext cx="304792" cy="109728"/>
          </a:xfrm>
          <a:prstGeom prst="rect">
            <a:avLst/>
          </a:prstGeom>
          <a:solidFill>
            <a:srgbClr val="C0392B"/>
          </a:solidFill>
          <a:ln/>
        </p:spPr>
      </p:sp>
      <p:sp>
        <p:nvSpPr>
          <p:cNvPr id="28" name="Shape 25"/>
          <p:cNvSpPr/>
          <p:nvPr/>
        </p:nvSpPr>
        <p:spPr>
          <a:xfrm>
            <a:off x="3352716" y="6748272"/>
            <a:ext cx="304792" cy="109728"/>
          </a:xfrm>
          <a:prstGeom prst="rect">
            <a:avLst/>
          </a:prstGeom>
          <a:solidFill>
            <a:srgbClr val="E67E22"/>
          </a:solidFill>
          <a:ln/>
        </p:spPr>
      </p:sp>
      <p:sp>
        <p:nvSpPr>
          <p:cNvPr id="29" name="Shape 26"/>
          <p:cNvSpPr/>
          <p:nvPr/>
        </p:nvSpPr>
        <p:spPr>
          <a:xfrm>
            <a:off x="3657509" y="6748272"/>
            <a:ext cx="304792" cy="109728"/>
          </a:xfrm>
          <a:prstGeom prst="rect">
            <a:avLst/>
          </a:prstGeom>
          <a:solidFill>
            <a:srgbClr val="27AE60"/>
          </a:solidFill>
          <a:ln/>
        </p:spPr>
      </p:sp>
      <p:sp>
        <p:nvSpPr>
          <p:cNvPr id="30" name="Shape 27"/>
          <p:cNvSpPr/>
          <p:nvPr/>
        </p:nvSpPr>
        <p:spPr>
          <a:xfrm>
            <a:off x="3962301" y="6748272"/>
            <a:ext cx="304792" cy="109728"/>
          </a:xfrm>
          <a:prstGeom prst="rect">
            <a:avLst/>
          </a:prstGeom>
          <a:solidFill>
            <a:srgbClr val="1F618D"/>
          </a:solidFill>
          <a:ln/>
        </p:spPr>
      </p:sp>
      <p:sp>
        <p:nvSpPr>
          <p:cNvPr id="31" name="Shape 28"/>
          <p:cNvSpPr/>
          <p:nvPr/>
        </p:nvSpPr>
        <p:spPr>
          <a:xfrm>
            <a:off x="4267093" y="6748272"/>
            <a:ext cx="304792" cy="109728"/>
          </a:xfrm>
          <a:prstGeom prst="rect">
            <a:avLst/>
          </a:prstGeom>
          <a:solidFill>
            <a:srgbClr val="8E44AD"/>
          </a:solidFill>
          <a:ln/>
        </p:spPr>
      </p:sp>
      <p:sp>
        <p:nvSpPr>
          <p:cNvPr id="32" name="Shape 29"/>
          <p:cNvSpPr/>
          <p:nvPr/>
        </p:nvSpPr>
        <p:spPr>
          <a:xfrm>
            <a:off x="4571886" y="6748272"/>
            <a:ext cx="304792" cy="109728"/>
          </a:xfrm>
          <a:prstGeom prst="rect">
            <a:avLst/>
          </a:prstGeom>
          <a:solidFill>
            <a:srgbClr val="C0392B"/>
          </a:solidFill>
          <a:ln/>
        </p:spPr>
      </p:sp>
      <p:sp>
        <p:nvSpPr>
          <p:cNvPr id="33" name="Shape 30"/>
          <p:cNvSpPr/>
          <p:nvPr/>
        </p:nvSpPr>
        <p:spPr>
          <a:xfrm>
            <a:off x="4876678" y="6748272"/>
            <a:ext cx="304792" cy="109728"/>
          </a:xfrm>
          <a:prstGeom prst="rect">
            <a:avLst/>
          </a:prstGeom>
          <a:solidFill>
            <a:srgbClr val="E67E22"/>
          </a:solidFill>
          <a:ln/>
        </p:spPr>
      </p:sp>
      <p:sp>
        <p:nvSpPr>
          <p:cNvPr id="34" name="Shape 31"/>
          <p:cNvSpPr/>
          <p:nvPr/>
        </p:nvSpPr>
        <p:spPr>
          <a:xfrm>
            <a:off x="5181470" y="6748272"/>
            <a:ext cx="304792" cy="109728"/>
          </a:xfrm>
          <a:prstGeom prst="rect">
            <a:avLst/>
          </a:prstGeom>
          <a:solidFill>
            <a:srgbClr val="27AE60"/>
          </a:solidFill>
          <a:ln/>
        </p:spPr>
      </p:sp>
      <p:sp>
        <p:nvSpPr>
          <p:cNvPr id="35" name="Shape 32"/>
          <p:cNvSpPr/>
          <p:nvPr/>
        </p:nvSpPr>
        <p:spPr>
          <a:xfrm>
            <a:off x="5486263" y="6748272"/>
            <a:ext cx="304792" cy="109728"/>
          </a:xfrm>
          <a:prstGeom prst="rect">
            <a:avLst/>
          </a:prstGeom>
          <a:solidFill>
            <a:srgbClr val="1F618D"/>
          </a:solidFill>
          <a:ln/>
        </p:spPr>
      </p:sp>
      <p:sp>
        <p:nvSpPr>
          <p:cNvPr id="36" name="Shape 33"/>
          <p:cNvSpPr/>
          <p:nvPr/>
        </p:nvSpPr>
        <p:spPr>
          <a:xfrm>
            <a:off x="5791055" y="6748272"/>
            <a:ext cx="304792" cy="109728"/>
          </a:xfrm>
          <a:prstGeom prst="rect">
            <a:avLst/>
          </a:prstGeom>
          <a:solidFill>
            <a:srgbClr val="8E44AD"/>
          </a:solidFill>
          <a:ln/>
        </p:spPr>
      </p:sp>
      <p:sp>
        <p:nvSpPr>
          <p:cNvPr id="37" name="Shape 34"/>
          <p:cNvSpPr/>
          <p:nvPr/>
        </p:nvSpPr>
        <p:spPr>
          <a:xfrm>
            <a:off x="6095848" y="6748272"/>
            <a:ext cx="304792" cy="109728"/>
          </a:xfrm>
          <a:prstGeom prst="rect">
            <a:avLst/>
          </a:prstGeom>
          <a:solidFill>
            <a:srgbClr val="C0392B"/>
          </a:solidFill>
          <a:ln/>
        </p:spPr>
      </p:sp>
      <p:sp>
        <p:nvSpPr>
          <p:cNvPr id="38" name="Shape 35"/>
          <p:cNvSpPr/>
          <p:nvPr/>
        </p:nvSpPr>
        <p:spPr>
          <a:xfrm>
            <a:off x="6400640" y="6748272"/>
            <a:ext cx="304792" cy="109728"/>
          </a:xfrm>
          <a:prstGeom prst="rect">
            <a:avLst/>
          </a:prstGeom>
          <a:solidFill>
            <a:srgbClr val="E67E22"/>
          </a:solidFill>
          <a:ln/>
        </p:spPr>
      </p:sp>
      <p:sp>
        <p:nvSpPr>
          <p:cNvPr id="39" name="Shape 36"/>
          <p:cNvSpPr/>
          <p:nvPr/>
        </p:nvSpPr>
        <p:spPr>
          <a:xfrm>
            <a:off x="6705432" y="6748272"/>
            <a:ext cx="304792" cy="109728"/>
          </a:xfrm>
          <a:prstGeom prst="rect">
            <a:avLst/>
          </a:prstGeom>
          <a:solidFill>
            <a:srgbClr val="27AE60"/>
          </a:solidFill>
          <a:ln/>
        </p:spPr>
      </p:sp>
      <p:sp>
        <p:nvSpPr>
          <p:cNvPr id="40" name="Shape 37"/>
          <p:cNvSpPr/>
          <p:nvPr/>
        </p:nvSpPr>
        <p:spPr>
          <a:xfrm>
            <a:off x="7010225" y="6748272"/>
            <a:ext cx="304792" cy="109728"/>
          </a:xfrm>
          <a:prstGeom prst="rect">
            <a:avLst/>
          </a:prstGeom>
          <a:solidFill>
            <a:srgbClr val="1F618D"/>
          </a:solidFill>
          <a:ln/>
        </p:spPr>
      </p:sp>
      <p:sp>
        <p:nvSpPr>
          <p:cNvPr id="41" name="Shape 38"/>
          <p:cNvSpPr/>
          <p:nvPr/>
        </p:nvSpPr>
        <p:spPr>
          <a:xfrm>
            <a:off x="7315017" y="6748272"/>
            <a:ext cx="304792" cy="109728"/>
          </a:xfrm>
          <a:prstGeom prst="rect">
            <a:avLst/>
          </a:prstGeom>
          <a:solidFill>
            <a:srgbClr val="8E44AD"/>
          </a:solidFill>
          <a:ln/>
        </p:spPr>
      </p:sp>
      <p:sp>
        <p:nvSpPr>
          <p:cNvPr id="42" name="Shape 39"/>
          <p:cNvSpPr/>
          <p:nvPr/>
        </p:nvSpPr>
        <p:spPr>
          <a:xfrm>
            <a:off x="7619809" y="6748272"/>
            <a:ext cx="304792" cy="109728"/>
          </a:xfrm>
          <a:prstGeom prst="rect">
            <a:avLst/>
          </a:prstGeom>
          <a:solidFill>
            <a:srgbClr val="C0392B"/>
          </a:solidFill>
          <a:ln/>
        </p:spPr>
      </p:sp>
      <p:sp>
        <p:nvSpPr>
          <p:cNvPr id="43" name="Shape 40"/>
          <p:cNvSpPr/>
          <p:nvPr/>
        </p:nvSpPr>
        <p:spPr>
          <a:xfrm>
            <a:off x="7924602" y="6748272"/>
            <a:ext cx="304792" cy="109728"/>
          </a:xfrm>
          <a:prstGeom prst="rect">
            <a:avLst/>
          </a:prstGeom>
          <a:solidFill>
            <a:srgbClr val="E67E22"/>
          </a:solidFill>
          <a:ln/>
        </p:spPr>
      </p:sp>
      <p:sp>
        <p:nvSpPr>
          <p:cNvPr id="44" name="Shape 41"/>
          <p:cNvSpPr/>
          <p:nvPr/>
        </p:nvSpPr>
        <p:spPr>
          <a:xfrm>
            <a:off x="8229394" y="6748272"/>
            <a:ext cx="304792" cy="109728"/>
          </a:xfrm>
          <a:prstGeom prst="rect">
            <a:avLst/>
          </a:prstGeom>
          <a:solidFill>
            <a:srgbClr val="27AE60"/>
          </a:solidFill>
          <a:ln/>
        </p:spPr>
      </p:sp>
      <p:sp>
        <p:nvSpPr>
          <p:cNvPr id="45" name="Shape 42"/>
          <p:cNvSpPr/>
          <p:nvPr/>
        </p:nvSpPr>
        <p:spPr>
          <a:xfrm>
            <a:off x="8534187" y="6748272"/>
            <a:ext cx="304792" cy="109728"/>
          </a:xfrm>
          <a:prstGeom prst="rect">
            <a:avLst/>
          </a:prstGeom>
          <a:solidFill>
            <a:srgbClr val="1F618D"/>
          </a:solidFill>
          <a:ln/>
        </p:spPr>
      </p:sp>
      <p:sp>
        <p:nvSpPr>
          <p:cNvPr id="46" name="Shape 43"/>
          <p:cNvSpPr/>
          <p:nvPr/>
        </p:nvSpPr>
        <p:spPr>
          <a:xfrm>
            <a:off x="8838979" y="6748272"/>
            <a:ext cx="304792" cy="109728"/>
          </a:xfrm>
          <a:prstGeom prst="rect">
            <a:avLst/>
          </a:prstGeom>
          <a:solidFill>
            <a:srgbClr val="8E44AD"/>
          </a:solidFill>
          <a:ln/>
        </p:spPr>
      </p:sp>
      <p:sp>
        <p:nvSpPr>
          <p:cNvPr id="47" name="Shape 44"/>
          <p:cNvSpPr/>
          <p:nvPr/>
        </p:nvSpPr>
        <p:spPr>
          <a:xfrm>
            <a:off x="9143771" y="6748272"/>
            <a:ext cx="304792" cy="109728"/>
          </a:xfrm>
          <a:prstGeom prst="rect">
            <a:avLst/>
          </a:prstGeom>
          <a:solidFill>
            <a:srgbClr val="C0392B"/>
          </a:solidFill>
          <a:ln/>
        </p:spPr>
      </p:sp>
      <p:sp>
        <p:nvSpPr>
          <p:cNvPr id="48" name="Shape 45"/>
          <p:cNvSpPr/>
          <p:nvPr/>
        </p:nvSpPr>
        <p:spPr>
          <a:xfrm>
            <a:off x="9448564" y="6748272"/>
            <a:ext cx="304792" cy="109728"/>
          </a:xfrm>
          <a:prstGeom prst="rect">
            <a:avLst/>
          </a:prstGeom>
          <a:solidFill>
            <a:srgbClr val="E67E22"/>
          </a:solidFill>
          <a:ln/>
        </p:spPr>
      </p:sp>
      <p:sp>
        <p:nvSpPr>
          <p:cNvPr id="49" name="Shape 46"/>
          <p:cNvSpPr/>
          <p:nvPr/>
        </p:nvSpPr>
        <p:spPr>
          <a:xfrm>
            <a:off x="9753356" y="6748272"/>
            <a:ext cx="304792" cy="109728"/>
          </a:xfrm>
          <a:prstGeom prst="rect">
            <a:avLst/>
          </a:prstGeom>
          <a:solidFill>
            <a:srgbClr val="27AE60"/>
          </a:solidFill>
          <a:ln/>
        </p:spPr>
      </p:sp>
      <p:sp>
        <p:nvSpPr>
          <p:cNvPr id="50" name="Shape 47"/>
          <p:cNvSpPr/>
          <p:nvPr/>
        </p:nvSpPr>
        <p:spPr>
          <a:xfrm>
            <a:off x="10058149" y="6748272"/>
            <a:ext cx="304792" cy="109728"/>
          </a:xfrm>
          <a:prstGeom prst="rect">
            <a:avLst/>
          </a:prstGeom>
          <a:solidFill>
            <a:srgbClr val="1F618D"/>
          </a:solidFill>
          <a:ln/>
        </p:spPr>
      </p:sp>
      <p:sp>
        <p:nvSpPr>
          <p:cNvPr id="51" name="Shape 48"/>
          <p:cNvSpPr/>
          <p:nvPr/>
        </p:nvSpPr>
        <p:spPr>
          <a:xfrm>
            <a:off x="10362941" y="6748272"/>
            <a:ext cx="304792" cy="109728"/>
          </a:xfrm>
          <a:prstGeom prst="rect">
            <a:avLst/>
          </a:prstGeom>
          <a:solidFill>
            <a:srgbClr val="8E44AD"/>
          </a:solidFill>
          <a:ln/>
        </p:spPr>
      </p:sp>
      <p:sp>
        <p:nvSpPr>
          <p:cNvPr id="52" name="Shape 49"/>
          <p:cNvSpPr/>
          <p:nvPr/>
        </p:nvSpPr>
        <p:spPr>
          <a:xfrm>
            <a:off x="10667733" y="6748272"/>
            <a:ext cx="304792" cy="109728"/>
          </a:xfrm>
          <a:prstGeom prst="rect">
            <a:avLst/>
          </a:prstGeom>
          <a:solidFill>
            <a:srgbClr val="C0392B"/>
          </a:solidFill>
          <a:ln/>
        </p:spPr>
      </p:sp>
      <p:sp>
        <p:nvSpPr>
          <p:cNvPr id="53" name="Shape 50"/>
          <p:cNvSpPr/>
          <p:nvPr/>
        </p:nvSpPr>
        <p:spPr>
          <a:xfrm>
            <a:off x="10972526" y="6748272"/>
            <a:ext cx="304792" cy="109728"/>
          </a:xfrm>
          <a:prstGeom prst="rect">
            <a:avLst/>
          </a:prstGeom>
          <a:solidFill>
            <a:srgbClr val="E67E22"/>
          </a:solidFill>
          <a:ln/>
        </p:spPr>
      </p:sp>
      <p:sp>
        <p:nvSpPr>
          <p:cNvPr id="54" name="Shape 51"/>
          <p:cNvSpPr/>
          <p:nvPr/>
        </p:nvSpPr>
        <p:spPr>
          <a:xfrm>
            <a:off x="11277318" y="6748272"/>
            <a:ext cx="304792" cy="109728"/>
          </a:xfrm>
          <a:prstGeom prst="rect">
            <a:avLst/>
          </a:prstGeom>
          <a:solidFill>
            <a:srgbClr val="27AE60"/>
          </a:solidFill>
          <a:ln/>
        </p:spPr>
      </p:sp>
      <p:sp>
        <p:nvSpPr>
          <p:cNvPr id="55" name="Shape 52"/>
          <p:cNvSpPr/>
          <p:nvPr/>
        </p:nvSpPr>
        <p:spPr>
          <a:xfrm>
            <a:off x="11582110" y="6748272"/>
            <a:ext cx="304792" cy="109728"/>
          </a:xfrm>
          <a:prstGeom prst="rect">
            <a:avLst/>
          </a:prstGeom>
          <a:solidFill>
            <a:srgbClr val="1F618D"/>
          </a:solidFill>
          <a:ln/>
        </p:spPr>
      </p:sp>
      <p:sp>
        <p:nvSpPr>
          <p:cNvPr id="56" name="Shape 53"/>
          <p:cNvSpPr/>
          <p:nvPr/>
        </p:nvSpPr>
        <p:spPr>
          <a:xfrm>
            <a:off x="11886903" y="6748272"/>
            <a:ext cx="304792" cy="109728"/>
          </a:xfrm>
          <a:prstGeom prst="rect">
            <a:avLst/>
          </a:prstGeom>
          <a:solidFill>
            <a:srgbClr val="8E44AD"/>
          </a:solidFill>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Caste, under two classifications</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Read from the surname of the father or husband, against the 2023 caste survey</a:t>
            </a:r>
            <a:endParaRPr lang="en-US" sz="1500" dirty="0"/>
          </a:p>
        </p:txBody>
      </p:sp>
      <p:graphicFrame>
        <p:nvGraphicFramePr>
          <p:cNvPr id="4" name="Chart 0" descr=""/>
          <p:cNvGraphicFramePr/>
          <p:nvPr/>
        </p:nvGraphicFramePr>
        <p:xfrm>
          <a:off x="548640" y="15544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Above 1: a group's share of the removed exceeds its share of the population.</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Under both, General and SC families are removed at or above their share, BC, EBC and ST below it.</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two classifications disagree on Muslim families.</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 places 70.9% of removals in a group; the strict B, which sets aside surnames shared across groups, 35.2%.</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Where the removals fell hardest</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Names removed per 100 electors on the 2025 roll, the fifteen heaviest districts</a:t>
            </a:r>
            <a:endParaRPr lang="en-US" sz="1500" dirty="0"/>
          </a:p>
        </p:txBody>
      </p:sp>
      <p:graphicFrame>
        <p:nvGraphicFramePr>
          <p:cNvPr id="4" name="Chart 0" descr=""/>
          <p:cNvGraphicFramePr/>
          <p:nvPr/>
        </p:nvGraphicFramePr>
        <p:xfrm>
          <a:off x="548640" y="155448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863840" y="1783080"/>
            <a:ext cx="374904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Gopalganj lost 17.3 per 100 electors, Sheikhpura 5.5.</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Among constituencies, from 4.4 in Darbhanga to 23.6 in Purnia.</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The median booth lost 71 names; 3,418 booths lost 200 or more.</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The alliances, stated plainly</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What the lists show, and what they cannot</a:t>
            </a:r>
            <a:endParaRPr lang="en-US" sz="1500" dirty="0"/>
          </a:p>
        </p:txBody>
      </p:sp>
      <p:graphicFrame>
        <p:nvGraphicFramePr>
          <p:cNvPr id="4" name="Chart 0" descr=""/>
          <p:cNvGraphicFramePr/>
          <p:nvPr/>
        </p:nvGraphicFramePr>
        <p:xfrm>
          <a:off x="548640" y="1554480"/>
          <a:ext cx="6400800" cy="47548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315200" y="1783080"/>
            <a:ext cx="4297680" cy="43891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Seats the NDA held lost 9.58 per 100 electors, INDIA seats 8.79; the order holds under all three labels.</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Within the same seat, NDA-led booths lost 2.4 more names each.</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A booth's leader says how most of its voters voted, not how the removed voted.</a:t>
            </a:r>
            <a:endParaRPr lang="en-US" sz="1500" dirty="0"/>
          </a:p>
          <a:p>
            <a:pPr marL="342900" indent="-342900">
              <a:spcAft>
                <a:spcPts val="900"/>
              </a:spcAft>
              <a:buSzPct val="100000"/>
              <a:buChar char="•"/>
            </a:pPr>
            <a:r>
              <a:rPr lang="en-US" sz="1500" dirty="0">
                <a:solidFill>
                  <a:srgbClr val="1C2833"/>
                </a:solidFill>
                <a:latin typeface="Calibri" pitchFamily="34" charset="0"/>
                <a:ea typeface="Calibri" pitchFamily="34" charset="-122"/>
                <a:cs typeface="Calibri" pitchFamily="34" charset="-120"/>
              </a:rPr>
              <a:t>What the lists establish is the scale of the removals against the margins.</a:t>
            </a:r>
            <a:endParaRPr lang="en-US" sz="1500" dirty="0"/>
          </a:p>
        </p:txBody>
      </p:sp>
      <p:sp>
        <p:nvSpPr>
          <p:cNvPr id="6"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7"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8" name="Shape 5"/>
          <p:cNvSpPr/>
          <p:nvPr/>
        </p:nvSpPr>
        <p:spPr>
          <a:xfrm>
            <a:off x="0" y="6748272"/>
            <a:ext cx="304792" cy="109728"/>
          </a:xfrm>
          <a:prstGeom prst="rect">
            <a:avLst/>
          </a:prstGeom>
          <a:solidFill>
            <a:srgbClr val="C0392B"/>
          </a:solidFill>
          <a:ln/>
        </p:spPr>
      </p:sp>
      <p:sp>
        <p:nvSpPr>
          <p:cNvPr id="9" name="Shape 6"/>
          <p:cNvSpPr/>
          <p:nvPr/>
        </p:nvSpPr>
        <p:spPr>
          <a:xfrm>
            <a:off x="304792" y="6748272"/>
            <a:ext cx="304792" cy="109728"/>
          </a:xfrm>
          <a:prstGeom prst="rect">
            <a:avLst/>
          </a:prstGeom>
          <a:solidFill>
            <a:srgbClr val="E67E22"/>
          </a:solidFill>
          <a:ln/>
        </p:spPr>
      </p:sp>
      <p:sp>
        <p:nvSpPr>
          <p:cNvPr id="10" name="Shape 7"/>
          <p:cNvSpPr/>
          <p:nvPr/>
        </p:nvSpPr>
        <p:spPr>
          <a:xfrm>
            <a:off x="609585" y="6748272"/>
            <a:ext cx="304792" cy="109728"/>
          </a:xfrm>
          <a:prstGeom prst="rect">
            <a:avLst/>
          </a:prstGeom>
          <a:solidFill>
            <a:srgbClr val="27AE60"/>
          </a:solidFill>
          <a:ln/>
        </p:spPr>
      </p:sp>
      <p:sp>
        <p:nvSpPr>
          <p:cNvPr id="11" name="Shape 8"/>
          <p:cNvSpPr/>
          <p:nvPr/>
        </p:nvSpPr>
        <p:spPr>
          <a:xfrm>
            <a:off x="914377" y="6748272"/>
            <a:ext cx="304792" cy="109728"/>
          </a:xfrm>
          <a:prstGeom prst="rect">
            <a:avLst/>
          </a:prstGeom>
          <a:solidFill>
            <a:srgbClr val="1F618D"/>
          </a:solidFill>
          <a:ln/>
        </p:spPr>
      </p:sp>
      <p:sp>
        <p:nvSpPr>
          <p:cNvPr id="12" name="Shape 9"/>
          <p:cNvSpPr/>
          <p:nvPr/>
        </p:nvSpPr>
        <p:spPr>
          <a:xfrm>
            <a:off x="1219170" y="6748272"/>
            <a:ext cx="304792" cy="109728"/>
          </a:xfrm>
          <a:prstGeom prst="rect">
            <a:avLst/>
          </a:prstGeom>
          <a:solidFill>
            <a:srgbClr val="8E44AD"/>
          </a:solidFill>
          <a:ln/>
        </p:spPr>
      </p:sp>
      <p:sp>
        <p:nvSpPr>
          <p:cNvPr id="13" name="Shape 10"/>
          <p:cNvSpPr/>
          <p:nvPr/>
        </p:nvSpPr>
        <p:spPr>
          <a:xfrm>
            <a:off x="1523962" y="6748272"/>
            <a:ext cx="304792" cy="109728"/>
          </a:xfrm>
          <a:prstGeom prst="rect">
            <a:avLst/>
          </a:prstGeom>
          <a:solidFill>
            <a:srgbClr val="C0392B"/>
          </a:solidFill>
          <a:ln/>
        </p:spPr>
      </p:sp>
      <p:sp>
        <p:nvSpPr>
          <p:cNvPr id="14" name="Shape 11"/>
          <p:cNvSpPr/>
          <p:nvPr/>
        </p:nvSpPr>
        <p:spPr>
          <a:xfrm>
            <a:off x="1828754" y="6748272"/>
            <a:ext cx="304792" cy="109728"/>
          </a:xfrm>
          <a:prstGeom prst="rect">
            <a:avLst/>
          </a:prstGeom>
          <a:solidFill>
            <a:srgbClr val="E67E22"/>
          </a:solidFill>
          <a:ln/>
        </p:spPr>
      </p:sp>
      <p:sp>
        <p:nvSpPr>
          <p:cNvPr id="15" name="Shape 12"/>
          <p:cNvSpPr/>
          <p:nvPr/>
        </p:nvSpPr>
        <p:spPr>
          <a:xfrm>
            <a:off x="2133547" y="6748272"/>
            <a:ext cx="304792" cy="109728"/>
          </a:xfrm>
          <a:prstGeom prst="rect">
            <a:avLst/>
          </a:prstGeom>
          <a:solidFill>
            <a:srgbClr val="27AE60"/>
          </a:solidFill>
          <a:ln/>
        </p:spPr>
      </p:sp>
      <p:sp>
        <p:nvSpPr>
          <p:cNvPr id="16" name="Shape 13"/>
          <p:cNvSpPr/>
          <p:nvPr/>
        </p:nvSpPr>
        <p:spPr>
          <a:xfrm>
            <a:off x="2438339" y="6748272"/>
            <a:ext cx="304792" cy="109728"/>
          </a:xfrm>
          <a:prstGeom prst="rect">
            <a:avLst/>
          </a:prstGeom>
          <a:solidFill>
            <a:srgbClr val="1F618D"/>
          </a:solidFill>
          <a:ln/>
        </p:spPr>
      </p:sp>
      <p:sp>
        <p:nvSpPr>
          <p:cNvPr id="17" name="Shape 14"/>
          <p:cNvSpPr/>
          <p:nvPr/>
        </p:nvSpPr>
        <p:spPr>
          <a:xfrm>
            <a:off x="2743131" y="6748272"/>
            <a:ext cx="304792" cy="109728"/>
          </a:xfrm>
          <a:prstGeom prst="rect">
            <a:avLst/>
          </a:prstGeom>
          <a:solidFill>
            <a:srgbClr val="8E44AD"/>
          </a:solidFill>
          <a:ln/>
        </p:spPr>
      </p:sp>
      <p:sp>
        <p:nvSpPr>
          <p:cNvPr id="18" name="Shape 15"/>
          <p:cNvSpPr/>
          <p:nvPr/>
        </p:nvSpPr>
        <p:spPr>
          <a:xfrm>
            <a:off x="3047924" y="6748272"/>
            <a:ext cx="304792" cy="109728"/>
          </a:xfrm>
          <a:prstGeom prst="rect">
            <a:avLst/>
          </a:prstGeom>
          <a:solidFill>
            <a:srgbClr val="C0392B"/>
          </a:solidFill>
          <a:ln/>
        </p:spPr>
      </p:sp>
      <p:sp>
        <p:nvSpPr>
          <p:cNvPr id="19" name="Shape 16"/>
          <p:cNvSpPr/>
          <p:nvPr/>
        </p:nvSpPr>
        <p:spPr>
          <a:xfrm>
            <a:off x="3352716" y="6748272"/>
            <a:ext cx="304792" cy="109728"/>
          </a:xfrm>
          <a:prstGeom prst="rect">
            <a:avLst/>
          </a:prstGeom>
          <a:solidFill>
            <a:srgbClr val="E67E22"/>
          </a:solidFill>
          <a:ln/>
        </p:spPr>
      </p:sp>
      <p:sp>
        <p:nvSpPr>
          <p:cNvPr id="20" name="Shape 17"/>
          <p:cNvSpPr/>
          <p:nvPr/>
        </p:nvSpPr>
        <p:spPr>
          <a:xfrm>
            <a:off x="3657509" y="6748272"/>
            <a:ext cx="304792" cy="109728"/>
          </a:xfrm>
          <a:prstGeom prst="rect">
            <a:avLst/>
          </a:prstGeom>
          <a:solidFill>
            <a:srgbClr val="27AE60"/>
          </a:solidFill>
          <a:ln/>
        </p:spPr>
      </p:sp>
      <p:sp>
        <p:nvSpPr>
          <p:cNvPr id="21" name="Shape 18"/>
          <p:cNvSpPr/>
          <p:nvPr/>
        </p:nvSpPr>
        <p:spPr>
          <a:xfrm>
            <a:off x="3962301" y="6748272"/>
            <a:ext cx="304792" cy="109728"/>
          </a:xfrm>
          <a:prstGeom prst="rect">
            <a:avLst/>
          </a:prstGeom>
          <a:solidFill>
            <a:srgbClr val="1F618D"/>
          </a:solidFill>
          <a:ln/>
        </p:spPr>
      </p:sp>
      <p:sp>
        <p:nvSpPr>
          <p:cNvPr id="22" name="Shape 19"/>
          <p:cNvSpPr/>
          <p:nvPr/>
        </p:nvSpPr>
        <p:spPr>
          <a:xfrm>
            <a:off x="4267093" y="6748272"/>
            <a:ext cx="304792" cy="109728"/>
          </a:xfrm>
          <a:prstGeom prst="rect">
            <a:avLst/>
          </a:prstGeom>
          <a:solidFill>
            <a:srgbClr val="8E44AD"/>
          </a:solidFill>
          <a:ln/>
        </p:spPr>
      </p:sp>
      <p:sp>
        <p:nvSpPr>
          <p:cNvPr id="23" name="Shape 20"/>
          <p:cNvSpPr/>
          <p:nvPr/>
        </p:nvSpPr>
        <p:spPr>
          <a:xfrm>
            <a:off x="4571886" y="6748272"/>
            <a:ext cx="304792" cy="109728"/>
          </a:xfrm>
          <a:prstGeom prst="rect">
            <a:avLst/>
          </a:prstGeom>
          <a:solidFill>
            <a:srgbClr val="C0392B"/>
          </a:solidFill>
          <a:ln/>
        </p:spPr>
      </p:sp>
      <p:sp>
        <p:nvSpPr>
          <p:cNvPr id="24" name="Shape 21"/>
          <p:cNvSpPr/>
          <p:nvPr/>
        </p:nvSpPr>
        <p:spPr>
          <a:xfrm>
            <a:off x="4876678" y="6748272"/>
            <a:ext cx="304792" cy="109728"/>
          </a:xfrm>
          <a:prstGeom prst="rect">
            <a:avLst/>
          </a:prstGeom>
          <a:solidFill>
            <a:srgbClr val="E67E22"/>
          </a:solidFill>
          <a:ln/>
        </p:spPr>
      </p:sp>
      <p:sp>
        <p:nvSpPr>
          <p:cNvPr id="25" name="Shape 22"/>
          <p:cNvSpPr/>
          <p:nvPr/>
        </p:nvSpPr>
        <p:spPr>
          <a:xfrm>
            <a:off x="5181470" y="6748272"/>
            <a:ext cx="304792" cy="109728"/>
          </a:xfrm>
          <a:prstGeom prst="rect">
            <a:avLst/>
          </a:prstGeom>
          <a:solidFill>
            <a:srgbClr val="27AE60"/>
          </a:solidFill>
          <a:ln/>
        </p:spPr>
      </p:sp>
      <p:sp>
        <p:nvSpPr>
          <p:cNvPr id="26" name="Shape 23"/>
          <p:cNvSpPr/>
          <p:nvPr/>
        </p:nvSpPr>
        <p:spPr>
          <a:xfrm>
            <a:off x="5486263" y="6748272"/>
            <a:ext cx="304792" cy="109728"/>
          </a:xfrm>
          <a:prstGeom prst="rect">
            <a:avLst/>
          </a:prstGeom>
          <a:solidFill>
            <a:srgbClr val="1F618D"/>
          </a:solidFill>
          <a:ln/>
        </p:spPr>
      </p:sp>
      <p:sp>
        <p:nvSpPr>
          <p:cNvPr id="27" name="Shape 24"/>
          <p:cNvSpPr/>
          <p:nvPr/>
        </p:nvSpPr>
        <p:spPr>
          <a:xfrm>
            <a:off x="5791055" y="6748272"/>
            <a:ext cx="304792" cy="109728"/>
          </a:xfrm>
          <a:prstGeom prst="rect">
            <a:avLst/>
          </a:prstGeom>
          <a:solidFill>
            <a:srgbClr val="8E44AD"/>
          </a:solidFill>
          <a:ln/>
        </p:spPr>
      </p:sp>
      <p:sp>
        <p:nvSpPr>
          <p:cNvPr id="28" name="Shape 25"/>
          <p:cNvSpPr/>
          <p:nvPr/>
        </p:nvSpPr>
        <p:spPr>
          <a:xfrm>
            <a:off x="6095848" y="6748272"/>
            <a:ext cx="304792" cy="109728"/>
          </a:xfrm>
          <a:prstGeom prst="rect">
            <a:avLst/>
          </a:prstGeom>
          <a:solidFill>
            <a:srgbClr val="C0392B"/>
          </a:solidFill>
          <a:ln/>
        </p:spPr>
      </p:sp>
      <p:sp>
        <p:nvSpPr>
          <p:cNvPr id="29" name="Shape 26"/>
          <p:cNvSpPr/>
          <p:nvPr/>
        </p:nvSpPr>
        <p:spPr>
          <a:xfrm>
            <a:off x="6400640" y="6748272"/>
            <a:ext cx="304792" cy="109728"/>
          </a:xfrm>
          <a:prstGeom prst="rect">
            <a:avLst/>
          </a:prstGeom>
          <a:solidFill>
            <a:srgbClr val="E67E22"/>
          </a:solidFill>
          <a:ln/>
        </p:spPr>
      </p:sp>
      <p:sp>
        <p:nvSpPr>
          <p:cNvPr id="30" name="Shape 27"/>
          <p:cNvSpPr/>
          <p:nvPr/>
        </p:nvSpPr>
        <p:spPr>
          <a:xfrm>
            <a:off x="6705432" y="6748272"/>
            <a:ext cx="304792" cy="109728"/>
          </a:xfrm>
          <a:prstGeom prst="rect">
            <a:avLst/>
          </a:prstGeom>
          <a:solidFill>
            <a:srgbClr val="27AE60"/>
          </a:solidFill>
          <a:ln/>
        </p:spPr>
      </p:sp>
      <p:sp>
        <p:nvSpPr>
          <p:cNvPr id="31" name="Shape 28"/>
          <p:cNvSpPr/>
          <p:nvPr/>
        </p:nvSpPr>
        <p:spPr>
          <a:xfrm>
            <a:off x="7010225" y="6748272"/>
            <a:ext cx="304792" cy="109728"/>
          </a:xfrm>
          <a:prstGeom prst="rect">
            <a:avLst/>
          </a:prstGeom>
          <a:solidFill>
            <a:srgbClr val="1F618D"/>
          </a:solidFill>
          <a:ln/>
        </p:spPr>
      </p:sp>
      <p:sp>
        <p:nvSpPr>
          <p:cNvPr id="32" name="Shape 29"/>
          <p:cNvSpPr/>
          <p:nvPr/>
        </p:nvSpPr>
        <p:spPr>
          <a:xfrm>
            <a:off x="7315017" y="6748272"/>
            <a:ext cx="304792" cy="109728"/>
          </a:xfrm>
          <a:prstGeom prst="rect">
            <a:avLst/>
          </a:prstGeom>
          <a:solidFill>
            <a:srgbClr val="8E44AD"/>
          </a:solidFill>
          <a:ln/>
        </p:spPr>
      </p:sp>
      <p:sp>
        <p:nvSpPr>
          <p:cNvPr id="33" name="Shape 30"/>
          <p:cNvSpPr/>
          <p:nvPr/>
        </p:nvSpPr>
        <p:spPr>
          <a:xfrm>
            <a:off x="7619809" y="6748272"/>
            <a:ext cx="304792" cy="109728"/>
          </a:xfrm>
          <a:prstGeom prst="rect">
            <a:avLst/>
          </a:prstGeom>
          <a:solidFill>
            <a:srgbClr val="C0392B"/>
          </a:solidFill>
          <a:ln/>
        </p:spPr>
      </p:sp>
      <p:sp>
        <p:nvSpPr>
          <p:cNvPr id="34" name="Shape 31"/>
          <p:cNvSpPr/>
          <p:nvPr/>
        </p:nvSpPr>
        <p:spPr>
          <a:xfrm>
            <a:off x="7924602" y="6748272"/>
            <a:ext cx="304792" cy="109728"/>
          </a:xfrm>
          <a:prstGeom prst="rect">
            <a:avLst/>
          </a:prstGeom>
          <a:solidFill>
            <a:srgbClr val="E67E22"/>
          </a:solidFill>
          <a:ln/>
        </p:spPr>
      </p:sp>
      <p:sp>
        <p:nvSpPr>
          <p:cNvPr id="35" name="Shape 32"/>
          <p:cNvSpPr/>
          <p:nvPr/>
        </p:nvSpPr>
        <p:spPr>
          <a:xfrm>
            <a:off x="8229394" y="6748272"/>
            <a:ext cx="304792" cy="109728"/>
          </a:xfrm>
          <a:prstGeom prst="rect">
            <a:avLst/>
          </a:prstGeom>
          <a:solidFill>
            <a:srgbClr val="27AE60"/>
          </a:solidFill>
          <a:ln/>
        </p:spPr>
      </p:sp>
      <p:sp>
        <p:nvSpPr>
          <p:cNvPr id="36" name="Shape 33"/>
          <p:cNvSpPr/>
          <p:nvPr/>
        </p:nvSpPr>
        <p:spPr>
          <a:xfrm>
            <a:off x="8534187" y="6748272"/>
            <a:ext cx="304792" cy="109728"/>
          </a:xfrm>
          <a:prstGeom prst="rect">
            <a:avLst/>
          </a:prstGeom>
          <a:solidFill>
            <a:srgbClr val="1F618D"/>
          </a:solidFill>
          <a:ln/>
        </p:spPr>
      </p:sp>
      <p:sp>
        <p:nvSpPr>
          <p:cNvPr id="37" name="Shape 34"/>
          <p:cNvSpPr/>
          <p:nvPr/>
        </p:nvSpPr>
        <p:spPr>
          <a:xfrm>
            <a:off x="8838979" y="6748272"/>
            <a:ext cx="304792" cy="109728"/>
          </a:xfrm>
          <a:prstGeom prst="rect">
            <a:avLst/>
          </a:prstGeom>
          <a:solidFill>
            <a:srgbClr val="8E44AD"/>
          </a:solidFill>
          <a:ln/>
        </p:spPr>
      </p:sp>
      <p:sp>
        <p:nvSpPr>
          <p:cNvPr id="38" name="Shape 35"/>
          <p:cNvSpPr/>
          <p:nvPr/>
        </p:nvSpPr>
        <p:spPr>
          <a:xfrm>
            <a:off x="9143771" y="6748272"/>
            <a:ext cx="304792" cy="109728"/>
          </a:xfrm>
          <a:prstGeom prst="rect">
            <a:avLst/>
          </a:prstGeom>
          <a:solidFill>
            <a:srgbClr val="C0392B"/>
          </a:solidFill>
          <a:ln/>
        </p:spPr>
      </p:sp>
      <p:sp>
        <p:nvSpPr>
          <p:cNvPr id="39" name="Shape 36"/>
          <p:cNvSpPr/>
          <p:nvPr/>
        </p:nvSpPr>
        <p:spPr>
          <a:xfrm>
            <a:off x="9448564" y="6748272"/>
            <a:ext cx="304792" cy="109728"/>
          </a:xfrm>
          <a:prstGeom prst="rect">
            <a:avLst/>
          </a:prstGeom>
          <a:solidFill>
            <a:srgbClr val="E67E22"/>
          </a:solidFill>
          <a:ln/>
        </p:spPr>
      </p:sp>
      <p:sp>
        <p:nvSpPr>
          <p:cNvPr id="40" name="Shape 37"/>
          <p:cNvSpPr/>
          <p:nvPr/>
        </p:nvSpPr>
        <p:spPr>
          <a:xfrm>
            <a:off x="9753356" y="6748272"/>
            <a:ext cx="304792" cy="109728"/>
          </a:xfrm>
          <a:prstGeom prst="rect">
            <a:avLst/>
          </a:prstGeom>
          <a:solidFill>
            <a:srgbClr val="27AE60"/>
          </a:solidFill>
          <a:ln/>
        </p:spPr>
      </p:sp>
      <p:sp>
        <p:nvSpPr>
          <p:cNvPr id="41" name="Shape 38"/>
          <p:cNvSpPr/>
          <p:nvPr/>
        </p:nvSpPr>
        <p:spPr>
          <a:xfrm>
            <a:off x="10058149" y="6748272"/>
            <a:ext cx="304792" cy="109728"/>
          </a:xfrm>
          <a:prstGeom prst="rect">
            <a:avLst/>
          </a:prstGeom>
          <a:solidFill>
            <a:srgbClr val="1F618D"/>
          </a:solidFill>
          <a:ln/>
        </p:spPr>
      </p:sp>
      <p:sp>
        <p:nvSpPr>
          <p:cNvPr id="42" name="Shape 39"/>
          <p:cNvSpPr/>
          <p:nvPr/>
        </p:nvSpPr>
        <p:spPr>
          <a:xfrm>
            <a:off x="10362941" y="6748272"/>
            <a:ext cx="304792" cy="109728"/>
          </a:xfrm>
          <a:prstGeom prst="rect">
            <a:avLst/>
          </a:prstGeom>
          <a:solidFill>
            <a:srgbClr val="8E44AD"/>
          </a:solidFill>
          <a:ln/>
        </p:spPr>
      </p:sp>
      <p:sp>
        <p:nvSpPr>
          <p:cNvPr id="43" name="Shape 40"/>
          <p:cNvSpPr/>
          <p:nvPr/>
        </p:nvSpPr>
        <p:spPr>
          <a:xfrm>
            <a:off x="10667733" y="6748272"/>
            <a:ext cx="304792" cy="109728"/>
          </a:xfrm>
          <a:prstGeom prst="rect">
            <a:avLst/>
          </a:prstGeom>
          <a:solidFill>
            <a:srgbClr val="C0392B"/>
          </a:solidFill>
          <a:ln/>
        </p:spPr>
      </p:sp>
      <p:sp>
        <p:nvSpPr>
          <p:cNvPr id="44" name="Shape 41"/>
          <p:cNvSpPr/>
          <p:nvPr/>
        </p:nvSpPr>
        <p:spPr>
          <a:xfrm>
            <a:off x="10972526" y="6748272"/>
            <a:ext cx="304792" cy="109728"/>
          </a:xfrm>
          <a:prstGeom prst="rect">
            <a:avLst/>
          </a:prstGeom>
          <a:solidFill>
            <a:srgbClr val="E67E22"/>
          </a:solidFill>
          <a:ln/>
        </p:spPr>
      </p:sp>
      <p:sp>
        <p:nvSpPr>
          <p:cNvPr id="45" name="Shape 42"/>
          <p:cNvSpPr/>
          <p:nvPr/>
        </p:nvSpPr>
        <p:spPr>
          <a:xfrm>
            <a:off x="11277318" y="6748272"/>
            <a:ext cx="304792" cy="109728"/>
          </a:xfrm>
          <a:prstGeom prst="rect">
            <a:avLst/>
          </a:prstGeom>
          <a:solidFill>
            <a:srgbClr val="27AE60"/>
          </a:solidFill>
          <a:ln/>
        </p:spPr>
      </p:sp>
      <p:sp>
        <p:nvSpPr>
          <p:cNvPr id="46" name="Shape 43"/>
          <p:cNvSpPr/>
          <p:nvPr/>
        </p:nvSpPr>
        <p:spPr>
          <a:xfrm>
            <a:off x="11582110" y="6748272"/>
            <a:ext cx="304792" cy="109728"/>
          </a:xfrm>
          <a:prstGeom prst="rect">
            <a:avLst/>
          </a:prstGeom>
          <a:solidFill>
            <a:srgbClr val="1F618D"/>
          </a:solidFill>
          <a:ln/>
        </p:spPr>
      </p:sp>
      <p:sp>
        <p:nvSpPr>
          <p:cNvPr id="47"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What the lists show, and what they do not</a:t>
            </a:r>
            <a:endParaRPr lang="en-US" sz="3000" dirty="0"/>
          </a:p>
        </p:txBody>
      </p:sp>
      <p:sp>
        <p:nvSpPr>
          <p:cNvPr id="3" name="Shape 1"/>
          <p:cNvSpPr/>
          <p:nvPr/>
        </p:nvSpPr>
        <p:spPr>
          <a:xfrm>
            <a:off x="548640" y="1371600"/>
            <a:ext cx="5394960" cy="2194560"/>
          </a:xfrm>
          <a:prstGeom prst="roundRect">
            <a:avLst>
              <a:gd name="adj" fmla="val 4167"/>
            </a:avLst>
          </a:prstGeom>
          <a:solidFill>
            <a:srgbClr val="FBEFE8"/>
          </a:solidFill>
          <a:ln/>
        </p:spPr>
      </p:sp>
      <p:sp>
        <p:nvSpPr>
          <p:cNvPr id="4" name="Text 2"/>
          <p:cNvSpPr txBox="1"/>
          <p:nvPr/>
        </p:nvSpPr>
        <p:spPr>
          <a:xfrm>
            <a:off x="822960" y="1554480"/>
            <a:ext cx="4846320" cy="182880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The lists show how many names were removed, where, and who the removed were by sex and by name, and they allow the removals to be set against the margins and votes that decided each seat.</a:t>
            </a:r>
            <a:endParaRPr lang="en-US" sz="1500" dirty="0"/>
          </a:p>
        </p:txBody>
      </p:sp>
      <p:sp>
        <p:nvSpPr>
          <p:cNvPr id="5" name="Shape 3"/>
          <p:cNvSpPr/>
          <p:nvPr/>
        </p:nvSpPr>
        <p:spPr>
          <a:xfrm>
            <a:off x="6245352" y="1371600"/>
            <a:ext cx="5394960" cy="2194560"/>
          </a:xfrm>
          <a:prstGeom prst="roundRect">
            <a:avLst>
              <a:gd name="adj" fmla="val 4167"/>
            </a:avLst>
          </a:prstGeom>
          <a:solidFill>
            <a:srgbClr val="FBEFE8"/>
          </a:solidFill>
          <a:ln/>
        </p:spPr>
      </p:sp>
      <p:sp>
        <p:nvSpPr>
          <p:cNvPr id="6" name="Text 4"/>
          <p:cNvSpPr txBox="1"/>
          <p:nvPr/>
        </p:nvSpPr>
        <p:spPr>
          <a:xfrm>
            <a:off x="6519672" y="1554480"/>
            <a:ext cx="4846320" cy="1828800"/>
          </a:xfrm>
          <a:prstGeom prst="rect">
            <a:avLst/>
          </a:prstGeom>
          <a:noFill/>
          <a:ln/>
        </p:spPr>
        <p:txBody>
          <a:bodyPr wrap="square" lIns="0" tIns="0" rIns="0" bIns="0" rtlCol="0" anchor="ctr"/>
          <a:lstStyle/>
          <a:p>
            <a:pPr indent="0" marL="0">
              <a:buNone/>
            </a:pPr>
            <a:r>
              <a:rPr lang="en-US" sz="1500" dirty="0">
                <a:solidFill>
                  <a:srgbClr val="1C2833"/>
                </a:solidFill>
                <a:latin typeface="Calibri" pitchFamily="34" charset="0"/>
                <a:ea typeface="Calibri" pitchFamily="34" charset="-122"/>
                <a:cs typeface="Calibri" pitchFamily="34" charset="-120"/>
              </a:rPr>
              <a:t>They do not show why an individual name was removed, whether the removal was right, or how the elector voted. Religion and caste are read from names and are estimates.</a:t>
            </a:r>
            <a:endParaRPr lang="en-US" sz="1500" dirty="0"/>
          </a:p>
        </p:txBody>
      </p:sp>
      <p:sp>
        <p:nvSpPr>
          <p:cNvPr id="7" name="Text 5"/>
          <p:cNvSpPr txBox="1"/>
          <p:nvPr/>
        </p:nvSpPr>
        <p:spPr>
          <a:xfrm>
            <a:off x="548640" y="3931920"/>
            <a:ext cx="11094415" cy="2194560"/>
          </a:xfrm>
          <a:prstGeom prst="rect">
            <a:avLst/>
          </a:prstGeom>
          <a:noFill/>
          <a:ln/>
        </p:spPr>
        <p:txBody>
          <a:bodyPr wrap="square" lIns="0" tIns="0" rIns="0" bIns="0" rtlCol="0" anchor="t"/>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The reasons officers entered, dead, shifted, absent or enrolled twice, are entries after a visit or its absence, not findings, and the lists used here do not carry them against each name. A change to the roll larger than the margin in 174 of 243 seats is large enough to have decided the seat, whatever the reason entered. Whether it did turns on how the removed would have voted, which no list records.</a:t>
            </a:r>
            <a:endParaRPr lang="en-US" sz="1700" dirty="0"/>
          </a:p>
        </p:txBody>
      </p:sp>
      <p:sp>
        <p:nvSpPr>
          <p:cNvPr id="8" name="Text 6"/>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9" name="Text 7"/>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10" name="Shape 8"/>
          <p:cNvSpPr/>
          <p:nvPr/>
        </p:nvSpPr>
        <p:spPr>
          <a:xfrm>
            <a:off x="0" y="6748272"/>
            <a:ext cx="304792" cy="109728"/>
          </a:xfrm>
          <a:prstGeom prst="rect">
            <a:avLst/>
          </a:prstGeom>
          <a:solidFill>
            <a:srgbClr val="C0392B"/>
          </a:solidFill>
          <a:ln/>
        </p:spPr>
      </p:sp>
      <p:sp>
        <p:nvSpPr>
          <p:cNvPr id="11" name="Shape 9"/>
          <p:cNvSpPr/>
          <p:nvPr/>
        </p:nvSpPr>
        <p:spPr>
          <a:xfrm>
            <a:off x="304792" y="6748272"/>
            <a:ext cx="304792" cy="109728"/>
          </a:xfrm>
          <a:prstGeom prst="rect">
            <a:avLst/>
          </a:prstGeom>
          <a:solidFill>
            <a:srgbClr val="E67E22"/>
          </a:solidFill>
          <a:ln/>
        </p:spPr>
      </p:sp>
      <p:sp>
        <p:nvSpPr>
          <p:cNvPr id="12" name="Shape 10"/>
          <p:cNvSpPr/>
          <p:nvPr/>
        </p:nvSpPr>
        <p:spPr>
          <a:xfrm>
            <a:off x="609585" y="6748272"/>
            <a:ext cx="304792" cy="109728"/>
          </a:xfrm>
          <a:prstGeom prst="rect">
            <a:avLst/>
          </a:prstGeom>
          <a:solidFill>
            <a:srgbClr val="27AE60"/>
          </a:solidFill>
          <a:ln/>
        </p:spPr>
      </p:sp>
      <p:sp>
        <p:nvSpPr>
          <p:cNvPr id="13" name="Shape 11"/>
          <p:cNvSpPr/>
          <p:nvPr/>
        </p:nvSpPr>
        <p:spPr>
          <a:xfrm>
            <a:off x="914377" y="6748272"/>
            <a:ext cx="304792" cy="109728"/>
          </a:xfrm>
          <a:prstGeom prst="rect">
            <a:avLst/>
          </a:prstGeom>
          <a:solidFill>
            <a:srgbClr val="1F618D"/>
          </a:solidFill>
          <a:ln/>
        </p:spPr>
      </p:sp>
      <p:sp>
        <p:nvSpPr>
          <p:cNvPr id="14" name="Shape 12"/>
          <p:cNvSpPr/>
          <p:nvPr/>
        </p:nvSpPr>
        <p:spPr>
          <a:xfrm>
            <a:off x="1219170" y="6748272"/>
            <a:ext cx="304792" cy="109728"/>
          </a:xfrm>
          <a:prstGeom prst="rect">
            <a:avLst/>
          </a:prstGeom>
          <a:solidFill>
            <a:srgbClr val="8E44AD"/>
          </a:solidFill>
          <a:ln/>
        </p:spPr>
      </p:sp>
      <p:sp>
        <p:nvSpPr>
          <p:cNvPr id="15" name="Shape 13"/>
          <p:cNvSpPr/>
          <p:nvPr/>
        </p:nvSpPr>
        <p:spPr>
          <a:xfrm>
            <a:off x="1523962" y="6748272"/>
            <a:ext cx="304792" cy="109728"/>
          </a:xfrm>
          <a:prstGeom prst="rect">
            <a:avLst/>
          </a:prstGeom>
          <a:solidFill>
            <a:srgbClr val="C0392B"/>
          </a:solidFill>
          <a:ln/>
        </p:spPr>
      </p:sp>
      <p:sp>
        <p:nvSpPr>
          <p:cNvPr id="16" name="Shape 14"/>
          <p:cNvSpPr/>
          <p:nvPr/>
        </p:nvSpPr>
        <p:spPr>
          <a:xfrm>
            <a:off x="1828754" y="6748272"/>
            <a:ext cx="304792" cy="109728"/>
          </a:xfrm>
          <a:prstGeom prst="rect">
            <a:avLst/>
          </a:prstGeom>
          <a:solidFill>
            <a:srgbClr val="E67E22"/>
          </a:solidFill>
          <a:ln/>
        </p:spPr>
      </p:sp>
      <p:sp>
        <p:nvSpPr>
          <p:cNvPr id="17" name="Shape 15"/>
          <p:cNvSpPr/>
          <p:nvPr/>
        </p:nvSpPr>
        <p:spPr>
          <a:xfrm>
            <a:off x="2133547" y="6748272"/>
            <a:ext cx="304792" cy="109728"/>
          </a:xfrm>
          <a:prstGeom prst="rect">
            <a:avLst/>
          </a:prstGeom>
          <a:solidFill>
            <a:srgbClr val="27AE60"/>
          </a:solidFill>
          <a:ln/>
        </p:spPr>
      </p:sp>
      <p:sp>
        <p:nvSpPr>
          <p:cNvPr id="18" name="Shape 16"/>
          <p:cNvSpPr/>
          <p:nvPr/>
        </p:nvSpPr>
        <p:spPr>
          <a:xfrm>
            <a:off x="2438339" y="6748272"/>
            <a:ext cx="304792" cy="109728"/>
          </a:xfrm>
          <a:prstGeom prst="rect">
            <a:avLst/>
          </a:prstGeom>
          <a:solidFill>
            <a:srgbClr val="1F618D"/>
          </a:solidFill>
          <a:ln/>
        </p:spPr>
      </p:sp>
      <p:sp>
        <p:nvSpPr>
          <p:cNvPr id="19" name="Shape 17"/>
          <p:cNvSpPr/>
          <p:nvPr/>
        </p:nvSpPr>
        <p:spPr>
          <a:xfrm>
            <a:off x="2743131" y="6748272"/>
            <a:ext cx="304792" cy="109728"/>
          </a:xfrm>
          <a:prstGeom prst="rect">
            <a:avLst/>
          </a:prstGeom>
          <a:solidFill>
            <a:srgbClr val="8E44AD"/>
          </a:solidFill>
          <a:ln/>
        </p:spPr>
      </p:sp>
      <p:sp>
        <p:nvSpPr>
          <p:cNvPr id="20" name="Shape 18"/>
          <p:cNvSpPr/>
          <p:nvPr/>
        </p:nvSpPr>
        <p:spPr>
          <a:xfrm>
            <a:off x="3047924" y="6748272"/>
            <a:ext cx="304792" cy="109728"/>
          </a:xfrm>
          <a:prstGeom prst="rect">
            <a:avLst/>
          </a:prstGeom>
          <a:solidFill>
            <a:srgbClr val="C0392B"/>
          </a:solidFill>
          <a:ln/>
        </p:spPr>
      </p:sp>
      <p:sp>
        <p:nvSpPr>
          <p:cNvPr id="21" name="Shape 19"/>
          <p:cNvSpPr/>
          <p:nvPr/>
        </p:nvSpPr>
        <p:spPr>
          <a:xfrm>
            <a:off x="3352716" y="6748272"/>
            <a:ext cx="304792" cy="109728"/>
          </a:xfrm>
          <a:prstGeom prst="rect">
            <a:avLst/>
          </a:prstGeom>
          <a:solidFill>
            <a:srgbClr val="E67E22"/>
          </a:solidFill>
          <a:ln/>
        </p:spPr>
      </p:sp>
      <p:sp>
        <p:nvSpPr>
          <p:cNvPr id="22" name="Shape 20"/>
          <p:cNvSpPr/>
          <p:nvPr/>
        </p:nvSpPr>
        <p:spPr>
          <a:xfrm>
            <a:off x="3657509" y="6748272"/>
            <a:ext cx="304792" cy="109728"/>
          </a:xfrm>
          <a:prstGeom prst="rect">
            <a:avLst/>
          </a:prstGeom>
          <a:solidFill>
            <a:srgbClr val="27AE60"/>
          </a:solidFill>
          <a:ln/>
        </p:spPr>
      </p:sp>
      <p:sp>
        <p:nvSpPr>
          <p:cNvPr id="23" name="Shape 21"/>
          <p:cNvSpPr/>
          <p:nvPr/>
        </p:nvSpPr>
        <p:spPr>
          <a:xfrm>
            <a:off x="3962301" y="6748272"/>
            <a:ext cx="304792" cy="109728"/>
          </a:xfrm>
          <a:prstGeom prst="rect">
            <a:avLst/>
          </a:prstGeom>
          <a:solidFill>
            <a:srgbClr val="1F618D"/>
          </a:solidFill>
          <a:ln/>
        </p:spPr>
      </p:sp>
      <p:sp>
        <p:nvSpPr>
          <p:cNvPr id="24" name="Shape 22"/>
          <p:cNvSpPr/>
          <p:nvPr/>
        </p:nvSpPr>
        <p:spPr>
          <a:xfrm>
            <a:off x="4267093" y="6748272"/>
            <a:ext cx="304792" cy="109728"/>
          </a:xfrm>
          <a:prstGeom prst="rect">
            <a:avLst/>
          </a:prstGeom>
          <a:solidFill>
            <a:srgbClr val="8E44AD"/>
          </a:solidFill>
          <a:ln/>
        </p:spPr>
      </p:sp>
      <p:sp>
        <p:nvSpPr>
          <p:cNvPr id="25" name="Shape 23"/>
          <p:cNvSpPr/>
          <p:nvPr/>
        </p:nvSpPr>
        <p:spPr>
          <a:xfrm>
            <a:off x="4571886" y="6748272"/>
            <a:ext cx="304792" cy="109728"/>
          </a:xfrm>
          <a:prstGeom prst="rect">
            <a:avLst/>
          </a:prstGeom>
          <a:solidFill>
            <a:srgbClr val="C0392B"/>
          </a:solidFill>
          <a:ln/>
        </p:spPr>
      </p:sp>
      <p:sp>
        <p:nvSpPr>
          <p:cNvPr id="26" name="Shape 24"/>
          <p:cNvSpPr/>
          <p:nvPr/>
        </p:nvSpPr>
        <p:spPr>
          <a:xfrm>
            <a:off x="4876678" y="6748272"/>
            <a:ext cx="304792" cy="109728"/>
          </a:xfrm>
          <a:prstGeom prst="rect">
            <a:avLst/>
          </a:prstGeom>
          <a:solidFill>
            <a:srgbClr val="E67E22"/>
          </a:solidFill>
          <a:ln/>
        </p:spPr>
      </p:sp>
      <p:sp>
        <p:nvSpPr>
          <p:cNvPr id="27" name="Shape 25"/>
          <p:cNvSpPr/>
          <p:nvPr/>
        </p:nvSpPr>
        <p:spPr>
          <a:xfrm>
            <a:off x="5181470" y="6748272"/>
            <a:ext cx="304792" cy="109728"/>
          </a:xfrm>
          <a:prstGeom prst="rect">
            <a:avLst/>
          </a:prstGeom>
          <a:solidFill>
            <a:srgbClr val="27AE60"/>
          </a:solidFill>
          <a:ln/>
        </p:spPr>
      </p:sp>
      <p:sp>
        <p:nvSpPr>
          <p:cNvPr id="28" name="Shape 26"/>
          <p:cNvSpPr/>
          <p:nvPr/>
        </p:nvSpPr>
        <p:spPr>
          <a:xfrm>
            <a:off x="5486263" y="6748272"/>
            <a:ext cx="304792" cy="109728"/>
          </a:xfrm>
          <a:prstGeom prst="rect">
            <a:avLst/>
          </a:prstGeom>
          <a:solidFill>
            <a:srgbClr val="1F618D"/>
          </a:solidFill>
          <a:ln/>
        </p:spPr>
      </p:sp>
      <p:sp>
        <p:nvSpPr>
          <p:cNvPr id="29" name="Shape 27"/>
          <p:cNvSpPr/>
          <p:nvPr/>
        </p:nvSpPr>
        <p:spPr>
          <a:xfrm>
            <a:off x="5791055" y="6748272"/>
            <a:ext cx="304792" cy="109728"/>
          </a:xfrm>
          <a:prstGeom prst="rect">
            <a:avLst/>
          </a:prstGeom>
          <a:solidFill>
            <a:srgbClr val="8E44AD"/>
          </a:solidFill>
          <a:ln/>
        </p:spPr>
      </p:sp>
      <p:sp>
        <p:nvSpPr>
          <p:cNvPr id="30" name="Shape 28"/>
          <p:cNvSpPr/>
          <p:nvPr/>
        </p:nvSpPr>
        <p:spPr>
          <a:xfrm>
            <a:off x="6095848" y="6748272"/>
            <a:ext cx="304792" cy="109728"/>
          </a:xfrm>
          <a:prstGeom prst="rect">
            <a:avLst/>
          </a:prstGeom>
          <a:solidFill>
            <a:srgbClr val="C0392B"/>
          </a:solidFill>
          <a:ln/>
        </p:spPr>
      </p:sp>
      <p:sp>
        <p:nvSpPr>
          <p:cNvPr id="31" name="Shape 29"/>
          <p:cNvSpPr/>
          <p:nvPr/>
        </p:nvSpPr>
        <p:spPr>
          <a:xfrm>
            <a:off x="6400640" y="6748272"/>
            <a:ext cx="304792" cy="109728"/>
          </a:xfrm>
          <a:prstGeom prst="rect">
            <a:avLst/>
          </a:prstGeom>
          <a:solidFill>
            <a:srgbClr val="E67E22"/>
          </a:solidFill>
          <a:ln/>
        </p:spPr>
      </p:sp>
      <p:sp>
        <p:nvSpPr>
          <p:cNvPr id="32" name="Shape 30"/>
          <p:cNvSpPr/>
          <p:nvPr/>
        </p:nvSpPr>
        <p:spPr>
          <a:xfrm>
            <a:off x="6705432" y="6748272"/>
            <a:ext cx="304792" cy="109728"/>
          </a:xfrm>
          <a:prstGeom prst="rect">
            <a:avLst/>
          </a:prstGeom>
          <a:solidFill>
            <a:srgbClr val="27AE60"/>
          </a:solidFill>
          <a:ln/>
        </p:spPr>
      </p:sp>
      <p:sp>
        <p:nvSpPr>
          <p:cNvPr id="33" name="Shape 31"/>
          <p:cNvSpPr/>
          <p:nvPr/>
        </p:nvSpPr>
        <p:spPr>
          <a:xfrm>
            <a:off x="7010225" y="6748272"/>
            <a:ext cx="304792" cy="109728"/>
          </a:xfrm>
          <a:prstGeom prst="rect">
            <a:avLst/>
          </a:prstGeom>
          <a:solidFill>
            <a:srgbClr val="1F618D"/>
          </a:solidFill>
          <a:ln/>
        </p:spPr>
      </p:sp>
      <p:sp>
        <p:nvSpPr>
          <p:cNvPr id="34" name="Shape 32"/>
          <p:cNvSpPr/>
          <p:nvPr/>
        </p:nvSpPr>
        <p:spPr>
          <a:xfrm>
            <a:off x="7315017" y="6748272"/>
            <a:ext cx="304792" cy="109728"/>
          </a:xfrm>
          <a:prstGeom prst="rect">
            <a:avLst/>
          </a:prstGeom>
          <a:solidFill>
            <a:srgbClr val="8E44AD"/>
          </a:solidFill>
          <a:ln/>
        </p:spPr>
      </p:sp>
      <p:sp>
        <p:nvSpPr>
          <p:cNvPr id="35" name="Shape 33"/>
          <p:cNvSpPr/>
          <p:nvPr/>
        </p:nvSpPr>
        <p:spPr>
          <a:xfrm>
            <a:off x="7619809" y="6748272"/>
            <a:ext cx="304792" cy="109728"/>
          </a:xfrm>
          <a:prstGeom prst="rect">
            <a:avLst/>
          </a:prstGeom>
          <a:solidFill>
            <a:srgbClr val="C0392B"/>
          </a:solidFill>
          <a:ln/>
        </p:spPr>
      </p:sp>
      <p:sp>
        <p:nvSpPr>
          <p:cNvPr id="36" name="Shape 34"/>
          <p:cNvSpPr/>
          <p:nvPr/>
        </p:nvSpPr>
        <p:spPr>
          <a:xfrm>
            <a:off x="7924602" y="6748272"/>
            <a:ext cx="304792" cy="109728"/>
          </a:xfrm>
          <a:prstGeom prst="rect">
            <a:avLst/>
          </a:prstGeom>
          <a:solidFill>
            <a:srgbClr val="E67E22"/>
          </a:solidFill>
          <a:ln/>
        </p:spPr>
      </p:sp>
      <p:sp>
        <p:nvSpPr>
          <p:cNvPr id="37" name="Shape 35"/>
          <p:cNvSpPr/>
          <p:nvPr/>
        </p:nvSpPr>
        <p:spPr>
          <a:xfrm>
            <a:off x="8229394" y="6748272"/>
            <a:ext cx="304792" cy="109728"/>
          </a:xfrm>
          <a:prstGeom prst="rect">
            <a:avLst/>
          </a:prstGeom>
          <a:solidFill>
            <a:srgbClr val="27AE60"/>
          </a:solidFill>
          <a:ln/>
        </p:spPr>
      </p:sp>
      <p:sp>
        <p:nvSpPr>
          <p:cNvPr id="38" name="Shape 36"/>
          <p:cNvSpPr/>
          <p:nvPr/>
        </p:nvSpPr>
        <p:spPr>
          <a:xfrm>
            <a:off x="8534187" y="6748272"/>
            <a:ext cx="304792" cy="109728"/>
          </a:xfrm>
          <a:prstGeom prst="rect">
            <a:avLst/>
          </a:prstGeom>
          <a:solidFill>
            <a:srgbClr val="1F618D"/>
          </a:solidFill>
          <a:ln/>
        </p:spPr>
      </p:sp>
      <p:sp>
        <p:nvSpPr>
          <p:cNvPr id="39" name="Shape 37"/>
          <p:cNvSpPr/>
          <p:nvPr/>
        </p:nvSpPr>
        <p:spPr>
          <a:xfrm>
            <a:off x="8838979" y="6748272"/>
            <a:ext cx="304792" cy="109728"/>
          </a:xfrm>
          <a:prstGeom prst="rect">
            <a:avLst/>
          </a:prstGeom>
          <a:solidFill>
            <a:srgbClr val="8E44AD"/>
          </a:solidFill>
          <a:ln/>
        </p:spPr>
      </p:sp>
      <p:sp>
        <p:nvSpPr>
          <p:cNvPr id="40" name="Shape 38"/>
          <p:cNvSpPr/>
          <p:nvPr/>
        </p:nvSpPr>
        <p:spPr>
          <a:xfrm>
            <a:off x="9143771" y="6748272"/>
            <a:ext cx="304792" cy="109728"/>
          </a:xfrm>
          <a:prstGeom prst="rect">
            <a:avLst/>
          </a:prstGeom>
          <a:solidFill>
            <a:srgbClr val="C0392B"/>
          </a:solidFill>
          <a:ln/>
        </p:spPr>
      </p:sp>
      <p:sp>
        <p:nvSpPr>
          <p:cNvPr id="41" name="Shape 39"/>
          <p:cNvSpPr/>
          <p:nvPr/>
        </p:nvSpPr>
        <p:spPr>
          <a:xfrm>
            <a:off x="9448564" y="6748272"/>
            <a:ext cx="304792" cy="109728"/>
          </a:xfrm>
          <a:prstGeom prst="rect">
            <a:avLst/>
          </a:prstGeom>
          <a:solidFill>
            <a:srgbClr val="E67E22"/>
          </a:solidFill>
          <a:ln/>
        </p:spPr>
      </p:sp>
      <p:sp>
        <p:nvSpPr>
          <p:cNvPr id="42" name="Shape 40"/>
          <p:cNvSpPr/>
          <p:nvPr/>
        </p:nvSpPr>
        <p:spPr>
          <a:xfrm>
            <a:off x="9753356" y="6748272"/>
            <a:ext cx="304792" cy="109728"/>
          </a:xfrm>
          <a:prstGeom prst="rect">
            <a:avLst/>
          </a:prstGeom>
          <a:solidFill>
            <a:srgbClr val="27AE60"/>
          </a:solidFill>
          <a:ln/>
        </p:spPr>
      </p:sp>
      <p:sp>
        <p:nvSpPr>
          <p:cNvPr id="43" name="Shape 41"/>
          <p:cNvSpPr/>
          <p:nvPr/>
        </p:nvSpPr>
        <p:spPr>
          <a:xfrm>
            <a:off x="10058149" y="6748272"/>
            <a:ext cx="304792" cy="109728"/>
          </a:xfrm>
          <a:prstGeom prst="rect">
            <a:avLst/>
          </a:prstGeom>
          <a:solidFill>
            <a:srgbClr val="1F618D"/>
          </a:solidFill>
          <a:ln/>
        </p:spPr>
      </p:sp>
      <p:sp>
        <p:nvSpPr>
          <p:cNvPr id="44" name="Shape 42"/>
          <p:cNvSpPr/>
          <p:nvPr/>
        </p:nvSpPr>
        <p:spPr>
          <a:xfrm>
            <a:off x="10362941" y="6748272"/>
            <a:ext cx="304792" cy="109728"/>
          </a:xfrm>
          <a:prstGeom prst="rect">
            <a:avLst/>
          </a:prstGeom>
          <a:solidFill>
            <a:srgbClr val="8E44AD"/>
          </a:solidFill>
          <a:ln/>
        </p:spPr>
      </p:sp>
      <p:sp>
        <p:nvSpPr>
          <p:cNvPr id="45" name="Shape 43"/>
          <p:cNvSpPr/>
          <p:nvPr/>
        </p:nvSpPr>
        <p:spPr>
          <a:xfrm>
            <a:off x="10667733" y="6748272"/>
            <a:ext cx="304792" cy="109728"/>
          </a:xfrm>
          <a:prstGeom prst="rect">
            <a:avLst/>
          </a:prstGeom>
          <a:solidFill>
            <a:srgbClr val="C0392B"/>
          </a:solidFill>
          <a:ln/>
        </p:spPr>
      </p:sp>
      <p:sp>
        <p:nvSpPr>
          <p:cNvPr id="46" name="Shape 44"/>
          <p:cNvSpPr/>
          <p:nvPr/>
        </p:nvSpPr>
        <p:spPr>
          <a:xfrm>
            <a:off x="10972526" y="6748272"/>
            <a:ext cx="304792" cy="109728"/>
          </a:xfrm>
          <a:prstGeom prst="rect">
            <a:avLst/>
          </a:prstGeom>
          <a:solidFill>
            <a:srgbClr val="E67E22"/>
          </a:solidFill>
          <a:ln/>
        </p:spPr>
      </p:sp>
      <p:sp>
        <p:nvSpPr>
          <p:cNvPr id="47" name="Shape 45"/>
          <p:cNvSpPr/>
          <p:nvPr/>
        </p:nvSpPr>
        <p:spPr>
          <a:xfrm>
            <a:off x="11277318" y="6748272"/>
            <a:ext cx="304792" cy="109728"/>
          </a:xfrm>
          <a:prstGeom prst="rect">
            <a:avLst/>
          </a:prstGeom>
          <a:solidFill>
            <a:srgbClr val="27AE60"/>
          </a:solidFill>
          <a:ln/>
        </p:spPr>
      </p:sp>
      <p:sp>
        <p:nvSpPr>
          <p:cNvPr id="48" name="Shape 46"/>
          <p:cNvSpPr/>
          <p:nvPr/>
        </p:nvSpPr>
        <p:spPr>
          <a:xfrm>
            <a:off x="11582110" y="6748272"/>
            <a:ext cx="304792" cy="109728"/>
          </a:xfrm>
          <a:prstGeom prst="rect">
            <a:avLst/>
          </a:prstGeom>
          <a:solidFill>
            <a:srgbClr val="1F618D"/>
          </a:solidFill>
          <a:ln/>
        </p:spPr>
      </p:sp>
      <p:sp>
        <p:nvSpPr>
          <p:cNvPr id="49" name="Shape 47"/>
          <p:cNvSpPr/>
          <p:nvPr/>
        </p:nvSpPr>
        <p:spPr>
          <a:xfrm>
            <a:off x="11886903" y="6748272"/>
            <a:ext cx="304792" cy="109728"/>
          </a:xfrm>
          <a:prstGeom prst="rect">
            <a:avLst/>
          </a:prstGeom>
          <a:solidFill>
            <a:srgbClr val="8E44AD"/>
          </a:solidFill>
          <a:ln/>
        </p:spPr>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What an audit needs</a:t>
            </a:r>
            <a:endParaRPr lang="en-US" sz="3000" dirty="0"/>
          </a:p>
        </p:txBody>
      </p:sp>
      <p:sp>
        <p:nvSpPr>
          <p:cNvPr id="3" name="Text 1"/>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500" dirty="0">
                <a:solidFill>
                  <a:srgbClr val="4D5B69"/>
                </a:solidFill>
                <a:latin typeface="Calibri" pitchFamily="34" charset="0"/>
                <a:ea typeface="Calibri" pitchFamily="34" charset="-122"/>
                <a:cs typeface="Calibri" pitchFamily="34" charset="-120"/>
              </a:rPr>
              <a:t>The questions the lists leave open, and how to settle them</a:t>
            </a:r>
            <a:endParaRPr lang="en-US" sz="1500" dirty="0"/>
          </a:p>
        </p:txBody>
      </p:sp>
      <p:sp>
        <p:nvSpPr>
          <p:cNvPr id="4" name="Text 2"/>
          <p:cNvSpPr txBox="1"/>
          <p:nvPr/>
        </p:nvSpPr>
        <p:spPr>
          <a:xfrm>
            <a:off x="548640" y="1554480"/>
            <a:ext cx="11094415" cy="457200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A name-by-name verification of removals in every seat where they exceed the margin, starting with the 30 where they exceed it five times or more.</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Publication, booth by booth, of every claim and objection filed after the draft roll, with its outcome.</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The reason entered against each removed name, and the evidence for each "shifted" and "absent" entry.</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A check of women removed as "shifted" against new enrolments where they now live.</a:t>
            </a:r>
            <a:endParaRPr lang="en-US" sz="1800" dirty="0"/>
          </a:p>
          <a:p>
            <a:pPr marL="342900" indent="-342900">
              <a:spcAft>
                <a:spcPts val="1000"/>
              </a:spcAft>
              <a:buSzPct val="100000"/>
              <a:buFont typeface="+mj-lt"/>
              <a:buAutoNum type="arabicPeriod" startAt="1"/>
            </a:pPr>
            <a:r>
              <a:rPr lang="en-US" sz="1800" dirty="0">
                <a:solidFill>
                  <a:srgbClr val="1C2833"/>
                </a:solidFill>
                <a:latin typeface="Calibri" pitchFamily="34" charset="0"/>
                <a:ea typeface="Calibri" pitchFamily="34" charset="-122"/>
                <a:cs typeface="Calibri" pitchFamily="34" charset="-120"/>
              </a:rPr>
              <a:t>An independent review of the method before the revision is repeated in other states.</a:t>
            </a:r>
            <a:endParaRPr lang="en-US" sz="18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4415" cy="731520"/>
          </a:xfrm>
          <a:prstGeom prst="rect">
            <a:avLst/>
          </a:prstGeom>
          <a:noFill/>
          <a:ln/>
        </p:spPr>
        <p:txBody>
          <a:bodyPr wrap="square" lIns="0" tIns="0" rIns="0" bIns="0" rtlCol="0" anchor="t"/>
          <a:lstStyle/>
          <a:p>
            <a:pPr indent="0" marL="0">
              <a:buNone/>
            </a:pPr>
            <a:r>
              <a:rPr lang="en-US" sz="3000" b="1" dirty="0">
                <a:solidFill>
                  <a:srgbClr val="8E2F25"/>
                </a:solidFill>
                <a:latin typeface="Cambria" pitchFamily="34" charset="0"/>
                <a:ea typeface="Cambria" pitchFamily="34" charset="-122"/>
                <a:cs typeface="Cambria" pitchFamily="34" charset="-120"/>
              </a:rPr>
              <a:t>Method and sources</a:t>
            </a:r>
            <a:endParaRPr lang="en-US" sz="3000" dirty="0"/>
          </a:p>
        </p:txBody>
      </p:sp>
      <p:sp>
        <p:nvSpPr>
          <p:cNvPr id="3" name="Text 1"/>
          <p:cNvSpPr txBox="1"/>
          <p:nvPr/>
        </p:nvSpPr>
        <p:spPr>
          <a:xfrm>
            <a:off x="548640" y="1371600"/>
            <a:ext cx="11094415" cy="475488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rgbClr val="1C2833"/>
                </a:solidFill>
                <a:latin typeface="Calibri" pitchFamily="34" charset="0"/>
                <a:ea typeface="Calibri" pitchFamily="34" charset="-122"/>
                <a:cs typeface="Calibri" pitchFamily="34" charset="-120"/>
              </a:rPr>
              <a:t>Removals by polling booth: the phase 1 deletion lists the Chief Electoral Officer, Bihar published against the draft roll of 1 August 2025, for all 77,837 booths.</a:t>
            </a:r>
            <a:endParaRPr lang="en-US" sz="1600" dirty="0"/>
          </a:p>
          <a:p>
            <a:pPr marL="342900" indent="-342900">
              <a:spcAft>
                <a:spcPts val="900"/>
              </a:spcAft>
              <a:buSzPct val="100000"/>
              <a:buChar char="•"/>
            </a:pPr>
            <a:r>
              <a:rPr lang="en-US" sz="1600" dirty="0">
                <a:solidFill>
                  <a:srgbClr val="1C2833"/>
                </a:solidFill>
                <a:latin typeface="Calibri" pitchFamily="34" charset="0"/>
                <a:ea typeface="Calibri" pitchFamily="34" charset="-122"/>
                <a:cs typeface="Calibri" pitchFamily="34" charset="-120"/>
              </a:rPr>
              <a:t>Removals by constituency, phase and sex: Chief Electoral Officer, Bihar.</a:t>
            </a:r>
            <a:endParaRPr lang="en-US" sz="1600" dirty="0"/>
          </a:p>
          <a:p>
            <a:pPr marL="342900" indent="-342900">
              <a:spcAft>
                <a:spcPts val="900"/>
              </a:spcAft>
              <a:buSzPct val="100000"/>
              <a:buChar char="•"/>
            </a:pPr>
            <a:r>
              <a:rPr lang="en-US" sz="1600" dirty="0">
                <a:solidFill>
                  <a:srgbClr val="1C2833"/>
                </a:solidFill>
                <a:latin typeface="Calibri" pitchFamily="34" charset="0"/>
                <a:ea typeface="Calibri" pitchFamily="34" charset="-122"/>
                <a:cs typeface="Calibri" pitchFamily="34" charset="-120"/>
              </a:rPr>
              <a:t>2025 Assembly results: winner, runner-up and turnout for each seat, cross-checked between two independent tables. Votes polled are the turnout applied to the 2025 roll.</a:t>
            </a:r>
            <a:endParaRPr lang="en-US" sz="1600" dirty="0"/>
          </a:p>
          <a:p>
            <a:pPr marL="342900" indent="-342900">
              <a:spcAft>
                <a:spcPts val="900"/>
              </a:spcAft>
              <a:buSzPct val="100000"/>
              <a:buChar char="•"/>
            </a:pPr>
            <a:r>
              <a:rPr lang="en-US" sz="1600" dirty="0">
                <a:solidFill>
                  <a:srgbClr val="1C2833"/>
                </a:solidFill>
                <a:latin typeface="Calibri" pitchFamily="34" charset="0"/>
                <a:ea typeface="Calibri" pitchFamily="34" charset="-122"/>
                <a:cs typeface="Calibri" pitchFamily="34" charset="-120"/>
              </a:rPr>
              <a:t>Religion and surnames: counts from the same lists, by booth. Census of India 2011; Bihar caste-based survey, 2 October 2023.</a:t>
            </a:r>
            <a:endParaRPr lang="en-US" sz="1600" dirty="0"/>
          </a:p>
          <a:p>
            <a:pPr marL="342900" indent="-342900">
              <a:spcAft>
                <a:spcPts val="900"/>
              </a:spcAft>
              <a:buSzPct val="100000"/>
              <a:buChar char="•"/>
            </a:pPr>
            <a:r>
              <a:rPr lang="en-US" sz="1600" dirty="0">
                <a:solidFill>
                  <a:srgbClr val="1C2833"/>
                </a:solidFill>
                <a:latin typeface="Calibri" pitchFamily="34" charset="0"/>
                <a:ea typeface="Calibri" pitchFamily="34" charset="-122"/>
                <a:cs typeface="Calibri" pitchFamily="34" charset="-120"/>
              </a:rPr>
              <a:t>Every headline figure is recomputed from the lists by a second, independent program. No name, EPIC number or address is published.</a:t>
            </a:r>
            <a:endParaRPr lang="en-US" sz="16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Bihar SIR 2025 · Varna Sri Raman · aggregates only; no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E2F25"/>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600" b="1" dirty="0">
                <a:solidFill>
                  <a:srgbClr val="FFFFFF"/>
                </a:solidFill>
                <a:latin typeface="Cambria" pitchFamily="34" charset="0"/>
                <a:ea typeface="Cambria" pitchFamily="34" charset="-122"/>
                <a:cs typeface="Cambria" pitchFamily="34" charset="-120"/>
              </a:rPr>
              <a:t>Every booth, every constituency, online</a:t>
            </a:r>
            <a:endParaRPr lang="en-US" sz="36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The dashboard, the booth explorer and the full report, with a chapter for each of the 38 districts, are published on the same website as this deck.</a:t>
            </a:r>
            <a:endParaRPr lang="en-US" sz="1700" dirty="0"/>
          </a:p>
          <a:p>
            <a:pPr indent="0" marL="0">
              <a:spcAft>
                <a:spcPts val="1000"/>
              </a:spcAft>
              <a:buNone/>
            </a:pPr>
            <a:r>
              <a:rPr lang="en-US" sz="1700" dirty="0">
                <a:solidFill>
                  <a:srgbClr val="F5D6C6"/>
                </a:solidFill>
                <a:latin typeface="Calibri" pitchFamily="34" charset="0"/>
                <a:ea typeface="Calibri" pitchFamily="34" charset="-122"/>
                <a:cs typeface="Calibri" pitchFamily="34" charset="-120"/>
              </a:rPr>
              <a:t>Varna Sri Raman</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Bihar SIR 2025: 69 lakh names struck off</dc:title>
  <dc:subject>PptxGenJS Presentation</dc:subject>
  <dc:creator>Varna Sri Raman</dc:creator>
  <cp:lastModifiedBy>Varna Sri Raman</cp:lastModifiedBy>
  <cp:revision>1</cp:revision>
  <dcterms:created xsi:type="dcterms:W3CDTF">2026-09-29T18:55:28Z</dcterms:created>
  <dcterms:modified xsi:type="dcterms:W3CDTF">2026-09-29T18:55:28Z</dcterms:modified>
</cp:coreProperties>
</file>