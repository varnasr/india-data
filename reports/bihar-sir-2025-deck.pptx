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7.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8.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9.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0.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6.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7.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8.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removed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9.58</c:v>
                </c:pt>
                <c:pt idx="1">
                  <c:v>9.36</c:v>
                </c:pt>
                <c:pt idx="2">
                  <c:v>9.28</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8.79</c:v>
                </c:pt>
                <c:pt idx="1">
                  <c:v>8.5</c:v>
                </c:pt>
                <c:pt idx="2">
                  <c:v>8.82</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c:v>
                </c:pt>
                <c:pt idx="1">
                  <c:v>13.46</c:v>
                </c:pt>
                <c:pt idx="2">
                  <c:v>11.1</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removals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11.97</c:v>
                </c:pt>
                <c:pt idx="1">
                  <c:v>9.79</c:v>
                </c:pt>
                <c:pt idx="2">
                  <c:v>9.6</c:v>
                </c:pt>
                <c:pt idx="3">
                  <c:v>9.09</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population 2011</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Rohtas</c:v>
                  </c:pt>
                  <c:pt idx="1">
                    <c:v>Gopalganj</c:v>
                  </c:pt>
                  <c:pt idx="2">
                    <c:v>Saran</c:v>
                  </c:pt>
                  <c:pt idx="3">
                    <c:v>Sheohar</c:v>
                  </c:pt>
                  <c:pt idx="4">
                    <c:v>Supaul</c:v>
                  </c:pt>
                  <c:pt idx="5">
                    <c:v>Arwal</c:v>
                  </c:pt>
                  <c:pt idx="6">
                    <c:v>Bhagalpur</c:v>
                  </c:pt>
                  <c:pt idx="7">
                    <c:v>Buxar</c:v>
                  </c:pt>
                  <c:pt idx="8">
                    <c:v>Kishanganj</c:v>
                  </c:pt>
                  <c:pt idx="9">
                    <c:v>Kaimur</c:v>
                  </c:pt>
                </c:lvl>
              </c:multiLvlStrCache>
            </c:multiLvlStrRef>
          </c:cat>
          <c:val>
            <c:numRef>
              <c:f>Sheet1!$B$2:$B$11</c:f>
              <c:numCache>
                <c:formatCode>General</c:formatCode>
                <c:ptCount val="10"/>
                <c:pt idx="0">
                  <c:v>47.9</c:v>
                </c:pt>
                <c:pt idx="1">
                  <c:v>50.5</c:v>
                </c:pt>
                <c:pt idx="2">
                  <c:v>48.8</c:v>
                </c:pt>
                <c:pt idx="3">
                  <c:v>47.2</c:v>
                </c:pt>
                <c:pt idx="4">
                  <c:v>48.2</c:v>
                </c:pt>
                <c:pt idx="5">
                  <c:v>48.1</c:v>
                </c:pt>
                <c:pt idx="6">
                  <c:v>46.8</c:v>
                </c:pt>
                <c:pt idx="7">
                  <c:v>48</c:v>
                </c:pt>
                <c:pt idx="8">
                  <c:v>48.7</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Rohtas</c:v>
                  </c:pt>
                  <c:pt idx="1">
                    <c:v>Gopalganj</c:v>
                  </c:pt>
                  <c:pt idx="2">
                    <c:v>Saran</c:v>
                  </c:pt>
                  <c:pt idx="3">
                    <c:v>Sheohar</c:v>
                  </c:pt>
                  <c:pt idx="4">
                    <c:v>Supaul</c:v>
                  </c:pt>
                  <c:pt idx="5">
                    <c:v>Arwal</c:v>
                  </c:pt>
                  <c:pt idx="6">
                    <c:v>Bhagalpur</c:v>
                  </c:pt>
                  <c:pt idx="7">
                    <c:v>Buxar</c:v>
                  </c:pt>
                  <c:pt idx="8">
                    <c:v>Kishanganj</c:v>
                  </c:pt>
                  <c:pt idx="9">
                    <c:v>Kaimur</c:v>
                  </c:pt>
                </c:lvl>
              </c:multiLvlStrCache>
            </c:multiLvlStrRef>
          </c:cat>
          <c:val>
            <c:numRef>
              <c:f>Sheet1!$C$2:$C$11</c:f>
              <c:numCache>
                <c:formatCode>General</c:formatCode>
                <c:ptCount val="10"/>
                <c:pt idx="0">
                  <c:v>57.3</c:v>
                </c:pt>
                <c:pt idx="1">
                  <c:v>60</c:v>
                </c:pt>
                <c:pt idx="2">
                  <c:v>58.4</c:v>
                </c:pt>
                <c:pt idx="3">
                  <c:v>57</c:v>
                </c:pt>
                <c:pt idx="4">
                  <c:v>58.4</c:v>
                </c:pt>
                <c:pt idx="5">
                  <c:v>59.1</c:v>
                </c:pt>
                <c:pt idx="6">
                  <c:v>58.1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3.21</c:v>
                </c:pt>
                <c:pt idx="1">
                  <c:v>0.59</c:v>
                </c:pt>
                <c:pt idx="2">
                  <c:v>0.68</c:v>
                </c:pt>
                <c:pt idx="3">
                  <c:v>1.01</c:v>
                </c:pt>
                <c:pt idx="4">
                  <c:v>0.75</c:v>
                </c:pt>
                <c:pt idx="5">
                  <c:v>0.69</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c:v>
                </c:pt>
                <c:pt idx="1">
                  <c:v>0.68</c:v>
                </c:pt>
                <c:pt idx="2">
                  <c:v>0.31</c:v>
                </c:pt>
                <c:pt idx="3">
                  <c:v>1.52</c:v>
                </c:pt>
                <c:pt idx="4">
                  <c:v>0.91</c:v>
                </c:pt>
                <c:pt idx="5">
                  <c:v>1.63</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9.96</c:v>
                </c:pt>
                <c:pt idx="1">
                  <c:v>10.58</c:v>
                </c:pt>
                <c:pt idx="2">
                  <c:v>8.9</c:v>
                </c:pt>
                <c:pt idx="3">
                  <c:v>14.3</c:v>
                </c:pt>
                <c:pt idx="4">
                  <c:v>8.83</c:v>
                </c:pt>
                <c:pt idx="5">
                  <c:v>8.36</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9.27</c:v>
                </c:pt>
                <c:pt idx="1">
                  <c:v>9.28</c:v>
                </c:pt>
                <c:pt idx="2">
                  <c:v>9.35</c:v>
                </c:pt>
                <c:pt idx="3">
                  <c:v>9.4</c:v>
                </c:pt>
                <c:pt idx="4">
                  <c:v>9.41</c:v>
                </c:pt>
                <c:pt idx="5">
                  <c:v>9.88</c:v>
                </c:pt>
                <c:pt idx="6">
                  <c:v>9.93</c:v>
                </c:pt>
                <c:pt idx="7">
                  <c:v>9.96</c:v>
                </c:pt>
                <c:pt idx="8">
                  <c:v>10.25</c:v>
                </c:pt>
                <c:pt idx="9">
                  <c:v>10.76</c:v>
                </c:pt>
                <c:pt idx="10">
                  <c:v>11.35</c:v>
                </c:pt>
                <c:pt idx="11">
                  <c:v>11.55</c:v>
                </c:pt>
                <c:pt idx="12">
                  <c:v>13.9</c:v>
                </c:pt>
                <c:pt idx="13">
                  <c:v>14.3</c:v>
                </c:pt>
                <c:pt idx="14">
                  <c:v>17.31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in this deck is computed from the Chief Electoral Officer's deletion lists and the 2025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divides by the 2025 electorate.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it records only that the elector was not found. Already enrolled is a removal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the 69 seats where removals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do 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2025 revision removed 69.1 lakh names from Bihar's electoral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deletion lists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8–16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17–20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21–21</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22–23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24–25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26–26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27–27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28–30</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before the draft roll of 1 August 2025, phase 2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before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7,47,00,175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removed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median booth lost 71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removals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phase 1 removals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removed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5,64,439 of the 7,20,543 more women than men removed in phase 1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an officer's entry after a visit or its absence, not a finding. The 3,51,150 phase 2 removals carry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the removed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the removed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the pattern women who move on marriage would produce.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for one reason exceed the winning margin;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removed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removed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removals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removed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removed;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removals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removals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removals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removed, 4,96,35,462 votes polled, one removal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Above 20% in 18 seats; highest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removed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 seat's winner says how most of its voters voted, not how the removed voted.</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removed.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holds voters of both sides, so this is where removals fell, not whose votes they were.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removed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seats it held lost 9.67.</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number of seats, then names removed per 100 electors.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removed and 47.86%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3.0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sex, so this needs no inference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more women than men removed in phase 1 were entered as shifted. The lists do not show whether any were enrolled again elsewhere.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the removed,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removals: classified names only, then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removed names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within the 0.83-point rise in the Muslim share since 2011.</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removals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2011680"/>
                <a:gridCol w="1188720"/>
                <a:gridCol w="1188720"/>
                <a:gridCol w="1188720"/>
                <a:gridCol w="118872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District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Census 2011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Removals, low</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Removals, high</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 ÷ census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Jehanabad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Lakhisarai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Sheikhpura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Aurangabad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Nalanda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16.1%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Patna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Gaya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Nawada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population. That would widen these gaps, not close them.</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Migration into Patna and errors in classifying names could narrow them.</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removed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Above 1: a group's share of the removed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removed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1.63),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removals in a group. B, which sets aside surnames shared across groups such as Singh, Prasad and Mandal, places 35%.</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removals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and a migrant who has moved is a legitimate "shifted" deletion.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Border seats: 40.4% of phase 1 removals entered as shifted; interior seats: 40.6%.</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removal rates move most with density, and not with income per head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removal rate against one characteristic: r is the linear correlation, ρ the rank correlation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Income per head</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-0.29</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poorest districts are also the least urban and least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Census 2011; income per head from the Bihar Economic Survey 2021-22.</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the removed not simply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Not most. Of the 65,59,626 phase 1 removals, 40.5% were entered as shifted, 34.0% dead, 14.8% absent and 10.7% already enrolled. Each is an officer's entry, not a finding; the 9,70,081 marked absent rest on the least: the entry records only that the elector was not found.</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removals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each result would have been different; it means the change to the roll was larger than the decision at the ballot box.</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not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9.58 per 100 electors against 8.79 by the 2020 winner, and NDA-led booths lost 2.4 more names each than INDIA-led booths in the same seat. A booth's leader says how most voters voted, not how the removed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removed and 47.86% of the population, over-represented in 38 of 38 districts. 5,64,439 of the 7,20,543 more women than men removed in phase 1 were entered as shifted, and 72.6% of those marked shifted aged 18 to 29 are women.</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removed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removals,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removed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the removals were meant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removals can show intent. It shows where the removals fell, who was removed, and how their number compares with the margins. Whose votes they were, and whether they were rightly removed, the lists cannot show.</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and where, who the removed were by sex, and by religion and caste as read from names, and they allow the removals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phase 1 removal, but not whether it was true, whether the removal was right, or how the elector voted. Religion and caste are estimates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officers entered (dead, shifted, absent, enrolled twice) are entries made after a visit or its absence, not findings. Names marked absent alone exceed the margin in 20 seats. A change to the roll larger than the margin in 174 of 243 seats is large enough to have decided those seats. Whether it did depends on how the removed would have voted, which no list records.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Publish what the lists leave out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reason for each of the 3,51,150 phase 2 removals,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each entry marked absent (9,70,081) or already enrolled (7,01,059) in phase 1.</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every claim and objection filed after the draft roll, booth by booth,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new enrolments by constituency after the revision, so that women removed as shifted can be matched against enrolments where they now live.</a:t>
            </a:r>
            <a:endParaRPr lang="en-US" sz="1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Removals by booth: the Chief Electoral Officer's phase 1 deletion lists against the draft roll of 1 August 2025, for all 77,837 booths. Removals by constituency, phase and sex: the Chief Electoral Officer's table. Reason, sex and age of each phase 1 removal: counts from the row-level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2025 results: winner, runner-up and turnout for each seat, from the declared results; votes polled are turnout applied to the 2025 roll. 2024 booth leaders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Population: Census 2011 for sex, religion, literacy, density and urban share; the Bihar caste-based survey of 2 October 2023 for caste;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Alliances: NDA is BJP, JD(U), LJP(RV), HAM(S) and RLM; INDIA is RJD, INC, the Left parties, VIP and IIP; everything else is Other.</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lists each booth once for each of its three leading 2024 parties; each booth is counted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 second, independent program recomputes every headline figure from the raw files before publication. Only counts are published: no name, EPIC number or address.</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Varna Sri Raman</dc:creator>
  <cp:lastModifiedBy>Varna Sri Raman</cp:lastModifiedBy>
  <cp:revision>1</cp:revision>
  <dcterms:created xsi:type="dcterms:W3CDTF">2026-09-30T08:59:29Z</dcterms:created>
  <dcterms:modified xsi:type="dcterms:W3CDTF">2026-09-30T08:59:29Z</dcterms:modified>
</cp:coreProperties>
</file>